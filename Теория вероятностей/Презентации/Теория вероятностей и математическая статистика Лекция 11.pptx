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22"/>
  </p:notesMasterIdLst>
  <p:sldIdLst>
    <p:sldId id="256" r:id="rId2"/>
    <p:sldId id="521" r:id="rId3"/>
    <p:sldId id="504" r:id="rId4"/>
    <p:sldId id="505" r:id="rId5"/>
    <p:sldId id="506" r:id="rId6"/>
    <p:sldId id="507" r:id="rId7"/>
    <p:sldId id="508" r:id="rId8"/>
    <p:sldId id="511" r:id="rId9"/>
    <p:sldId id="509" r:id="rId10"/>
    <p:sldId id="510" r:id="rId11"/>
    <p:sldId id="522" r:id="rId12"/>
    <p:sldId id="512" r:id="rId13"/>
    <p:sldId id="513" r:id="rId14"/>
    <p:sldId id="514" r:id="rId15"/>
    <p:sldId id="515" r:id="rId16"/>
    <p:sldId id="516" r:id="rId17"/>
    <p:sldId id="517" r:id="rId18"/>
    <p:sldId id="519" r:id="rId19"/>
    <p:sldId id="520" r:id="rId20"/>
    <p:sldId id="469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25" autoAdjust="0"/>
  </p:normalViewPr>
  <p:slideViewPr>
    <p:cSldViewPr>
      <p:cViewPr varScale="1">
        <p:scale>
          <a:sx n="92" d="100"/>
          <a:sy n="92" d="100"/>
        </p:scale>
        <p:origin x="9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addSld modSld">
      <pc:chgData name="e s" userId="b32979be72172c5e" providerId="LiveId" clId="{1A9D4396-1918-4F43-B4DF-954C8EB3F697}" dt="2026-02-16T09:08:03.925" v="127" actId="207"/>
      <pc:docMkLst>
        <pc:docMk/>
      </pc:docMkLst>
      <pc:sldChg chg="modSp new mod">
        <pc:chgData name="e s" userId="b32979be72172c5e" providerId="LiveId" clId="{1A9D4396-1918-4F43-B4DF-954C8EB3F697}" dt="2026-02-16T09:08:03.925" v="127" actId="207"/>
        <pc:sldMkLst>
          <pc:docMk/>
          <pc:sldMk cId="3717711385" sldId="522"/>
        </pc:sldMkLst>
        <pc:spChg chg="mod">
          <ac:chgData name="e s" userId="b32979be72172c5e" providerId="LiveId" clId="{1A9D4396-1918-4F43-B4DF-954C8EB3F697}" dt="2026-02-16T09:07:07.513" v="6" actId="20577"/>
          <ac:spMkLst>
            <pc:docMk/>
            <pc:sldMk cId="3717711385" sldId="522"/>
            <ac:spMk id="2" creationId="{5B24D2A6-7769-8D9C-E40D-AE1B4ECCE165}"/>
          </ac:spMkLst>
        </pc:spChg>
        <pc:spChg chg="mod">
          <ac:chgData name="e s" userId="b32979be72172c5e" providerId="LiveId" clId="{1A9D4396-1918-4F43-B4DF-954C8EB3F697}" dt="2026-02-16T09:08:03.925" v="127" actId="207"/>
          <ac:spMkLst>
            <pc:docMk/>
            <pc:sldMk cId="3717711385" sldId="522"/>
            <ac:spMk id="3" creationId="{A995C896-4DC7-5E6F-F099-0C0E8A75E2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 dirty="0">
                <a:solidFill>
                  <a:srgbClr val="00B0F0"/>
                </a:solidFill>
              </a:rPr>
              <a:t>11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вариационного ряда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Средние величины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Средние величины </a:t>
            </a:r>
            <a:r>
              <a:rPr lang="ru-RU" dirty="0"/>
              <a:t>характеризуют значение признака, вокруг которого концентрируются наблюдения или, как говорят, </a:t>
            </a:r>
            <a:r>
              <a:rPr lang="ru-RU" i="1" dirty="0"/>
              <a:t>центральную тенденцию распределения.</a:t>
            </a:r>
          </a:p>
          <a:p>
            <a:r>
              <a:rPr lang="ru-RU" dirty="0"/>
              <a:t>К ним относят: </a:t>
            </a:r>
            <a:r>
              <a:rPr lang="ru-RU" b="1" i="1" dirty="0"/>
              <a:t>среднюю арифметическую </a:t>
            </a:r>
            <a:r>
              <a:rPr lang="ru-RU" i="1" dirty="0"/>
              <a:t>вариационного ряда,</a:t>
            </a:r>
          </a:p>
          <a:p>
            <a:pPr>
              <a:buFont typeface="Wingdings" pitchFamily="2" charset="2"/>
              <a:buNone/>
            </a:pPr>
            <a:r>
              <a:rPr lang="ru-RU" b="1" i="1" dirty="0"/>
              <a:t>   моду</a:t>
            </a:r>
            <a:r>
              <a:rPr lang="ru-RU" dirty="0"/>
              <a:t> и </a:t>
            </a:r>
            <a:r>
              <a:rPr lang="ru-RU" b="1" i="1" dirty="0"/>
              <a:t>медиану</a:t>
            </a:r>
            <a:r>
              <a:rPr lang="ru-RU" dirty="0"/>
              <a:t>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Выборочное среднее (средняя арифметическая)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Средней арифметической </a:t>
            </a:r>
            <a:r>
              <a:rPr lang="ru-RU" i="1" dirty="0"/>
              <a:t>вариационного ряда </a:t>
            </a:r>
            <a:r>
              <a:rPr lang="ru-RU" dirty="0"/>
              <a:t>называется сумма произведений всех вариант на соответствующие частоты, деленная на сумму частот: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071802" y="4786322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52610" name="Object 2"/>
          <p:cNvGraphicFramePr>
            <a:graphicFrameLocks noChangeAspect="1"/>
          </p:cNvGraphicFramePr>
          <p:nvPr/>
        </p:nvGraphicFramePr>
        <p:xfrm>
          <a:off x="3000364" y="4357694"/>
          <a:ext cx="2803542" cy="2090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749160" imgH="558720" progId="Equation.3">
                  <p:embed/>
                </p:oleObj>
              </mc:Choice>
              <mc:Fallback>
                <p:oleObj name="Формула" r:id="rId2" imgW="749160" imgH="558720" progId="Equation.3">
                  <p:embed/>
                  <p:pic>
                    <p:nvPicPr>
                      <p:cNvPr id="452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357694"/>
                        <a:ext cx="2803542" cy="209077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Выборочное среднее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52425" indent="0">
              <a:buFont typeface="Wingdings" pitchFamily="2" charset="2"/>
              <a:buNone/>
              <a:defRPr/>
            </a:pPr>
            <a:endParaRPr lang="ru-RU" i="1" dirty="0"/>
          </a:p>
          <a:p>
            <a:pPr marL="352425" indent="0">
              <a:buFont typeface="Wingdings" pitchFamily="2" charset="2"/>
              <a:buNone/>
              <a:defRPr/>
            </a:pPr>
            <a:endParaRPr lang="ru-RU" i="1" dirty="0"/>
          </a:p>
          <a:p>
            <a:pPr marL="352425" indent="0">
              <a:buFont typeface="Wingdings" pitchFamily="2" charset="2"/>
              <a:buNone/>
              <a:defRPr/>
            </a:pPr>
            <a:endParaRPr lang="ru-RU" i="1" dirty="0"/>
          </a:p>
          <a:p>
            <a:pPr marL="352425" indent="0">
              <a:buFont typeface="Wingdings" pitchFamily="2" charset="2"/>
              <a:buNone/>
              <a:defRPr/>
            </a:pPr>
            <a:endParaRPr lang="ru-RU" i="1" dirty="0"/>
          </a:p>
          <a:p>
            <a:pPr marL="352425" indent="0">
              <a:buFont typeface="Wingdings" pitchFamily="2" charset="2"/>
              <a:buNone/>
              <a:defRPr/>
            </a:pPr>
            <a:r>
              <a:rPr lang="ru-RU" i="1" dirty="0"/>
              <a:t>где    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/>
              <a:t>    - варианты дискретного ряда или середины интервалов интервального вариационного ряда; </a:t>
            </a:r>
          </a:p>
          <a:p>
            <a:pPr indent="9525">
              <a:buFont typeface="Wingdings" pitchFamily="2" charset="2"/>
              <a:buNone/>
              <a:defRPr/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/>
              <a:t>- соответствующие им частоты; </a:t>
            </a:r>
          </a:p>
          <a:p>
            <a:pPr indent="9525">
              <a:buFont typeface="Wingdings" pitchFamily="2" charset="2"/>
              <a:buNone/>
              <a:defRPr/>
            </a:pPr>
            <a:r>
              <a:rPr lang="ru-RU" i="1" dirty="0"/>
              <a:t>т – число неповторяющихся вариант или число интервалов</a:t>
            </a:r>
            <a:r>
              <a:rPr lang="en-US" i="1" dirty="0"/>
              <a:t>.</a:t>
            </a:r>
            <a:r>
              <a:rPr lang="ru-RU" i="1" dirty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453634" name="Object 2"/>
          <p:cNvGraphicFramePr>
            <a:graphicFrameLocks noChangeAspect="1"/>
          </p:cNvGraphicFramePr>
          <p:nvPr/>
        </p:nvGraphicFramePr>
        <p:xfrm>
          <a:off x="2928926" y="1285860"/>
          <a:ext cx="2803525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749160" imgH="558720" progId="Equation.3">
                  <p:embed/>
                </p:oleObj>
              </mc:Choice>
              <mc:Fallback>
                <p:oleObj name="Формула" r:id="rId2" imgW="749160" imgH="558720" progId="Equation.3">
                  <p:embed/>
                  <p:pic>
                    <p:nvPicPr>
                      <p:cNvPr id="453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1285860"/>
                        <a:ext cx="2803525" cy="20907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выборочного среднего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Если </a:t>
            </a:r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=c</a:t>
            </a:r>
            <a:r>
              <a:rPr lang="ru-RU" dirty="0"/>
              <a:t>, то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все варианты умножить на одно и тоже число, то выборочное среднее умножается на то же число.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 Выборочное среднее алгебраической суммы нескольких признаков равна такой же сумме выборочных средних этих признаков.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571868" y="1571612"/>
          <a:ext cx="1106494" cy="513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355320" imgH="164880" progId="Equation.3">
                  <p:embed/>
                </p:oleObj>
              </mc:Choice>
              <mc:Fallback>
                <p:oleObj name="Формула" r:id="rId2" imgW="355320" imgH="16488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1571612"/>
                        <a:ext cx="1106494" cy="513729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Медиана</a:t>
            </a:r>
            <a:r>
              <a:rPr lang="en-US" dirty="0"/>
              <a:t> Me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i="1" dirty="0"/>
              <a:t>Медиана </a:t>
            </a:r>
            <a:r>
              <a:rPr lang="en-US" b="1" i="1" dirty="0"/>
              <a:t>  Me</a:t>
            </a:r>
            <a:r>
              <a:rPr lang="ru-RU" i="1" dirty="0"/>
              <a:t> - это значение, которое делит упорядоченное множество данных пополам</a:t>
            </a:r>
            <a:r>
              <a:rPr lang="en-US" i="1" dirty="0"/>
              <a:t>.</a:t>
            </a:r>
          </a:p>
          <a:p>
            <a:r>
              <a:rPr lang="ru-RU" b="1" i="1" dirty="0">
                <a:latin typeface="Book Antiqua" pitchFamily="18" charset="0"/>
              </a:rPr>
              <a:t>Если дискретный вариационный ряд имеет </a:t>
            </a:r>
            <a:r>
              <a:rPr lang="ru-RU" b="1" i="1" dirty="0">
                <a:solidFill>
                  <a:schemeClr val="accent2"/>
                </a:solidFill>
                <a:latin typeface="Book Antiqua" pitchFamily="18" charset="0"/>
              </a:rPr>
              <a:t>четное</a:t>
            </a:r>
            <a:r>
              <a:rPr lang="en-US" b="1" i="1" dirty="0">
                <a:solidFill>
                  <a:schemeClr val="accent2"/>
                </a:solidFill>
                <a:latin typeface="Book Antiqua" pitchFamily="18" charset="0"/>
              </a:rPr>
              <a:t> (2k)</a:t>
            </a:r>
            <a:r>
              <a:rPr lang="ru-RU" b="1" i="1" dirty="0">
                <a:solidFill>
                  <a:schemeClr val="accent2"/>
                </a:solidFill>
                <a:latin typeface="Book Antiqua" pitchFamily="18" charset="0"/>
              </a:rPr>
              <a:t>  </a:t>
            </a:r>
            <a:r>
              <a:rPr lang="ru-RU" b="1" i="1" dirty="0">
                <a:latin typeface="Book Antiqua" pitchFamily="18" charset="0"/>
              </a:rPr>
              <a:t>число членов, то:</a:t>
            </a:r>
            <a:endParaRPr lang="en-US" b="1" i="1" dirty="0">
              <a:latin typeface="Book Antiqua" pitchFamily="18" charset="0"/>
            </a:endParaRPr>
          </a:p>
          <a:p>
            <a:endParaRPr lang="en-US" b="1" i="1" dirty="0">
              <a:latin typeface="Book Antiqua" pitchFamily="18" charset="0"/>
            </a:endParaRPr>
          </a:p>
          <a:p>
            <a:endParaRPr lang="en-US" b="1" i="1" dirty="0">
              <a:latin typeface="Book Antiqua" pitchFamily="18" charset="0"/>
            </a:endParaRPr>
          </a:p>
          <a:p>
            <a:r>
              <a:rPr lang="ru-RU" b="1" i="1" dirty="0">
                <a:latin typeface="Book Antiqua" pitchFamily="18" charset="0"/>
              </a:rPr>
              <a:t>Если дискретный вариационный ряд имеет </a:t>
            </a:r>
            <a:r>
              <a:rPr lang="ru-RU" b="1" i="1" dirty="0">
                <a:solidFill>
                  <a:schemeClr val="accent2"/>
                </a:solidFill>
                <a:latin typeface="Book Antiqua" pitchFamily="18" charset="0"/>
              </a:rPr>
              <a:t>нечетное</a:t>
            </a:r>
            <a:r>
              <a:rPr lang="ru-RU" b="1" i="1" dirty="0">
                <a:latin typeface="Book Antiqua" pitchFamily="18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Book Antiqua" pitchFamily="18" charset="0"/>
              </a:rPr>
              <a:t>(2k-1)</a:t>
            </a:r>
            <a:r>
              <a:rPr lang="ru-RU" b="1" i="1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число значений варьирующего признака, расположенных в порядке возрастания, то медианой этого распределения является варианта</a:t>
            </a:r>
            <a:r>
              <a:rPr lang="ru-RU" dirty="0"/>
              <a:t> </a:t>
            </a:r>
            <a:r>
              <a:rPr lang="en-US" b="1" i="1" dirty="0" err="1">
                <a:solidFill>
                  <a:schemeClr val="accent2"/>
                </a:solidFill>
                <a:latin typeface="Book Antiqua" pitchFamily="18" charset="0"/>
              </a:rPr>
              <a:t>x</a:t>
            </a:r>
            <a:r>
              <a:rPr lang="en-US" b="1" i="1" baseline="-25000" dirty="0" err="1">
                <a:solidFill>
                  <a:schemeClr val="accent2"/>
                </a:solidFill>
                <a:latin typeface="Book Antiqua" pitchFamily="18" charset="0"/>
              </a:rPr>
              <a:t>k</a:t>
            </a:r>
            <a:r>
              <a:rPr lang="ru-RU" b="1" i="1" baseline="-250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endParaRPr lang="ru-RU" b="1" i="1" dirty="0">
              <a:solidFill>
                <a:schemeClr val="accent2"/>
              </a:solidFill>
              <a:latin typeface="Book Antiqua" pitchFamily="18" charset="0"/>
            </a:endParaRPr>
          </a:p>
          <a:p>
            <a:endParaRPr lang="ru-RU" b="1" i="1" dirty="0">
              <a:latin typeface="Book Antiqua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785786" y="3500438"/>
          <a:ext cx="1901173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52200" imgH="393480" progId="Equation.3">
                  <p:embed/>
                </p:oleObj>
              </mc:Choice>
              <mc:Fallback>
                <p:oleObj name="Формула" r:id="rId2" imgW="952200" imgH="39348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3500438"/>
                        <a:ext cx="1901173" cy="78581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7643834" y="5786454"/>
          <a:ext cx="1214446" cy="52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533160" imgH="228600" progId="Equation.3">
                  <p:embed/>
                </p:oleObj>
              </mc:Choice>
              <mc:Fallback>
                <p:oleObj name="Формула" r:id="rId4" imgW="533160" imgH="22860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34" y="5786454"/>
                        <a:ext cx="1214446" cy="52047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Медиана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u="sng" dirty="0"/>
              <a:t>Задача 1. </a:t>
            </a:r>
            <a:r>
              <a:rPr lang="ru-RU" dirty="0"/>
              <a:t>Найдем медиану выборки 9 3 5 8 4 11 13</a:t>
            </a:r>
          </a:p>
          <a:p>
            <a:r>
              <a:rPr lang="ru-RU" dirty="0"/>
              <a:t>Сначала упорядочим выборку по величинам входящих в нее значении. Получим, 3 4 5 8 9 11 13. Поскольку в выборке семь элементов, четвертый по порядку элемент будет иметь значение большее чем первые три и меньшее чем последние три. Таким образом, медианой будет четвертый элемент </a:t>
            </a:r>
            <a:r>
              <a:rPr lang="en-US" dirty="0"/>
              <a:t>Me=</a:t>
            </a:r>
            <a:r>
              <a:rPr lang="ru-RU" dirty="0"/>
              <a:t>8</a:t>
            </a:r>
          </a:p>
          <a:p>
            <a:r>
              <a:rPr lang="ru-RU" b="1" u="sng" dirty="0"/>
              <a:t>Задача 2. </a:t>
            </a:r>
            <a:r>
              <a:rPr lang="ru-RU" dirty="0"/>
              <a:t>Найдем медиану выборки 20, 9, 13, 1, 4, 11.</a:t>
            </a:r>
          </a:p>
          <a:p>
            <a:r>
              <a:rPr lang="ru-RU" dirty="0"/>
              <a:t>Упорядочим выборку 1, 4, 9, 11, 13, 20. Поскольку здесь имеется четное число элементов, то существует две «середины» — 9 и 11.  В этом случае медиана определяется как среднее арифметическое этих значений </a:t>
            </a:r>
            <a:r>
              <a:rPr lang="en-US" dirty="0"/>
              <a:t>Me=(9+11)/2=10.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Мода</a:t>
            </a:r>
            <a:r>
              <a:rPr lang="en-US" dirty="0"/>
              <a:t> Mo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i="1" dirty="0"/>
              <a:t>Мода</a:t>
            </a:r>
            <a:r>
              <a:rPr lang="en-US" b="1" i="1" dirty="0"/>
              <a:t>    Mo</a:t>
            </a:r>
            <a:r>
              <a:rPr lang="ru-RU" b="1" i="1" dirty="0"/>
              <a:t> - </a:t>
            </a:r>
            <a:r>
              <a:rPr lang="ru-RU" i="1" dirty="0"/>
              <a:t>это значение, которое встречается в выборке наиболее часто</a:t>
            </a:r>
            <a:r>
              <a:rPr lang="en-US" i="1" dirty="0"/>
              <a:t>( </a:t>
            </a:r>
            <a:r>
              <a:rPr lang="ru-RU" b="1" i="1" dirty="0">
                <a:latin typeface="Book Antiqua" pitchFamily="18" charset="0"/>
              </a:rPr>
              <a:t>имеющий наибольшую частоту</a:t>
            </a:r>
            <a:r>
              <a:rPr lang="en-US" b="1" i="1" dirty="0">
                <a:latin typeface="Book Antiqua" pitchFamily="18" charset="0"/>
              </a:rPr>
              <a:t>)</a:t>
            </a:r>
            <a:r>
              <a:rPr lang="ru-RU" b="1" i="1" dirty="0">
                <a:latin typeface="Book Antiqua" pitchFamily="18" charset="0"/>
              </a:rPr>
              <a:t>.</a:t>
            </a:r>
            <a:endParaRPr lang="ru-RU" dirty="0"/>
          </a:p>
          <a:p>
            <a:r>
              <a:rPr lang="en-US" dirty="0"/>
              <a:t>1</a:t>
            </a:r>
            <a:r>
              <a:rPr lang="ru-RU" dirty="0"/>
              <a:t>. В случае, когда все значения в выборке встречаются одинаково часто, принято считать, что этот выборочный ряд не имеет моды.</a:t>
            </a:r>
          </a:p>
          <a:p>
            <a:r>
              <a:rPr lang="ru-RU" dirty="0"/>
              <a:t>Например, 556677 — в этой выборке моды нет.</a:t>
            </a:r>
          </a:p>
          <a:p>
            <a:r>
              <a:rPr lang="en-US" dirty="0"/>
              <a:t>2</a:t>
            </a:r>
            <a:r>
              <a:rPr lang="ru-RU" dirty="0"/>
              <a:t>. Когда два соседних (смежных) значения имеют одинаковую частоту и их частота больше частот любых других значений, мода вычисляется как среднее арифметическое этих двух значении.</a:t>
            </a:r>
          </a:p>
          <a:p>
            <a:r>
              <a:rPr lang="ru-RU" dirty="0"/>
              <a:t>Например, в выборке 1 </a:t>
            </a:r>
            <a:r>
              <a:rPr lang="ru-RU" dirty="0">
                <a:solidFill>
                  <a:srgbClr val="FFFF00"/>
                </a:solidFill>
              </a:rPr>
              <a:t>2 2 2 </a:t>
            </a:r>
            <a:r>
              <a:rPr lang="ru-RU" dirty="0">
                <a:solidFill>
                  <a:srgbClr val="FFFFCC"/>
                </a:solidFill>
              </a:rPr>
              <a:t>5 5 5 </a:t>
            </a:r>
            <a:r>
              <a:rPr lang="ru-RU" dirty="0"/>
              <a:t>6 частоты рядом расположенных значении 2 и 5 совпадают и равняются 3. Эта частота больше чем частота других значении 1 и 6 (у которых она равна 1).</a:t>
            </a:r>
            <a:r>
              <a:rPr lang="en-US" dirty="0"/>
              <a:t> </a:t>
            </a:r>
            <a:r>
              <a:rPr lang="ru-RU" dirty="0"/>
              <a:t>Следовательно, модой этого ряда будет величина (2+5)</a:t>
            </a:r>
            <a:r>
              <a:rPr lang="en-US" dirty="0"/>
              <a:t>/2=3,5</a:t>
            </a:r>
          </a:p>
          <a:p>
            <a:r>
              <a:rPr lang="en-US" dirty="0"/>
              <a:t>3. </a:t>
            </a:r>
            <a:r>
              <a:rPr lang="ru-RU" dirty="0"/>
              <a:t>Если два несмежных (не соседних) значения в выборке имеют равные частоты которые больше частот любого другого значения, то выделяют две моды. Например, в ряду 10 </a:t>
            </a:r>
            <a:r>
              <a:rPr lang="ru-RU" dirty="0">
                <a:solidFill>
                  <a:srgbClr val="FFFF00"/>
                </a:solidFill>
              </a:rPr>
              <a:t>11 11 11 </a:t>
            </a:r>
            <a:r>
              <a:rPr lang="ru-RU" dirty="0"/>
              <a:t>12 13 </a:t>
            </a:r>
            <a:r>
              <a:rPr lang="ru-RU" dirty="0">
                <a:solidFill>
                  <a:srgbClr val="FFFF00"/>
                </a:solidFill>
              </a:rPr>
              <a:t>14 14 14 </a:t>
            </a:r>
            <a:r>
              <a:rPr lang="ru-RU" dirty="0"/>
              <a:t>17 модами являются значения 11 и 14. В таком случае говорят, что выборка является </a:t>
            </a:r>
            <a:r>
              <a:rPr lang="ru-RU" b="1" dirty="0"/>
              <a:t>бимодальной.</a:t>
            </a:r>
            <a:r>
              <a:rPr lang="en-US" b="1" dirty="0"/>
              <a:t> Mo</a:t>
            </a:r>
            <a:r>
              <a:rPr lang="en-US" b="1" baseline="-25000" dirty="0"/>
              <a:t>1</a:t>
            </a:r>
            <a:r>
              <a:rPr lang="en-US" b="1" dirty="0"/>
              <a:t>=11</a:t>
            </a:r>
            <a:r>
              <a:rPr lang="ru-RU" b="1" dirty="0"/>
              <a:t> и </a:t>
            </a:r>
            <a:r>
              <a:rPr lang="en-US" b="1" dirty="0"/>
              <a:t>Mo</a:t>
            </a:r>
            <a:r>
              <a:rPr lang="en-US" b="1" baseline="-25000" dirty="0"/>
              <a:t>2</a:t>
            </a:r>
            <a:r>
              <a:rPr lang="en-US" b="1" dirty="0"/>
              <a:t>=14.</a:t>
            </a:r>
            <a:endParaRPr lang="ru-RU" dirty="0"/>
          </a:p>
          <a:p>
            <a:r>
              <a:rPr lang="ru-RU" dirty="0"/>
              <a:t>Могут существовать и так называемые </a:t>
            </a:r>
            <a:r>
              <a:rPr lang="ru-RU" dirty="0" err="1"/>
              <a:t>мультимодальные</a:t>
            </a:r>
            <a:r>
              <a:rPr lang="ru-RU" dirty="0"/>
              <a:t> распределения, имеющие более двух вершин (мод)</a:t>
            </a:r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i="1" dirty="0">
                <a:latin typeface="Book Antiqua" pitchFamily="18" charset="0"/>
              </a:rPr>
              <a:t>Для интервальных вариационных рядов при нахождении</a:t>
            </a:r>
            <a:r>
              <a:rPr lang="en-US" b="1" i="1" dirty="0">
                <a:latin typeface="Book Antiqua" pitchFamily="18" charset="0"/>
              </a:rPr>
              <a:t> Mo</a:t>
            </a:r>
            <a:r>
              <a:rPr lang="ru-RU" b="1" i="1" dirty="0">
                <a:latin typeface="Book Antiqua" pitchFamily="18" charset="0"/>
              </a:rPr>
              <a:t> используют формулу:</a:t>
            </a:r>
          </a:p>
          <a:p>
            <a:endParaRPr lang="ru-RU" b="1" i="1" dirty="0">
              <a:latin typeface="Book Antiqua" pitchFamily="18" charset="0"/>
            </a:endParaRPr>
          </a:p>
          <a:p>
            <a:endParaRPr lang="ru-RU" b="1" i="1" dirty="0">
              <a:latin typeface="Book Antiqua" pitchFamily="18" charset="0"/>
            </a:endParaRPr>
          </a:p>
          <a:p>
            <a:endParaRPr lang="ru-RU" b="1" i="1" dirty="0">
              <a:latin typeface="Book Antiqua" pitchFamily="18" charset="0"/>
            </a:endParaRPr>
          </a:p>
          <a:p>
            <a:endParaRPr lang="ru-RU" b="1" i="1" dirty="0">
              <a:latin typeface="Book Antiqua" pitchFamily="18" charset="0"/>
            </a:endParaRPr>
          </a:p>
          <a:p>
            <a:pPr algn="just">
              <a:buNone/>
            </a:pPr>
            <a:r>
              <a:rPr lang="ru-RU" b="1" i="1" dirty="0">
                <a:solidFill>
                  <a:srgbClr val="009900"/>
                </a:solidFill>
                <a:latin typeface="Book Antiqua" pitchFamily="18" charset="0"/>
              </a:rPr>
              <a:t>  </a:t>
            </a:r>
            <a:r>
              <a:rPr lang="en-US" b="1" i="1" dirty="0">
                <a:solidFill>
                  <a:srgbClr val="009900"/>
                </a:solidFill>
                <a:latin typeface="Book Antiqua" pitchFamily="18" charset="0"/>
              </a:rPr>
              <a:t> x</a:t>
            </a:r>
            <a:r>
              <a:rPr lang="en-US" b="1" i="1" baseline="-25000" dirty="0">
                <a:solidFill>
                  <a:srgbClr val="009900"/>
                </a:solidFill>
                <a:latin typeface="Book Antiqua" pitchFamily="18" charset="0"/>
              </a:rPr>
              <a:t>0</a:t>
            </a:r>
            <a:r>
              <a:rPr lang="en-US" b="1" i="1" baseline="-25000" dirty="0"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- начало модального интервала;</a:t>
            </a:r>
          </a:p>
          <a:p>
            <a:pPr algn="just">
              <a:buNone/>
            </a:pPr>
            <a:r>
              <a:rPr lang="en-US" b="1" i="1" dirty="0">
                <a:solidFill>
                  <a:srgbClr val="009900"/>
                </a:solidFill>
                <a:latin typeface="Book Antiqua" pitchFamily="18" charset="0"/>
              </a:rPr>
              <a:t>    h</a:t>
            </a:r>
            <a:r>
              <a:rPr lang="en-US" b="1" i="1" dirty="0"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- длина частичного интервала;</a:t>
            </a:r>
          </a:p>
          <a:p>
            <a:pPr algn="just">
              <a:buNone/>
            </a:pPr>
            <a:r>
              <a:rPr lang="en-US" b="1" i="1" dirty="0">
                <a:solidFill>
                  <a:srgbClr val="009900"/>
                </a:solidFill>
                <a:latin typeface="Book Antiqua" pitchFamily="18" charset="0"/>
              </a:rPr>
              <a:t>   m</a:t>
            </a:r>
            <a:r>
              <a:rPr lang="en-US" b="1" i="1" baseline="-25000" dirty="0">
                <a:solidFill>
                  <a:srgbClr val="009900"/>
                </a:solidFill>
                <a:latin typeface="Book Antiqua" pitchFamily="18" charset="0"/>
              </a:rPr>
              <a:t>i</a:t>
            </a:r>
            <a:r>
              <a:rPr lang="en-US" b="1" i="1" baseline="-25000" dirty="0"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- частота модального интервала;</a:t>
            </a:r>
          </a:p>
          <a:p>
            <a:pPr algn="just">
              <a:buNone/>
            </a:pPr>
            <a:r>
              <a:rPr lang="en-US" b="1" i="1" dirty="0">
                <a:solidFill>
                  <a:srgbClr val="009900"/>
                </a:solidFill>
                <a:latin typeface="Book Antiqua" pitchFamily="18" charset="0"/>
              </a:rPr>
              <a:t>   m</a:t>
            </a:r>
            <a:r>
              <a:rPr lang="en-US" b="1" i="1" baseline="-25000" dirty="0">
                <a:solidFill>
                  <a:srgbClr val="009900"/>
                </a:solidFill>
                <a:latin typeface="Book Antiqua" pitchFamily="18" charset="0"/>
              </a:rPr>
              <a:t>i-1</a:t>
            </a:r>
            <a:r>
              <a:rPr lang="en-US" b="1" i="1" baseline="-25000" dirty="0"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- частота </a:t>
            </a:r>
            <a:r>
              <a:rPr lang="ru-RU" b="1" i="1" dirty="0" err="1">
                <a:latin typeface="Book Antiqua" pitchFamily="18" charset="0"/>
              </a:rPr>
              <a:t>предмодального</a:t>
            </a:r>
            <a:r>
              <a:rPr lang="ru-RU" b="1" i="1" dirty="0">
                <a:latin typeface="Book Antiqua" pitchFamily="18" charset="0"/>
              </a:rPr>
              <a:t> интервала;</a:t>
            </a:r>
          </a:p>
          <a:p>
            <a:pPr algn="just">
              <a:buNone/>
            </a:pPr>
            <a:r>
              <a:rPr lang="en-US" b="1" i="1" dirty="0">
                <a:solidFill>
                  <a:srgbClr val="009900"/>
                </a:solidFill>
                <a:latin typeface="Book Antiqua" pitchFamily="18" charset="0"/>
              </a:rPr>
              <a:t>  m</a:t>
            </a:r>
            <a:r>
              <a:rPr lang="en-US" b="1" i="1" baseline="-25000" dirty="0">
                <a:solidFill>
                  <a:srgbClr val="009900"/>
                </a:solidFill>
                <a:latin typeface="Book Antiqua" pitchFamily="18" charset="0"/>
              </a:rPr>
              <a:t>i+1</a:t>
            </a:r>
            <a:r>
              <a:rPr lang="en-US" b="1" i="1" baseline="-25000" dirty="0">
                <a:latin typeface="Book Antiqua" pitchFamily="18" charset="0"/>
              </a:rPr>
              <a:t> </a:t>
            </a:r>
            <a:r>
              <a:rPr lang="ru-RU" b="1" i="1" dirty="0">
                <a:latin typeface="Book Antiqua" pitchFamily="18" charset="0"/>
              </a:rPr>
              <a:t>- частота </a:t>
            </a:r>
            <a:r>
              <a:rPr lang="ru-RU" b="1" i="1" dirty="0" err="1">
                <a:latin typeface="Book Antiqua" pitchFamily="18" charset="0"/>
              </a:rPr>
              <a:t>послемодального</a:t>
            </a:r>
            <a:r>
              <a:rPr lang="ru-RU" b="1" i="1" dirty="0">
                <a:latin typeface="Book Antiqua" pitchFamily="18" charset="0"/>
              </a:rPr>
              <a:t> интервала.</a:t>
            </a:r>
          </a:p>
          <a:p>
            <a:endParaRPr lang="ru-RU" b="1" i="1" dirty="0">
              <a:solidFill>
                <a:srgbClr val="009900"/>
              </a:solidFill>
              <a:latin typeface="Book Antiqua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  <p:graphicFrame>
        <p:nvGraphicFramePr>
          <p:cNvPr id="456707" name="Object 4"/>
          <p:cNvGraphicFramePr>
            <a:graphicFrameLocks noChangeAspect="1"/>
          </p:cNvGraphicFramePr>
          <p:nvPr/>
        </p:nvGraphicFramePr>
        <p:xfrm>
          <a:off x="500034" y="2428868"/>
          <a:ext cx="7924800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46400" imgH="508000" progId="">
                  <p:embed/>
                </p:oleObj>
              </mc:Choice>
              <mc:Fallback>
                <p:oleObj r:id="rId2" imgW="2946400" imgH="508000" progId="">
                  <p:embed/>
                  <p:pic>
                    <p:nvPicPr>
                      <p:cNvPr id="45670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2428868"/>
                        <a:ext cx="7924800" cy="13604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785786" y="3429000"/>
            <a:ext cx="285752" cy="2143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42910" y="2643182"/>
            <a:ext cx="357190" cy="2143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4D2A6-7769-8D9C-E40D-AE1B4ECC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95C896-4DC7-5E6F-F099-0C0E8A75E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своих вариантов ИЗ вам будет нужно найти не конкретные медиану и моду, а лишь </a:t>
            </a:r>
            <a:r>
              <a:rPr lang="ru-RU" dirty="0">
                <a:solidFill>
                  <a:srgbClr val="FF0000"/>
                </a:solidFill>
              </a:rPr>
              <a:t>полуинтервалы</a:t>
            </a:r>
            <a:r>
              <a:rPr lang="ru-RU" dirty="0"/>
              <a:t>, их содержащие.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AD2F9B-E724-CEA6-39DE-65D88B18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71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Показатели рассеивания (вариации)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Размах</a:t>
            </a:r>
            <a:r>
              <a:rPr lang="en-US" dirty="0"/>
              <a:t> </a:t>
            </a:r>
            <a:r>
              <a:rPr lang="ru-RU" dirty="0"/>
              <a:t>вариационного ряда</a:t>
            </a:r>
            <a:r>
              <a:rPr lang="en-US" dirty="0"/>
              <a:t> 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>
                <a:latin typeface="Book Antiqua" pitchFamily="18" charset="0"/>
              </a:rPr>
              <a:t>Размах варьирования </a:t>
            </a:r>
            <a:r>
              <a:rPr lang="ru-RU" dirty="0">
                <a:latin typeface="Book Antiqua" pitchFamily="18" charset="0"/>
              </a:rPr>
              <a:t>определяется по формуле </a:t>
            </a:r>
            <a:endParaRPr lang="en-US" dirty="0">
              <a:latin typeface="Book Antiqua" pitchFamily="18" charset="0"/>
            </a:endParaRPr>
          </a:p>
          <a:p>
            <a:endParaRPr lang="en-US" dirty="0">
              <a:latin typeface="Book Antiqua" pitchFamily="18" charset="0"/>
            </a:endParaRPr>
          </a:p>
          <a:p>
            <a:r>
              <a:rPr lang="ru-RU" dirty="0"/>
              <a:t>Например, в ряду 10 </a:t>
            </a:r>
            <a:r>
              <a:rPr lang="ru-RU" dirty="0">
                <a:solidFill>
                  <a:srgbClr val="FFFF00"/>
                </a:solidFill>
              </a:rPr>
              <a:t>11 11 11 </a:t>
            </a:r>
            <a:r>
              <a:rPr lang="ru-RU" dirty="0"/>
              <a:t>12 13 </a:t>
            </a:r>
            <a:r>
              <a:rPr lang="ru-RU" dirty="0">
                <a:solidFill>
                  <a:srgbClr val="FFFF00"/>
                </a:solidFill>
              </a:rPr>
              <a:t>14 14 14 </a:t>
            </a:r>
            <a:r>
              <a:rPr lang="ru-RU" dirty="0"/>
              <a:t>17</a:t>
            </a:r>
            <a:r>
              <a:rPr lang="en-US" dirty="0"/>
              <a:t> </a:t>
            </a:r>
            <a:r>
              <a:rPr lang="ru-RU" dirty="0"/>
              <a:t>размах равен </a:t>
            </a:r>
            <a:r>
              <a:rPr lang="en-US" dirty="0"/>
              <a:t>R=</a:t>
            </a:r>
            <a:r>
              <a:rPr lang="ru-RU" dirty="0"/>
              <a:t>17-10=7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071802" y="2285992"/>
          <a:ext cx="2071702" cy="50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39600" imgH="228600" progId="Equation.3">
                  <p:embed/>
                </p:oleObj>
              </mc:Choice>
              <mc:Fallback>
                <p:oleObj name="Формула" r:id="rId2" imgW="939600" imgH="2286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2285992"/>
                        <a:ext cx="2071702" cy="50392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Выборочная дисперсия </a:t>
            </a:r>
            <a:r>
              <a:rPr lang="en-US" dirty="0"/>
              <a:t>S</a:t>
            </a:r>
            <a:r>
              <a:rPr lang="en-US" baseline="30000" dirty="0"/>
              <a:t>2</a:t>
            </a:r>
            <a:endParaRPr lang="ru-RU" baseline="30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Выборочной дисперсией называется средняя арифметическая квадратов отклонений вариант от их выборочного среднего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На практике удобно использовать формулу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2285984" y="3714752"/>
          <a:ext cx="2571768" cy="847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155600" imgH="380880" progId="Equation.3">
                  <p:embed/>
                </p:oleObj>
              </mc:Choice>
              <mc:Fallback>
                <p:oleObj name="Формула" r:id="rId2" imgW="1155600" imgH="38088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3714752"/>
                        <a:ext cx="2571768" cy="8478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/>
        </p:nvGraphicFramePr>
        <p:xfrm>
          <a:off x="3000364" y="5429263"/>
          <a:ext cx="2643206" cy="781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901440" imgH="266400" progId="Equation.3">
                  <p:embed/>
                </p:oleObj>
              </mc:Choice>
              <mc:Fallback>
                <p:oleObj name="Формула" r:id="rId4" imgW="901440" imgH="266400" progId="Equation.3">
                  <p:embed/>
                  <p:pic>
                    <p:nvPicPr>
                      <p:cNvPr id="6" name="Объект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5429263"/>
                        <a:ext cx="2643206" cy="78179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Выборочное среднее квадратическое отклонение </a:t>
            </a:r>
            <a:r>
              <a:rPr lang="en-US" dirty="0"/>
              <a:t>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Выборочное среднее квадратическое отклонение определяется как корень из выборочной дисперсии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286250" y="3302000"/>
          <a:ext cx="1500196" cy="66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571320" imgH="253800" progId="Equation.3">
                  <p:embed/>
                </p:oleObj>
              </mc:Choice>
              <mc:Fallback>
                <p:oleObj name="Формула" r:id="rId2" imgW="571320" imgH="25380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3302000"/>
                        <a:ext cx="1500196" cy="66675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Коэффициент вариации </a:t>
            </a:r>
            <a:r>
              <a:rPr lang="en-US" dirty="0"/>
              <a:t>V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>
                <a:latin typeface="Book Antiqua" pitchFamily="18" charset="0"/>
              </a:rPr>
              <a:t>Коэффициент </a:t>
            </a:r>
            <a:r>
              <a:rPr lang="ru-RU" i="1" dirty="0"/>
              <a:t>вариации </a:t>
            </a:r>
            <a:r>
              <a:rPr lang="ru-RU" dirty="0"/>
              <a:t>характеризует изменчивость измерений относительно среднего</a:t>
            </a:r>
            <a:r>
              <a:rPr lang="en-US" dirty="0"/>
              <a:t> </a:t>
            </a:r>
            <a:r>
              <a:rPr lang="ru-RU" dirty="0"/>
              <a:t>значения. 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ru-RU" dirty="0"/>
              <a:t>Чем меньше показатель, тем однороднее вариационный ряд. </a:t>
            </a:r>
          </a:p>
          <a:p>
            <a:r>
              <a:rPr lang="ru-RU" dirty="0"/>
              <a:t>В статистике выборочная совокупность считается однородной при </a:t>
            </a:r>
            <a:r>
              <a:rPr lang="en-US" dirty="0"/>
              <a:t>V≤</a:t>
            </a:r>
            <a:r>
              <a:rPr lang="ru-RU" dirty="0"/>
              <a:t>33%.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2857488" y="3143248"/>
          <a:ext cx="2269004" cy="107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876240" imgH="444240" progId="Equation.3">
                  <p:embed/>
                </p:oleObj>
              </mc:Choice>
              <mc:Fallback>
                <p:oleObj name="Формула" r:id="rId2" imgW="876240" imgH="4442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3143248"/>
                        <a:ext cx="2269004" cy="107157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Пример 1.</a:t>
            </a:r>
            <a:br>
              <a:rPr lang="ru-RU" sz="3600" dirty="0"/>
            </a:br>
            <a:r>
              <a:rPr lang="ru-RU" sz="3600" dirty="0"/>
              <a:t>Вычислим числовые характеристики полученного вариационного ряда: </a:t>
            </a:r>
            <a:r>
              <a:rPr lang="en-US" sz="3600" dirty="0"/>
              <a:t>n=45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214414" y="2143116"/>
            <a:ext cx="378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785786" y="1857364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i</a:t>
                      </a:r>
                      <a:endParaRPr lang="ru-RU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8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95308" y="2786058"/>
          <a:ext cx="5776956" cy="1184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5080000" imgH="1041400" progId="Equation.3">
                  <p:embed/>
                </p:oleObj>
              </mc:Choice>
              <mc:Fallback>
                <p:oleObj name="Формула" r:id="rId2" imgW="5080000" imgH="1041400" progId="Equation.3">
                  <p:embed/>
                  <p:pic>
                    <p:nvPicPr>
                      <p:cNvPr id="4618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08" y="2786058"/>
                        <a:ext cx="5776956" cy="118427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7" name="Object 6"/>
          <p:cNvGraphicFramePr>
            <a:graphicFrameLocks noChangeAspect="1"/>
          </p:cNvGraphicFramePr>
          <p:nvPr/>
        </p:nvGraphicFramePr>
        <p:xfrm>
          <a:off x="693994" y="4071942"/>
          <a:ext cx="6878402" cy="121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6197600" imgH="1092200" progId="Equation.3">
                  <p:embed/>
                </p:oleObj>
              </mc:Choice>
              <mc:Fallback>
                <p:oleObj name="Формула" r:id="rId4" imgW="6197600" imgH="1092200" progId="Equation.3">
                  <p:embed/>
                  <p:pic>
                    <p:nvPicPr>
                      <p:cNvPr id="4618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94" y="4071942"/>
                        <a:ext cx="6878402" cy="121444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8" name="Object 8"/>
          <p:cNvGraphicFramePr>
            <a:graphicFrameLocks noChangeAspect="1"/>
          </p:cNvGraphicFramePr>
          <p:nvPr/>
        </p:nvGraphicFramePr>
        <p:xfrm>
          <a:off x="723928" y="5357826"/>
          <a:ext cx="7848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5600700" imgH="342900" progId="Equation.3">
                  <p:embed/>
                </p:oleObj>
              </mc:Choice>
              <mc:Fallback>
                <p:oleObj name="Формула" r:id="rId6" imgW="5600700" imgH="342900" progId="Equation.3">
                  <p:embed/>
                  <p:pic>
                    <p:nvPicPr>
                      <p:cNvPr id="4618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28" y="5357826"/>
                        <a:ext cx="7848600" cy="4810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9" name="Object 12"/>
          <p:cNvGraphicFramePr>
            <a:graphicFrameLocks noChangeAspect="1"/>
          </p:cNvGraphicFramePr>
          <p:nvPr/>
        </p:nvGraphicFramePr>
        <p:xfrm>
          <a:off x="900111" y="5964258"/>
          <a:ext cx="3529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2476500" imgH="279400" progId="Equation.3">
                  <p:embed/>
                </p:oleObj>
              </mc:Choice>
              <mc:Fallback>
                <p:oleObj name="Формула" r:id="rId8" imgW="2476500" imgH="279400" progId="Equation.3">
                  <p:embed/>
                  <p:pic>
                    <p:nvPicPr>
                      <p:cNvPr id="4618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1" y="5964258"/>
                        <a:ext cx="3529013" cy="3937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0" name="Object 14"/>
          <p:cNvGraphicFramePr>
            <a:graphicFrameLocks noChangeAspect="1"/>
          </p:cNvGraphicFramePr>
          <p:nvPr/>
        </p:nvGraphicFramePr>
        <p:xfrm>
          <a:off x="5011738" y="5940425"/>
          <a:ext cx="3443287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2400120" imgH="482400" progId="Equation.3">
                  <p:embed/>
                </p:oleObj>
              </mc:Choice>
              <mc:Fallback>
                <p:oleObj name="Формула" r:id="rId10" imgW="2400120" imgH="482400" progId="Equation.3">
                  <p:embed/>
                  <p:pic>
                    <p:nvPicPr>
                      <p:cNvPr id="46183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738" y="5940425"/>
                        <a:ext cx="3443287" cy="6937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7512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Пример </a:t>
            </a:r>
            <a:r>
              <a:rPr lang="en-US" sz="2800" dirty="0"/>
              <a:t>2</a:t>
            </a:r>
            <a:endParaRPr lang="ru-RU" sz="2800" dirty="0"/>
          </a:p>
        </p:txBody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457200" y="692150"/>
            <a:ext cx="8229600" cy="865188"/>
          </a:xfrm>
        </p:spPr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ru-RU" sz="2400"/>
              <a:t>Приведены данные об урожайности ржи на различных участках поля: 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619250" y="1773238"/>
          <a:ext cx="3651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03112" imgH="279279" progId="Equation.3">
                  <p:embed/>
                </p:oleObj>
              </mc:Choice>
              <mc:Fallback>
                <p:oleObj name="Формула" r:id="rId2" imgW="203112" imgH="279279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365125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0" name="Group 96"/>
          <p:cNvGraphicFramePr>
            <a:graphicFrameLocks noGrp="1"/>
          </p:cNvGraphicFramePr>
          <p:nvPr/>
        </p:nvGraphicFramePr>
        <p:xfrm>
          <a:off x="539750" y="1557338"/>
          <a:ext cx="7920038" cy="1706844"/>
        </p:xfrm>
        <a:graphic>
          <a:graphicData uri="http://schemas.openxmlformats.org/drawingml/2006/table">
            <a:tbl>
              <a:tblPr/>
              <a:tblGrid>
                <a:gridCol w="1727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4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0909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Урожайность, ц/га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[9-12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[12-15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[15-18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[18-21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[21-24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[24-27</a:t>
                      </a: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65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Доля участка в общей площади, %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15" name="Rectangle 97"/>
          <p:cNvSpPr>
            <a:spLocks noChangeArrowheads="1"/>
          </p:cNvSpPr>
          <p:nvPr/>
        </p:nvSpPr>
        <p:spPr bwMode="auto">
          <a:xfrm>
            <a:off x="214282" y="3571876"/>
            <a:ext cx="86423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ru-RU" dirty="0"/>
              <a:t>Найти выборочную среднюю, дисперсию, коэффициент вариации и размах урожайности ржи.</a:t>
            </a:r>
          </a:p>
          <a:p>
            <a:r>
              <a:rPr lang="ru-RU" b="1" i="1" dirty="0"/>
              <a:t>Решение.</a:t>
            </a:r>
            <a:r>
              <a:rPr lang="ru-RU" i="1" dirty="0"/>
              <a:t> </a:t>
            </a:r>
            <a:r>
              <a:rPr lang="ru-RU" dirty="0"/>
              <a:t>Так как имеем интервальный ряд, то расчеты будут производиться по серединам интервалов. Преобразуем исходную таблицу к виду:</a:t>
            </a:r>
          </a:p>
        </p:txBody>
      </p:sp>
      <p:graphicFrame>
        <p:nvGraphicFramePr>
          <p:cNvPr id="67824" name="Group 240"/>
          <p:cNvGraphicFramePr>
            <a:graphicFrameLocks noGrp="1"/>
          </p:cNvGraphicFramePr>
          <p:nvPr/>
        </p:nvGraphicFramePr>
        <p:xfrm>
          <a:off x="250825" y="4797425"/>
          <a:ext cx="8208963" cy="1097202"/>
        </p:xfrm>
        <a:graphic>
          <a:graphicData uri="http://schemas.openxmlformats.org/drawingml/2006/table">
            <a:tbl>
              <a:tblPr/>
              <a:tblGrid>
                <a:gridCol w="117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х</a:t>
                      </a:r>
                      <a:r>
                        <a:rPr kumimoji="0" 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i</a:t>
                      </a:r>
                      <a:endParaRPr kumimoji="0" lang="ru-RU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[9-12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[12-15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[15-18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[18-21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[21-24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[24-27</a:t>
                      </a: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i</a:t>
                      </a:r>
                      <a:endParaRPr kumimoji="0" lang="ru-RU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25,5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  <a:r>
                        <a:rPr kumimoji="0" 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i</a:t>
                      </a:r>
                      <a:endParaRPr kumimoji="0" lang="ru-RU" sz="1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1" name="Object 4"/>
          <p:cNvGraphicFramePr>
            <a:graphicFrameLocks noChangeAspect="1"/>
          </p:cNvGraphicFramePr>
          <p:nvPr/>
        </p:nvGraphicFramePr>
        <p:xfrm>
          <a:off x="539750" y="404813"/>
          <a:ext cx="748823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5118100" imgH="1066800" progId="Equation.3">
                  <p:embed/>
                </p:oleObj>
              </mc:Choice>
              <mc:Fallback>
                <p:oleObj name="Формула" r:id="rId2" imgW="5118100" imgH="1066800" progId="Equation.3">
                  <p:embed/>
                  <p:pic>
                    <p:nvPicPr>
                      <p:cNvPr id="174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7488238" cy="15621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7"/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3" name="Object 6"/>
          <p:cNvGraphicFramePr>
            <a:graphicFrameLocks noChangeAspect="1"/>
          </p:cNvGraphicFramePr>
          <p:nvPr/>
        </p:nvGraphicFramePr>
        <p:xfrm>
          <a:off x="539750" y="2060575"/>
          <a:ext cx="813752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5892800" imgH="1092200" progId="Equation.3">
                  <p:embed/>
                </p:oleObj>
              </mc:Choice>
              <mc:Fallback>
                <p:oleObj name="Формула" r:id="rId4" imgW="5892800" imgH="1092200" progId="Equation.3">
                  <p:embed/>
                  <p:pic>
                    <p:nvPicPr>
                      <p:cNvPr id="174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060575"/>
                        <a:ext cx="8137525" cy="15113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9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5" name="Object 8"/>
          <p:cNvGraphicFramePr>
            <a:graphicFrameLocks noChangeAspect="1"/>
          </p:cNvGraphicFramePr>
          <p:nvPr/>
        </p:nvGraphicFramePr>
        <p:xfrm>
          <a:off x="611188" y="3860800"/>
          <a:ext cx="71294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6" imgW="4648200" imgH="342900" progId="Equation.3">
                  <p:embed/>
                </p:oleObj>
              </mc:Choice>
              <mc:Fallback>
                <p:oleObj name="Формула" r:id="rId6" imgW="4648200" imgH="342900" progId="Equation.3">
                  <p:embed/>
                  <p:pic>
                    <p:nvPicPr>
                      <p:cNvPr id="1741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60800"/>
                        <a:ext cx="7129462" cy="5254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11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7" name="Object 10"/>
          <p:cNvGraphicFramePr>
            <a:graphicFrameLocks noChangeAspect="1"/>
          </p:cNvGraphicFramePr>
          <p:nvPr/>
        </p:nvGraphicFramePr>
        <p:xfrm>
          <a:off x="684213" y="4581525"/>
          <a:ext cx="2016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8" imgW="1397000" imgH="292100" progId="Equation.3">
                  <p:embed/>
                </p:oleObj>
              </mc:Choice>
              <mc:Fallback>
                <p:oleObj name="Формула" r:id="rId8" imgW="1397000" imgH="292100" progId="Equation.3">
                  <p:embed/>
                  <p:pic>
                    <p:nvPicPr>
                      <p:cNvPr id="1741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2016125" cy="4254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3"/>
          <p:cNvSpPr>
            <a:spLocks noChangeArrowheads="1"/>
          </p:cNvSpPr>
          <p:nvPr/>
        </p:nvSpPr>
        <p:spPr bwMode="auto">
          <a:xfrm>
            <a:off x="0" y="4076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9" name="Object 12"/>
          <p:cNvGraphicFramePr>
            <a:graphicFrameLocks noChangeAspect="1"/>
          </p:cNvGraphicFramePr>
          <p:nvPr/>
        </p:nvGraphicFramePr>
        <p:xfrm>
          <a:off x="684213" y="5300663"/>
          <a:ext cx="29527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0" imgW="2183452" imgH="545863" progId="Equation.3">
                  <p:embed/>
                </p:oleObj>
              </mc:Choice>
              <mc:Fallback>
                <p:oleObj name="Формула" r:id="rId10" imgW="2183452" imgH="545863" progId="Equation.3">
                  <p:embed/>
                  <p:pic>
                    <p:nvPicPr>
                      <p:cNvPr id="174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00663"/>
                        <a:ext cx="2952750" cy="73501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Rectangle 1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21" name="Object 14"/>
          <p:cNvGraphicFramePr>
            <a:graphicFrameLocks noChangeAspect="1"/>
          </p:cNvGraphicFramePr>
          <p:nvPr/>
        </p:nvGraphicFramePr>
        <p:xfrm>
          <a:off x="684213" y="6189684"/>
          <a:ext cx="20161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12" imgW="1295400" imgH="203200" progId="Equation.3">
                  <p:embed/>
                </p:oleObj>
              </mc:Choice>
              <mc:Fallback>
                <p:oleObj name="Формула" r:id="rId12" imgW="1295400" imgH="203200" progId="Equation.3">
                  <p:embed/>
                  <p:pic>
                    <p:nvPicPr>
                      <p:cNvPr id="1742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6189684"/>
                        <a:ext cx="2016125" cy="3111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сегодня все,  всем 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4214</TotalTime>
  <Words>922</Words>
  <Application>Microsoft Office PowerPoint</Application>
  <PresentationFormat>Экран (4:3)</PresentationFormat>
  <Paragraphs>157</Paragraphs>
  <Slides>20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Book Antiqua</vt:lpstr>
      <vt:lpstr>Calibri</vt:lpstr>
      <vt:lpstr>Cambria</vt:lpstr>
      <vt:lpstr>Rockwell</vt:lpstr>
      <vt:lpstr>Times New Roman</vt:lpstr>
      <vt:lpstr>Wingdings</vt:lpstr>
      <vt:lpstr>Wingdings 2</vt:lpstr>
      <vt:lpstr>Литейная</vt:lpstr>
      <vt:lpstr>Формула</vt:lpstr>
      <vt:lpstr>Теория вероятностей и математическая статистика. Лекция 11</vt:lpstr>
      <vt:lpstr>Числовые характеристики вариационного ряда</vt:lpstr>
      <vt:lpstr>Средние величины</vt:lpstr>
      <vt:lpstr>Выборочное среднее (средняя арифметическая)</vt:lpstr>
      <vt:lpstr>Выборочное среднее</vt:lpstr>
      <vt:lpstr>Свойства выборочного среднего</vt:lpstr>
      <vt:lpstr>Медиана Me</vt:lpstr>
      <vt:lpstr>Медиана</vt:lpstr>
      <vt:lpstr>Мода Mo</vt:lpstr>
      <vt:lpstr>Мода</vt:lpstr>
      <vt:lpstr>ВАЖНО!</vt:lpstr>
      <vt:lpstr>Показатели рассеивания (вариации)</vt:lpstr>
      <vt:lpstr>Размах вариационного ряда R</vt:lpstr>
      <vt:lpstr>Выборочная дисперсия S2</vt:lpstr>
      <vt:lpstr>Выборочное среднее квадратическое отклонение S</vt:lpstr>
      <vt:lpstr>Коэффициент вариации V</vt:lpstr>
      <vt:lpstr>Пример 1. Вычислим числовые характеристики полученного вариационного ряда: n=45</vt:lpstr>
      <vt:lpstr>Пример 2</vt:lpstr>
      <vt:lpstr>Презентация PowerPoint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351</cp:revision>
  <dcterms:created xsi:type="dcterms:W3CDTF">2021-02-04T09:02:28Z</dcterms:created>
  <dcterms:modified xsi:type="dcterms:W3CDTF">2026-02-16T09:08:29Z</dcterms:modified>
</cp:coreProperties>
</file>