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bookmarkIdSeed="3" saveSubsetFonts="1" showSpecialPlsOnTitleSld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6858000" type="screen4x3"/>
  <p:notesSz cx="9144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5758FB7-9AC5-4552-8A53-C91805E547FA}">
  <a:tblStyle styleId="{35758FB7-9AC5-4552-8A53-C91805E547FA}" styleName="Стиль из темы 1 - акцент 5">
    <a:tblBg>
      <a:fillRef idx="2">
        <a:schemeClr val="accent5"/>
      </a:fillRef>
    </a:tblBg>
    <a:wholeTbl>
      <a:tcTxStyle>
        <a:fontRef idx="minor">
          <a:srgbClr val="00000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2V>
    <a:lastCol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lastCol>
    <a:firstCol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firstCol>
    <a:lastRow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rgbClr val="00000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</a:tcBdr>
        <a:fill>
          <a:solidFill>
            <a:schemeClr val="accent5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91" d="100"/>
          <a:sy n="91" d="100"/>
        </p:scale>
        <p:origin x="964" y="44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presProps" Target="presProps.xml" /><Relationship Id="rId35" Type="http://schemas.openxmlformats.org/officeDocument/2006/relationships/tableStyles" Target="tableStyles.xml" /><Relationship Id="rId36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 bwMode="auto"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 bwMode="auto"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 bwMode="auto">
          <a:xfrm>
            <a:off x="2133600" y="2819400"/>
            <a:ext cx="6560234" cy="1752599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 bwMode="auto">
          <a:xfrm>
            <a:off x="5562600" y="6509004"/>
            <a:ext cx="3002280" cy="274320"/>
          </a:xfrm>
        </p:spPr>
        <p:txBody>
          <a:bodyPr vert="horz" rtlCol="0"/>
          <a:lstStyle/>
          <a:p>
            <a:pPr>
              <a:defRPr/>
            </a:pPr>
            <a:fld id="{618A8932-62C9-4217-BDB8-ACC30534E1CC}" type="datetime1">
              <a:rPr lang="ru-RU"/>
              <a:t/>
            </a:fld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1"/>
          </p:nvPr>
        </p:nvSpPr>
        <p:spPr bwMode="auto"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2"/>
          </p:nvPr>
        </p:nvSpPr>
        <p:spPr bwMode="auto">
          <a:xfrm>
            <a:off x="1600200" y="6509004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 bwMode="auto">
          <a:xfrm>
            <a:off x="588392" y="1424587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1B3C35C-E6EA-416D-AA91-2D7B45730357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 bwMode="auto"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 bwMode="auto">
          <a:xfrm>
            <a:off x="5562600" y="6513670"/>
            <a:ext cx="3002280" cy="274320"/>
          </a:xfrm>
        </p:spPr>
        <p:txBody>
          <a:bodyPr vert="horz" rtlCol="0"/>
          <a:lstStyle/>
          <a:p>
            <a:pPr>
              <a:defRPr/>
            </a:pPr>
            <a:fld id="{326BC372-8821-47C8-8858-C1C512837FEC}" type="datetime1">
              <a:rPr lang="ru-RU"/>
              <a:t/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 bwMode="auto"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 bwMode="auto">
          <a:xfrm>
            <a:off x="1600200" y="6513670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 bwMode="auto"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 bwMode="auto"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31F389-A53C-4A80-A700-AD17C06A2A6E}" type="datetime1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641080" y="6514568"/>
            <a:ext cx="464288" cy="274320"/>
          </a:xfrm>
        </p:spPr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588392" y="1424587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 bwMode="auto"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 bwMode="auto">
          <a:xfrm>
            <a:off x="457200" y="2362199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 bwMode="auto">
          <a:xfrm>
            <a:off x="4645025" y="2362199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B6EEEE-F63A-45AF-84D9-BF154B205700}" type="datetime1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>
          <a:xfrm>
            <a:off x="8641080" y="6514568"/>
            <a:ext cx="464288" cy="274320"/>
          </a:xfrm>
        </p:spPr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53218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9AE8AF9-156B-43BB-A6E4-2BA5B4B2CE04}" type="datetime1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588392" y="1424587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059A241-2F2C-4BDB-949F-CDA85DBACC88}" type="datetime1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Tx" userDrawn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 bwMode="auto"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 bwMode="auto"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 bwMode="auto"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 bwMode="auto">
          <a:xfrm>
            <a:off x="5562600" y="6513670"/>
            <a:ext cx="3002280" cy="274320"/>
          </a:xfrm>
        </p:spPr>
        <p:txBody>
          <a:bodyPr vert="horz" rtlCol="0"/>
          <a:lstStyle/>
          <a:p>
            <a:pPr>
              <a:defRPr/>
            </a:pPr>
            <a:fld id="{FB5F21AF-98DF-4F3D-8D1F-E6D251F86555}" type="datetime1">
              <a:rPr lang="ru-RU"/>
              <a:t/>
            </a:fld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1"/>
          </p:nvPr>
        </p:nvSpPr>
        <p:spPr bwMode="auto"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2"/>
          </p:nvPr>
        </p:nvSpPr>
        <p:spPr bwMode="auto">
          <a:xfrm>
            <a:off x="1600200" y="6513670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040443" y="4724399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 bwMode="auto"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>
              <a:defRPr/>
            </a:pPr>
            <a:r>
              <a:rPr lang="ru-RU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lang="en-US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 bwMode="auto">
          <a:xfrm>
            <a:off x="5562600" y="6509004"/>
            <a:ext cx="3002280" cy="274320"/>
          </a:xfrm>
        </p:spPr>
        <p:txBody>
          <a:bodyPr vert="horz" rtlCol="0"/>
          <a:lstStyle/>
          <a:p>
            <a:pPr>
              <a:defRPr/>
            </a:pPr>
            <a:fld id="{04880FEF-A9E0-4096-A6F1-C5DFB362ABDC}" type="datetime1">
              <a:rPr lang="ru-RU"/>
              <a:t/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 bwMode="auto"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 bwMode="auto">
          <a:xfrm>
            <a:off x="1600200" y="6509004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846B0B1-7D84-48E7-96D3-793BA5087640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575BA8E-E9BE-4983-8968-4586D2DC7992}" type="datetime1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 bwMode="auto"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>
              <a:defRPr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 bwMode="auto"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>
              <a:defRPr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</a:lstStyle>
          <a:p>
            <a:pPr>
              <a:defRPr/>
            </a:pPr>
            <a:fld id="{4694BB94-EEF3-4693-84F8-FBB2BE68A97C}" type="datetime1">
              <a:rPr lang="ru-RU"/>
              <a:t/>
            </a:fld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 bwMode="auto"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 bwMode="auto"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 bwMode="auto"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marL="54864" algn="r">
        <a:spcBef>
          <a:spcPts val="0"/>
        </a:spcBef>
        <a:buNone/>
        <a:defRPr sz="4600">
          <a:solidFill>
            <a:schemeClr val="tx2">
              <a:tint val="100000"/>
              <a:shade val="90000"/>
              <a:satMod val="250000"/>
            </a:schemeClr>
          </a:solidFill>
          <a:latin typeface="+mj-lt"/>
          <a:ea typeface="+mj-ea"/>
          <a:cs typeface="+mj-cs"/>
        </a:defRPr>
      </a:lvl1pPr>
    </p:titleStyle>
    <p:bodyStyle>
      <a:lvl1pPr marL="292100" indent="-292100" algn="l">
        <a:spcBef>
          <a:spcPts val="0"/>
        </a:spcBef>
        <a:buClr>
          <a:schemeClr val="accent1"/>
        </a:buClr>
        <a:buSzPct val="70000"/>
        <a:buFont typeface="Wingdings 2"/>
        <a:buChar char="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>
        <a:spcBef>
          <a:spcPts val="400"/>
        </a:spcBef>
        <a:buClr>
          <a:schemeClr val="accent2"/>
        </a:buClr>
        <a:buSzPct val="90000"/>
        <a:buFontTx/>
        <a:buChar char="•"/>
        <a:defRPr sz="26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>
        <a:spcBef>
          <a:spcPts val="400"/>
        </a:spcBef>
        <a:buClr>
          <a:schemeClr val="accent3"/>
        </a:buClr>
        <a:buSzPct val="100000"/>
        <a:buFont typeface="Wingdings 2"/>
        <a:buChar char=""/>
        <a:defRPr sz="23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>
        <a:spcBef>
          <a:spcPts val="400"/>
        </a:spcBef>
        <a:buClr>
          <a:schemeClr val="accent3"/>
        </a:buClr>
        <a:buSzPct val="100000"/>
        <a:buFont typeface="Wingdings 2"/>
        <a:buChar char="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>
        <a:spcBef>
          <a:spcPts val="400"/>
        </a:spcBef>
        <a:buClr>
          <a:schemeClr val="accent3"/>
        </a:buClr>
        <a:buSzPct val="100000"/>
        <a:buFont typeface="Wingdings 2"/>
        <a:buChar char=""/>
        <a:defRPr sz="19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>
        <a:spcBef>
          <a:spcPts val="400"/>
        </a:spcBef>
        <a:buClr>
          <a:schemeClr val="accent4"/>
        </a:buClr>
        <a:buFont typeface="Wingdings 2"/>
        <a:buChar char="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>
        <a:spcBef>
          <a:spcPts val="400"/>
        </a:spcBef>
        <a:buClr>
          <a:schemeClr val="accent4"/>
        </a:buClr>
        <a:buFont typeface="Wingdings 2"/>
        <a:buChar char="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>
        <a:spcBef>
          <a:spcPts val="400"/>
        </a:spcBef>
        <a:buClr>
          <a:schemeClr val="accent4"/>
        </a:buClr>
        <a:buFont typeface="Wingdings 2"/>
        <a:buChar char="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>
        <a:spcBef>
          <a:spcPts val="400"/>
        </a:spcBef>
        <a:buClr>
          <a:schemeClr val="accent4"/>
        </a:buClr>
        <a:buFont typeface="Wingdings 2"/>
        <a:buChar char="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 algn="l">
        <a:defRPr>
          <a:solidFill>
            <a:schemeClr val="tx1"/>
          </a:solidFill>
          <a:latin typeface="+mn-lt"/>
          <a:ea typeface="+mn-ea"/>
          <a:cs typeface="+mn-cs"/>
        </a:defRPr>
      </a:lvl6pPr>
      <a:lvl7pPr marL="2743200" algn="l">
        <a:defRPr>
          <a:solidFill>
            <a:schemeClr val="tx1"/>
          </a:solidFill>
          <a:latin typeface="+mn-lt"/>
          <a:ea typeface="+mn-ea"/>
          <a:cs typeface="+mn-cs"/>
        </a:defRPr>
      </a:lvl7pPr>
      <a:lvl8pPr marL="3200400" algn="l">
        <a:defRPr>
          <a:solidFill>
            <a:schemeClr val="tx1"/>
          </a:solidFill>
          <a:latin typeface="+mn-lt"/>
          <a:ea typeface="+mn-ea"/>
          <a:cs typeface="+mn-cs"/>
        </a:defRPr>
      </a:lvl8pPr>
      <a:lvl9pPr marL="3657600" algn="l">
        <a:defRPr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TV.09.03.02.NNTU@yandex.ru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3" Type="http://schemas.openxmlformats.org/officeDocument/2006/relationships/oleObject" Target="../embeddings/oleObject1.bin"/><Relationship Id="rId4" Type="http://schemas.openxmlformats.org/officeDocument/2006/relationships/image" Target="../media/image3.wmf"/><Relationship Id="rId5" Type="http://schemas.openxmlformats.org/officeDocument/2006/relationships/oleObject" Target="../embeddings/oleObject2.bin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4.bin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3" Type="http://schemas.openxmlformats.org/officeDocument/2006/relationships/oleObject" Target="../embeddings/oleObject5.bin"/><Relationship Id="rId4" Type="http://schemas.openxmlformats.org/officeDocument/2006/relationships/image" Target="../media/image7.wmf"/><Relationship Id="rId5" Type="http://schemas.openxmlformats.org/officeDocument/2006/relationships/oleObject" Target="../embeddings/oleObject6.bin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4" Type="http://schemas.openxmlformats.org/officeDocument/2006/relationships/image" Target="../media/image10.wmf"/><Relationship Id="rId5" Type="http://schemas.openxmlformats.org/officeDocument/2006/relationships/oleObject" Target="../embeddings/oleObject8.bin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3" Type="http://schemas.openxmlformats.org/officeDocument/2006/relationships/oleObject" Target="../embeddings/oleObject9.bin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wmf"/><Relationship Id="rId3" Type="http://schemas.openxmlformats.org/officeDocument/2006/relationships/oleObject" Target="../embeddings/oleObject10.bin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wmf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5.wmf"/><Relationship Id="rId7" Type="http://schemas.openxmlformats.org/officeDocument/2006/relationships/oleObject" Target="../embeddings/oleObject13.bin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wmf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7.wmf"/><Relationship Id="rId5" Type="http://schemas.openxmlformats.org/officeDocument/2006/relationships/oleObject" Target="../embeddings/oleObject15.bin"/><Relationship Id="rId6" Type="http://schemas.openxmlformats.org/officeDocument/2006/relationships/image" Target="../media/image18.wmf"/><Relationship Id="rId7" Type="http://schemas.openxmlformats.org/officeDocument/2006/relationships/oleObject" Target="../embeddings/oleObject16.bin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wmf"/><Relationship Id="rId3" Type="http://schemas.openxmlformats.org/officeDocument/2006/relationships/oleObject" Target="../embeddings/oleObject17.bin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wmf"/><Relationship Id="rId3" Type="http://schemas.openxmlformats.org/officeDocument/2006/relationships/oleObject" Target="../embeddings/oleObject18.bin"/><Relationship Id="rId4" Type="http://schemas.openxmlformats.org/officeDocument/2006/relationships/image" Target="../media/image21.wmf"/><Relationship Id="rId5" Type="http://schemas.openxmlformats.org/officeDocument/2006/relationships/oleObject" Target="../embeddings/oleObject19.bin"/><Relationship Id="rId6" Type="http://schemas.openxmlformats.org/officeDocument/2006/relationships/image" Target="../media/image22.wmf"/><Relationship Id="rId7" Type="http://schemas.openxmlformats.org/officeDocument/2006/relationships/oleObject" Target="../embeddings/oleObject20.bin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wmf"/><Relationship Id="rId3" Type="http://schemas.openxmlformats.org/officeDocument/2006/relationships/oleObject" Target="../embeddings/oleObject21.bin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wmf"/><Relationship Id="rId3" Type="http://schemas.openxmlformats.org/officeDocument/2006/relationships/oleObject" Target="../embeddings/oleObject22.bin"/><Relationship Id="rId4" Type="http://schemas.openxmlformats.org/officeDocument/2006/relationships/image" Target="../media/image31.wmf"/><Relationship Id="rId5" Type="http://schemas.openxmlformats.org/officeDocument/2006/relationships/oleObject" Target="../embeddings/oleObject23.bin"/><Relationship Id="rId6" Type="http://schemas.openxmlformats.org/officeDocument/2006/relationships/image" Target="../media/image32.wmf"/><Relationship Id="rId7" Type="http://schemas.openxmlformats.org/officeDocument/2006/relationships/oleObject" Target="../embeddings/oleObject24.bin"/><Relationship Id="rId8" Type="http://schemas.openxmlformats.org/officeDocument/2006/relationships/image" Target="../media/image33.wmf"/><Relationship Id="rId9" Type="http://schemas.openxmlformats.org/officeDocument/2006/relationships/oleObject" Target="../embeddings/oleObject25.bin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wmf"/><Relationship Id="rId3" Type="http://schemas.openxmlformats.org/officeDocument/2006/relationships/oleObject" Target="../embeddings/oleObject26.bin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wmf"/><Relationship Id="rId3" Type="http://schemas.openxmlformats.org/officeDocument/2006/relationships/oleObject" Target="../embeddings/oleObject27.bin"/><Relationship Id="rId4" Type="http://schemas.openxmlformats.org/officeDocument/2006/relationships/image" Target="../media/image36.wmf"/><Relationship Id="rId5" Type="http://schemas.openxmlformats.org/officeDocument/2006/relationships/oleObject" Target="../embeddings/oleObject28.bin"/><Relationship Id="rId6" Type="http://schemas.openxmlformats.org/officeDocument/2006/relationships/image" Target="../media/image37.wmf"/><Relationship Id="rId7" Type="http://schemas.openxmlformats.org/officeDocument/2006/relationships/oleObject" Target="../embeddings/oleObject29.bin"/><Relationship Id="rId8" Type="http://schemas.openxmlformats.org/officeDocument/2006/relationships/image" Target="../media/image38.wmf"/><Relationship Id="rId9" Type="http://schemas.openxmlformats.org/officeDocument/2006/relationships/oleObject" Target="../embeddings/oleObject30.bin"/><Relationship Id="rId10" Type="http://schemas.openxmlformats.org/officeDocument/2006/relationships/image" Target="../media/image39.png"/><Relationship Id="rId11" Type="http://schemas.openxmlformats.org/officeDocument/2006/relationships/image" Target="../media/image40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wmf"/><Relationship Id="rId3" Type="http://schemas.openxmlformats.org/officeDocument/2006/relationships/oleObject" Target="../embeddings/oleObject31.bin"/><Relationship Id="rId4" Type="http://schemas.openxmlformats.org/officeDocument/2006/relationships/image" Target="../media/image42.wmf"/><Relationship Id="rId5" Type="http://schemas.openxmlformats.org/officeDocument/2006/relationships/oleObject" Target="../embeddings/oleObject32.bin"/><Relationship Id="rId6" Type="http://schemas.openxmlformats.org/officeDocument/2006/relationships/image" Target="../media/image43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wmf"/><Relationship Id="rId3" Type="http://schemas.openxmlformats.org/officeDocument/2006/relationships/oleObject" Target="../embeddings/oleObject33.bin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wmf"/><Relationship Id="rId3" Type="http://schemas.openxmlformats.org/officeDocument/2006/relationships/oleObject" Target="../embeddings/oleObject34.bin"/><Relationship Id="rId4" Type="http://schemas.openxmlformats.org/officeDocument/2006/relationships/image" Target="../media/image46.wmf"/><Relationship Id="rId5" Type="http://schemas.openxmlformats.org/officeDocument/2006/relationships/oleObject" Target="../embeddings/oleObject35.bin"/><Relationship Id="rId6" Type="http://schemas.openxmlformats.org/officeDocument/2006/relationships/image" Target="../media/image47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wmf"/><Relationship Id="rId3" Type="http://schemas.openxmlformats.org/officeDocument/2006/relationships/oleObject" Target="../embeddings/oleObject36.bin"/><Relationship Id="rId4" Type="http://schemas.openxmlformats.org/officeDocument/2006/relationships/image" Target="../media/image49.wmf"/><Relationship Id="rId5" Type="http://schemas.openxmlformats.org/officeDocument/2006/relationships/oleObject" Target="../embeddings/oleObject37.bin"/><Relationship Id="rId6" Type="http://schemas.openxmlformats.org/officeDocument/2006/relationships/image" Target="../media/image50.wmf"/><Relationship Id="rId7" Type="http://schemas.openxmlformats.org/officeDocument/2006/relationships/oleObject" Target="../embeddings/oleObject38.bin"/><Relationship Id="rId8" Type="http://schemas.openxmlformats.org/officeDocument/2006/relationships/image" Target="../media/image51.wmf"/><Relationship Id="rId9" Type="http://schemas.openxmlformats.org/officeDocument/2006/relationships/oleObject" Target="../embeddings/oleObject39.bin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wmf"/><Relationship Id="rId3" Type="http://schemas.openxmlformats.org/officeDocument/2006/relationships/oleObject" Target="../embeddings/oleObject40.bin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wmf"/><Relationship Id="rId3" Type="http://schemas.openxmlformats.org/officeDocument/2006/relationships/oleObject" Target="../embeddings/oleObject41.bin"/><Relationship Id="rId4" Type="http://schemas.openxmlformats.org/officeDocument/2006/relationships/image" Target="../media/image59.wmf"/><Relationship Id="rId5" Type="http://schemas.openxmlformats.org/officeDocument/2006/relationships/oleObject" Target="../embeddings/oleObject42.bin"/><Relationship Id="rId6" Type="http://schemas.openxmlformats.org/officeDocument/2006/relationships/image" Target="../media/image60.wmf"/><Relationship Id="rId7" Type="http://schemas.openxmlformats.org/officeDocument/2006/relationships/oleObject" Target="../embeddings/oleObject43.bin"/><Relationship Id="rId8" Type="http://schemas.openxmlformats.org/officeDocument/2006/relationships/image" Target="../media/image61.wmf"/><Relationship Id="rId9" Type="http://schemas.openxmlformats.org/officeDocument/2006/relationships/oleObject" Target="../embeddings/oleObject44.bin"/><Relationship Id="rId10" Type="http://schemas.openxmlformats.org/officeDocument/2006/relationships/image" Target="../media/image62.wmf"/><Relationship Id="rId11" Type="http://schemas.openxmlformats.org/officeDocument/2006/relationships/oleObject" Target="../embeddings/oleObject45.bin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 b="1">
                <a:solidFill>
                  <a:srgbClr val="00B0F0"/>
                </a:solidFill>
              </a:rPr>
              <a:t>Теория вероятностей и математическая статистика. Лекция </a:t>
            </a:r>
            <a:r>
              <a:rPr lang="en-US" b="1">
                <a:solidFill>
                  <a:srgbClr val="00B0F0"/>
                </a:solidFill>
              </a:rPr>
              <a:t>3</a:t>
            </a:r>
            <a:endParaRPr lang="ru-RU" b="1">
              <a:solidFill>
                <a:srgbClr val="00B0F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2133600" y="2819400"/>
            <a:ext cx="6560234" cy="3609996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ru-RU" sz="3000">
                <a:solidFill>
                  <a:schemeClr val="tx1"/>
                </a:solidFill>
              </a:rPr>
              <a:t>Преподаватель</a:t>
            </a:r>
            <a:r>
              <a:rPr lang="en-US" sz="3000">
                <a:solidFill>
                  <a:schemeClr val="tx1"/>
                </a:solidFill>
              </a:rPr>
              <a:t>:</a:t>
            </a:r>
            <a:endParaRPr/>
          </a:p>
          <a:p>
            <a:pPr>
              <a:defRPr/>
            </a:pPr>
            <a:r>
              <a:rPr lang="ru-RU" sz="3000">
                <a:solidFill>
                  <a:schemeClr val="tx1"/>
                </a:solidFill>
              </a:rPr>
              <a:t>к.т.н., доцент каф ЭСВМ</a:t>
            </a:r>
            <a:endParaRPr lang="en-US" sz="3000">
              <a:solidFill>
                <a:schemeClr val="tx1"/>
              </a:solidFill>
            </a:endParaRPr>
          </a:p>
          <a:p>
            <a:pPr>
              <a:defRPr/>
            </a:pPr>
            <a:endParaRPr lang="ru-RU" sz="30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3300" b="1" i="1">
                <a:solidFill>
                  <a:schemeClr val="accent5"/>
                </a:solidFill>
              </a:rPr>
              <a:t>Елена Владимировна Сидорова</a:t>
            </a:r>
            <a:endParaRPr/>
          </a:p>
          <a:p>
            <a:pPr>
              <a:defRPr/>
            </a:pP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E-mail:</a:t>
            </a:r>
            <a:endParaRPr lang="ru-RU">
              <a:solidFill>
                <a:schemeClr val="tx2"/>
              </a:solidFill>
            </a:endParaRPr>
          </a:p>
          <a:p>
            <a:pPr>
              <a:defRPr/>
            </a:pPr>
            <a:r>
              <a:rPr lang="en-US" u="sng">
                <a:solidFill>
                  <a:schemeClr val="tx2"/>
                </a:solidFill>
                <a:hlinkClick r:id="rId2" tooltip="mailto:TV.09.03.02.NNTU@yandex.ru"/>
              </a:rPr>
              <a:t>TV.09.03.02.NNTU@yandex.ru</a:t>
            </a:r>
            <a:endParaRPr lang="en-US">
              <a:solidFill>
                <a:schemeClr val="tx2"/>
              </a:solidFill>
            </a:endParaRPr>
          </a:p>
          <a:p>
            <a:pPr>
              <a:defRPr/>
            </a:pPr>
            <a:endParaRPr lang="ru-RU">
              <a:solidFill>
                <a:schemeClr val="tx2"/>
              </a:solidFill>
            </a:endParaRPr>
          </a:p>
          <a:p>
            <a:pPr>
              <a:defRPr/>
            </a:pPr>
            <a:r>
              <a:rPr lang="ru-RU">
                <a:solidFill>
                  <a:schemeClr val="tx2"/>
                </a:solidFill>
              </a:rPr>
              <a:t>Аттестация: </a:t>
            </a:r>
            <a:endParaRPr/>
          </a:p>
          <a:p>
            <a:pPr>
              <a:defRPr/>
            </a:pPr>
            <a:r>
              <a:rPr lang="ru-RU" sz="3800" b="1" u="sng">
                <a:solidFill>
                  <a:srgbClr val="FF0000"/>
                </a:solidFill>
              </a:rPr>
              <a:t>экзамен</a:t>
            </a:r>
            <a:endParaRPr lang="ru-RU" sz="3800">
              <a:solidFill>
                <a:schemeClr val="tx2"/>
              </a:solidFill>
            </a:endParaRPr>
          </a:p>
          <a:p>
            <a:pPr>
              <a:defRPr/>
            </a:pPr>
            <a:endParaRPr lang="ru-RU">
              <a:solidFill>
                <a:schemeClr val="tx2"/>
              </a:solidFill>
            </a:endParaRPr>
          </a:p>
          <a:p>
            <a:pPr>
              <a:defRPr/>
            </a:pPr>
            <a:endParaRPr lang="ru-RU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Повторные независимые испытания</a:t>
            </a:r>
            <a:endParaRPr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70000" lnSpcReduction="20000"/>
          </a:bodyPr>
          <a:lstStyle/>
          <a:p>
            <a:pPr marL="0" indent="0" algn="just">
              <a:buNone/>
              <a:defRPr/>
            </a:pPr>
            <a:r>
              <a:rPr lang="ru-RU"/>
              <a:t>Пусть испытания</a:t>
            </a:r>
            <a:r>
              <a:rPr lang="en-US"/>
              <a:t> </a:t>
            </a:r>
            <a:r>
              <a:rPr lang="ru-RU"/>
              <a:t>многократно повторяются при одном и том же комплексе условий. Причем вероятность появления события А в каждом испытании не зависит от исходов других испытаний, то есть постоянна.</a:t>
            </a:r>
            <a:endParaRPr/>
          </a:p>
          <a:p>
            <a:pPr marL="0" indent="0" algn="just">
              <a:buNone/>
              <a:defRPr/>
            </a:pPr>
            <a:r>
              <a:rPr lang="ru-RU">
                <a:solidFill>
                  <a:schemeClr val="bg2">
                    <a:lumMod val="20000"/>
                    <a:lumOff val="80000"/>
                  </a:schemeClr>
                </a:solidFill>
              </a:rPr>
              <a:t>Тогда </a:t>
            </a:r>
            <a:r>
              <a:rPr lang="ru-RU"/>
              <a:t> </a:t>
            </a:r>
            <a:endParaRPr/>
          </a:p>
          <a:p>
            <a:pPr marL="0" indent="0" algn="just">
              <a:defRPr/>
            </a:pPr>
            <a:r>
              <a:rPr lang="ru-RU"/>
              <a:t>  такие испытания называют </a:t>
            </a:r>
            <a:r>
              <a:rPr lang="ru-RU" u="sng">
                <a:solidFill>
                  <a:schemeClr val="bg2">
                    <a:lumMod val="20000"/>
                    <a:lumOff val="80000"/>
                  </a:schemeClr>
                </a:solidFill>
              </a:rPr>
              <a:t>независимыми повторными испытаниями</a:t>
            </a:r>
            <a:r>
              <a:rPr lang="ru-RU"/>
              <a:t>. </a:t>
            </a:r>
            <a:endParaRPr/>
          </a:p>
          <a:p>
            <a:pPr marL="0" indent="0" algn="just">
              <a:buNone/>
              <a:defRPr/>
            </a:pPr>
            <a:endParaRPr lang="ru-RU"/>
          </a:p>
          <a:p>
            <a:pPr algn="just">
              <a:defRPr/>
            </a:pPr>
            <a:r>
              <a:rPr lang="ru-RU"/>
              <a:t>последовательность таких испытаний называют </a:t>
            </a:r>
            <a:r>
              <a:rPr lang="ru-RU" u="sng">
                <a:solidFill>
                  <a:schemeClr val="bg2">
                    <a:lumMod val="20000"/>
                    <a:lumOff val="80000"/>
                  </a:schemeClr>
                </a:solidFill>
              </a:rPr>
              <a:t>схемой Бернулли</a:t>
            </a:r>
            <a:endParaRPr/>
          </a:p>
          <a:p>
            <a:pPr algn="just">
              <a:defRPr/>
            </a:pPr>
            <a:endParaRPr lang="ru-RU"/>
          </a:p>
          <a:p>
            <a:pPr marL="0" indent="0" algn="just">
              <a:buNone/>
              <a:defRPr/>
            </a:pPr>
            <a:r>
              <a:rPr lang="ru-RU"/>
              <a:t>Далее будем рассматривать лишь такие независимые испытания, в которых событие А имеет </a:t>
            </a:r>
            <a:r>
              <a:rPr lang="ru-RU" u="sng">
                <a:solidFill>
                  <a:schemeClr val="bg2">
                    <a:lumMod val="20000"/>
                    <a:lumOff val="80000"/>
                  </a:schemeClr>
                </a:solidFill>
              </a:rPr>
              <a:t>одну и ту же вероятность </a:t>
            </a:r>
            <a:r>
              <a:rPr lang="en-US" u="sng">
                <a:solidFill>
                  <a:schemeClr val="bg2">
                    <a:lumMod val="20000"/>
                    <a:lumOff val="80000"/>
                  </a:schemeClr>
                </a:solidFill>
              </a:rPr>
              <a:t>p</a:t>
            </a:r>
            <a:r>
              <a:rPr lang="ru-RU"/>
              <a:t>. </a:t>
            </a:r>
            <a:endParaRPr/>
          </a:p>
          <a:p>
            <a:pPr>
              <a:buNone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Повторные независимые испытания</a:t>
            </a:r>
            <a:r>
              <a:rPr lang="en-US"/>
              <a:t>: </a:t>
            </a:r>
            <a:r>
              <a:rPr lang="ru-RU"/>
              <a:t>примеры</a:t>
            </a:r>
            <a:endParaRPr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177800" indent="-177800" algn="just">
              <a:spcBef>
                <a:spcPts val="0"/>
              </a:spcBef>
              <a:buFont typeface="Wingdings"/>
              <a:buAutoNum type="arabicPeriod"/>
              <a:defRPr/>
            </a:pPr>
            <a:r>
              <a:rPr lang="ru-RU"/>
              <a:t>Подбрасываем игральный кубик </a:t>
            </a:r>
            <a:r>
              <a:rPr lang="en-US"/>
              <a:t>n</a:t>
            </a:r>
            <a:r>
              <a:rPr lang="ru-RU"/>
              <a:t> раз. Выпадение числа очков от 1 до 6 происходит с вероятностью </a:t>
            </a:r>
            <a:r>
              <a:rPr lang="en-US"/>
              <a:t>p=</a:t>
            </a:r>
            <a:r>
              <a:rPr lang="ru-RU"/>
              <a:t>1/6 в каждом из испытаний;</a:t>
            </a:r>
            <a:endParaRPr/>
          </a:p>
          <a:p>
            <a:pPr marL="177800" indent="-177800" algn="just">
              <a:spcBef>
                <a:spcPts val="0"/>
              </a:spcBef>
              <a:buFont typeface="Wingdings"/>
              <a:buAutoNum type="arabicPeriod"/>
              <a:defRPr/>
            </a:pPr>
            <a:r>
              <a:rPr lang="ru-RU"/>
              <a:t>Подбрасывается </a:t>
            </a:r>
            <a:r>
              <a:rPr lang="en-US"/>
              <a:t>n </a:t>
            </a:r>
            <a:r>
              <a:rPr lang="ru-RU"/>
              <a:t>раз монета. Выпадение орла или решки происходит с вероятностью </a:t>
            </a:r>
            <a:r>
              <a:rPr lang="en-US"/>
              <a:t>p=</a:t>
            </a:r>
            <a:r>
              <a:rPr lang="ru-RU"/>
              <a:t>½ в каждом испытании.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Повторные независимые испытания</a:t>
            </a:r>
            <a:endParaRPr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В задачах на повторные независимые испытания представляют интерес :</a:t>
            </a:r>
            <a:endParaRPr/>
          </a:p>
          <a:p>
            <a:pPr>
              <a:buNone/>
              <a:defRPr/>
            </a:pPr>
            <a:r>
              <a:rPr lang="ru-RU"/>
              <a:t>1) вероятность наступления события А ровно </a:t>
            </a:r>
            <a:r>
              <a:rPr lang="en-US"/>
              <a:t>m </a:t>
            </a:r>
            <a:r>
              <a:rPr lang="ru-RU"/>
              <a:t>раз в </a:t>
            </a:r>
            <a:r>
              <a:rPr lang="en-US"/>
              <a:t>n</a:t>
            </a:r>
            <a:r>
              <a:rPr lang="ru-RU"/>
              <a:t> испытаниях</a:t>
            </a:r>
            <a:r>
              <a:rPr lang="en-US"/>
              <a:t> </a:t>
            </a:r>
            <a:r>
              <a:rPr lang="ru-RU"/>
              <a:t> 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P</a:t>
            </a:r>
            <a:r>
              <a:rPr lang="en-US" baseline="-25000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(m)</a:t>
            </a:r>
            <a:r>
              <a:rPr lang="en-US"/>
              <a:t>;</a:t>
            </a:r>
            <a:endParaRPr lang="ru-RU"/>
          </a:p>
          <a:p>
            <a:pPr>
              <a:buNone/>
              <a:defRPr/>
            </a:pPr>
            <a:r>
              <a:rPr lang="ru-RU"/>
              <a:t>2) вероятность того, что число наступления события А в </a:t>
            </a:r>
            <a:r>
              <a:rPr lang="en-US"/>
              <a:t>n</a:t>
            </a:r>
            <a:r>
              <a:rPr lang="ru-RU"/>
              <a:t> повторных независимых испытаниях заключено в некоторых пределах от </a:t>
            </a:r>
            <a:r>
              <a:rPr lang="en-US"/>
              <a:t>a </a:t>
            </a:r>
            <a:r>
              <a:rPr lang="ru-RU"/>
              <a:t>до </a:t>
            </a:r>
            <a:r>
              <a:rPr lang="en-US"/>
              <a:t>b </a:t>
            </a:r>
            <a:endParaRPr/>
          </a:p>
          <a:p>
            <a:pPr>
              <a:buNone/>
              <a:defRPr/>
            </a:pP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P</a:t>
            </a:r>
            <a:r>
              <a:rPr lang="en-US" baseline="-25000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(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a≤m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 ≤ b)</a:t>
            </a:r>
            <a:r>
              <a:rPr lang="en-US"/>
              <a:t>.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Формула Бернулли</a:t>
            </a:r>
            <a:endParaRPr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70000" lnSpcReduction="20000"/>
          </a:bodyPr>
          <a:lstStyle/>
          <a:p>
            <a:pPr marL="0" indent="0" algn="just">
              <a:buNone/>
              <a:defRPr/>
            </a:pPr>
            <a:r>
              <a:rPr lang="ru-RU"/>
              <a:t>Пусть производится 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ru-RU"/>
              <a:t> испытаний Бернулли. </a:t>
            </a:r>
            <a:endParaRPr/>
          </a:p>
          <a:p>
            <a:pPr marL="0" indent="0" algn="just">
              <a:buNone/>
              <a:defRPr/>
            </a:pPr>
            <a:r>
              <a:rPr lang="ru-RU"/>
              <a:t>Вероятность того, что в этих испытаниях событие А произойдет ровно 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m</a:t>
            </a:r>
            <a:r>
              <a:rPr lang="ru-RU"/>
              <a:t> раз можно найти по </a:t>
            </a:r>
            <a:r>
              <a:rPr lang="ru-RU" b="1" u="sng">
                <a:solidFill>
                  <a:schemeClr val="bg2">
                    <a:lumMod val="20000"/>
                    <a:lumOff val="80000"/>
                  </a:schemeClr>
                </a:solidFill>
              </a:rPr>
              <a:t>формуле Бернулли</a:t>
            </a:r>
            <a:r>
              <a:rPr lang="ru-RU" b="1"/>
              <a:t>: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en-US"/>
              <a:t>n –</a:t>
            </a:r>
            <a:r>
              <a:rPr lang="ru-RU"/>
              <a:t> число испытаний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p</a:t>
            </a:r>
            <a:r>
              <a:rPr lang="ru-RU"/>
              <a:t> – вероятность </a:t>
            </a:r>
            <a:r>
              <a:rPr lang="ru-RU" u="sng"/>
              <a:t>появления</a:t>
            </a:r>
            <a:r>
              <a:rPr lang="ru-RU"/>
              <a:t> события А в одном испытании</a:t>
            </a:r>
            <a:endParaRPr/>
          </a:p>
          <a:p>
            <a:pPr marL="0" indent="0">
              <a:buNone/>
              <a:defRPr/>
            </a:pPr>
            <a:r>
              <a:rPr lang="en-US"/>
              <a:t>q </a:t>
            </a:r>
            <a:r>
              <a:rPr lang="ru-RU"/>
              <a:t>=1-</a:t>
            </a:r>
            <a:r>
              <a:rPr lang="en-US"/>
              <a:t>p</a:t>
            </a:r>
            <a:r>
              <a:rPr lang="ru-RU"/>
              <a:t>  -</a:t>
            </a:r>
            <a:r>
              <a:rPr lang="en-US"/>
              <a:t> </a:t>
            </a:r>
            <a:r>
              <a:rPr lang="ru-RU"/>
              <a:t>вероятность </a:t>
            </a:r>
            <a:r>
              <a:rPr lang="ru-RU" u="sng"/>
              <a:t>не появления </a:t>
            </a:r>
            <a:r>
              <a:rPr lang="ru-RU"/>
              <a:t>события А в одном испытании</a:t>
            </a:r>
            <a:endParaRPr/>
          </a:p>
          <a:p>
            <a:pPr marL="0" indent="0">
              <a:buNone/>
              <a:defRPr/>
            </a:pPr>
            <a:r>
              <a:rPr lang="ru-RU"/>
              <a:t>Р</a:t>
            </a:r>
            <a:r>
              <a:rPr lang="en-US" sz="2000" b="1"/>
              <a:t>n</a:t>
            </a:r>
            <a:r>
              <a:rPr lang="en-US"/>
              <a:t>(m)</a:t>
            </a:r>
            <a:r>
              <a:rPr lang="ru-RU"/>
              <a:t> – вероятность того, что событие А появится ровно </a:t>
            </a:r>
            <a:r>
              <a:rPr lang="en-US"/>
              <a:t>m </a:t>
            </a:r>
            <a:r>
              <a:rPr lang="ru-RU"/>
              <a:t>раз в </a:t>
            </a:r>
            <a:r>
              <a:rPr lang="en-US"/>
              <a:t>n</a:t>
            </a:r>
            <a:r>
              <a:rPr lang="ru-RU"/>
              <a:t> испытаниях</a:t>
            </a:r>
            <a:endParaRPr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2603500" y="2928938"/>
          <a:ext cx="4097338" cy="744537"/>
        </p:xfrm>
        <a:graphic>
          <a:graphicData uri="http://schemas.openxmlformats.org/presentationml/2006/ole">
            <p:oleObj name="oleObj" r:id="rId3" imgW="1396365" imgH="252730" progId="Equation.3">
              <p:embed/>
              <p:pic>
                <p:nvPicPr>
                  <p:cNvPr id="98306" name="Object 2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2603500" y="2928938"/>
                    <a:ext cx="4097338" cy="744537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461963" y="5500688"/>
          <a:ext cx="4292600" cy="523875"/>
        </p:xfrm>
        <a:graphic>
          <a:graphicData uri="http://schemas.openxmlformats.org/presentationml/2006/ole">
            <p:oleObj name="oleObj" r:id="rId5" imgW="2082165" imgH="252730" progId="Equation.3">
              <p:embed/>
              <p:pic>
                <p:nvPicPr>
                  <p:cNvPr id="6" name="Объект 5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>
                    <a:off x="461963" y="5500688"/>
                    <a:ext cx="4292600" cy="523875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2400" b="1" u="sng"/>
              <a:t>Задача</a:t>
            </a:r>
            <a:r>
              <a:rPr lang="ru-RU" sz="2400"/>
              <a:t>: </a:t>
            </a:r>
            <a:r>
              <a:rPr lang="ru-RU" sz="2400" b="1"/>
              <a:t>Вероятность изготовления стандартной детали равна 0,8. Найти вероятность  того, что среди 5 изготовленных  будут 2 бракованные детали.</a:t>
            </a:r>
            <a:endParaRPr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514350" indent="-514350">
              <a:buNone/>
              <a:defRPr/>
            </a:pPr>
            <a:r>
              <a:rPr lang="ru-RU" sz="2400" u="sng">
                <a:solidFill>
                  <a:schemeClr val="bg2">
                    <a:lumMod val="20000"/>
                    <a:lumOff val="80000"/>
                  </a:schemeClr>
                </a:solidFill>
              </a:rPr>
              <a:t>Решение:</a:t>
            </a:r>
            <a:endParaRPr/>
          </a:p>
          <a:p>
            <a:pPr marL="514350" indent="-514350">
              <a:buNone/>
              <a:defRPr/>
            </a:pPr>
            <a:r>
              <a:rPr lang="ru-RU" sz="2400"/>
              <a:t>1) Обозначим событие А- изготовление бракованной детали.</a:t>
            </a:r>
            <a:endParaRPr/>
          </a:p>
          <a:p>
            <a:pPr marL="514350" indent="-514350">
              <a:buNone/>
              <a:defRPr/>
            </a:pPr>
            <a:r>
              <a:rPr lang="ru-RU" sz="2400"/>
              <a:t>2) По условию     </a:t>
            </a:r>
            <a:r>
              <a:rPr lang="en-US" sz="2400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ru-RU" sz="2400"/>
              <a:t> </a:t>
            </a:r>
            <a:r>
              <a:rPr lang="en-US" sz="2400"/>
              <a:t>=</a:t>
            </a:r>
            <a:r>
              <a:rPr lang="ru-RU" sz="2400"/>
              <a:t> 5,</a:t>
            </a:r>
            <a:r>
              <a:rPr lang="en-US" sz="2400"/>
              <a:t> </a:t>
            </a:r>
            <a:r>
              <a:rPr lang="ru-RU" sz="2400"/>
              <a:t>   </a:t>
            </a:r>
            <a:r>
              <a:rPr lang="en-US" sz="2400">
                <a:solidFill>
                  <a:schemeClr val="bg2">
                    <a:lumMod val="20000"/>
                    <a:lumOff val="80000"/>
                  </a:schemeClr>
                </a:solidFill>
              </a:rPr>
              <a:t>m</a:t>
            </a:r>
            <a:r>
              <a:rPr lang="ru-RU" sz="2400"/>
              <a:t> </a:t>
            </a:r>
            <a:r>
              <a:rPr lang="en-US" sz="2400"/>
              <a:t>=</a:t>
            </a:r>
            <a:r>
              <a:rPr lang="ru-RU" sz="2400"/>
              <a:t> 2, </a:t>
            </a:r>
            <a:r>
              <a:rPr lang="en-US" sz="2400"/>
              <a:t> </a:t>
            </a:r>
            <a:r>
              <a:rPr lang="ru-RU" sz="2400"/>
              <a:t> </a:t>
            </a:r>
            <a:r>
              <a:rPr lang="ru-RU" sz="240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>
                <a:solidFill>
                  <a:schemeClr val="bg2">
                    <a:lumMod val="20000"/>
                    <a:lumOff val="80000"/>
                  </a:schemeClr>
                </a:solidFill>
              </a:rPr>
              <a:t>p</a:t>
            </a:r>
            <a:r>
              <a:rPr lang="ru-RU" sz="240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/>
              <a:t>=</a:t>
            </a:r>
            <a:r>
              <a:rPr lang="ru-RU" sz="2400"/>
              <a:t> </a:t>
            </a:r>
            <a:r>
              <a:rPr lang="en-US" sz="2400"/>
              <a:t>P(A)</a:t>
            </a:r>
            <a:r>
              <a:rPr lang="ru-RU" sz="2400"/>
              <a:t> </a:t>
            </a:r>
            <a:r>
              <a:rPr lang="en-US" sz="2400"/>
              <a:t>=</a:t>
            </a:r>
            <a:r>
              <a:rPr lang="ru-RU" sz="2400"/>
              <a:t>1-0,8=0,2 ,     </a:t>
            </a:r>
            <a:r>
              <a:rPr lang="en-US" sz="2400">
                <a:solidFill>
                  <a:schemeClr val="bg2">
                    <a:lumMod val="20000"/>
                    <a:lumOff val="80000"/>
                  </a:schemeClr>
                </a:solidFill>
              </a:rPr>
              <a:t>q</a:t>
            </a:r>
            <a:r>
              <a:rPr lang="en-US" sz="2400"/>
              <a:t>=P(</a:t>
            </a:r>
            <a:r>
              <a:rPr lang="en-US" sz="2400">
                <a:latin typeface="Cambria"/>
                <a:ea typeface="Cambria"/>
              </a:rPr>
              <a:t>Ā)=0,8</a:t>
            </a:r>
            <a:r>
              <a:rPr lang="ru-RU" sz="2400">
                <a:latin typeface="Cambria"/>
                <a:ea typeface="Cambria"/>
              </a:rPr>
              <a:t>.</a:t>
            </a:r>
            <a:endParaRPr/>
          </a:p>
          <a:p>
            <a:pPr marL="514350" indent="-514350">
              <a:buNone/>
              <a:defRPr/>
            </a:pPr>
            <a:r>
              <a:rPr lang="en-US" sz="2400">
                <a:latin typeface="Cambria"/>
                <a:ea typeface="Cambria"/>
              </a:rPr>
              <a:t>3) </a:t>
            </a:r>
            <a:r>
              <a:rPr lang="ru-RU" sz="2400"/>
              <a:t>По формуле Бернулли:</a:t>
            </a:r>
            <a:endParaRPr lang="en-US" sz="2400"/>
          </a:p>
          <a:p>
            <a:pPr marL="514350" indent="-514350">
              <a:buNone/>
              <a:defRPr/>
            </a:pPr>
            <a:r>
              <a:rPr lang="en-US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214414" y="3857628"/>
          <a:ext cx="4657408" cy="642942"/>
        </p:xfrm>
        <a:graphic>
          <a:graphicData uri="http://schemas.openxmlformats.org/presentationml/2006/ole">
            <p:oleObj name="oleObj" r:id="rId3" imgW="1396365" imgH="252730" progId="Equation.3">
              <p:embed/>
              <p:pic>
                <p:nvPicPr>
                  <p:cNvPr id="99331" name="Object 3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1214414" y="3857628"/>
                    <a:ext cx="4657408" cy="642942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642909" y="4786322"/>
          <a:ext cx="6500859" cy="941712"/>
        </p:xfrm>
        <a:graphic>
          <a:graphicData uri="http://schemas.openxmlformats.org/presentationml/2006/ole">
            <p:oleObj name="oleObj" r:id="rId5" imgW="2717165" imgH="393065" progId="Equation.3">
              <p:embed/>
              <p:pic>
                <p:nvPicPr>
                  <p:cNvPr id="7" name="Объект 6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>
                    <a:off x="642909" y="4786322"/>
                    <a:ext cx="6500859" cy="941712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2400" b="1" u="sng"/>
              <a:t>Задача</a:t>
            </a:r>
            <a:r>
              <a:rPr lang="ru-RU" sz="2400" b="1"/>
              <a:t>: Два равносильных шахматиста играют в шахматы. Что вероятнее: выиграть одному из них 2 партии из 4-х или 3 партии из 6-ти?</a:t>
            </a:r>
            <a:endParaRPr lang="ru-RU" sz="2400" b="1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>
          <a:xfrm>
            <a:off x="428596" y="1571612"/>
            <a:ext cx="8229600" cy="4526280"/>
          </a:xfrm>
        </p:spPr>
        <p:txBody>
          <a:bodyPr/>
          <a:lstStyle/>
          <a:p>
            <a:pPr marL="342900" indent="-342900">
              <a:buNone/>
              <a:defRPr/>
            </a:pPr>
            <a:r>
              <a:rPr lang="ru-RU" sz="2400" u="sng">
                <a:solidFill>
                  <a:schemeClr val="bg2">
                    <a:lumMod val="20000"/>
                    <a:lumOff val="80000"/>
                  </a:schemeClr>
                </a:solidFill>
              </a:rPr>
              <a:t>Решение:</a:t>
            </a:r>
            <a:endParaRPr/>
          </a:p>
          <a:p>
            <a:pPr marL="342900" indent="-342900">
              <a:buNone/>
              <a:defRPr/>
            </a:pPr>
            <a:r>
              <a:rPr lang="ru-RU" sz="2400"/>
              <a:t>1)</a:t>
            </a:r>
            <a:r>
              <a:rPr lang="ru-RU"/>
              <a:t> </a:t>
            </a:r>
            <a:r>
              <a:rPr lang="ru-RU" sz="2400"/>
              <a:t>Найдем вероятность выиграть одному из них 2 партии из 4-х:</a:t>
            </a:r>
            <a:endParaRPr/>
          </a:p>
          <a:p>
            <a:pPr marL="342900" indent="-342900">
              <a:buNone/>
              <a:defRPr/>
            </a:pPr>
            <a:r>
              <a:rPr lang="ru-RU" sz="2400"/>
              <a:t> </a:t>
            </a:r>
            <a:r>
              <a:rPr lang="en-US" sz="2400"/>
              <a:t>n=4, m=2, p=1/2, q=1/2. </a:t>
            </a:r>
            <a:r>
              <a:rPr lang="ru-RU" sz="2400"/>
              <a:t>По формуле Бернулли:</a:t>
            </a:r>
            <a:endParaRPr/>
          </a:p>
          <a:p>
            <a:pPr marL="342900" indent="-342900">
              <a:buNone/>
              <a:defRPr/>
            </a:pPr>
            <a:endParaRPr lang="ru-RU" sz="2400">
              <a:solidFill>
                <a:schemeClr val="tx2"/>
              </a:solidFill>
            </a:endParaRPr>
          </a:p>
          <a:p>
            <a:pPr marL="342900" indent="-342900">
              <a:buNone/>
              <a:defRPr/>
            </a:pPr>
            <a:endParaRPr lang="ru-RU" sz="2400">
              <a:solidFill>
                <a:schemeClr val="tx2"/>
              </a:solidFill>
            </a:endParaRPr>
          </a:p>
          <a:p>
            <a:pPr marL="342900" indent="-342900">
              <a:buNone/>
              <a:defRPr/>
            </a:pPr>
            <a:endParaRPr lang="ru-RU" sz="2400">
              <a:solidFill>
                <a:schemeClr val="tx2"/>
              </a:solidFill>
            </a:endParaRPr>
          </a:p>
          <a:p>
            <a:pPr>
              <a:buNone/>
              <a:defRPr/>
            </a:pPr>
            <a:r>
              <a:rPr lang="ru-RU" sz="2400"/>
              <a:t>2) Найдем вероятность выиграть одному из них 3 партии из 6-ти:</a:t>
            </a:r>
            <a:endParaRPr/>
          </a:p>
          <a:p>
            <a:pPr>
              <a:buNone/>
              <a:defRPr/>
            </a:pPr>
            <a:r>
              <a:rPr lang="en-US" sz="2400"/>
              <a:t>n=</a:t>
            </a:r>
            <a:r>
              <a:rPr lang="ru-RU" sz="2400"/>
              <a:t>6</a:t>
            </a:r>
            <a:r>
              <a:rPr lang="en-US" sz="2400"/>
              <a:t>, m=</a:t>
            </a:r>
            <a:r>
              <a:rPr lang="ru-RU" sz="2400"/>
              <a:t>3</a:t>
            </a:r>
            <a:r>
              <a:rPr lang="en-US" sz="2400"/>
              <a:t>, p=1/2, q=1/2. </a:t>
            </a:r>
            <a:r>
              <a:rPr lang="ru-RU" sz="2400"/>
              <a:t>По формуле Бернулли: </a:t>
            </a:r>
            <a:endParaRPr/>
          </a:p>
          <a:p>
            <a:pPr marL="514350" indent="-514350">
              <a:buNone/>
              <a:defRPr/>
            </a:pPr>
            <a:endParaRPr lang="ru-RU">
              <a:solidFill>
                <a:schemeClr val="tx2"/>
              </a:solidFill>
            </a:endParaRPr>
          </a:p>
          <a:p>
            <a:pPr marL="342900" indent="-342900">
              <a:buNone/>
              <a:defRPr/>
            </a:pPr>
            <a:endParaRPr lang="ru-RU">
              <a:solidFill>
                <a:schemeClr val="tx2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000100" y="3357562"/>
          <a:ext cx="5872192" cy="832457"/>
        </p:xfrm>
        <a:graphic>
          <a:graphicData uri="http://schemas.openxmlformats.org/presentationml/2006/ole">
            <p:oleObj name="oleObj" r:id="rId3" imgW="3314065" imgH="469265" progId="Equation.3">
              <p:embed/>
              <p:pic>
                <p:nvPicPr>
                  <p:cNvPr id="100354" name="Object 2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1000100" y="3357562"/>
                    <a:ext cx="5872192" cy="832457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000100" y="5572140"/>
          <a:ext cx="6143668" cy="854570"/>
        </p:xfrm>
        <a:graphic>
          <a:graphicData uri="http://schemas.openxmlformats.org/presentationml/2006/ole">
            <p:oleObj name="oleObj" r:id="rId5" imgW="3377565" imgH="469265" progId="Equation.3">
              <p:embed/>
              <p:pic>
                <p:nvPicPr>
                  <p:cNvPr id="100355" name="Object 3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>
                    <a:off x="1000100" y="5572140"/>
                    <a:ext cx="6143668" cy="85457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800"/>
              <a:t>Наивероятнейшее число появление события А в </a:t>
            </a:r>
            <a:r>
              <a:rPr lang="en-US" sz="2800"/>
              <a:t>n </a:t>
            </a:r>
            <a:r>
              <a:rPr lang="ru-RU" sz="2800"/>
              <a:t>повторных независимых испытаниях</a:t>
            </a:r>
            <a:endParaRPr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>
          <a:xfrm>
            <a:off x="428596" y="1714488"/>
            <a:ext cx="8229600" cy="4526280"/>
          </a:xfrm>
        </p:spPr>
        <p:txBody>
          <a:bodyPr>
            <a:noAutofit/>
          </a:bodyPr>
          <a:lstStyle/>
          <a:p>
            <a:pPr marL="0" indent="0" algn="just">
              <a:buNone/>
              <a:defRPr/>
            </a:pPr>
            <a:r>
              <a:rPr lang="ru-RU" sz="2000" b="1"/>
              <a:t>Вероятность изготовления на автоматическом станке стандартной детали равна 0,8. Найти вероятности  </a:t>
            </a:r>
            <a:r>
              <a:rPr lang="ru-RU" sz="2000" b="1" u="sng"/>
              <a:t>возможного числа появления бракованных деталей</a:t>
            </a:r>
            <a:r>
              <a:rPr lang="ru-RU" sz="2000" b="1"/>
              <a:t> среди 5  отобранных. </a:t>
            </a:r>
            <a:endParaRPr/>
          </a:p>
          <a:p>
            <a:pPr marL="0" indent="0">
              <a:buNone/>
              <a:defRPr/>
            </a:pPr>
            <a:endParaRPr lang="ru-RU" sz="2000" u="sng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  <a:defRPr/>
            </a:pPr>
            <a:r>
              <a:rPr lang="ru-RU" sz="2400" u="sng">
                <a:solidFill>
                  <a:schemeClr val="bg2">
                    <a:lumMod val="20000"/>
                    <a:lumOff val="80000"/>
                  </a:schemeClr>
                </a:solidFill>
              </a:rPr>
              <a:t>Решение: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ru-RU" sz="2000"/>
              <a:t>Среди 5 отобранных деталей может быть 0, 1, 2, 3, 4, 5 бракованных. Значит необходимо найти </a:t>
            </a:r>
            <a:r>
              <a:rPr lang="en-US" sz="2000">
                <a:solidFill>
                  <a:schemeClr val="bg2">
                    <a:lumMod val="20000"/>
                    <a:lumOff val="80000"/>
                  </a:schemeClr>
                </a:solidFill>
              </a:rPr>
              <a:t>P</a:t>
            </a:r>
            <a:r>
              <a:rPr lang="en-US" sz="2000" b="1" baseline="-25000">
                <a:solidFill>
                  <a:schemeClr val="bg2">
                    <a:lumMod val="20000"/>
                    <a:lumOff val="80000"/>
                  </a:schemeClr>
                </a:solidFill>
              </a:rPr>
              <a:t>5</a:t>
            </a:r>
            <a:r>
              <a:rPr lang="en-US" sz="2000">
                <a:solidFill>
                  <a:schemeClr val="bg2">
                    <a:lumMod val="20000"/>
                    <a:lumOff val="80000"/>
                  </a:schemeClr>
                </a:solidFill>
              </a:rPr>
              <a:t>(0); P</a:t>
            </a:r>
            <a:r>
              <a:rPr lang="en-US" sz="2000" b="1" baseline="-25000">
                <a:solidFill>
                  <a:schemeClr val="bg2">
                    <a:lumMod val="20000"/>
                    <a:lumOff val="80000"/>
                  </a:schemeClr>
                </a:solidFill>
              </a:rPr>
              <a:t>5</a:t>
            </a:r>
            <a:r>
              <a:rPr lang="en-US" sz="2000">
                <a:solidFill>
                  <a:schemeClr val="bg2">
                    <a:lumMod val="20000"/>
                    <a:lumOff val="80000"/>
                  </a:schemeClr>
                </a:solidFill>
              </a:rPr>
              <a:t>(</a:t>
            </a:r>
            <a:r>
              <a:rPr lang="ru-RU" sz="200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en-US" sz="2000">
                <a:solidFill>
                  <a:schemeClr val="bg2">
                    <a:lumMod val="20000"/>
                    <a:lumOff val="80000"/>
                  </a:schemeClr>
                </a:solidFill>
              </a:rPr>
              <a:t>);</a:t>
            </a:r>
            <a:r>
              <a:rPr lang="ru-RU" sz="200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000">
                <a:solidFill>
                  <a:schemeClr val="bg2">
                    <a:lumMod val="20000"/>
                    <a:lumOff val="80000"/>
                  </a:schemeClr>
                </a:solidFill>
              </a:rPr>
              <a:t>P</a:t>
            </a:r>
            <a:r>
              <a:rPr lang="en-US" sz="2000" b="1" baseline="-25000">
                <a:solidFill>
                  <a:schemeClr val="bg2">
                    <a:lumMod val="20000"/>
                    <a:lumOff val="80000"/>
                  </a:schemeClr>
                </a:solidFill>
              </a:rPr>
              <a:t>5</a:t>
            </a:r>
            <a:r>
              <a:rPr lang="en-US" sz="2000">
                <a:solidFill>
                  <a:schemeClr val="bg2">
                    <a:lumMod val="20000"/>
                    <a:lumOff val="80000"/>
                  </a:schemeClr>
                </a:solidFill>
              </a:rPr>
              <a:t>(</a:t>
            </a:r>
            <a:r>
              <a:rPr lang="ru-RU" sz="200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en-US" sz="2000">
                <a:solidFill>
                  <a:schemeClr val="bg2">
                    <a:lumMod val="20000"/>
                    <a:lumOff val="80000"/>
                  </a:schemeClr>
                </a:solidFill>
              </a:rPr>
              <a:t>);</a:t>
            </a:r>
            <a:r>
              <a:rPr lang="ru-RU" sz="200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000">
                <a:solidFill>
                  <a:schemeClr val="bg2">
                    <a:lumMod val="20000"/>
                    <a:lumOff val="80000"/>
                  </a:schemeClr>
                </a:solidFill>
              </a:rPr>
              <a:t>P</a:t>
            </a:r>
            <a:r>
              <a:rPr lang="en-US" sz="2000" b="1" baseline="-25000">
                <a:solidFill>
                  <a:schemeClr val="bg2">
                    <a:lumMod val="20000"/>
                    <a:lumOff val="80000"/>
                  </a:schemeClr>
                </a:solidFill>
              </a:rPr>
              <a:t>5</a:t>
            </a:r>
            <a:r>
              <a:rPr lang="en-US" sz="2000">
                <a:solidFill>
                  <a:schemeClr val="bg2">
                    <a:lumMod val="20000"/>
                    <a:lumOff val="80000"/>
                  </a:schemeClr>
                </a:solidFill>
              </a:rPr>
              <a:t>(</a:t>
            </a:r>
            <a:r>
              <a:rPr lang="ru-RU" sz="2000">
                <a:solidFill>
                  <a:schemeClr val="bg2">
                    <a:lumMod val="20000"/>
                    <a:lumOff val="80000"/>
                  </a:schemeClr>
                </a:solidFill>
              </a:rPr>
              <a:t>3</a:t>
            </a:r>
            <a:r>
              <a:rPr lang="en-US" sz="200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r>
              <a:rPr lang="ru-RU" sz="2000">
                <a:solidFill>
                  <a:schemeClr val="bg2">
                    <a:lumMod val="20000"/>
                    <a:lumOff val="80000"/>
                  </a:schemeClr>
                </a:solidFill>
              </a:rPr>
              <a:t>; </a:t>
            </a:r>
            <a:r>
              <a:rPr lang="en-US" sz="2000">
                <a:solidFill>
                  <a:schemeClr val="bg2">
                    <a:lumMod val="20000"/>
                    <a:lumOff val="80000"/>
                  </a:schemeClr>
                </a:solidFill>
              </a:rPr>
              <a:t>P</a:t>
            </a:r>
            <a:r>
              <a:rPr lang="en-US" sz="2000" b="1" baseline="-25000">
                <a:solidFill>
                  <a:schemeClr val="bg2">
                    <a:lumMod val="20000"/>
                    <a:lumOff val="80000"/>
                  </a:schemeClr>
                </a:solidFill>
              </a:rPr>
              <a:t>5</a:t>
            </a:r>
            <a:r>
              <a:rPr lang="en-US" sz="2000">
                <a:solidFill>
                  <a:schemeClr val="bg2">
                    <a:lumMod val="20000"/>
                    <a:lumOff val="80000"/>
                  </a:schemeClr>
                </a:solidFill>
              </a:rPr>
              <a:t>(</a:t>
            </a:r>
            <a:r>
              <a:rPr lang="ru-RU" sz="2000">
                <a:solidFill>
                  <a:schemeClr val="bg2">
                    <a:lumMod val="20000"/>
                    <a:lumOff val="80000"/>
                  </a:schemeClr>
                </a:solidFill>
              </a:rPr>
              <a:t>4</a:t>
            </a:r>
            <a:r>
              <a:rPr lang="en-US" sz="200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r>
              <a:rPr lang="ru-RU" sz="2000">
                <a:solidFill>
                  <a:schemeClr val="bg2">
                    <a:lumMod val="20000"/>
                    <a:lumOff val="80000"/>
                  </a:schemeClr>
                </a:solidFill>
              </a:rPr>
              <a:t>; </a:t>
            </a:r>
            <a:r>
              <a:rPr lang="en-US" sz="2000">
                <a:solidFill>
                  <a:schemeClr val="bg2">
                    <a:lumMod val="20000"/>
                    <a:lumOff val="80000"/>
                  </a:schemeClr>
                </a:solidFill>
              </a:rPr>
              <a:t>P</a:t>
            </a:r>
            <a:r>
              <a:rPr lang="en-US" sz="2000" b="1" baseline="-25000">
                <a:solidFill>
                  <a:schemeClr val="bg2">
                    <a:lumMod val="20000"/>
                    <a:lumOff val="80000"/>
                  </a:schemeClr>
                </a:solidFill>
              </a:rPr>
              <a:t>5</a:t>
            </a:r>
            <a:r>
              <a:rPr lang="en-US" sz="2000">
                <a:solidFill>
                  <a:schemeClr val="bg2">
                    <a:lumMod val="20000"/>
                    <a:lumOff val="80000"/>
                  </a:schemeClr>
                </a:solidFill>
              </a:rPr>
              <a:t>(5). </a:t>
            </a:r>
            <a:endParaRPr/>
          </a:p>
          <a:p>
            <a:pPr marL="0" indent="0">
              <a:buNone/>
              <a:defRPr/>
            </a:pPr>
            <a:r>
              <a:rPr lang="ru-RU" sz="2000"/>
              <a:t>Из исходных данных: </a:t>
            </a:r>
            <a:r>
              <a:rPr lang="en-US" sz="2000"/>
              <a:t>n</a:t>
            </a:r>
            <a:r>
              <a:rPr lang="ru-RU" sz="2000"/>
              <a:t>=5, вероятность изготовления бракованной детали </a:t>
            </a:r>
            <a:r>
              <a:rPr lang="en-US" sz="2000"/>
              <a:t>p</a:t>
            </a:r>
            <a:r>
              <a:rPr lang="ru-RU" sz="2000"/>
              <a:t>= 1 - 0,8 = 0,2</a:t>
            </a:r>
            <a:r>
              <a:rPr lang="en-US" sz="2000"/>
              <a:t>, </a:t>
            </a:r>
            <a:r>
              <a:rPr lang="ru-RU" sz="2000"/>
              <a:t>вероятность изготовления стандартной детали </a:t>
            </a:r>
            <a:r>
              <a:rPr lang="en-US" sz="2000"/>
              <a:t>q</a:t>
            </a:r>
            <a:r>
              <a:rPr lang="ru-RU" sz="2000"/>
              <a:t>=0,8. Тогда, искомые вероятности, найденные по </a:t>
            </a:r>
            <a:r>
              <a:rPr lang="ru-RU" sz="2000">
                <a:solidFill>
                  <a:schemeClr val="bg2">
                    <a:lumMod val="20000"/>
                    <a:lumOff val="80000"/>
                  </a:schemeClr>
                </a:solidFill>
              </a:rPr>
              <a:t>формуле Бернулли</a:t>
            </a:r>
            <a:r>
              <a:rPr lang="ru-RU" sz="2000"/>
              <a:t>:</a:t>
            </a:r>
            <a:endParaRPr lang="en-US" sz="200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2000"/>
              <a:t>P</a:t>
            </a:r>
            <a:r>
              <a:rPr lang="en-US" sz="2000" b="1"/>
              <a:t>5</a:t>
            </a:r>
            <a:r>
              <a:rPr lang="en-US" sz="2000"/>
              <a:t>(0)=0,32768; 		P</a:t>
            </a:r>
            <a:r>
              <a:rPr lang="en-US" sz="2000" b="1"/>
              <a:t>5</a:t>
            </a:r>
            <a:r>
              <a:rPr lang="en-US" sz="2000"/>
              <a:t>(3)=0,0512; 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2000"/>
              <a:t>P</a:t>
            </a:r>
            <a:r>
              <a:rPr lang="en-US" sz="2000" b="1"/>
              <a:t>5</a:t>
            </a:r>
            <a:r>
              <a:rPr lang="en-US" sz="2000"/>
              <a:t>(1)=0,4096; 		P</a:t>
            </a:r>
            <a:r>
              <a:rPr lang="en-US" sz="2000" b="1"/>
              <a:t>5</a:t>
            </a:r>
            <a:r>
              <a:rPr lang="en-US" sz="2000"/>
              <a:t>(4)=</a:t>
            </a:r>
            <a:r>
              <a:rPr lang="ru-RU" sz="2000"/>
              <a:t>0,0064; 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2000"/>
              <a:t>P</a:t>
            </a:r>
            <a:r>
              <a:rPr lang="en-US" sz="2000" b="1"/>
              <a:t>5</a:t>
            </a:r>
            <a:r>
              <a:rPr lang="en-US" sz="2000"/>
              <a:t>(2)=</a:t>
            </a:r>
            <a:r>
              <a:rPr lang="ru-RU" sz="2000"/>
              <a:t>0,2048;</a:t>
            </a:r>
            <a:r>
              <a:rPr lang="en-US" sz="2000"/>
              <a:t>		P</a:t>
            </a:r>
            <a:r>
              <a:rPr lang="en-US" sz="2000" b="1"/>
              <a:t>5</a:t>
            </a:r>
            <a:r>
              <a:rPr lang="en-US" sz="2000"/>
              <a:t>(5)=0,00032. </a:t>
            </a:r>
            <a:endParaRPr lang="ru-RU" sz="2000"/>
          </a:p>
          <a:p>
            <a:pPr marL="0" indent="0">
              <a:spcBef>
                <a:spcPts val="0"/>
              </a:spcBef>
              <a:buNone/>
              <a:defRPr/>
            </a:pPr>
            <a:endParaRPr lang="en-US" sz="2000"/>
          </a:p>
          <a:p>
            <a:pPr>
              <a:defRPr/>
            </a:pPr>
            <a:endParaRPr lang="ru-RU" sz="200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28596" y="357166"/>
            <a:ext cx="8229600" cy="1143000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ru-RU" sz="2200"/>
              <a:t>Полученные вероятности изобразим графически точками с координатами (</a:t>
            </a:r>
            <a:r>
              <a:rPr lang="en-US" sz="2200"/>
              <a:t>m</a:t>
            </a:r>
            <a:r>
              <a:rPr lang="ru-RU" sz="2200"/>
              <a:t>, </a:t>
            </a:r>
            <a:r>
              <a:rPr lang="en-US" sz="2200"/>
              <a:t>P</a:t>
            </a:r>
            <a:r>
              <a:rPr lang="en-US" sz="2200" b="1"/>
              <a:t>n</a:t>
            </a:r>
            <a:r>
              <a:rPr lang="en-US" sz="2200"/>
              <a:t>(m)</a:t>
            </a:r>
            <a:r>
              <a:rPr lang="ru-RU" sz="2200"/>
              <a:t>). Соединяя эти точки, получим </a:t>
            </a:r>
            <a:r>
              <a:rPr lang="ru-RU" sz="2200" b="1"/>
              <a:t>многоугольник или полигон распределения вероятностей. </a:t>
            </a:r>
            <a:endParaRPr lang="ru-RU" sz="220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400"/>
              <a:t>Рассматривая  многоугольник  распределения вероятностей мы видим, что есть такие  значения </a:t>
            </a:r>
            <a:r>
              <a:rPr lang="en-US" sz="2400"/>
              <a:t>m</a:t>
            </a:r>
            <a:r>
              <a:rPr lang="ru-RU" sz="2400"/>
              <a:t> (в данном  случае, одно  </a:t>
            </a:r>
            <a:r>
              <a:rPr lang="en-US" sz="2400"/>
              <a:t>m</a:t>
            </a:r>
            <a:r>
              <a:rPr lang="en-US" sz="2400" b="1" baseline="-25000"/>
              <a:t>0</a:t>
            </a:r>
            <a:r>
              <a:rPr lang="ru-RU" sz="2400"/>
              <a:t>=1), которые обладают  наибольшей вероятностью Р</a:t>
            </a:r>
            <a:r>
              <a:rPr lang="en-US" sz="2400"/>
              <a:t>n(m)</a:t>
            </a:r>
            <a:r>
              <a:rPr lang="ru-RU" sz="2400"/>
              <a:t>. 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pic>
        <p:nvPicPr>
          <p:cNvPr id="102402" name="Picture 2"/>
          <p:cNvPicPr>
            <a:picLocks noChangeAspect="1" noChangeArrowheads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984250" y="2518569"/>
            <a:ext cx="298450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800"/>
              <a:t>Наивероятнейшее число появление события А в </a:t>
            </a:r>
            <a:r>
              <a:rPr lang="en-US" sz="2800"/>
              <a:t>n </a:t>
            </a:r>
            <a:r>
              <a:rPr lang="ru-RU" sz="2800"/>
              <a:t>повторных независимых испытаниях</a:t>
            </a:r>
            <a:endParaRPr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20000"/>
          </a:bodyPr>
          <a:lstStyle/>
          <a:p>
            <a:pPr marL="0" indent="0" algn="just">
              <a:buNone/>
              <a:defRPr/>
            </a:pPr>
            <a:r>
              <a:rPr lang="ru-RU"/>
              <a:t>Число </a:t>
            </a:r>
            <a:r>
              <a:rPr lang="en-US"/>
              <a:t>m</a:t>
            </a:r>
            <a:r>
              <a:rPr lang="en-US" sz="1800" b="1"/>
              <a:t>0</a:t>
            </a:r>
            <a:r>
              <a:rPr lang="ru-RU" sz="2800"/>
              <a:t>  </a:t>
            </a:r>
            <a:r>
              <a:rPr lang="ru-RU"/>
              <a:t>наступления события А в </a:t>
            </a:r>
            <a:r>
              <a:rPr lang="en-US"/>
              <a:t>n</a:t>
            </a:r>
            <a:r>
              <a:rPr lang="ru-RU"/>
              <a:t> независимых  испытаниях называется </a:t>
            </a:r>
            <a:r>
              <a:rPr lang="ru-RU" b="1" u="sng">
                <a:solidFill>
                  <a:schemeClr val="bg2">
                    <a:lumMod val="20000"/>
                    <a:lumOff val="80000"/>
                  </a:schemeClr>
                </a:solidFill>
              </a:rPr>
              <a:t>наивероятнейшим</a:t>
            </a:r>
            <a:r>
              <a:rPr lang="ru-RU"/>
              <a:t>, если вероятность  осуществления этого события Р</a:t>
            </a:r>
            <a:r>
              <a:rPr lang="en-US" sz="1800" b="1"/>
              <a:t>n</a:t>
            </a:r>
            <a:r>
              <a:rPr lang="en-US" sz="2800"/>
              <a:t>(</a:t>
            </a:r>
            <a:r>
              <a:rPr lang="en-US"/>
              <a:t>m</a:t>
            </a:r>
            <a:r>
              <a:rPr lang="en-US" sz="1800" b="1"/>
              <a:t>0</a:t>
            </a:r>
            <a:r>
              <a:rPr lang="en-US" sz="2800"/>
              <a:t>)</a:t>
            </a:r>
            <a:r>
              <a:rPr lang="ru-RU" sz="2800"/>
              <a:t> </a:t>
            </a:r>
            <a:r>
              <a:rPr lang="ru-RU"/>
              <a:t>по крайней мере не меньше  вероятностей других событий Р</a:t>
            </a:r>
            <a:r>
              <a:rPr lang="en-US" sz="1800" b="1"/>
              <a:t>n</a:t>
            </a:r>
            <a:r>
              <a:rPr lang="en-US"/>
              <a:t>(m)</a:t>
            </a:r>
            <a:r>
              <a:rPr lang="ru-RU"/>
              <a:t> при любом </a:t>
            </a:r>
            <a:r>
              <a:rPr lang="en-US"/>
              <a:t>m</a:t>
            </a:r>
            <a:r>
              <a:rPr lang="ru-RU"/>
              <a:t>. </a:t>
            </a:r>
            <a:endParaRPr/>
          </a:p>
          <a:p>
            <a:pPr marL="0" indent="0">
              <a:buNone/>
              <a:defRPr/>
            </a:pPr>
            <a:endParaRPr lang="ru-RU" sz="2400"/>
          </a:p>
          <a:p>
            <a:pPr marL="0" indent="0">
              <a:buNone/>
              <a:defRPr/>
            </a:pPr>
            <a:r>
              <a:rPr lang="ru-RU"/>
              <a:t>Для нахождения </a:t>
            </a:r>
            <a:r>
              <a:rPr lang="en-US"/>
              <a:t>m</a:t>
            </a:r>
            <a:r>
              <a:rPr lang="en-US" sz="1800" b="1"/>
              <a:t>0</a:t>
            </a:r>
            <a:r>
              <a:rPr lang="en-US" b="1"/>
              <a:t> </a:t>
            </a:r>
            <a:r>
              <a:rPr lang="ru-RU"/>
              <a:t>используется двойное неравенство:</a:t>
            </a:r>
            <a:endParaRPr/>
          </a:p>
          <a:p>
            <a:pPr marL="0" indent="0" algn="ctr">
              <a:buNone/>
              <a:defRPr/>
            </a:pPr>
            <a:endParaRPr lang="ru-RU" sz="1100" b="1"/>
          </a:p>
          <a:p>
            <a:pPr marL="0" indent="0" algn="ctr">
              <a:buNone/>
              <a:defRPr/>
            </a:pP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ru-RU" sz="2000" b="1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p</a:t>
            </a:r>
            <a:r>
              <a:rPr lang="ru-RU" b="1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-</a:t>
            </a:r>
            <a:r>
              <a:rPr lang="ru-RU" b="1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q ≤ m</a:t>
            </a:r>
            <a:r>
              <a:rPr lang="en-US" sz="1800" b="1">
                <a:solidFill>
                  <a:schemeClr val="bg2">
                    <a:lumMod val="20000"/>
                    <a:lumOff val="80000"/>
                  </a:schemeClr>
                </a:solidFill>
              </a:rPr>
              <a:t>0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 ≤ 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np</a:t>
            </a:r>
            <a:r>
              <a:rPr lang="ru-RU" b="1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+</a:t>
            </a:r>
            <a:r>
              <a:rPr lang="ru-RU" b="1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p</a:t>
            </a:r>
            <a:endParaRPr lang="ru-RU" b="1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  <a:defRPr/>
            </a:pPr>
            <a:r>
              <a:rPr lang="ru-RU" b="1">
                <a:solidFill>
                  <a:schemeClr val="bg2">
                    <a:lumMod val="20000"/>
                    <a:lumOff val="80000"/>
                  </a:schemeClr>
                </a:solidFill>
              </a:rPr>
              <a:t>или</a:t>
            </a:r>
            <a:endParaRPr/>
          </a:p>
          <a:p>
            <a:pPr marL="0" indent="0" algn="ctr">
              <a:buNone/>
              <a:defRPr/>
            </a:pP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ru-RU" sz="2000" b="1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p</a:t>
            </a:r>
            <a:r>
              <a:rPr lang="ru-RU" b="1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-</a:t>
            </a:r>
            <a:r>
              <a:rPr lang="ru-RU" b="1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q ≤ m</a:t>
            </a:r>
            <a:r>
              <a:rPr lang="en-US" sz="1800" b="1">
                <a:solidFill>
                  <a:schemeClr val="bg2">
                    <a:lumMod val="20000"/>
                    <a:lumOff val="80000"/>
                  </a:schemeClr>
                </a:solidFill>
              </a:rPr>
              <a:t>0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 ≤ np</a:t>
            </a:r>
            <a:r>
              <a:rPr lang="ru-RU" b="1">
                <a:solidFill>
                  <a:schemeClr val="bg2">
                    <a:lumMod val="20000"/>
                    <a:lumOff val="80000"/>
                  </a:schemeClr>
                </a:solidFill>
              </a:rPr>
              <a:t> –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q+1</a:t>
            </a:r>
            <a:endParaRPr lang="ru-RU" b="1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  <a:defRPr/>
            </a:pPr>
            <a:endParaRPr lang="ru-RU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800"/>
              <a:t>Наивероятнейшее число появления события А в </a:t>
            </a:r>
            <a:r>
              <a:rPr lang="en-US" sz="2800"/>
              <a:t>n </a:t>
            </a:r>
            <a:r>
              <a:rPr lang="ru-RU" sz="2800"/>
              <a:t>повторных независимых испытаний </a:t>
            </a:r>
            <a:endParaRPr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273050" indent="-273050" algn="just">
              <a:buNone/>
              <a:defRPr/>
            </a:pPr>
            <a:r>
              <a:rPr lang="ru-RU" sz="2400"/>
              <a:t>Так как наивероятнейшее число может быть только </a:t>
            </a:r>
            <a:r>
              <a:rPr lang="ru-RU" sz="2400" b="1">
                <a:solidFill>
                  <a:schemeClr val="bg2">
                    <a:lumMod val="20000"/>
                    <a:lumOff val="80000"/>
                  </a:schemeClr>
                </a:solidFill>
              </a:rPr>
              <a:t>целым</a:t>
            </a:r>
            <a:r>
              <a:rPr lang="ru-RU" sz="2400"/>
              <a:t>, то:</a:t>
            </a:r>
            <a:endParaRPr/>
          </a:p>
          <a:p>
            <a:pPr marL="273050" indent="-273050" algn="just">
              <a:defRPr/>
            </a:pPr>
            <a:r>
              <a:rPr lang="ru-RU" sz="2400"/>
              <a:t> если границы дробные, то </a:t>
            </a:r>
            <a:r>
              <a:rPr lang="en-US" sz="2400"/>
              <a:t>m</a:t>
            </a:r>
            <a:r>
              <a:rPr lang="ru-RU" sz="2400" b="1" baseline="-25000"/>
              <a:t>0</a:t>
            </a:r>
            <a:r>
              <a:rPr lang="ru-RU" sz="2400" b="1"/>
              <a:t> </a:t>
            </a:r>
            <a:r>
              <a:rPr lang="ru-RU" sz="2400"/>
              <a:t>примет только одно целое значение;</a:t>
            </a:r>
            <a:endParaRPr/>
          </a:p>
          <a:p>
            <a:pPr marL="273050" indent="-273050" algn="just">
              <a:defRPr/>
            </a:pPr>
            <a:r>
              <a:rPr lang="ru-RU" sz="2400"/>
              <a:t> если границы целые (отличаются на 1), то </a:t>
            </a:r>
            <a:r>
              <a:rPr lang="en-US" sz="2400"/>
              <a:t>m</a:t>
            </a:r>
            <a:r>
              <a:rPr lang="ru-RU" sz="2400" b="1" baseline="-25000"/>
              <a:t>0</a:t>
            </a:r>
            <a:r>
              <a:rPr lang="ru-RU" sz="2400" b="1"/>
              <a:t> </a:t>
            </a:r>
            <a:r>
              <a:rPr lang="ru-RU" sz="2400"/>
              <a:t> может принимать два значения, равные граничным. Тогда для определения наивероятнейшего числа нужно сравнить вероятности на границах.</a:t>
            </a:r>
            <a:endParaRPr/>
          </a:p>
          <a:p>
            <a:pPr algn="ctr">
              <a:buNone/>
              <a:defRPr/>
            </a:pPr>
            <a:r>
              <a:rPr lang="en-US"/>
              <a:t>n</a:t>
            </a:r>
            <a:r>
              <a:rPr lang="ru-RU" sz="2000"/>
              <a:t> </a:t>
            </a:r>
            <a:r>
              <a:rPr lang="en-US"/>
              <a:t>p</a:t>
            </a:r>
            <a:r>
              <a:rPr lang="ru-RU"/>
              <a:t> </a:t>
            </a:r>
            <a:r>
              <a:rPr lang="en-US"/>
              <a:t>-</a:t>
            </a:r>
            <a:r>
              <a:rPr lang="ru-RU"/>
              <a:t> </a:t>
            </a:r>
            <a:r>
              <a:rPr lang="en-US"/>
              <a:t>q ≤ m</a:t>
            </a:r>
            <a:r>
              <a:rPr lang="en-US" sz="1800"/>
              <a:t>0</a:t>
            </a:r>
            <a:r>
              <a:rPr lang="en-US"/>
              <a:t> ≤ </a:t>
            </a:r>
            <a:r>
              <a:rPr lang="en-US"/>
              <a:t>np</a:t>
            </a:r>
            <a:r>
              <a:rPr lang="ru-RU"/>
              <a:t> </a:t>
            </a:r>
            <a:r>
              <a:rPr lang="en-US"/>
              <a:t>+</a:t>
            </a:r>
            <a:r>
              <a:rPr lang="ru-RU"/>
              <a:t> </a:t>
            </a:r>
            <a:r>
              <a:rPr lang="en-US"/>
              <a:t>p</a:t>
            </a:r>
            <a:endParaRPr lang="ru-RU"/>
          </a:p>
          <a:p>
            <a:pPr algn="ctr">
              <a:buNone/>
              <a:defRPr/>
            </a:pPr>
            <a:r>
              <a:rPr lang="ru-RU"/>
              <a:t>5⦁0,2-0,8</a:t>
            </a:r>
            <a:r>
              <a:rPr lang="en-US"/>
              <a:t> </a:t>
            </a:r>
            <a:r>
              <a:rPr lang="ru-RU"/>
              <a:t>≤</a:t>
            </a:r>
            <a:r>
              <a:rPr lang="en-US"/>
              <a:t> m</a:t>
            </a:r>
            <a:r>
              <a:rPr lang="en-US" baseline="-25000"/>
              <a:t>0 </a:t>
            </a:r>
            <a:r>
              <a:rPr lang="en-US"/>
              <a:t>≤ 5</a:t>
            </a:r>
            <a:r>
              <a:rPr lang="en-US">
                <a:latin typeface="Cambria"/>
                <a:ea typeface="Cambria"/>
              </a:rPr>
              <a:t>⦁0,2+0,2</a:t>
            </a:r>
            <a:endParaRPr/>
          </a:p>
          <a:p>
            <a:pPr>
              <a:buNone/>
              <a:defRPr/>
            </a:pPr>
            <a:r>
              <a:rPr lang="en-US">
                <a:latin typeface="Cambria"/>
                <a:ea typeface="Cambria"/>
              </a:rPr>
              <a:t>                 0,2</a:t>
            </a:r>
            <a:r>
              <a:rPr lang="ru-RU"/>
              <a:t>≤</a:t>
            </a:r>
            <a:r>
              <a:rPr lang="en-US"/>
              <a:t>m</a:t>
            </a:r>
            <a:r>
              <a:rPr lang="en-US" baseline="-25000"/>
              <a:t>0</a:t>
            </a:r>
            <a:r>
              <a:rPr lang="en-US"/>
              <a:t>≤</a:t>
            </a:r>
            <a:r>
              <a:rPr lang="ru-RU"/>
              <a:t>1,2                          </a:t>
            </a:r>
            <a:r>
              <a:rPr lang="en-US"/>
              <a:t>m</a:t>
            </a:r>
            <a:r>
              <a:rPr lang="en-US" baseline="-25000"/>
              <a:t>0</a:t>
            </a:r>
            <a:r>
              <a:rPr lang="en-US"/>
              <a:t>=1</a:t>
            </a:r>
            <a:r>
              <a:rPr lang="ru-RU"/>
              <a:t>  </a:t>
            </a: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sp>
        <p:nvSpPr>
          <p:cNvPr id="5" name="Стрелка вправо 4"/>
          <p:cNvSpPr/>
          <p:nvPr/>
        </p:nvSpPr>
        <p:spPr bwMode="auto">
          <a:xfrm>
            <a:off x="4629148" y="5572441"/>
            <a:ext cx="1714512" cy="214314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28596" y="357166"/>
            <a:ext cx="8229600" cy="128588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200" b="1" u="sng"/>
              <a:t>Задача</a:t>
            </a:r>
            <a:r>
              <a:rPr lang="ru-RU" sz="2200" b="1"/>
              <a:t>: </a:t>
            </a:r>
            <a:r>
              <a:rPr lang="ru-RU" sz="2200" b="1"/>
              <a:t>В результате многолетних наблюдений вероятность дождя 21 июля в городе </a:t>
            </a:r>
            <a:r>
              <a:rPr lang="en-US" sz="2200" b="1"/>
              <a:t>N</a:t>
            </a:r>
            <a:r>
              <a:rPr lang="ru-RU" sz="2200" b="1"/>
              <a:t> составляет 0,3. Найти наивероятнейшее число дождливых дней 21 июля на ближайшие 30 лет.</a:t>
            </a:r>
            <a:endParaRPr lang="ru-RU" sz="2200" b="1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85000" lnSpcReduction="20000"/>
          </a:bodyPr>
          <a:lstStyle/>
          <a:p>
            <a:pPr marL="273050" indent="-273050">
              <a:buNone/>
              <a:defRPr/>
            </a:pPr>
            <a:r>
              <a:rPr lang="ru-RU" u="sng"/>
              <a:t> </a:t>
            </a:r>
            <a:r>
              <a:rPr lang="ru-RU" u="sng">
                <a:solidFill>
                  <a:schemeClr val="bg2">
                    <a:lumMod val="20000"/>
                    <a:lumOff val="80000"/>
                  </a:schemeClr>
                </a:solidFill>
              </a:rPr>
              <a:t>Решение:</a:t>
            </a:r>
            <a:endParaRPr/>
          </a:p>
          <a:p>
            <a:pPr marL="273050" indent="-273050">
              <a:buNone/>
              <a:defRPr/>
            </a:pPr>
            <a:endParaRPr lang="ru-RU" u="sng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273050" indent="-273050">
              <a:buNone/>
              <a:defRPr/>
            </a:pPr>
            <a:r>
              <a:rPr lang="ru-RU"/>
              <a:t>1) Событие А – 21 июля пойдет дождь.</a:t>
            </a:r>
            <a:endParaRPr/>
          </a:p>
          <a:p>
            <a:pPr marL="273050" indent="-273050">
              <a:buNone/>
              <a:defRPr/>
            </a:pPr>
            <a:r>
              <a:rPr lang="ru-RU"/>
              <a:t>2) По условию: </a:t>
            </a:r>
            <a:r>
              <a:rPr lang="en-US"/>
              <a:t>p=0</a:t>
            </a:r>
            <a:r>
              <a:rPr lang="ru-RU"/>
              <a:t>,</a:t>
            </a:r>
            <a:r>
              <a:rPr lang="en-US"/>
              <a:t>3,  q=0</a:t>
            </a:r>
            <a:r>
              <a:rPr lang="ru-RU"/>
              <a:t>,</a:t>
            </a:r>
            <a:r>
              <a:rPr lang="en-US"/>
              <a:t>7,  n=30.  </a:t>
            </a:r>
            <a:endParaRPr lang="ru-RU" b="1"/>
          </a:p>
          <a:p>
            <a:pPr marL="273050" indent="-273050">
              <a:buNone/>
              <a:defRPr/>
            </a:pPr>
            <a:r>
              <a:rPr lang="ru-RU"/>
              <a:t>3) По формуле наивероятнейшего числа события</a:t>
            </a:r>
            <a:endParaRPr/>
          </a:p>
          <a:p>
            <a:pPr marL="273050" indent="-273050" algn="ctr">
              <a:buNone/>
              <a:defRPr/>
            </a:pPr>
            <a:r>
              <a:rPr lang="en-US"/>
              <a:t>   n</a:t>
            </a:r>
            <a:r>
              <a:rPr lang="ru-RU"/>
              <a:t>∙</a:t>
            </a:r>
            <a:r>
              <a:rPr lang="en-US"/>
              <a:t>p</a:t>
            </a:r>
            <a:r>
              <a:rPr lang="ru-RU"/>
              <a:t> </a:t>
            </a:r>
            <a:r>
              <a:rPr lang="en-US"/>
              <a:t>-</a:t>
            </a:r>
            <a:r>
              <a:rPr lang="ru-RU"/>
              <a:t> </a:t>
            </a:r>
            <a:r>
              <a:rPr lang="en-US"/>
              <a:t>q </a:t>
            </a:r>
            <a:r>
              <a:rPr lang="ru-RU"/>
              <a:t>≤ </a:t>
            </a:r>
            <a:r>
              <a:rPr lang="en-US"/>
              <a:t>m</a:t>
            </a:r>
            <a:r>
              <a:rPr lang="en-US" sz="2000"/>
              <a:t>0</a:t>
            </a:r>
            <a:r>
              <a:rPr lang="en-US"/>
              <a:t> </a:t>
            </a:r>
            <a:r>
              <a:rPr lang="ru-RU"/>
              <a:t>≤ </a:t>
            </a:r>
            <a:r>
              <a:rPr lang="en-US"/>
              <a:t>n</a:t>
            </a:r>
            <a:r>
              <a:rPr lang="ru-RU"/>
              <a:t>∙</a:t>
            </a:r>
            <a:r>
              <a:rPr lang="en-US"/>
              <a:t>p</a:t>
            </a:r>
            <a:r>
              <a:rPr lang="ru-RU"/>
              <a:t> </a:t>
            </a:r>
            <a:r>
              <a:rPr lang="en-US"/>
              <a:t>+</a:t>
            </a:r>
            <a:r>
              <a:rPr lang="ru-RU"/>
              <a:t> </a:t>
            </a:r>
            <a:r>
              <a:rPr lang="en-US"/>
              <a:t>p</a:t>
            </a:r>
            <a:endParaRPr lang="ru-RU"/>
          </a:p>
          <a:p>
            <a:pPr marL="273050" indent="-273050" algn="ctr">
              <a:buNone/>
              <a:defRPr/>
            </a:pPr>
            <a:r>
              <a:rPr lang="en-US"/>
              <a:t>    0</a:t>
            </a:r>
            <a:r>
              <a:rPr lang="ru-RU"/>
              <a:t>,</a:t>
            </a:r>
            <a:r>
              <a:rPr lang="en-US"/>
              <a:t>3</a:t>
            </a:r>
            <a:r>
              <a:rPr lang="ru-RU"/>
              <a:t>∙</a:t>
            </a:r>
            <a:r>
              <a:rPr lang="en-US"/>
              <a:t>30 – 0</a:t>
            </a:r>
            <a:r>
              <a:rPr lang="ru-RU"/>
              <a:t>,</a:t>
            </a:r>
            <a:r>
              <a:rPr lang="en-US"/>
              <a:t>7</a:t>
            </a:r>
            <a:r>
              <a:rPr lang="ru-RU"/>
              <a:t> ≤</a:t>
            </a:r>
            <a:r>
              <a:rPr lang="en-US"/>
              <a:t> m</a:t>
            </a:r>
            <a:r>
              <a:rPr lang="en-US" sz="2000"/>
              <a:t>0 </a:t>
            </a:r>
            <a:r>
              <a:rPr lang="ru-RU"/>
              <a:t>≤</a:t>
            </a:r>
            <a:r>
              <a:rPr lang="en-US"/>
              <a:t> 0</a:t>
            </a:r>
            <a:r>
              <a:rPr lang="ru-RU"/>
              <a:t>,</a:t>
            </a:r>
            <a:r>
              <a:rPr lang="en-US"/>
              <a:t>3</a:t>
            </a:r>
            <a:r>
              <a:rPr lang="ru-RU"/>
              <a:t>∙</a:t>
            </a:r>
            <a:r>
              <a:rPr lang="en-US"/>
              <a:t>30</a:t>
            </a:r>
            <a:r>
              <a:rPr lang="ru-RU"/>
              <a:t> </a:t>
            </a:r>
            <a:r>
              <a:rPr lang="en-US"/>
              <a:t>+</a:t>
            </a:r>
            <a:r>
              <a:rPr lang="ru-RU"/>
              <a:t> </a:t>
            </a:r>
            <a:r>
              <a:rPr lang="en-US"/>
              <a:t>0</a:t>
            </a:r>
            <a:r>
              <a:rPr lang="ru-RU"/>
              <a:t>,</a:t>
            </a:r>
            <a:r>
              <a:rPr lang="en-US"/>
              <a:t>3</a:t>
            </a:r>
            <a:endParaRPr lang="ru-RU"/>
          </a:p>
          <a:p>
            <a:pPr marL="273050" indent="-273050" algn="ctr">
              <a:buNone/>
              <a:defRPr/>
            </a:pPr>
            <a:r>
              <a:rPr lang="en-US"/>
              <a:t>    8</a:t>
            </a:r>
            <a:r>
              <a:rPr lang="ru-RU"/>
              <a:t>,</a:t>
            </a:r>
            <a:r>
              <a:rPr lang="en-US"/>
              <a:t>3 </a:t>
            </a:r>
            <a:r>
              <a:rPr lang="ru-RU"/>
              <a:t>≤</a:t>
            </a:r>
            <a:r>
              <a:rPr lang="en-US"/>
              <a:t> m</a:t>
            </a:r>
            <a:r>
              <a:rPr lang="en-US" sz="2000"/>
              <a:t>0 </a:t>
            </a:r>
            <a:r>
              <a:rPr lang="ru-RU"/>
              <a:t>≤</a:t>
            </a:r>
            <a:r>
              <a:rPr lang="en-US"/>
              <a:t> 9</a:t>
            </a:r>
            <a:r>
              <a:rPr lang="ru-RU"/>
              <a:t>,</a:t>
            </a:r>
            <a:r>
              <a:rPr lang="en-US"/>
              <a:t>3</a:t>
            </a:r>
            <a:endParaRPr/>
          </a:p>
          <a:p>
            <a:pPr marL="273050" indent="-273050" algn="ctr">
              <a:buNone/>
              <a:defRPr/>
            </a:pPr>
            <a:r>
              <a:rPr lang="en-US"/>
              <a:t>    m</a:t>
            </a:r>
            <a:r>
              <a:rPr lang="en-US" sz="2000"/>
              <a:t>0 </a:t>
            </a:r>
            <a:r>
              <a:rPr lang="en-US"/>
              <a:t>= 9</a:t>
            </a:r>
            <a:endParaRPr/>
          </a:p>
          <a:p>
            <a:pPr marL="273050" indent="-273050">
              <a:buNone/>
              <a:defRPr/>
            </a:pPr>
            <a:r>
              <a:rPr lang="en-US" u="sng"/>
              <a:t> </a:t>
            </a:r>
            <a:r>
              <a:rPr lang="ru-RU" u="sng">
                <a:solidFill>
                  <a:schemeClr val="bg2">
                    <a:lumMod val="20000"/>
                    <a:lumOff val="80000"/>
                  </a:schemeClr>
                </a:solidFill>
              </a:rPr>
              <a:t>Ответ: </a:t>
            </a:r>
            <a:endParaRPr/>
          </a:p>
          <a:p>
            <a:pPr marL="273050" indent="-273050">
              <a:buNone/>
              <a:defRPr/>
            </a:pPr>
            <a:r>
              <a:rPr lang="ru-RU"/>
              <a:t>наивероятнейшее число дождливых дней 21 июля на ближайшие 30 лет равно 9.</a:t>
            </a:r>
            <a:endParaRPr/>
          </a:p>
          <a:p>
            <a:pPr marL="273050" indent="-273050">
              <a:buNone/>
              <a:defRPr/>
            </a:pPr>
            <a:endParaRPr lang="ru-RU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Формула Пуассона</a:t>
            </a:r>
            <a:endParaRPr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800"/>
              <a:t>Если число независимых испытаний </a:t>
            </a:r>
            <a:r>
              <a:rPr lang="en-US" sz="2800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ru-RU" sz="2800"/>
              <a:t> достаточно </a:t>
            </a:r>
            <a:r>
              <a:rPr lang="ru-RU" sz="2800" u="sng">
                <a:solidFill>
                  <a:schemeClr val="bg2">
                    <a:lumMod val="20000"/>
                    <a:lumOff val="80000"/>
                  </a:schemeClr>
                </a:solidFill>
              </a:rPr>
              <a:t>велико</a:t>
            </a:r>
            <a:r>
              <a:rPr lang="ru-RU" sz="2800"/>
              <a:t>, а вероятность </a:t>
            </a:r>
            <a:r>
              <a:rPr lang="en-US" sz="2800">
                <a:solidFill>
                  <a:schemeClr val="bg2">
                    <a:lumMod val="20000"/>
                    <a:lumOff val="80000"/>
                  </a:schemeClr>
                </a:solidFill>
              </a:rPr>
              <a:t>p</a:t>
            </a:r>
            <a:r>
              <a:rPr lang="en-US" sz="2800"/>
              <a:t> </a:t>
            </a:r>
            <a:r>
              <a:rPr lang="ru-RU" sz="2800"/>
              <a:t>появления события в каждом испытании </a:t>
            </a:r>
            <a:r>
              <a:rPr lang="ru-RU" sz="2800" u="sng">
                <a:solidFill>
                  <a:schemeClr val="bg2">
                    <a:lumMod val="20000"/>
                    <a:lumOff val="80000"/>
                  </a:schemeClr>
                </a:solidFill>
              </a:rPr>
              <a:t>мала</a:t>
            </a:r>
            <a:r>
              <a:rPr lang="en-US" sz="2800"/>
              <a:t> </a:t>
            </a:r>
            <a:r>
              <a:rPr lang="ru-RU" sz="2800"/>
              <a:t>(близка к 0), так что </a:t>
            </a:r>
            <a:r>
              <a:rPr lang="en-US" sz="2800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ru-RU" sz="2800">
                <a:solidFill>
                  <a:schemeClr val="bg2">
                    <a:lumMod val="20000"/>
                    <a:lumOff val="80000"/>
                  </a:schemeClr>
                </a:solidFill>
              </a:rPr>
              <a:t>∙</a:t>
            </a:r>
            <a:r>
              <a:rPr lang="en-US" sz="2800">
                <a:solidFill>
                  <a:schemeClr val="bg2">
                    <a:lumMod val="20000"/>
                    <a:lumOff val="80000"/>
                  </a:schemeClr>
                </a:solidFill>
              </a:rPr>
              <a:t>p</a:t>
            </a:r>
            <a:r>
              <a:rPr lang="ru-RU" sz="2800">
                <a:solidFill>
                  <a:schemeClr val="bg2">
                    <a:lumMod val="20000"/>
                    <a:lumOff val="80000"/>
                  </a:schemeClr>
                </a:solidFill>
              </a:rPr>
              <a:t> ≤ 10 </a:t>
            </a:r>
            <a:r>
              <a:rPr lang="ru-RU" sz="2800"/>
              <a:t>, то для вычисления вероятности появления события</a:t>
            </a:r>
            <a:r>
              <a:rPr lang="en-US" sz="2800"/>
              <a:t> m</a:t>
            </a:r>
            <a:r>
              <a:rPr lang="ru-RU" sz="2800"/>
              <a:t> раз  применяют </a:t>
            </a:r>
            <a:r>
              <a:rPr lang="ru-RU" sz="2800" u="sng">
                <a:solidFill>
                  <a:schemeClr val="bg2">
                    <a:lumMod val="20000"/>
                    <a:lumOff val="80000"/>
                  </a:schemeClr>
                </a:solidFill>
              </a:rPr>
              <a:t>формулу Пуассона. </a:t>
            </a:r>
            <a:r>
              <a:rPr lang="en-US" sz="2800" u="sng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endParaRPr/>
          </a:p>
          <a:p>
            <a:pPr>
              <a:defRPr/>
            </a:pPr>
            <a:endParaRPr lang="ru-RU" u="sng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None/>
              <a:defRPr/>
            </a:pPr>
            <a:r>
              <a:rPr lang="en-US"/>
              <a:t>                                                </a:t>
            </a:r>
            <a:r>
              <a:rPr lang="ru-RU" sz="2800"/>
              <a:t>где</a:t>
            </a:r>
            <a:r>
              <a:rPr lang="en-US"/>
              <a:t>                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714348" y="4357694"/>
          <a:ext cx="4500594" cy="1800238"/>
        </p:xfrm>
        <a:graphic>
          <a:graphicData uri="http://schemas.openxmlformats.org/presentationml/2006/ole">
            <p:oleObj name="oleObj" r:id="rId3" imgW="1078865" imgH="431165" progId="Equation.3">
              <p:embed/>
              <p:pic>
                <p:nvPicPr>
                  <p:cNvPr id="103426" name="Object 2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714348" y="4357694"/>
                    <a:ext cx="4500594" cy="1800238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6072197" y="5595945"/>
          <a:ext cx="2071702" cy="770866"/>
        </p:xfrm>
        <a:graphic>
          <a:graphicData uri="http://schemas.openxmlformats.org/presentationml/2006/ole">
            <p:oleObj name="oleObj" r:id="rId5" imgW="545465" imgH="202565" progId="Equation.3">
              <p:embed/>
              <p:pic>
                <p:nvPicPr>
                  <p:cNvPr id="103427" name="Object 3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>
                    <a:off x="6072197" y="5595945"/>
                    <a:ext cx="2071702" cy="77086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2200" b="1" u="sng"/>
              <a:t>Задача:</a:t>
            </a:r>
            <a:r>
              <a:rPr lang="ru-RU" sz="2200" b="1"/>
              <a:t> </a:t>
            </a:r>
            <a:r>
              <a:rPr lang="ru-RU" sz="2200" b="1"/>
              <a:t>На факультете насчитывается 1825 студентов. Какова вероятность того, что 1 сентября является днем  рождения одновременно четырех студентов факультета? </a:t>
            </a:r>
            <a:endParaRPr lang="ru-RU" sz="2200" b="1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85000" lnSpcReduction="10000"/>
          </a:bodyPr>
          <a:lstStyle/>
          <a:p>
            <a:pPr marL="0" indent="0">
              <a:buFont typeface="Wingdings"/>
              <a:buNone/>
              <a:defRPr/>
            </a:pPr>
            <a:r>
              <a:rPr lang="ru-RU" sz="3300" u="sng">
                <a:solidFill>
                  <a:schemeClr val="bg2">
                    <a:lumMod val="20000"/>
                    <a:lumOff val="80000"/>
                  </a:schemeClr>
                </a:solidFill>
              </a:rPr>
              <a:t>Решение: </a:t>
            </a:r>
            <a:endParaRPr/>
          </a:p>
          <a:p>
            <a:pPr marL="0" indent="0">
              <a:buFont typeface="Wingdings"/>
              <a:buNone/>
              <a:defRPr/>
            </a:pPr>
            <a:endParaRPr lang="en-US" sz="2600" u="sng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>
              <a:buFont typeface="Wingdings"/>
              <a:buNone/>
              <a:defRPr/>
            </a:pPr>
            <a:r>
              <a:rPr lang="ru-RU" sz="2600"/>
              <a:t>1)Событие А –день рождения студента 1 сентября.</a:t>
            </a:r>
            <a:endParaRPr lang="en-US" sz="2600"/>
          </a:p>
          <a:p>
            <a:pPr marL="0" indent="0">
              <a:buFont typeface="Wingdings"/>
              <a:buNone/>
              <a:defRPr/>
            </a:pPr>
            <a:r>
              <a:rPr lang="ru-RU" sz="2600"/>
              <a:t>2) По исходным данным: </a:t>
            </a:r>
            <a:endParaRPr/>
          </a:p>
          <a:p>
            <a:pPr marL="0" indent="0">
              <a:buFont typeface="Wingdings"/>
              <a:buNone/>
              <a:defRPr/>
            </a:pPr>
            <a:r>
              <a:rPr lang="ru-RU" sz="2600"/>
              <a:t>вероятность того, что день рождения студента 1 сентября равна </a:t>
            </a:r>
            <a:r>
              <a:rPr lang="en-US" sz="2600"/>
              <a:t>p</a:t>
            </a:r>
            <a:r>
              <a:rPr lang="ru-RU" sz="2600"/>
              <a:t>=1/365</a:t>
            </a:r>
            <a:r>
              <a:rPr lang="en-US" sz="2600"/>
              <a:t> - </a:t>
            </a:r>
            <a:r>
              <a:rPr lang="ru-RU" sz="2600"/>
              <a:t>мала, </a:t>
            </a:r>
            <a:r>
              <a:rPr lang="en-US" sz="2600"/>
              <a:t>n </a:t>
            </a:r>
            <a:r>
              <a:rPr lang="ru-RU" sz="2600"/>
              <a:t>= 1825 </a:t>
            </a:r>
            <a:r>
              <a:rPr lang="en-US" sz="2600"/>
              <a:t>-</a:t>
            </a:r>
            <a:r>
              <a:rPr lang="ru-RU" sz="2600"/>
              <a:t> велико и</a:t>
            </a:r>
            <a:r>
              <a:rPr lang="en-US" sz="2600"/>
              <a:t> </a:t>
            </a:r>
            <a:r>
              <a:rPr lang="ru-RU" sz="2600" i="1">
                <a:latin typeface="Times New Roman"/>
              </a:rPr>
              <a:t>λ</a:t>
            </a:r>
            <a:r>
              <a:rPr lang="ru-RU" sz="2600"/>
              <a:t> </a:t>
            </a:r>
            <a:r>
              <a:rPr lang="ru-RU" sz="2600"/>
              <a:t>= </a:t>
            </a:r>
            <a:r>
              <a:rPr lang="en-US" sz="2600"/>
              <a:t>n</a:t>
            </a:r>
            <a:r>
              <a:rPr lang="ru-RU" sz="2600"/>
              <a:t>р</a:t>
            </a:r>
            <a:r>
              <a:rPr lang="ru-RU" sz="2600"/>
              <a:t> = 1825 • (1/365 ) = 5 &lt; 10, следовательно применяем </a:t>
            </a:r>
            <a:r>
              <a:rPr lang="ru-RU" sz="2600">
                <a:solidFill>
                  <a:schemeClr val="bg2">
                    <a:lumMod val="20000"/>
                    <a:lumOff val="80000"/>
                  </a:schemeClr>
                </a:solidFill>
              </a:rPr>
              <a:t>формулу Пуассона</a:t>
            </a:r>
            <a:r>
              <a:rPr lang="ru-RU" sz="2600"/>
              <a:t>: </a:t>
            </a:r>
            <a:endParaRPr/>
          </a:p>
          <a:p>
            <a:pPr marL="0" indent="0">
              <a:buFont typeface="Wingdings"/>
              <a:buNone/>
              <a:defRPr/>
            </a:pPr>
            <a:endParaRPr lang="ru-RU" sz="2600"/>
          </a:p>
          <a:p>
            <a:pPr marL="0" indent="0">
              <a:buFont typeface="Wingdings"/>
              <a:buNone/>
              <a:defRPr/>
            </a:pPr>
            <a:endParaRPr lang="ru-RU" sz="2600"/>
          </a:p>
          <a:p>
            <a:pPr marL="0" indent="0">
              <a:buFont typeface="Wingdings"/>
              <a:buNone/>
              <a:defRPr/>
            </a:pPr>
            <a:endParaRPr lang="ru-RU" sz="2600"/>
          </a:p>
          <a:p>
            <a:pPr marL="0" indent="0">
              <a:buFont typeface="Wingdings"/>
              <a:buNone/>
              <a:defRPr/>
            </a:pPr>
            <a:endParaRPr lang="ru-RU" sz="2600"/>
          </a:p>
          <a:p>
            <a:pPr marL="0" indent="0">
              <a:buFont typeface="Wingdings"/>
              <a:buNone/>
              <a:defRPr/>
            </a:pPr>
            <a:r>
              <a:rPr lang="ru-RU" sz="3300" u="sng">
                <a:solidFill>
                  <a:schemeClr val="bg2">
                    <a:lumMod val="20000"/>
                    <a:lumOff val="80000"/>
                  </a:schemeClr>
                </a:solidFill>
              </a:rPr>
              <a:t>Ответ:</a:t>
            </a:r>
            <a:endParaRPr/>
          </a:p>
          <a:p>
            <a:pPr marL="0" indent="0">
              <a:buFont typeface="Wingdings"/>
              <a:buNone/>
              <a:defRPr/>
            </a:pPr>
            <a:r>
              <a:rPr lang="ru-RU" sz="2600"/>
              <a:t> вероятность того, что 1 сентября является днем  рождения одновременно четырех студентов факультета равна 0,18.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736600" y="3976688"/>
          <a:ext cx="7340600" cy="879475"/>
        </p:xfrm>
        <a:graphic>
          <a:graphicData uri="http://schemas.openxmlformats.org/presentationml/2006/ole">
            <p:oleObj name="oleObj" r:id="rId3" imgW="3923665" imgH="469265" progId="Equation.3">
              <p:embed/>
              <p:pic>
                <p:nvPicPr>
                  <p:cNvPr id="104450" name="Object 2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736600" y="3976688"/>
                    <a:ext cx="7340600" cy="879475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Локальная теорема</a:t>
            </a:r>
            <a:br>
              <a:rPr lang="ru-RU"/>
            </a:br>
            <a:r>
              <a:rPr lang="ru-RU"/>
              <a:t> Муавра-Лапласа</a:t>
            </a:r>
            <a:endParaRPr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85000" lnSpcReduction="20000"/>
          </a:bodyPr>
          <a:lstStyle/>
          <a:p>
            <a:pPr marL="0" indent="0" algn="just">
              <a:buFont typeface="Wingdings"/>
              <a:buNone/>
              <a:defRPr/>
            </a:pPr>
            <a:r>
              <a:rPr lang="ru-RU"/>
              <a:t>Пользоваться формулой Бернулли </a:t>
            </a:r>
            <a:r>
              <a:rPr lang="ru-RU">
                <a:solidFill>
                  <a:schemeClr val="bg2">
                    <a:lumMod val="20000"/>
                    <a:lumOff val="80000"/>
                  </a:schemeClr>
                </a:solidFill>
              </a:rPr>
              <a:t>при больших значениях 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ru-RU"/>
              <a:t> достаточно трудно, так как формула требует выполнения действий над громадными числами. Например, если </a:t>
            </a:r>
            <a:endParaRPr lang="en-US"/>
          </a:p>
          <a:p>
            <a:pPr marL="0" indent="0" algn="just">
              <a:buFont typeface="Wingdings"/>
              <a:buNone/>
              <a:defRPr/>
            </a:pPr>
            <a:r>
              <a:rPr lang="en-US"/>
              <a:t>n</a:t>
            </a:r>
            <a:r>
              <a:rPr lang="ru-RU"/>
              <a:t> = 50, </a:t>
            </a:r>
            <a:r>
              <a:rPr lang="en-US"/>
              <a:t>m</a:t>
            </a:r>
            <a:r>
              <a:rPr lang="ru-RU"/>
              <a:t> = 30, р=0,1, то для отыскания вероятности </a:t>
            </a:r>
            <a:r>
              <a:rPr lang="en-US"/>
              <a:t>P</a:t>
            </a:r>
            <a:r>
              <a:rPr lang="ru-RU" sz="2000" b="1"/>
              <a:t>5</a:t>
            </a:r>
            <a:r>
              <a:rPr lang="en-US" sz="2000" b="1"/>
              <a:t>0</a:t>
            </a:r>
            <a:r>
              <a:rPr lang="en-US"/>
              <a:t>(</a:t>
            </a:r>
            <a:r>
              <a:rPr lang="ru-RU"/>
              <a:t>3</a:t>
            </a:r>
            <a:r>
              <a:rPr lang="en-US"/>
              <a:t>0) </a:t>
            </a:r>
            <a:r>
              <a:rPr lang="ru-RU"/>
              <a:t>надо вычислить выражение </a:t>
            </a:r>
            <a:endParaRPr lang="en-US"/>
          </a:p>
          <a:p>
            <a:pPr marL="0" indent="0" algn="just">
              <a:buFont typeface="Wingdings"/>
              <a:buNone/>
              <a:defRPr/>
            </a:pPr>
            <a:endParaRPr lang="en-US"/>
          </a:p>
          <a:p>
            <a:pPr marL="0" indent="0" algn="just">
              <a:buFont typeface="Wingdings"/>
              <a:buNone/>
              <a:defRPr/>
            </a:pPr>
            <a:endParaRPr lang="ru-RU" b="1"/>
          </a:p>
          <a:p>
            <a:pPr marL="0" indent="0" algn="just">
              <a:buFont typeface="Wingdings"/>
              <a:buNone/>
              <a:defRPr/>
            </a:pPr>
            <a:r>
              <a:rPr lang="ru-RU">
                <a:solidFill>
                  <a:schemeClr val="bg2">
                    <a:lumMod val="20000"/>
                    <a:lumOff val="80000"/>
                  </a:schemeClr>
                </a:solidFill>
              </a:rPr>
              <a:t>Локальная теорема Муавра-Лапласа </a:t>
            </a:r>
            <a:r>
              <a:rPr lang="ru-RU"/>
              <a:t>дает асимптотическую формулу, которая позволяет приближенно найти вероятность появления события ровно </a:t>
            </a:r>
            <a:r>
              <a:rPr lang="en-US"/>
              <a:t>m</a:t>
            </a:r>
            <a:r>
              <a:rPr lang="ru-RU"/>
              <a:t> раз в </a:t>
            </a:r>
            <a:r>
              <a:rPr lang="en-US"/>
              <a:t>n</a:t>
            </a:r>
            <a:r>
              <a:rPr lang="ru-RU"/>
              <a:t> испытаниях, если число испытаний достаточно велико. </a:t>
            </a:r>
            <a:endParaRPr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2428860" y="3857628"/>
          <a:ext cx="3150416" cy="500066"/>
        </p:xfrm>
        <a:graphic>
          <a:graphicData uri="http://schemas.openxmlformats.org/presentationml/2006/ole">
            <p:oleObj name="oleObj" r:id="rId3" imgW="1600200" imgH="252730" progId="Equation.3">
              <p:embed/>
              <p:pic>
                <p:nvPicPr>
                  <p:cNvPr id="105474" name="Object 2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2428860" y="3857628"/>
                    <a:ext cx="3150416" cy="50006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Локальная теорема</a:t>
            </a:r>
            <a:br>
              <a:rPr lang="ru-RU"/>
            </a:br>
            <a:r>
              <a:rPr lang="ru-RU"/>
              <a:t> Муавра-Лапласа</a:t>
            </a:r>
            <a:endParaRPr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sz="2400"/>
              <a:t>Если вероятность </a:t>
            </a:r>
            <a:r>
              <a:rPr lang="ru-RU" sz="2400"/>
              <a:t>р</a:t>
            </a:r>
            <a:r>
              <a:rPr lang="ru-RU" sz="2400"/>
              <a:t> появления события А в каждом испытании постоянна и отлична от нуля и единицы, то вероятность Р</a:t>
            </a:r>
            <a:r>
              <a:rPr lang="en-US" sz="2400"/>
              <a:t>n</a:t>
            </a:r>
            <a:r>
              <a:rPr lang="ru-RU" sz="2400"/>
              <a:t>(</a:t>
            </a:r>
            <a:r>
              <a:rPr lang="en-US" sz="2400"/>
              <a:t>m</a:t>
            </a:r>
            <a:r>
              <a:rPr lang="ru-RU" sz="2400"/>
              <a:t>) того, что событие А появится ровно </a:t>
            </a:r>
            <a:r>
              <a:rPr lang="en-US" sz="2400"/>
              <a:t>m</a:t>
            </a:r>
            <a:r>
              <a:rPr lang="ru-RU" sz="2400"/>
              <a:t> раз в </a:t>
            </a:r>
            <a:r>
              <a:rPr lang="en-US" sz="2400"/>
              <a:t>n</a:t>
            </a:r>
            <a:r>
              <a:rPr lang="ru-RU" sz="2400"/>
              <a:t> испытаниях  приближенно равна (тем точнее, чем больше </a:t>
            </a:r>
            <a:r>
              <a:rPr lang="en-US" sz="2400"/>
              <a:t>n</a:t>
            </a:r>
            <a:r>
              <a:rPr lang="ru-RU" sz="2400"/>
              <a:t>)</a:t>
            </a:r>
            <a:endParaRPr/>
          </a:p>
          <a:p>
            <a:pPr>
              <a:buNone/>
              <a:defRPr/>
            </a:pPr>
            <a:endParaRPr lang="ru-RU" sz="2400"/>
          </a:p>
          <a:p>
            <a:pPr>
              <a:buNone/>
              <a:defRPr/>
            </a:pPr>
            <a:endParaRPr lang="ru-RU" sz="2400"/>
          </a:p>
          <a:p>
            <a:pPr>
              <a:buNone/>
              <a:defRPr/>
            </a:pPr>
            <a:endParaRPr lang="ru-RU" sz="2400"/>
          </a:p>
          <a:p>
            <a:pPr>
              <a:buNone/>
              <a:defRPr/>
            </a:pPr>
            <a:endParaRPr lang="ru-RU" sz="2400"/>
          </a:p>
          <a:p>
            <a:pPr>
              <a:buNone/>
              <a:defRPr/>
            </a:pPr>
            <a:endParaRPr lang="ru-RU" sz="2400"/>
          </a:p>
          <a:p>
            <a:pPr>
              <a:buNone/>
              <a:defRPr/>
            </a:pPr>
            <a:r>
              <a:rPr lang="ru-RU" sz="2400"/>
              <a:t>Где 					</a:t>
            </a:r>
            <a:endParaRPr/>
          </a:p>
          <a:p>
            <a:pPr>
              <a:buNone/>
              <a:defRPr/>
            </a:pPr>
            <a:endParaRPr lang="ru-RU" sz="2400"/>
          </a:p>
          <a:p>
            <a:pPr>
              <a:buNone/>
              <a:defRPr/>
            </a:pPr>
            <a:endParaRPr lang="ru-RU" sz="2400"/>
          </a:p>
          <a:p>
            <a:pPr>
              <a:buNone/>
              <a:defRPr/>
            </a:pPr>
            <a:endParaRPr lang="ru-RU" sz="2400"/>
          </a:p>
          <a:p>
            <a:pPr>
              <a:buNone/>
              <a:defRPr/>
            </a:pPr>
            <a:endParaRPr lang="ru-RU"/>
          </a:p>
          <a:p>
            <a:pPr>
              <a:buNone/>
              <a:defRPr/>
            </a:pPr>
            <a:endParaRPr lang="ru-RU"/>
          </a:p>
          <a:p>
            <a:pPr>
              <a:buNone/>
              <a:defRPr/>
            </a:pPr>
            <a:endParaRPr lang="ru-RU"/>
          </a:p>
          <a:p>
            <a:pPr>
              <a:buNone/>
              <a:defRPr/>
            </a:pPr>
            <a:endParaRPr lang="ru-RU"/>
          </a:p>
          <a:p>
            <a:pPr>
              <a:buNone/>
              <a:defRPr/>
            </a:pPr>
            <a:endParaRPr lang="ru-RU"/>
          </a:p>
          <a:p>
            <a:pPr>
              <a:buNone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3071802" y="3357562"/>
          <a:ext cx="3071834" cy="1168633"/>
        </p:xfrm>
        <a:graphic>
          <a:graphicData uri="http://schemas.openxmlformats.org/presentationml/2006/ole">
            <p:oleObj name="oleObj" r:id="rId3" imgW="1167765" imgH="443865" progId="Equation.3">
              <p:embed/>
              <p:pic>
                <p:nvPicPr>
                  <p:cNvPr id="106498" name="Object 2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3071802" y="3357562"/>
                    <a:ext cx="3071834" cy="1168633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214414" y="4929198"/>
          <a:ext cx="2071702" cy="1115532"/>
        </p:xfrm>
        <a:graphic>
          <a:graphicData uri="http://schemas.openxmlformats.org/presentationml/2006/ole">
            <p:oleObj name="oleObj" r:id="rId5" imgW="824865" imgH="443865" progId="Equation.3">
              <p:embed/>
              <p:pic>
                <p:nvPicPr>
                  <p:cNvPr id="106499" name="Object 3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>
                    <a:off x="1214414" y="4929198"/>
                    <a:ext cx="2071702" cy="1115532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4000496" y="5000635"/>
          <a:ext cx="3784600" cy="1006474"/>
        </p:xfrm>
        <a:graphic>
          <a:graphicData uri="http://schemas.openxmlformats.org/presentationml/2006/ole">
            <p:oleObj name="oleObj" r:id="rId7" imgW="1155065" imgH="520065" progId="Equation.3">
              <p:embed/>
              <p:pic>
                <p:nvPicPr>
                  <p:cNvPr id="106500" name="Object 4"/>
                  <p:cNvPicPr/>
                  <p:nvPr/>
                </p:nvPicPr>
                <p:blipFill>
                  <a:blip r:embed="rId6"/>
                  <a:stretch/>
                </p:blipFill>
                <p:spPr bwMode="auto">
                  <a:xfrm>
                    <a:off x="4000496" y="5000635"/>
                    <a:ext cx="3784600" cy="1006474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Локальная теорема</a:t>
            </a:r>
            <a:br>
              <a:rPr lang="ru-RU"/>
            </a:br>
            <a:r>
              <a:rPr lang="ru-RU"/>
              <a:t> Муавра-Лапласа</a:t>
            </a:r>
            <a:endParaRPr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77500" lnSpcReduction="20000"/>
          </a:bodyPr>
          <a:lstStyle/>
          <a:p>
            <a:pPr marL="0" indent="0">
              <a:buFont typeface="Wingdings"/>
              <a:buNone/>
              <a:defRPr/>
            </a:pPr>
            <a:r>
              <a:rPr lang="ru-RU"/>
              <a:t>Функция </a:t>
            </a:r>
            <a:r>
              <a:rPr lang="el-GR">
                <a:ea typeface="Cambria"/>
              </a:rPr>
              <a:t>φ</a:t>
            </a:r>
            <a:r>
              <a:rPr lang="en-US">
                <a:latin typeface="Cambria"/>
                <a:ea typeface="Cambria"/>
              </a:rPr>
              <a:t>(x)</a:t>
            </a:r>
            <a:r>
              <a:rPr lang="ru-RU">
                <a:latin typeface="Cambria"/>
                <a:ea typeface="Cambria"/>
              </a:rPr>
              <a:t> называется </a:t>
            </a:r>
            <a:r>
              <a:rPr lang="ru-RU" u="sng">
                <a:solidFill>
                  <a:schemeClr val="bg2">
                    <a:lumMod val="20000"/>
                    <a:lumOff val="80000"/>
                  </a:schemeClr>
                </a:solidFill>
                <a:latin typeface="Cambria"/>
                <a:ea typeface="Cambria"/>
              </a:rPr>
              <a:t>функцией плотности стандартного нормального распределения</a:t>
            </a:r>
            <a:r>
              <a:rPr lang="ru-RU">
                <a:latin typeface="Cambria"/>
                <a:ea typeface="Cambria"/>
              </a:rPr>
              <a:t>.</a:t>
            </a:r>
            <a:endParaRPr/>
          </a:p>
          <a:p>
            <a:pPr marL="0" indent="0">
              <a:buFont typeface="Wingdings"/>
              <a:buNone/>
              <a:defRPr/>
            </a:pPr>
            <a:r>
              <a:rPr lang="ru-RU"/>
              <a:t> Для упрощения расчетов, связанных с применением  формулы составлена таблица ее значений . </a:t>
            </a:r>
            <a:endParaRPr/>
          </a:p>
          <a:p>
            <a:pPr marL="0" indent="0">
              <a:buFont typeface="Wingdings"/>
              <a:buNone/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r>
              <a:rPr lang="ru-RU" u="sng">
                <a:solidFill>
                  <a:schemeClr val="bg2">
                    <a:lumMod val="20000"/>
                    <a:lumOff val="80000"/>
                  </a:schemeClr>
                </a:solidFill>
              </a:rPr>
              <a:t>Свойства функции </a:t>
            </a:r>
            <a:r>
              <a:rPr lang="el-GR" u="sng">
                <a:solidFill>
                  <a:schemeClr val="bg2">
                    <a:lumMod val="20000"/>
                    <a:lumOff val="80000"/>
                  </a:schemeClr>
                </a:solidFill>
                <a:ea typeface="Cambria"/>
              </a:rPr>
              <a:t>φ</a:t>
            </a:r>
            <a:r>
              <a:rPr lang="en-US" u="sng">
                <a:solidFill>
                  <a:schemeClr val="bg2">
                    <a:lumMod val="20000"/>
                    <a:lumOff val="80000"/>
                  </a:schemeClr>
                </a:solidFill>
                <a:latin typeface="Cambria"/>
                <a:ea typeface="Cambria"/>
              </a:rPr>
              <a:t>(x)</a:t>
            </a:r>
            <a:r>
              <a:rPr lang="ru-RU" u="sng"/>
              <a:t>:</a:t>
            </a:r>
            <a:endParaRPr/>
          </a:p>
          <a:p>
            <a:pPr marL="0" indent="0">
              <a:buFont typeface="Wingdings"/>
              <a:buNone/>
              <a:defRPr/>
            </a:pPr>
            <a:endParaRPr lang="ru-RU"/>
          </a:p>
          <a:p>
            <a:pPr marL="514350" indent="-514350">
              <a:buFont typeface="Wingdings"/>
              <a:buAutoNum type="arabicPeriod"/>
              <a:defRPr/>
            </a:pPr>
            <a:r>
              <a:rPr lang="ru-RU"/>
              <a:t>Функция   </a:t>
            </a:r>
            <a:r>
              <a:rPr lang="el-GR">
                <a:latin typeface="Cambria"/>
                <a:ea typeface="Cambria"/>
              </a:rPr>
              <a:t>φ</a:t>
            </a:r>
            <a:r>
              <a:rPr lang="en-US">
                <a:latin typeface="Cambria"/>
                <a:ea typeface="Cambria"/>
              </a:rPr>
              <a:t>(x)</a:t>
            </a:r>
            <a:r>
              <a:rPr lang="ru-RU"/>
              <a:t> является четной, т.е.  </a:t>
            </a:r>
            <a:r>
              <a:rPr lang="el-GR">
                <a:latin typeface="Cambria"/>
                <a:ea typeface="Cambria"/>
              </a:rPr>
              <a:t>φ</a:t>
            </a:r>
            <a:r>
              <a:rPr lang="en-US">
                <a:latin typeface="Cambria"/>
                <a:ea typeface="Cambria"/>
              </a:rPr>
              <a:t>(-x)=</a:t>
            </a:r>
            <a:r>
              <a:rPr lang="el-GR">
                <a:latin typeface="Cambria"/>
                <a:ea typeface="Cambria"/>
              </a:rPr>
              <a:t>φ</a:t>
            </a:r>
            <a:r>
              <a:rPr lang="en-US">
                <a:latin typeface="Cambria"/>
                <a:ea typeface="Cambria"/>
              </a:rPr>
              <a:t>(x).</a:t>
            </a:r>
            <a:r>
              <a:rPr lang="ru-RU"/>
              <a:t> </a:t>
            </a:r>
            <a:endParaRPr/>
          </a:p>
          <a:p>
            <a:pPr marL="514350" indent="-514350">
              <a:buFont typeface="Wingdings"/>
              <a:buAutoNum type="arabicPeriod"/>
              <a:defRPr/>
            </a:pPr>
            <a:r>
              <a:rPr lang="ru-RU"/>
              <a:t> Функция   </a:t>
            </a:r>
            <a:r>
              <a:rPr lang="el-GR">
                <a:latin typeface="Cambria"/>
                <a:ea typeface="Cambria"/>
              </a:rPr>
              <a:t>φ</a:t>
            </a:r>
            <a:r>
              <a:rPr lang="en-US">
                <a:latin typeface="Cambria"/>
                <a:ea typeface="Cambria"/>
              </a:rPr>
              <a:t>(x)</a:t>
            </a:r>
            <a:r>
              <a:rPr lang="ru-RU"/>
              <a:t>  — монотонно убывающая при положительных значениях </a:t>
            </a:r>
            <a:r>
              <a:rPr lang="ru-RU"/>
              <a:t>х</a:t>
            </a:r>
            <a:r>
              <a:rPr lang="ru-RU"/>
              <a:t>, причем при   </a:t>
            </a:r>
            <a:r>
              <a:rPr lang="en-US"/>
              <a:t>x</a:t>
            </a:r>
            <a:r>
              <a:rPr lang="en-US">
                <a:latin typeface="Cambria"/>
                <a:ea typeface="Cambria"/>
              </a:rPr>
              <a:t>→∞ </a:t>
            </a:r>
            <a:r>
              <a:rPr lang="el-GR">
                <a:latin typeface="Cambria"/>
                <a:ea typeface="Cambria"/>
              </a:rPr>
              <a:t>φ</a:t>
            </a:r>
            <a:r>
              <a:rPr lang="en-US">
                <a:latin typeface="Cambria"/>
                <a:ea typeface="Cambria"/>
              </a:rPr>
              <a:t>(x)→0</a:t>
            </a:r>
            <a:r>
              <a:rPr lang="ru-RU"/>
              <a:t>                        </a:t>
            </a:r>
            <a:endParaRPr/>
          </a:p>
          <a:p>
            <a:pPr marL="0" indent="0">
              <a:buFont typeface="Wingdings"/>
              <a:buNone/>
              <a:defRPr/>
            </a:pPr>
            <a:r>
              <a:rPr lang="ru-RU"/>
              <a:t>(Практически можно считать, что уже при </a:t>
            </a:r>
            <a:r>
              <a:rPr lang="ru-RU"/>
              <a:t>х</a:t>
            </a:r>
            <a:r>
              <a:rPr lang="ru-RU"/>
              <a:t> &gt; 4 </a:t>
            </a:r>
            <a:r>
              <a:rPr lang="el-GR">
                <a:ea typeface="Cambria"/>
              </a:rPr>
              <a:t>φ</a:t>
            </a:r>
            <a:r>
              <a:rPr lang="en-US">
                <a:latin typeface="Cambria"/>
                <a:ea typeface="Cambria"/>
              </a:rPr>
              <a:t>(x)</a:t>
            </a:r>
            <a:r>
              <a:rPr lang="ru-RU">
                <a:latin typeface="Cambria"/>
                <a:ea typeface="Cambria"/>
              </a:rPr>
              <a:t>≈0)</a:t>
            </a:r>
            <a:r>
              <a:rPr lang="ru-RU"/>
              <a:t> </a:t>
            </a:r>
            <a:endParaRPr/>
          </a:p>
          <a:p>
            <a:pPr marL="0" indent="0">
              <a:buFont typeface="Wingdings"/>
              <a:buNone/>
              <a:defRPr/>
            </a:pPr>
            <a:endParaRPr lang="ru-RU" b="1"/>
          </a:p>
          <a:p>
            <a:pPr>
              <a:buNone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Алгоритм решения задач с помощью локальной теоремы Муавра-Лапласа</a:t>
            </a:r>
            <a:endParaRPr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457200" indent="-457200">
              <a:buFont typeface="Wingdings"/>
              <a:buAutoNum type="arabicPeriod"/>
              <a:defRPr/>
            </a:pPr>
            <a:r>
              <a:rPr lang="ru-RU" sz="2400"/>
              <a:t>Находим </a:t>
            </a:r>
            <a:r>
              <a:rPr lang="en-US" sz="2400" i="1"/>
              <a:t>npq</a:t>
            </a:r>
            <a:r>
              <a:rPr lang="ru-RU" sz="2400" i="1"/>
              <a:t>.</a:t>
            </a:r>
            <a:r>
              <a:rPr lang="ru-RU" sz="2400"/>
              <a:t> Если </a:t>
            </a:r>
            <a:r>
              <a:rPr lang="en-US" sz="2400" i="1"/>
              <a:t>n</a:t>
            </a:r>
            <a:r>
              <a:rPr lang="ru-RU" sz="2400" i="1"/>
              <a:t>∙</a:t>
            </a:r>
            <a:r>
              <a:rPr lang="en-US" sz="2400" i="1"/>
              <a:t>p</a:t>
            </a:r>
            <a:r>
              <a:rPr lang="ru-RU" sz="2400" i="1"/>
              <a:t>∙</a:t>
            </a:r>
            <a:r>
              <a:rPr lang="en-US" sz="2400" i="1"/>
              <a:t>q</a:t>
            </a:r>
            <a:r>
              <a:rPr lang="ru-RU" sz="2400"/>
              <a:t> ≥ 10, то можно </a:t>
            </a:r>
            <a:r>
              <a:rPr lang="ru-RU" sz="2400"/>
              <a:t>применять локальную теорему </a:t>
            </a:r>
            <a:r>
              <a:rPr lang="ru-RU" sz="2400"/>
              <a:t>Муавра-Лапласа.</a:t>
            </a:r>
            <a:endParaRPr/>
          </a:p>
          <a:p>
            <a:pPr marL="457200" indent="-457200">
              <a:spcBef>
                <a:spcPts val="2400"/>
              </a:spcBef>
              <a:buFont typeface="Wingdings"/>
              <a:buAutoNum type="arabicPeriod"/>
              <a:defRPr/>
            </a:pPr>
            <a:r>
              <a:rPr lang="ru-RU" sz="2400"/>
              <a:t>Вычисляем </a:t>
            </a:r>
            <a:r>
              <a:rPr lang="ru-RU" sz="2400" i="1"/>
              <a:t>х</a:t>
            </a:r>
            <a:r>
              <a:rPr lang="ru-RU" sz="2400"/>
              <a:t> по формуле </a:t>
            </a:r>
            <a:endParaRPr/>
          </a:p>
          <a:p>
            <a:pPr marL="457200" indent="-457200">
              <a:spcBef>
                <a:spcPts val="4200"/>
              </a:spcBef>
              <a:buFont typeface="Wingdings"/>
              <a:buAutoNum type="arabicPeriod"/>
              <a:defRPr/>
            </a:pPr>
            <a:r>
              <a:rPr lang="ru-RU" sz="2400"/>
              <a:t>По таблице плотности стандартного нормального закона находим значение функции</a:t>
            </a:r>
            <a:endParaRPr/>
          </a:p>
          <a:p>
            <a:pPr marL="457200" indent="-457200">
              <a:spcBef>
                <a:spcPts val="4800"/>
              </a:spcBef>
              <a:buFont typeface="Wingdings"/>
              <a:buAutoNum type="arabicPeriod"/>
              <a:defRPr/>
            </a:pPr>
            <a:r>
              <a:rPr lang="ru-RU" sz="2400"/>
              <a:t>Вычисляем вероятность </a:t>
            </a:r>
            <a:r>
              <a:rPr lang="ru-RU"/>
              <a:t> </a:t>
            </a:r>
            <a:endParaRPr/>
          </a:p>
          <a:p>
            <a:pPr>
              <a:buNone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6215074" y="4000504"/>
          <a:ext cx="1928826" cy="869031"/>
        </p:xfrm>
        <a:graphic>
          <a:graphicData uri="http://schemas.openxmlformats.org/presentationml/2006/ole">
            <p:oleObj name="oleObj" r:id="rId3" imgW="1155065" imgH="520065" progId="Equation.3">
              <p:embed/>
              <p:pic>
                <p:nvPicPr>
                  <p:cNvPr id="107523" name="Object 3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6215074" y="4000504"/>
                    <a:ext cx="1928826" cy="86903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4572000" y="2500306"/>
          <a:ext cx="1643074" cy="884732"/>
        </p:xfrm>
        <a:graphic>
          <a:graphicData uri="http://schemas.openxmlformats.org/presentationml/2006/ole">
            <p:oleObj name="oleObj" r:id="rId5" imgW="824865" imgH="443865" progId="Equation.3">
              <p:embed/>
              <p:pic>
                <p:nvPicPr>
                  <p:cNvPr id="107524" name="Object 4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>
                    <a:off x="4572000" y="2500306"/>
                    <a:ext cx="1643074" cy="884732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4786314" y="5357826"/>
          <a:ext cx="2286016" cy="869680"/>
        </p:xfrm>
        <a:graphic>
          <a:graphicData uri="http://schemas.openxmlformats.org/presentationml/2006/ole">
            <p:oleObj name="oleObj" r:id="rId7" imgW="1167765" imgH="443865" progId="Equation.3">
              <p:embed/>
              <p:pic>
                <p:nvPicPr>
                  <p:cNvPr id="107525" name="Object 5"/>
                  <p:cNvPicPr/>
                  <p:nvPr/>
                </p:nvPicPr>
                <p:blipFill>
                  <a:blip r:embed="rId6"/>
                  <a:stretch/>
                </p:blipFill>
                <p:spPr bwMode="auto">
                  <a:xfrm>
                    <a:off x="4786314" y="5357826"/>
                    <a:ext cx="2286016" cy="86968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graphicFrame>
        <p:nvGraphicFramePr>
          <p:cNvPr id="3" name="Таблица 2"/>
          <p:cNvGraphicFramePr>
            <a:graphicFrameLocks xmlns:a="http://schemas.openxmlformats.org/drawingml/2006/main" noGrp="1"/>
          </p:cNvGraphicFramePr>
          <p:nvPr/>
        </p:nvGraphicFramePr>
        <p:xfrm>
          <a:off x="785783" y="1396997"/>
          <a:ext cx="7500988" cy="4746658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{35758FB7-9AC5-4552-8A53-C91805E547FA}</a:tableStyleId>
              </a:tblPr>
              <a:tblGrid>
                <a:gridCol w="681908"/>
                <a:gridCol w="681908"/>
                <a:gridCol w="681908"/>
                <a:gridCol w="681908"/>
                <a:gridCol w="681908"/>
                <a:gridCol w="681908"/>
                <a:gridCol w="681908"/>
                <a:gridCol w="681908"/>
                <a:gridCol w="681908"/>
                <a:gridCol w="681908"/>
                <a:gridCol w="681908"/>
              </a:tblGrid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en-US" sz="700"/>
                        <a:t>x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0,39894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0,39892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0,39886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0,39876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0,39862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0,39844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0,39822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0,39797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0,39767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0,39733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0,39695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0,39654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0,39608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0,39559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0,39505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0,39448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0,39387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0,39322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0,39253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0,39181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0,39104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0,39024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0,38940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0,38853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0,38762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0,38667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0,38568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0,38466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0,38361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0,38251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0,38139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0,38023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0,37903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0,37780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0,37654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0,37524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0,37391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0,37255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0,37115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0,36973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0,36827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0,36678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0,36526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0,36371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0,36213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0,36053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0,35889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0,35723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0,35553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0,85381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0,35207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0,35029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0,34849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0,34667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0,34482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0,34294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0,34105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0,33912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0,33718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0,33521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0,33322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0,33121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0,32918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0,32713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0,32506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0,32297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0,32086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0,31874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0,31659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0,31443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0,31225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0,31006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0,30785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0,30563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0,30339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0,30114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0,29887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0,29658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0,29430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0,29200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0,28960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0,28737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0,28504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0,28269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0,28034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0,27798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0,27562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0,27324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0,27086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0,26848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0,26609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0,26369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0,26129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0,25888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0,25647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0,25406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0,25164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0,24923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0,24681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0,24439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0,24197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0,23955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0,23713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0,23471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0,23230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0,22988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0,22747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0,22506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0,22265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0,22025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0,21785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0,21546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0,21307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0,21069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0,20831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0,20594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0,20357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0,20121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0,19886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0,19652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0,19419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0,19186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0,18954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0,18724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0,18494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0,18265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0,18037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0,17810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0,17585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0,17360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0,17137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0,16915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0,16694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0,16474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0,16256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0,16038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0,15822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0,15608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0,15395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0,15183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0,14973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0,14764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0,14556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0,14350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0,14146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0,13943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0,13742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0,13542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0,13344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0,13147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0,12952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0,12758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0,12566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0,12376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0,12188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0,12001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0,11816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0,11632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0,11450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0,11270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0,11092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0,10915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0,10741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0,10567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0,10396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0,10226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0,10059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0,09893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0,09728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0,09566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0,09405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0,09246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0,09089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0,08933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0,08780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0,08628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0,08478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0,08329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0,08183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0,08038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0,07895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0,07754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0,07614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0,07477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0,07341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0,07206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0,07074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0,06943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0,06814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0,06687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0,06562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0,06438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0,06316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0,06195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0,06077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0,05959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0,05844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0,05730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0,05618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0,05508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0,05399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0,05292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0,05186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0,05082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0,04980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0,04879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0,04780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0,04682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0,04586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0,04491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0,04398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0,04307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0,04217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0,04128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0,04041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0,03955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0,03871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0,03788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0,03706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0,03626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0,03547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0,03470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0,03394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0,03319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0,03246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0,03174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0,03103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0,03034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0,02965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0,02898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0,02833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0,02768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0,02705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0,02643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0,02582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0,02522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0,02463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0,02406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0,02349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0,02294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0,02239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0,02186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0,02134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0,02083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0,02033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0,01984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0,01936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0,01888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0,01842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0,01797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0,01753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0,01709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0,01667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0,01625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0,01585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0,01545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0,01506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0,01468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0,01431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0,01394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0,01358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0,01323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0,01289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0,01256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0,01223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0,01191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0,00160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0,01130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0,01100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0,01071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0,01042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0,01014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0,00987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0,00961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0,00935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0,00909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0,00885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0,00861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0,00837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0,00814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0,00792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0,00770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0,00748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0,00727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0,00707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0,00687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0,00668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0,00649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0,00631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0,00613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0,00595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0,00578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0,00562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0,00545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0,00530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0,00514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0,00499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0,00485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0,00470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0,00457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</a:tbl>
          </a:graphicData>
        </a:graphic>
      </p:graphicFrame>
      <p:sp>
        <p:nvSpPr>
          <p:cNvPr id="123906" name="Rectangle 2"/>
          <p:cNvSpPr>
            <a:spLocks noChangeArrowheads="1"/>
          </p:cNvSpPr>
          <p:nvPr/>
        </p:nvSpPr>
        <p:spPr bwMode="auto">
          <a:xfrm>
            <a:off x="1571604" y="214290"/>
            <a:ext cx="5318892" cy="29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300" b="0" i="0" u="none" strike="noStrike" cap="none">
                <a:ln>
                  <a:noFill/>
                </a:ln>
                <a:latin typeface="Times New Roman"/>
                <a:ea typeface="Arial Unicode MS"/>
                <a:cs typeface="Times New Roman"/>
              </a:rPr>
              <a:t>Таблица значений плотности стандартного нормального распределения </a:t>
            </a:r>
            <a:endParaRPr lang="ru-RU" sz="1800" b="0" i="0" u="none" strike="noStrike" cap="none">
              <a:ln>
                <a:noFill/>
              </a:ln>
              <a:latin typeface="Arial"/>
              <a:cs typeface="Arial"/>
            </a:endParaRPr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3328988" y="590549"/>
          <a:ext cx="2171700" cy="520700"/>
        </p:xfrm>
        <a:graphic>
          <a:graphicData uri="http://schemas.openxmlformats.org/presentationml/2006/ole">
            <p:oleObj name="oleObj" r:id="rId3" imgW="2171065" imgH="520065" progId="Equation.3">
              <p:embed/>
              <p:pic>
                <p:nvPicPr>
                  <p:cNvPr id="123905" name="Object 1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3328988" y="590549"/>
                    <a:ext cx="2171700" cy="520700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0" y="1016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lang="ru-RU" sz="1200" b="0" i="0" u="none" strike="noStrike" cap="none">
                <a:ln>
                  <a:noFill/>
                </a:ln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</a:b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53536"/>
            <a:ext cx="8229600" cy="1318076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ru-RU" sz="2200" b="1" u="sng"/>
              <a:t>Задача:</a:t>
            </a:r>
            <a:r>
              <a:rPr lang="ru-RU" sz="2200" b="1"/>
              <a:t> </a:t>
            </a:r>
            <a:r>
              <a:rPr lang="ru-RU" sz="2200" b="1"/>
              <a:t>Вероятность выхода из строя кодового замка в течение месяца равна 2%. Какова вероятность того, что в партии из 600 замков, установленных фирмой, 20 замков выйдут из строя в течение месяца.</a:t>
            </a:r>
            <a:endParaRPr lang="ru-RU" sz="2200" b="1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>
            <a:normAutofit lnSpcReduction="10000"/>
          </a:bodyPr>
          <a:lstStyle/>
          <a:p>
            <a:pPr>
              <a:buNone/>
              <a:defRPr/>
            </a:pPr>
            <a:r>
              <a:rPr lang="ru-RU" b="1"/>
              <a:t>Решение. </a:t>
            </a:r>
            <a:r>
              <a:rPr lang="ru-RU" sz="2400"/>
              <a:t>По условию </a:t>
            </a:r>
            <a:r>
              <a:rPr lang="en-US" sz="2400"/>
              <a:t>n=600, m=20, p=0.02, q=0.98.</a:t>
            </a:r>
            <a:r>
              <a:rPr lang="ru-RU" sz="2400"/>
              <a:t>  Нужно найти Р</a:t>
            </a:r>
            <a:r>
              <a:rPr lang="ru-RU" sz="2400" b="1" baseline="-25000"/>
              <a:t>600</a:t>
            </a:r>
            <a:r>
              <a:rPr lang="ru-RU" sz="2400"/>
              <a:t>(20). Найдем </a:t>
            </a:r>
            <a:r>
              <a:rPr lang="en-US" sz="2400"/>
              <a:t>n</a:t>
            </a:r>
            <a:r>
              <a:rPr lang="ru-RU" sz="2400" b="1"/>
              <a:t>∙</a:t>
            </a:r>
            <a:r>
              <a:rPr lang="en-US" sz="2400"/>
              <a:t>p</a:t>
            </a:r>
            <a:r>
              <a:rPr lang="ru-RU" sz="2400" b="1"/>
              <a:t>∙</a:t>
            </a:r>
            <a:r>
              <a:rPr lang="en-US" sz="2400"/>
              <a:t>q=600</a:t>
            </a:r>
            <a:r>
              <a:rPr lang="ru-RU" sz="2400" b="1"/>
              <a:t>∙</a:t>
            </a:r>
            <a:r>
              <a:rPr lang="en-US" sz="2400"/>
              <a:t>0</a:t>
            </a:r>
            <a:r>
              <a:rPr lang="ru-RU" sz="2400"/>
              <a:t>,</a:t>
            </a:r>
            <a:r>
              <a:rPr lang="en-US" sz="2400"/>
              <a:t>02</a:t>
            </a:r>
            <a:r>
              <a:rPr lang="ru-RU" sz="2400" b="1"/>
              <a:t>∙</a:t>
            </a:r>
            <a:r>
              <a:rPr lang="en-US" sz="2400"/>
              <a:t>0</a:t>
            </a:r>
            <a:r>
              <a:rPr lang="ru-RU" sz="2400"/>
              <a:t>,</a:t>
            </a:r>
            <a:r>
              <a:rPr lang="en-US" sz="2400"/>
              <a:t>98=11</a:t>
            </a:r>
            <a:r>
              <a:rPr lang="ru-RU" sz="2400"/>
              <a:t>,</a:t>
            </a:r>
            <a:r>
              <a:rPr lang="en-US" sz="2400"/>
              <a:t>76</a:t>
            </a:r>
            <a:r>
              <a:rPr lang="ru-RU" sz="2400"/>
              <a:t>, следовательно, локальную теорему Муавра-Лапласа можно применять.</a:t>
            </a:r>
            <a:endParaRPr lang="ru-RU" sz="1800"/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Рассчитаем</a:t>
            </a:r>
            <a:endParaRPr/>
          </a:p>
          <a:p>
            <a:pPr marL="457200" indent="-457200">
              <a:buFont typeface="+mj-lt"/>
              <a:buAutoNum type="arabicPeriod"/>
              <a:defRPr/>
            </a:pPr>
            <a:endParaRPr lang="ru-RU" sz="1800"/>
          </a:p>
          <a:p>
            <a:pPr marL="457200" indent="-457200">
              <a:buFont typeface="+mj-lt"/>
              <a:buAutoNum type="arabicPeriod"/>
              <a:defRPr/>
            </a:pPr>
            <a:endParaRPr lang="ru-RU" sz="1800"/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Вычислим </a:t>
            </a:r>
            <a:endParaRPr/>
          </a:p>
          <a:p>
            <a:pPr marL="457200" indent="-457200">
              <a:buFont typeface="+mj-lt"/>
              <a:buAutoNum type="arabicPeriod"/>
              <a:defRPr/>
            </a:pPr>
            <a:endParaRPr lang="ru-RU" sz="1800"/>
          </a:p>
          <a:p>
            <a:pPr marL="457200" indent="-457200">
              <a:buFont typeface="+mj-lt"/>
              <a:buAutoNum type="arabicPeriod"/>
              <a:defRPr/>
            </a:pPr>
            <a:endParaRPr lang="ru-RU" sz="1800"/>
          </a:p>
          <a:p>
            <a:pPr marL="457200" indent="-457200">
              <a:buFont typeface="+mj-lt"/>
              <a:buAutoNum type="arabicPeriod"/>
              <a:defRPr/>
            </a:pPr>
            <a:r>
              <a:rPr lang="ru-RU" sz="2400"/>
              <a:t>По таблице плотности стандартного нормального распределения находим </a:t>
            </a:r>
            <a:r>
              <a:rPr lang="el-GR" sz="2400">
                <a:latin typeface="Cambria"/>
                <a:ea typeface="Cambria"/>
              </a:rPr>
              <a:t>φ</a:t>
            </a:r>
            <a:r>
              <a:rPr lang="ru-RU" sz="2400">
                <a:latin typeface="Cambria"/>
                <a:ea typeface="Cambria"/>
              </a:rPr>
              <a:t>(2,33)=0,02643</a:t>
            </a:r>
            <a:endParaRPr lang="ru-RU" sz="2400"/>
          </a:p>
          <a:p>
            <a:pPr marL="457200" indent="-457200">
              <a:buFont typeface="+mj-lt"/>
              <a:buAutoNum type="arabicPeriod" startAt="4"/>
              <a:defRPr/>
            </a:pPr>
            <a:r>
              <a:rPr lang="ru-RU" sz="2400"/>
              <a:t>Тогда вероятность  </a:t>
            </a: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2868613" y="3214688"/>
          <a:ext cx="2335212" cy="428625"/>
        </p:xfrm>
        <a:graphic>
          <a:graphicData uri="http://schemas.openxmlformats.org/presentationml/2006/ole">
            <p:oleObj name="oleObj" r:id="rId3" imgW="1383665" imgH="252730" progId="Equation.3">
              <p:embed/>
              <p:pic>
                <p:nvPicPr>
                  <p:cNvPr id="108546" name="Object 2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2868613" y="3214688"/>
                    <a:ext cx="2335212" cy="428625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2643174" y="3857628"/>
          <a:ext cx="3286148" cy="646153"/>
        </p:xfrm>
        <a:graphic>
          <a:graphicData uri="http://schemas.openxmlformats.org/presentationml/2006/ole">
            <p:oleObj name="oleObj" r:id="rId5" imgW="2259965" imgH="443865" progId="Equation.3">
              <p:embed/>
              <p:pic>
                <p:nvPicPr>
                  <p:cNvPr id="108547" name="Object 3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>
                    <a:off x="2643174" y="3857628"/>
                    <a:ext cx="3286148" cy="646153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3786182" y="5715016"/>
          <a:ext cx="4071966" cy="809766"/>
        </p:xfrm>
        <a:graphic>
          <a:graphicData uri="http://schemas.openxmlformats.org/presentationml/2006/ole">
            <p:oleObj name="oleObj" r:id="rId7" imgW="2234565" imgH="443865" progId="Equation.3">
              <p:embed/>
              <p:pic>
                <p:nvPicPr>
                  <p:cNvPr id="108548" name="Object 4"/>
                  <p:cNvPicPr/>
                  <p:nvPr/>
                </p:nvPicPr>
                <p:blipFill>
                  <a:blip r:embed="rId6"/>
                  <a:stretch/>
                </p:blipFill>
                <p:spPr bwMode="auto">
                  <a:xfrm>
                    <a:off x="3786182" y="5715016"/>
                    <a:ext cx="4071966" cy="80976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graphicFrame>
        <p:nvGraphicFramePr>
          <p:cNvPr id="3" name="Таблица 2"/>
          <p:cNvGraphicFramePr>
            <a:graphicFrameLocks xmlns:a="http://schemas.openxmlformats.org/drawingml/2006/main" noGrp="1"/>
          </p:cNvGraphicFramePr>
          <p:nvPr/>
        </p:nvGraphicFramePr>
        <p:xfrm>
          <a:off x="785783" y="1396997"/>
          <a:ext cx="7500988" cy="4746658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{35758FB7-9AC5-4552-8A53-C91805E547FA}</a:tableStyleId>
              </a:tblPr>
              <a:tblGrid>
                <a:gridCol w="681908"/>
                <a:gridCol w="681908"/>
                <a:gridCol w="681908"/>
                <a:gridCol w="681908"/>
                <a:gridCol w="681908"/>
                <a:gridCol w="681908"/>
                <a:gridCol w="681908"/>
                <a:gridCol w="681908"/>
                <a:gridCol w="681908"/>
                <a:gridCol w="681908"/>
                <a:gridCol w="681908"/>
              </a:tblGrid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en-US" sz="700"/>
                        <a:t>x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0,39894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0,39892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0,39886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0,39876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0,39862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0,39844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0,39822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0,39797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0,39767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0,39733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0,39695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0,39654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0,39608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0,39559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0,39505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0,39448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0,39387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0,39322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0,39253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0,39181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0,39104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0,39024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0,38940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0,38853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0,38762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0,38667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0,38568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0,38466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0,38361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0,38251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0,38139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0,38023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0,37903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0,37780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0,37654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0,37524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0,37391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0,37255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0,37115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0,36973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0,36827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0,36678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0,36526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0,36371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0,36213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0,36053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0,35889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0,35723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0,35553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0,85381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0,35207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0,35029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0,34849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0,34667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0,34482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0,34294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0,34105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0,33912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0,33718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0,33521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0,33322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0,33121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0,32918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0,32713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0,32506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0,32297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0,32086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0,31874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0,31659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0,31443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0,31225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0,31006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0,30785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0,30563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0,30339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0,30114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0,29887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0,29658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0,29430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0,29200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0,28960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0,28737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0,28504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0,28269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0,28034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0,27798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0,27562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0,27324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0,27086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0,26848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0,26609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0,26369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0,26129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0,25888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0,25647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0,25406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0,25164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0,24923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0,24681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0,24439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0,24197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0,23955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0,23713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0,23471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0,23230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0,22988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0,22747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0,22506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0,22265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0,22025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0,21785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0,21546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0,21307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0,21069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0,20831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0,20594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0,20357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0,20121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0,19886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0,19652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0,19419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0,19186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0,18954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0,18724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0,18494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0,18265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0,18037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0,17810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0,17585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0,17360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0,17137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0,16915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0,16694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0,16474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0,16256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0,16038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0,15822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0,15608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0,15395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0,15183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0,14973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0,14764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0,14556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0,14350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0,14146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0,13943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0,13742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0,13542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0,13344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0,13147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0,12952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0,12758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0,12566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0,12376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0,12188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0,12001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0,11816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0,11632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0,11450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0,11270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0,11092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0,10915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0,10741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0,10567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0,10396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0,10226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0,10059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0,09893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0,09728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0,09566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0,09405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0,09246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0,09089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0,08933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0,08780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0,08628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0,08478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0,08329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0,08183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0,08038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0,07895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0,07754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0,07614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0,07477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0,07341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0,07206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0,07074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0,06943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0,06814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0,06687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1,9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0,06562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0,06438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0,06316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0,06195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0,06077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0,05959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0,05844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0,05730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0,05618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0,05508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0,05399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0,05292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0,05186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0,05082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0,04980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0,04879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0,04780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0,04682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0,04586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0,04491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0,04398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0,04307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0,04217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0,04128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0,04041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0,03955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0,03871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0,03788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0,03706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0,03626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0,03547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0,03470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0,03394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0,03319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0,03246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0,03174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0,03103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0,03034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0,02965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0,02898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0,02833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0,02768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0,02705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0,02643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0,02582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0,02522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0,02463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0,02406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0,02349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0,02294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0,02239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0,02186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0,02134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0,02083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0,02033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0,01984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0,01936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0,01888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0,01842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0,01797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0,01753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0,01709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0,01667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0,01625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0,01585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0,01545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0,01506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0,01468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0,01431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0,01394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0,01358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0,01323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0,01289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0,01256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0,01223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0,01191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0,00160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0,01130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0,01100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0,01071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0,01042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0,01014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0,00987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0,00961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0,00935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0,00909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0,00885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0,00861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0,00837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0,00814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0,00792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0,00770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0,00748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0,00727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0,00707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0,00687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0,00668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0,00649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0,00631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0,00613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  <a:tr h="153118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2,9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0,00595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0,00578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0,00562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0,00545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0,00530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0,00514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0,00499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0,00485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0,00470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700"/>
                        <a:t>0,00457</a:t>
                      </a:r>
                      <a:endParaRPr lang="ru-RU" sz="7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11301" marR="11301" marT="11301" marB="11301" anchor="ctr"/>
                </a:tc>
              </a:tr>
            </a:tbl>
          </a:graphicData>
        </a:graphic>
      </p:graphicFrame>
      <p:sp>
        <p:nvSpPr>
          <p:cNvPr id="123906" name="Rectangle 2"/>
          <p:cNvSpPr>
            <a:spLocks noChangeArrowheads="1"/>
          </p:cNvSpPr>
          <p:nvPr/>
        </p:nvSpPr>
        <p:spPr bwMode="auto">
          <a:xfrm>
            <a:off x="1571604" y="214290"/>
            <a:ext cx="5318892" cy="29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300" b="0" i="0" u="none" strike="noStrike" cap="none">
                <a:ln>
                  <a:noFill/>
                </a:ln>
                <a:latin typeface="Times New Roman"/>
                <a:ea typeface="Arial Unicode MS"/>
                <a:cs typeface="Times New Roman"/>
              </a:rPr>
              <a:t>Таблица значений плотности стандартного нормального распределения </a:t>
            </a:r>
            <a:endParaRPr lang="ru-RU" sz="1800" b="0" i="0" u="none" strike="noStrike" cap="none">
              <a:ln>
                <a:noFill/>
              </a:ln>
              <a:latin typeface="Arial"/>
              <a:cs typeface="Arial"/>
            </a:endParaRPr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3328988" y="590549"/>
          <a:ext cx="2171700" cy="520700"/>
        </p:xfrm>
        <a:graphic>
          <a:graphicData uri="http://schemas.openxmlformats.org/presentationml/2006/ole">
            <p:oleObj name="oleObj" r:id="rId3" imgW="2171065" imgH="520065" progId="Equation.3">
              <p:embed/>
              <p:pic>
                <p:nvPicPr>
                  <p:cNvPr id="123905" name="Object 1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3328988" y="590549"/>
                    <a:ext cx="2171700" cy="520700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0" y="1016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lang="ru-RU" sz="1200" b="0" i="0" u="none" strike="noStrike" cap="none">
                <a:ln>
                  <a:noFill/>
                </a:ln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</a:b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40291" name="Ink 3"/>
          <p:cNvPicPr>
            <a:picLocks noChangeAspect="1" noChangeArrowheads="1" noChangeShapeType="1" noEditPoints="1" noRot="1"/>
          </p:cNvPicPr>
          <p:nvPr/>
        </p:nvPicPr>
        <p:blipFill>
          <a:blip r:embed="rId4"/>
          <a:stretch/>
        </p:blipFill>
        <p:spPr bwMode="auto">
          <a:xfrm>
            <a:off x="959024" y="5079519"/>
            <a:ext cx="64741" cy="32712"/>
          </a:xfrm>
          <a:prstGeom prst="rect">
            <a:avLst/>
          </a:prstGeom>
        </p:spPr>
      </p:pic>
      <p:pic>
        <p:nvPicPr>
          <p:cNvPr id="140292" name="Ink 4"/>
          <p:cNvPicPr>
            <a:picLocks noChangeAspect="1" noChangeArrowheads="1" noChangeShapeType="1" noEditPoints="1" noRot="1"/>
          </p:cNvPicPr>
          <p:nvPr/>
        </p:nvPicPr>
        <p:blipFill>
          <a:blip r:embed="rId5"/>
          <a:stretch/>
        </p:blipFill>
        <p:spPr bwMode="auto">
          <a:xfrm>
            <a:off x="717727" y="5030949"/>
            <a:ext cx="347309" cy="267966"/>
          </a:xfrm>
          <a:prstGeom prst="rect">
            <a:avLst/>
          </a:prstGeom>
        </p:spPr>
      </p:pic>
      <p:pic>
        <p:nvPicPr>
          <p:cNvPr id="140293" name="Ink 5"/>
          <p:cNvPicPr>
            <a:picLocks noChangeAspect="1" noChangeArrowheads="1" noChangeShapeType="1" noEditPoints="1" noRot="1"/>
          </p:cNvPicPr>
          <p:nvPr/>
        </p:nvPicPr>
        <p:blipFill>
          <a:blip r:embed="rId6"/>
          <a:stretch/>
        </p:blipFill>
        <p:spPr bwMode="auto">
          <a:xfrm>
            <a:off x="3283124" y="1278101"/>
            <a:ext cx="571153" cy="4004935"/>
          </a:xfrm>
          <a:prstGeom prst="rect">
            <a:avLst/>
          </a:prstGeom>
        </p:spPr>
      </p:pic>
      <p:pic>
        <p:nvPicPr>
          <p:cNvPr id="140294" name="Ink 6"/>
          <p:cNvPicPr>
            <a:picLocks noChangeAspect="1" noChangeArrowheads="1" noChangeShapeType="1" noEditPoints="1" noRot="1"/>
          </p:cNvPicPr>
          <p:nvPr/>
        </p:nvPicPr>
        <p:blipFill>
          <a:blip r:embed="rId7"/>
          <a:stretch/>
        </p:blipFill>
        <p:spPr bwMode="auto">
          <a:xfrm>
            <a:off x="992352" y="5147063"/>
            <a:ext cx="2404733" cy="38912"/>
          </a:xfrm>
          <a:prstGeom prst="rect">
            <a:avLst/>
          </a:prstGeom>
        </p:spPr>
      </p:pic>
      <p:pic>
        <p:nvPicPr>
          <p:cNvPr id="140295" name="Ink 7"/>
          <p:cNvPicPr>
            <a:picLocks noChangeAspect="1" noChangeArrowheads="1" noChangeShapeType="1" noEditPoints="1" noRot="1"/>
          </p:cNvPicPr>
          <p:nvPr/>
        </p:nvPicPr>
        <p:blipFill>
          <a:blip r:embed="rId8"/>
          <a:stretch/>
        </p:blipFill>
        <p:spPr bwMode="auto">
          <a:xfrm>
            <a:off x="3543362" y="5065720"/>
            <a:ext cx="529742" cy="144447"/>
          </a:xfrm>
          <a:prstGeom prst="rect">
            <a:avLst/>
          </a:prstGeom>
        </p:spPr>
      </p:pic>
      <p:pic>
        <p:nvPicPr>
          <p:cNvPr id="140296" name="Ink 8"/>
          <p:cNvPicPr>
            <a:picLocks noChangeAspect="1" noChangeArrowheads="1" noChangeShapeType="1" noEditPoints="1" noRot="1"/>
          </p:cNvPicPr>
          <p:nvPr/>
        </p:nvPicPr>
        <p:blipFill>
          <a:blip r:embed="rId9"/>
          <a:stretch/>
        </p:blipFill>
        <p:spPr bwMode="auto">
          <a:xfrm>
            <a:off x="-14962188" y="29294138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 noGrp="1"/>
          </p:cNvSpPr>
          <p:nvPr>
            <p:ph type="title"/>
          </p:nvPr>
        </p:nvSpPr>
        <p:spPr bwMode="auto">
          <a:xfrm>
            <a:off x="428596" y="190500"/>
            <a:ext cx="8464579" cy="15271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400" b="1">
                <a:solidFill>
                  <a:schemeClr val="tx2"/>
                </a:solidFill>
              </a:rPr>
              <a:t>Задача: В некоторой местности из каждых 100 семей 80 имеют автомобили. Найти вероятность того, что из 400  семей 300 имеют автомобили. </a:t>
            </a:r>
            <a:endParaRPr lang="ru-RU" sz="2400" b="1"/>
          </a:p>
        </p:txBody>
      </p:sp>
      <p:sp>
        <p:nvSpPr>
          <p:cNvPr id="76803" name="Rectangle 3"/>
          <p:cNvSpPr>
            <a:spLocks noChangeArrowheads="1" noGrp="1"/>
          </p:cNvSpPr>
          <p:nvPr>
            <p:ph type="body" idx="1"/>
          </p:nvPr>
        </p:nvSpPr>
        <p:spPr bwMode="auto">
          <a:xfrm>
            <a:off x="214282" y="3286124"/>
            <a:ext cx="8713788" cy="2809872"/>
          </a:xfrm>
        </p:spPr>
        <p:txBody>
          <a:bodyPr>
            <a:normAutofit fontScale="62500" lnSpcReduction="20000"/>
          </a:bodyPr>
          <a:lstStyle/>
          <a:p>
            <a:pPr marL="712788" lvl="1" indent="-533400">
              <a:buFont typeface="Wingdings"/>
              <a:buAutoNum type="arabicPeriod"/>
              <a:defRPr/>
            </a:pPr>
            <a:endParaRPr lang="ru-RU" sz="1900"/>
          </a:p>
          <a:p>
            <a:pPr marL="712788" lvl="1" indent="-533400">
              <a:buFont typeface="Wingdings"/>
              <a:buAutoNum type="arabicPeriod"/>
              <a:defRPr/>
            </a:pPr>
            <a:r>
              <a:rPr lang="ru-RU" sz="1900"/>
              <a:t>                          ;</a:t>
            </a:r>
            <a:endParaRPr/>
          </a:p>
          <a:p>
            <a:pPr marL="712788" lvl="1" indent="-533400">
              <a:spcBef>
                <a:spcPts val="0"/>
              </a:spcBef>
              <a:buFont typeface="Wingdings"/>
              <a:buAutoNum type="arabicPeriod"/>
              <a:defRPr/>
            </a:pPr>
            <a:endParaRPr lang="ru-RU" sz="1900"/>
          </a:p>
          <a:p>
            <a:pPr marL="712788" lvl="1" indent="-533400">
              <a:spcBef>
                <a:spcPts val="0"/>
              </a:spcBef>
              <a:buFont typeface="Wingdings"/>
              <a:buAutoNum type="arabicPeriod"/>
              <a:defRPr/>
            </a:pPr>
            <a:r>
              <a:rPr lang="ru-RU" sz="1900"/>
              <a:t>                                                       ;</a:t>
            </a:r>
            <a:endParaRPr/>
          </a:p>
          <a:p>
            <a:pPr marL="712788" lvl="1" indent="-533400">
              <a:spcBef>
                <a:spcPts val="0"/>
              </a:spcBef>
              <a:buFont typeface="Wingdings"/>
              <a:buAutoNum type="arabicPeriod"/>
              <a:defRPr/>
            </a:pPr>
            <a:endParaRPr lang="ru-RU" sz="1900"/>
          </a:p>
          <a:p>
            <a:pPr marL="712788" lvl="1" indent="-533400">
              <a:spcBef>
                <a:spcPts val="0"/>
              </a:spcBef>
              <a:buFont typeface="Wingdings"/>
              <a:buAutoNum type="arabicPeriod"/>
              <a:defRPr/>
            </a:pPr>
            <a:endParaRPr lang="ru-RU" sz="1900"/>
          </a:p>
          <a:p>
            <a:pPr marL="712788" lvl="1" indent="-533400">
              <a:spcBef>
                <a:spcPts val="0"/>
              </a:spcBef>
              <a:buFont typeface="Wingdings"/>
              <a:buAutoNum type="arabicPeriod"/>
              <a:defRPr/>
            </a:pPr>
            <a:r>
              <a:rPr lang="ru-RU" sz="1900"/>
              <a:t>По таблице найдем                                     </a:t>
            </a:r>
            <a:endParaRPr/>
          </a:p>
          <a:p>
            <a:pPr marL="712788" lvl="1" indent="-533400">
              <a:spcBef>
                <a:spcPts val="0"/>
              </a:spcBef>
              <a:buFont typeface="Wingdings"/>
              <a:buAutoNum type="arabicPeriod"/>
              <a:defRPr/>
            </a:pPr>
            <a:r>
              <a:rPr lang="ru-RU" sz="1900"/>
              <a:t>                                                        </a:t>
            </a:r>
            <a:endParaRPr/>
          </a:p>
          <a:p>
            <a:pPr marL="571500" indent="-571500">
              <a:buFont typeface="Wingdings"/>
              <a:buAutoNum type="arabicPeriod"/>
              <a:defRPr/>
            </a:pPr>
            <a:endParaRPr lang="ru-RU" sz="2000"/>
          </a:p>
          <a:p>
            <a:pPr marL="571500" indent="-571500">
              <a:buFont typeface="Wingdings"/>
              <a:buNone/>
              <a:defRPr/>
            </a:pPr>
            <a:r>
              <a:rPr lang="ru-RU" sz="2000"/>
              <a:t> </a:t>
            </a:r>
            <a:endParaRPr/>
          </a:p>
        </p:txBody>
      </p:sp>
      <p:sp>
        <p:nvSpPr>
          <p:cNvPr id="3584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857224" y="3357562"/>
          <a:ext cx="1873250" cy="468313"/>
        </p:xfrm>
        <a:graphic>
          <a:graphicData uri="http://schemas.openxmlformats.org/presentationml/2006/ole">
            <p:oleObj name="oleObj" r:id="rId3" imgW="1028065" imgH="252730" progId="Equation.3">
              <p:embed/>
              <p:pic>
                <p:nvPicPr>
                  <p:cNvPr id="76805" name="Object 5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857224" y="3357562"/>
                    <a:ext cx="1873250" cy="468313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3584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000100" y="4143380"/>
          <a:ext cx="3816350" cy="750887"/>
        </p:xfrm>
        <a:graphic>
          <a:graphicData uri="http://schemas.openxmlformats.org/presentationml/2006/ole">
            <p:oleObj name="oleObj" r:id="rId5" imgW="2324100" imgH="457200" progId="Equation.3">
              <p:embed/>
              <p:pic>
                <p:nvPicPr>
                  <p:cNvPr id="76807" name="Object 7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>
                    <a:off x="1000100" y="4143380"/>
                    <a:ext cx="3816350" cy="750887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3584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2714612" y="5072074"/>
          <a:ext cx="2547938" cy="317500"/>
        </p:xfrm>
        <a:graphic>
          <a:graphicData uri="http://schemas.openxmlformats.org/presentationml/2006/ole">
            <p:oleObj name="oleObj" r:id="rId7" imgW="1612900" imgH="203200" progId="Equation.3">
              <p:embed/>
              <p:pic>
                <p:nvPicPr>
                  <p:cNvPr id="76813" name="Object 13"/>
                  <p:cNvPicPr/>
                  <p:nvPr/>
                </p:nvPicPr>
                <p:blipFill>
                  <a:blip r:embed="rId6"/>
                  <a:stretch/>
                </p:blipFill>
                <p:spPr bwMode="auto">
                  <a:xfrm>
                    <a:off x="2714612" y="5072074"/>
                    <a:ext cx="2547938" cy="317500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35850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928662" y="5500702"/>
          <a:ext cx="3792538" cy="731838"/>
        </p:xfrm>
        <a:graphic>
          <a:graphicData uri="http://schemas.openxmlformats.org/presentationml/2006/ole">
            <p:oleObj name="oleObj" r:id="rId9" imgW="2310765" imgH="443865" progId="Equation.3">
              <p:embed/>
              <p:pic>
                <p:nvPicPr>
                  <p:cNvPr id="76815" name="Object 15"/>
                  <p:cNvPicPr/>
                  <p:nvPr/>
                </p:nvPicPr>
                <p:blipFill>
                  <a:blip r:embed="rId8"/>
                  <a:stretch/>
                </p:blipFill>
                <p:spPr bwMode="auto">
                  <a:xfrm>
                    <a:off x="928662" y="5500702"/>
                    <a:ext cx="3792538" cy="731838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35852" name="Text Box 17"/>
          <p:cNvSpPr txBox="1">
            <a:spLocks noChangeArrowheads="1"/>
          </p:cNvSpPr>
          <p:nvPr/>
        </p:nvSpPr>
        <p:spPr bwMode="auto">
          <a:xfrm>
            <a:off x="179388" y="1700212"/>
            <a:ext cx="874871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ru-RU" sz="2000" b="1">
                <a:solidFill>
                  <a:schemeClr val="bg2">
                    <a:lumMod val="20000"/>
                    <a:lumOff val="80000"/>
                  </a:schemeClr>
                </a:solidFill>
              </a:rPr>
              <a:t>Решение.:</a:t>
            </a:r>
            <a:endParaRPr lang="ru-RU" sz="200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defRPr/>
            </a:pPr>
            <a:r>
              <a:rPr lang="ru-RU" sz="2000">
                <a:solidFill>
                  <a:schemeClr val="tx2"/>
                </a:solidFill>
              </a:rPr>
              <a:t>Вероятность того, что семья имеет автомобиль, равна</a:t>
            </a:r>
            <a:endParaRPr/>
          </a:p>
          <a:p>
            <a:pPr marL="0" lvl="1">
              <a:defRPr/>
            </a:pPr>
            <a:r>
              <a:rPr lang="ru-RU" sz="2000">
                <a:solidFill>
                  <a:schemeClr val="tx2"/>
                </a:solidFill>
              </a:rPr>
              <a:t> </a:t>
            </a:r>
            <a:r>
              <a:rPr lang="ru-RU" sz="2000" i="1">
                <a:solidFill>
                  <a:schemeClr val="tx2"/>
                </a:solidFill>
              </a:rPr>
              <a:t>р</a:t>
            </a:r>
            <a:r>
              <a:rPr lang="ru-RU" sz="2000">
                <a:solidFill>
                  <a:schemeClr val="tx2"/>
                </a:solidFill>
              </a:rPr>
              <a:t> = 80/100 = 0,8; </a:t>
            </a:r>
            <a:r>
              <a:rPr lang="en-US" sz="2000" i="1">
                <a:solidFill>
                  <a:schemeClr val="tx2"/>
                </a:solidFill>
              </a:rPr>
              <a:t>n </a:t>
            </a:r>
            <a:r>
              <a:rPr lang="en-US" sz="2000">
                <a:solidFill>
                  <a:schemeClr val="tx2"/>
                </a:solidFill>
              </a:rPr>
              <a:t>= 400,</a:t>
            </a:r>
            <a:r>
              <a:rPr lang="ru-RU" sz="2000" i="1">
                <a:solidFill>
                  <a:schemeClr val="tx2"/>
                </a:solidFill>
              </a:rPr>
              <a:t> </a:t>
            </a:r>
            <a:r>
              <a:rPr lang="en-US" sz="2000" i="1">
                <a:solidFill>
                  <a:schemeClr val="tx2"/>
                </a:solidFill>
              </a:rPr>
              <a:t>m </a:t>
            </a:r>
            <a:r>
              <a:rPr lang="en-US" sz="2000">
                <a:solidFill>
                  <a:schemeClr val="tx2"/>
                </a:solidFill>
              </a:rPr>
              <a:t>= 300, </a:t>
            </a:r>
            <a:r>
              <a:rPr lang="en-US" sz="2000" i="1">
                <a:solidFill>
                  <a:schemeClr val="tx2"/>
                </a:solidFill>
              </a:rPr>
              <a:t>q </a:t>
            </a:r>
            <a:r>
              <a:rPr lang="en-US" sz="2000">
                <a:solidFill>
                  <a:schemeClr val="tx2"/>
                </a:solidFill>
              </a:rPr>
              <a:t>= </a:t>
            </a:r>
            <a:r>
              <a:rPr lang="ru-RU" sz="2000">
                <a:solidFill>
                  <a:schemeClr val="tx2"/>
                </a:solidFill>
              </a:rPr>
              <a:t>0,2</a:t>
            </a:r>
            <a:r>
              <a:rPr lang="en-US" sz="2000">
                <a:solidFill>
                  <a:schemeClr val="tx2"/>
                </a:solidFill>
              </a:rPr>
              <a:t>.</a:t>
            </a:r>
            <a:r>
              <a:rPr lang="ru-RU" sz="2000"/>
              <a:t> </a:t>
            </a:r>
            <a:endParaRPr/>
          </a:p>
          <a:p>
            <a:pPr marL="0" lvl="1">
              <a:defRPr/>
            </a:pPr>
            <a:r>
              <a:rPr lang="ru-RU" sz="2000"/>
              <a:t>Так как </a:t>
            </a:r>
            <a:r>
              <a:rPr lang="ru-RU" sz="2000" i="1"/>
              <a:t>npq</a:t>
            </a:r>
            <a:r>
              <a:rPr lang="ru-RU" sz="2000" i="1"/>
              <a:t> </a:t>
            </a:r>
            <a:r>
              <a:rPr lang="ru-RU" sz="2000"/>
              <a:t>= </a:t>
            </a:r>
            <a:r>
              <a:rPr lang="en-US" sz="2000"/>
              <a:t>400 </a:t>
            </a:r>
            <a:r>
              <a:rPr lang="ru-RU" sz="2000"/>
              <a:t>∙ 0,8∙ (1—0,8) = 64 &gt;</a:t>
            </a:r>
            <a:r>
              <a:rPr lang="en-US" sz="2000"/>
              <a:t> 10</a:t>
            </a:r>
            <a:r>
              <a:rPr lang="ru-RU" sz="2000"/>
              <a:t>, то можно применять локальную теорему  Муавра—Лапласа.</a:t>
            </a:r>
            <a:r>
              <a:rPr lang="ru-RU" sz="1900"/>
              <a:t> </a:t>
            </a:r>
            <a:endParaRPr lang="en-US" sz="1900"/>
          </a:p>
          <a:p>
            <a:pPr>
              <a:defRPr/>
            </a:pPr>
            <a:endParaRPr lang="ru-RU" sz="2000"/>
          </a:p>
        </p:txBody>
      </p:sp>
      <p:sp>
        <p:nvSpPr>
          <p:cNvPr id="35854" name="Номер слайда 1"/>
          <p:cNvSpPr>
            <a:spLocks noGrp="1"/>
          </p:cNvSpPr>
          <p:nvPr>
            <p:ph type="sldNum" sz="quarter" idx="12"/>
          </p:nvPr>
        </p:nvSpPr>
        <p:spPr bwMode="auto">
          <a:xfrm>
            <a:off x="6073775" y="6319838"/>
            <a:ext cx="1295400" cy="457200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15F5BAB1-987E-44A4-BB2C-2E0CA2F46B2D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ChangeArrowheads="1" noGrp="1"/>
          </p:cNvSpPr>
          <p:nvPr>
            <p:ph type="body" idx="1"/>
          </p:nvPr>
        </p:nvSpPr>
        <p:spPr bwMode="auto">
          <a:xfrm>
            <a:off x="250825" y="1905000"/>
            <a:ext cx="8569325" cy="4692650"/>
          </a:xfrm>
        </p:spPr>
        <p:txBody>
          <a:bodyPr/>
          <a:lstStyle/>
          <a:p>
            <a:pPr marL="0" indent="0" algn="just">
              <a:buFont typeface="Wingdings"/>
              <a:buNone/>
              <a:defRPr/>
            </a:pPr>
            <a:r>
              <a:rPr lang="ru-RU" sz="2000"/>
              <a:t>Пусть в условиях предыдущей задачи необходимо найти вероятность того, что от 300 до 360 семей (включительно) имеют автомобиль. В этом случае по теореме сложения вероятность искомого события:</a:t>
            </a:r>
            <a:endParaRPr/>
          </a:p>
          <a:p>
            <a:pPr marL="0" indent="0">
              <a:buFont typeface="Wingdings"/>
              <a:buNone/>
              <a:defRPr/>
            </a:pPr>
            <a:endParaRPr lang="ru-RU" sz="2000"/>
          </a:p>
          <a:p>
            <a:pPr marL="0" indent="0">
              <a:buFont typeface="Wingdings"/>
              <a:buNone/>
              <a:defRPr/>
            </a:pPr>
            <a:endParaRPr lang="ru-RU" sz="2000"/>
          </a:p>
          <a:p>
            <a:pPr marL="0" indent="0">
              <a:buFont typeface="Wingdings"/>
              <a:buNone/>
              <a:defRPr/>
            </a:pPr>
            <a:endParaRPr lang="ru-RU" sz="2000"/>
          </a:p>
          <a:p>
            <a:pPr marL="0" indent="0" algn="just">
              <a:buFont typeface="Wingdings"/>
              <a:buNone/>
              <a:defRPr/>
            </a:pPr>
            <a:endParaRPr lang="ru-RU" sz="2000"/>
          </a:p>
          <a:p>
            <a:pPr marL="0" indent="0" algn="just">
              <a:buFont typeface="Wingdings"/>
              <a:buNone/>
              <a:defRPr/>
            </a:pPr>
            <a:endParaRPr lang="ru-RU" sz="2000"/>
          </a:p>
          <a:p>
            <a:pPr marL="0" indent="0" algn="just">
              <a:buFont typeface="Wingdings"/>
              <a:buNone/>
              <a:defRPr/>
            </a:pPr>
            <a:r>
              <a:rPr lang="ru-RU" sz="2400"/>
              <a:t>В принципе вычислить каждое слагаемое можно по  локальной формуле Муавра—Лапласа, но большое количество  слагаемых делает расчет весьма громоздким. В таких случаях  используется </a:t>
            </a:r>
            <a:r>
              <a:rPr lang="ru-RU" sz="2400" b="1" u="sng">
                <a:solidFill>
                  <a:schemeClr val="bg2">
                    <a:lumMod val="20000"/>
                    <a:lumOff val="80000"/>
                  </a:schemeClr>
                </a:solidFill>
              </a:rPr>
              <a:t>интегральная теорема  Муавра-Лапласа</a:t>
            </a:r>
            <a:r>
              <a:rPr lang="ru-RU" sz="2400" u="sng">
                <a:solidFill>
                  <a:schemeClr val="bg2">
                    <a:lumMod val="20000"/>
                    <a:lumOff val="80000"/>
                  </a:schemeClr>
                </a:solidFill>
              </a:rPr>
              <a:t>. </a:t>
            </a:r>
            <a:endParaRPr/>
          </a:p>
          <a:p>
            <a:pPr marL="0" indent="0">
              <a:buFont typeface="Wingdings"/>
              <a:buNone/>
              <a:defRPr/>
            </a:pPr>
            <a:endParaRPr lang="ru-RU" sz="2400"/>
          </a:p>
          <a:p>
            <a:pPr marL="0" indent="0">
              <a:defRPr/>
            </a:pPr>
            <a:endParaRPr lang="ru-RU" sz="2000"/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928662" y="3214686"/>
          <a:ext cx="6985000" cy="431799"/>
        </p:xfrm>
        <a:graphic>
          <a:graphicData uri="http://schemas.openxmlformats.org/presentationml/2006/ole">
            <p:oleObj name="oleObj" r:id="rId3" imgW="3683000" imgH="228600" progId="Equation.3">
              <p:embed/>
              <p:pic>
                <p:nvPicPr>
                  <p:cNvPr id="36869" name="Object 4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928662" y="3214686"/>
                    <a:ext cx="6985000" cy="431799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36871" name="Номер слайда 1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AC9987DE-0A1C-4653-80A9-32919A856080}" type="slidenum">
              <a:rPr lang="ru-RU"/>
              <a:t/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 noGrp="1"/>
          </p:cNvSpPr>
          <p:nvPr>
            <p:ph type="title"/>
          </p:nvPr>
        </p:nvSpPr>
        <p:spPr bwMode="auto">
          <a:xfrm>
            <a:off x="214282" y="188913"/>
            <a:ext cx="8929718" cy="116838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900"/>
              <a:t>Интегральная теорема Муавра-Лапласа</a:t>
            </a:r>
            <a:endParaRPr/>
          </a:p>
        </p:txBody>
      </p:sp>
      <p:sp>
        <p:nvSpPr>
          <p:cNvPr id="38915" name="Rectangle 3"/>
          <p:cNvSpPr>
            <a:spLocks noChangeArrowheads="1" noGrp="1"/>
          </p:cNvSpPr>
          <p:nvPr>
            <p:ph type="body" idx="1"/>
          </p:nvPr>
        </p:nvSpPr>
        <p:spPr bwMode="auto">
          <a:xfrm>
            <a:off x="179388" y="1773238"/>
            <a:ext cx="8496300" cy="4824412"/>
          </a:xfrm>
        </p:spPr>
        <p:txBody>
          <a:bodyPr/>
          <a:lstStyle/>
          <a:p>
            <a:pPr marL="0" indent="0" algn="just">
              <a:buFont typeface="Wingdings"/>
              <a:buNone/>
              <a:defRPr/>
            </a:pPr>
            <a:r>
              <a:rPr lang="ru-RU" sz="2400">
                <a:solidFill>
                  <a:schemeClr val="tx1"/>
                </a:solidFill>
              </a:rPr>
              <a:t>Если вероятность </a:t>
            </a:r>
            <a:r>
              <a:rPr lang="ru-RU" sz="2400" i="1">
                <a:solidFill>
                  <a:schemeClr val="tx1"/>
                </a:solidFill>
              </a:rPr>
              <a:t>р</a:t>
            </a:r>
            <a:r>
              <a:rPr lang="ru-RU" sz="2400">
                <a:solidFill>
                  <a:schemeClr val="tx1"/>
                </a:solidFill>
              </a:rPr>
              <a:t>  наступления события А в каждом испытании постоянна и отлична от 0 и 1, то вероятность того, что число </a:t>
            </a:r>
            <a:r>
              <a:rPr lang="en-US" sz="2400" i="1">
                <a:solidFill>
                  <a:schemeClr val="tx1"/>
                </a:solidFill>
              </a:rPr>
              <a:t>m</a:t>
            </a:r>
            <a:r>
              <a:rPr lang="ru-RU" sz="2400">
                <a:solidFill>
                  <a:schemeClr val="tx1"/>
                </a:solidFill>
              </a:rPr>
              <a:t> наступления события А в </a:t>
            </a:r>
            <a:r>
              <a:rPr lang="en-US" sz="2400" i="1">
                <a:solidFill>
                  <a:schemeClr val="tx1"/>
                </a:solidFill>
              </a:rPr>
              <a:t>n</a:t>
            </a:r>
            <a:r>
              <a:rPr lang="ru-RU" sz="2400">
                <a:solidFill>
                  <a:schemeClr val="tx1"/>
                </a:solidFill>
              </a:rPr>
              <a:t> независимых испытаниях заключено в пределах от </a:t>
            </a:r>
            <a:r>
              <a:rPr lang="ru-RU" sz="2400" i="1">
                <a:solidFill>
                  <a:schemeClr val="tx1"/>
                </a:solidFill>
              </a:rPr>
              <a:t>а</a:t>
            </a:r>
            <a:r>
              <a:rPr lang="ru-RU" sz="2400">
                <a:solidFill>
                  <a:schemeClr val="tx1"/>
                </a:solidFill>
              </a:rPr>
              <a:t> до </a:t>
            </a:r>
            <a:r>
              <a:rPr lang="en-US" sz="2400" i="1">
                <a:solidFill>
                  <a:schemeClr val="tx1"/>
                </a:solidFill>
              </a:rPr>
              <a:t>b</a:t>
            </a:r>
            <a:r>
              <a:rPr lang="ru-RU" sz="2400" i="1">
                <a:solidFill>
                  <a:schemeClr val="tx1"/>
                </a:solidFill>
              </a:rPr>
              <a:t> </a:t>
            </a:r>
            <a:r>
              <a:rPr lang="ru-RU" sz="2400">
                <a:solidFill>
                  <a:schemeClr val="tx1"/>
                </a:solidFill>
              </a:rPr>
              <a:t> (включительно), при достаточно большом числе </a:t>
            </a:r>
            <a:r>
              <a:rPr lang="en-US" sz="2400" i="1">
                <a:solidFill>
                  <a:schemeClr val="tx1"/>
                </a:solidFill>
              </a:rPr>
              <a:t>n</a:t>
            </a:r>
            <a:r>
              <a:rPr lang="ru-RU" sz="2400" i="1">
                <a:solidFill>
                  <a:schemeClr val="tx1"/>
                </a:solidFill>
              </a:rPr>
              <a:t> </a:t>
            </a:r>
            <a:r>
              <a:rPr lang="ru-RU" sz="2400">
                <a:solidFill>
                  <a:schemeClr val="tx1"/>
                </a:solidFill>
              </a:rPr>
              <a:t>приближенно равна </a:t>
            </a:r>
            <a:endParaRPr/>
          </a:p>
          <a:p>
            <a:pPr marL="0" indent="0" algn="just">
              <a:buFont typeface="Wingdings"/>
              <a:buNone/>
              <a:defRPr/>
            </a:pPr>
            <a:endParaRPr lang="ru-RU" sz="2400"/>
          </a:p>
          <a:p>
            <a:pPr marL="0" indent="0" algn="just">
              <a:buFont typeface="Wingdings"/>
              <a:buNone/>
              <a:defRPr/>
            </a:pPr>
            <a:endParaRPr lang="ru-RU" sz="2400">
              <a:solidFill>
                <a:schemeClr val="tx1"/>
              </a:solidFill>
            </a:endParaRPr>
          </a:p>
          <a:p>
            <a:pPr marL="0" indent="0" algn="just">
              <a:buFont typeface="Wingdings"/>
              <a:buNone/>
              <a:defRPr/>
            </a:pPr>
            <a:r>
              <a:rPr lang="ru-RU" sz="2400"/>
              <a:t>          где</a:t>
            </a:r>
            <a:endParaRPr/>
          </a:p>
        </p:txBody>
      </p:sp>
      <p:sp>
        <p:nvSpPr>
          <p:cNvPr id="38916" name="Rectangle 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428596" y="4143380"/>
          <a:ext cx="8355013" cy="628650"/>
        </p:xfrm>
        <a:graphic>
          <a:graphicData uri="http://schemas.openxmlformats.org/presentationml/2006/ole">
            <p:oleObj name="oleObj" r:id="rId3" imgW="3148965" imgH="240665" progId="Equation.3">
              <p:embed/>
              <p:pic>
                <p:nvPicPr>
                  <p:cNvPr id="38917" name="Object 4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428596" y="4143380"/>
                    <a:ext cx="8355013" cy="628650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38918" name="Rectangle 7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28794" y="4857760"/>
          <a:ext cx="3214687" cy="1852613"/>
        </p:xfrm>
        <a:graphic>
          <a:graphicData uri="http://schemas.openxmlformats.org/presentationml/2006/ole">
            <p:oleObj name="oleObj" r:id="rId5" imgW="1510665" imgH="862965" progId="Equation.3">
              <p:embed/>
              <p:pic>
                <p:nvPicPr>
                  <p:cNvPr id="38919" name="Object 6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>
                    <a:off x="1928794" y="4857760"/>
                    <a:ext cx="3214687" cy="1852613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38920" name="Rectangle 9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6357950" y="5000635"/>
          <a:ext cx="1704975" cy="814387"/>
        </p:xfrm>
        <a:graphic>
          <a:graphicData uri="http://schemas.openxmlformats.org/presentationml/2006/ole">
            <p:oleObj name="oleObj" r:id="rId7" imgW="926465" imgH="443865" progId="Equation.3">
              <p:embed/>
              <p:pic>
                <p:nvPicPr>
                  <p:cNvPr id="38921" name="Object 8"/>
                  <p:cNvPicPr/>
                  <p:nvPr/>
                </p:nvPicPr>
                <p:blipFill>
                  <a:blip r:embed="rId6"/>
                  <a:stretch/>
                </p:blipFill>
                <p:spPr bwMode="auto">
                  <a:xfrm>
                    <a:off x="6357950" y="5000635"/>
                    <a:ext cx="1704975" cy="814387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38922" name="Rectangle 11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6429388" y="6045200"/>
          <a:ext cx="1643062" cy="812800"/>
        </p:xfrm>
        <a:graphic>
          <a:graphicData uri="http://schemas.openxmlformats.org/presentationml/2006/ole">
            <p:oleObj name="oleObj" r:id="rId9" imgW="927100" imgH="457200" progId="Equation.3">
              <p:embed/>
              <p:pic>
                <p:nvPicPr>
                  <p:cNvPr id="38923" name="Object 10"/>
                  <p:cNvPicPr/>
                  <p:nvPr/>
                </p:nvPicPr>
                <p:blipFill>
                  <a:blip r:embed="rId8"/>
                  <a:stretch/>
                </p:blipFill>
                <p:spPr bwMode="auto">
                  <a:xfrm>
                    <a:off x="6429388" y="6045200"/>
                    <a:ext cx="1643062" cy="812800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38925" name="Номер слайда 1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83EF1D70-F7FF-4E3C-A844-902B2CA57101}" type="slidenum">
              <a:rPr lang="ru-RU"/>
              <a:t/>
            </a:fld>
            <a:endParaRPr lang="ru-RU"/>
          </a:p>
        </p:txBody>
      </p:sp>
      <p:pic>
        <p:nvPicPr>
          <p:cNvPr id="111622" name="Ink 6"/>
          <p:cNvPicPr>
            <a:picLocks noChangeAspect="1" noChangeArrowheads="1" noChangeShapeType="1" noEditPoints="1" noRot="1"/>
          </p:cNvPicPr>
          <p:nvPr/>
        </p:nvPicPr>
        <p:blipFill>
          <a:blip r:embed="rId10"/>
          <a:stretch/>
        </p:blipFill>
        <p:spPr bwMode="auto">
          <a:xfrm>
            <a:off x="3591133" y="6383737"/>
            <a:ext cx="564733" cy="330989"/>
          </a:xfrm>
          <a:prstGeom prst="rect">
            <a:avLst/>
          </a:prstGeom>
        </p:spPr>
      </p:pic>
      <p:pic>
        <p:nvPicPr>
          <p:cNvPr id="111623" name="Ink 7"/>
          <p:cNvPicPr>
            <a:picLocks noChangeAspect="1" noChangeArrowheads="1" noChangeShapeType="1" noEditPoints="1" noRot="1"/>
          </p:cNvPicPr>
          <p:nvPr/>
        </p:nvPicPr>
        <p:blipFill>
          <a:blip r:embed="rId11"/>
          <a:stretch/>
        </p:blipFill>
        <p:spPr bwMode="auto">
          <a:xfrm>
            <a:off x="3735636" y="5435838"/>
            <a:ext cx="347166" cy="3043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 noGrp="1"/>
          </p:cNvSpPr>
          <p:nvPr>
            <p:ph type="title"/>
          </p:nvPr>
        </p:nvSpPr>
        <p:spPr bwMode="auto">
          <a:xfrm>
            <a:off x="500034" y="190501"/>
            <a:ext cx="8643966" cy="952484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900"/>
              <a:t>Функция стандартного нормального распределения</a:t>
            </a:r>
            <a:endParaRPr/>
          </a:p>
        </p:txBody>
      </p:sp>
      <p:sp>
        <p:nvSpPr>
          <p:cNvPr id="39939" name="Rectangle 3"/>
          <p:cNvSpPr>
            <a:spLocks noChangeArrowheads="1" noGrp="1"/>
          </p:cNvSpPr>
          <p:nvPr>
            <p:ph type="body" idx="1"/>
          </p:nvPr>
        </p:nvSpPr>
        <p:spPr bwMode="auto">
          <a:xfrm>
            <a:off x="250825" y="1628775"/>
            <a:ext cx="8713788" cy="2736850"/>
          </a:xfrm>
        </p:spPr>
        <p:txBody>
          <a:bodyPr>
            <a:normAutofit fontScale="25000" lnSpcReduction="20000"/>
          </a:bodyPr>
          <a:lstStyle/>
          <a:p>
            <a:pPr marL="355600" indent="-355600">
              <a:buFont typeface="Wingdings"/>
              <a:buNone/>
              <a:defRPr/>
            </a:pPr>
            <a:r>
              <a:rPr lang="ru-RU" sz="7400"/>
              <a:t>Функция </a:t>
            </a:r>
            <a:r>
              <a:rPr lang="en-US" sz="7400" i="1"/>
              <a:t>F</a:t>
            </a:r>
            <a:r>
              <a:rPr lang="ru-RU" sz="7400" i="1" baseline="-25000"/>
              <a:t>0</a:t>
            </a:r>
            <a:r>
              <a:rPr lang="ru-RU" sz="7400" i="1"/>
              <a:t>(</a:t>
            </a:r>
            <a:r>
              <a:rPr lang="ru-RU" sz="7400" i="1"/>
              <a:t>х</a:t>
            </a:r>
            <a:r>
              <a:rPr lang="ru-RU" sz="7400" i="1"/>
              <a:t>)</a:t>
            </a:r>
            <a:r>
              <a:rPr lang="en-US" sz="7400" i="1"/>
              <a:t> </a:t>
            </a:r>
            <a:endParaRPr/>
          </a:p>
          <a:p>
            <a:pPr marL="355600" indent="-355600">
              <a:buFont typeface="Wingdings"/>
              <a:buNone/>
              <a:defRPr/>
            </a:pPr>
            <a:endParaRPr lang="en-US" sz="7400" i="1"/>
          </a:p>
          <a:p>
            <a:pPr marL="355600" indent="-355600">
              <a:buFont typeface="Wingdings"/>
              <a:buNone/>
              <a:defRPr/>
            </a:pPr>
            <a:endParaRPr lang="en-US" sz="7400" i="1"/>
          </a:p>
          <a:p>
            <a:pPr marL="355600" indent="-355600">
              <a:buFont typeface="Wingdings"/>
              <a:buNone/>
              <a:defRPr/>
            </a:pPr>
            <a:endParaRPr lang="en-US" sz="7400" i="1"/>
          </a:p>
          <a:p>
            <a:pPr marL="355600" indent="-355600">
              <a:buFont typeface="Wingdings"/>
              <a:buNone/>
              <a:defRPr/>
            </a:pPr>
            <a:r>
              <a:rPr lang="ru-RU" sz="7400" i="1"/>
              <a:t> </a:t>
            </a:r>
            <a:r>
              <a:rPr lang="ru-RU" sz="7400" u="sng"/>
              <a:t>называется</a:t>
            </a:r>
            <a:r>
              <a:rPr lang="en-US" sz="7400" u="sng"/>
              <a:t> </a:t>
            </a:r>
            <a:r>
              <a:rPr lang="ru-RU" sz="7400" u="sng"/>
              <a:t> </a:t>
            </a:r>
            <a:r>
              <a:rPr lang="ru-RU" sz="8000" u="sng">
                <a:solidFill>
                  <a:schemeClr val="bg2">
                    <a:lumMod val="20000"/>
                    <a:lumOff val="80000"/>
                  </a:schemeClr>
                </a:solidFill>
              </a:rPr>
              <a:t>функцией нормального стандартного распределения.</a:t>
            </a:r>
            <a:endParaRPr/>
          </a:p>
          <a:p>
            <a:pPr marL="355600" indent="-355600">
              <a:buFont typeface="Wingdings"/>
              <a:buNone/>
              <a:defRPr/>
            </a:pPr>
            <a:endParaRPr lang="ru-RU" sz="7400">
              <a:solidFill>
                <a:schemeClr val="tx1"/>
              </a:solidFill>
            </a:endParaRPr>
          </a:p>
          <a:p>
            <a:pPr marL="355600" indent="-355600">
              <a:buFont typeface="Wingdings"/>
              <a:buNone/>
              <a:defRPr/>
            </a:pPr>
            <a:r>
              <a:rPr lang="ru-RU" sz="7400" b="1"/>
              <a:t>Свойства функции </a:t>
            </a:r>
            <a:r>
              <a:rPr lang="en-US" sz="7400" i="1"/>
              <a:t>F</a:t>
            </a:r>
            <a:r>
              <a:rPr lang="ru-RU" sz="7400" i="1" baseline="-25000"/>
              <a:t>0</a:t>
            </a:r>
            <a:r>
              <a:rPr lang="ru-RU" sz="7400" i="1"/>
              <a:t>(</a:t>
            </a:r>
            <a:r>
              <a:rPr lang="ru-RU" sz="7400" i="1"/>
              <a:t>х</a:t>
            </a:r>
            <a:r>
              <a:rPr lang="ru-RU" sz="7400" i="1"/>
              <a:t>) </a:t>
            </a:r>
            <a:r>
              <a:rPr lang="ru-RU" sz="7400" b="1"/>
              <a:t>:</a:t>
            </a:r>
            <a:endParaRPr/>
          </a:p>
          <a:p>
            <a:pPr marL="355600" indent="-355600">
              <a:buFont typeface="Wingdings"/>
              <a:buNone/>
              <a:defRPr/>
            </a:pPr>
            <a:endParaRPr lang="ru-RU" sz="7400" b="1"/>
          </a:p>
          <a:p>
            <a:pPr marL="355600" indent="-355600">
              <a:buFont typeface="Wingdings"/>
              <a:buAutoNum type="arabicPeriod"/>
              <a:defRPr/>
            </a:pPr>
            <a:r>
              <a:rPr lang="en-US" sz="7400" i="1"/>
              <a:t>F</a:t>
            </a:r>
            <a:r>
              <a:rPr lang="ru-RU" sz="7400" i="1" baseline="-25000"/>
              <a:t>0</a:t>
            </a:r>
            <a:r>
              <a:rPr lang="ru-RU" sz="7400" i="1"/>
              <a:t>(-</a:t>
            </a:r>
            <a:r>
              <a:rPr lang="ru-RU" sz="7400" i="1"/>
              <a:t>х</a:t>
            </a:r>
            <a:r>
              <a:rPr lang="ru-RU" sz="7400" i="1"/>
              <a:t>) =1 – </a:t>
            </a:r>
            <a:r>
              <a:rPr lang="en-US" sz="7400" i="1"/>
              <a:t>F</a:t>
            </a:r>
            <a:r>
              <a:rPr lang="ru-RU" sz="7400" i="1" baseline="-25000"/>
              <a:t>0</a:t>
            </a:r>
            <a:r>
              <a:rPr lang="ru-RU" sz="7400" i="1"/>
              <a:t>(</a:t>
            </a:r>
            <a:r>
              <a:rPr lang="ru-RU" sz="7400" i="1"/>
              <a:t>х</a:t>
            </a:r>
            <a:r>
              <a:rPr lang="ru-RU" sz="7400" i="1"/>
              <a:t>).</a:t>
            </a:r>
            <a:r>
              <a:rPr lang="ru-RU" sz="7400"/>
              <a:t> </a:t>
            </a:r>
            <a:endParaRPr/>
          </a:p>
          <a:p>
            <a:pPr marL="355600" indent="-355600">
              <a:buFont typeface="Wingdings"/>
              <a:buAutoNum type="arabicPeriod"/>
              <a:defRPr/>
            </a:pPr>
            <a:endParaRPr lang="ru-RU" sz="7400"/>
          </a:p>
          <a:p>
            <a:pPr marL="355600" indent="-355600">
              <a:buFont typeface="Wingdings"/>
              <a:buAutoNum type="arabicPeriod"/>
              <a:defRPr/>
            </a:pPr>
            <a:r>
              <a:rPr lang="ru-RU" sz="7400"/>
              <a:t>Функция </a:t>
            </a:r>
            <a:r>
              <a:rPr lang="en-US" sz="7400" i="1"/>
              <a:t>F</a:t>
            </a:r>
            <a:r>
              <a:rPr lang="ru-RU" sz="7400" i="1" baseline="-25000"/>
              <a:t>0</a:t>
            </a:r>
            <a:r>
              <a:rPr lang="ru-RU" sz="7400" i="1"/>
              <a:t>(</a:t>
            </a:r>
            <a:r>
              <a:rPr lang="ru-RU" sz="7400" i="1"/>
              <a:t>х</a:t>
            </a:r>
            <a:r>
              <a:rPr lang="ru-RU" sz="7400" i="1"/>
              <a:t>) </a:t>
            </a:r>
            <a:r>
              <a:rPr lang="ru-RU" sz="7400"/>
              <a:t>монотонно возрастающая, причем при   </a:t>
            </a:r>
            <a:endParaRPr/>
          </a:p>
          <a:p>
            <a:pPr marL="355600" indent="-355600">
              <a:buFont typeface="Wingdings"/>
              <a:buNone/>
              <a:defRPr/>
            </a:pPr>
            <a:r>
              <a:rPr lang="ru-RU" sz="7400"/>
              <a:t>                                              </a:t>
            </a:r>
            <a:endParaRPr/>
          </a:p>
          <a:p>
            <a:pPr marL="355600" indent="-355600">
              <a:buFont typeface="Wingdings"/>
              <a:buNone/>
              <a:defRPr/>
            </a:pPr>
            <a:r>
              <a:rPr lang="ru-RU" sz="7400"/>
              <a:t>(практически можно считать, что уже при </a:t>
            </a:r>
            <a:r>
              <a:rPr lang="ru-RU" sz="7400" i="1"/>
              <a:t>х</a:t>
            </a:r>
            <a:r>
              <a:rPr lang="ru-RU" sz="7400" i="1"/>
              <a:t> </a:t>
            </a:r>
            <a:r>
              <a:rPr lang="ru-RU" sz="7400"/>
              <a:t>&gt;4  </a:t>
            </a:r>
            <a:r>
              <a:rPr lang="en-US" sz="7400" i="1"/>
              <a:t>F</a:t>
            </a:r>
            <a:r>
              <a:rPr lang="ru-RU" sz="7400" i="1" baseline="-25000"/>
              <a:t>0</a:t>
            </a:r>
            <a:r>
              <a:rPr lang="ru-RU" sz="7400" i="1"/>
              <a:t>(</a:t>
            </a:r>
            <a:r>
              <a:rPr lang="ru-RU" sz="7400" i="1"/>
              <a:t>х</a:t>
            </a:r>
            <a:r>
              <a:rPr lang="ru-RU" sz="7400" i="1"/>
              <a:t>) </a:t>
            </a:r>
            <a:r>
              <a:rPr lang="en-US" sz="7400"/>
              <a:t>≈</a:t>
            </a:r>
            <a:r>
              <a:rPr lang="ru-RU" sz="7400"/>
              <a:t> 1). </a:t>
            </a:r>
            <a:endParaRPr/>
          </a:p>
          <a:p>
            <a:pPr marL="355600" indent="-355600">
              <a:buFont typeface="Wingdings"/>
              <a:buNone/>
              <a:defRPr/>
            </a:pPr>
            <a:endParaRPr lang="ru-RU" sz="7400"/>
          </a:p>
          <a:p>
            <a:pPr marL="355600" indent="-355600">
              <a:buFont typeface="Wingdings"/>
              <a:buNone/>
              <a:defRPr/>
            </a:pPr>
            <a:endParaRPr lang="ru-RU" sz="7400"/>
          </a:p>
          <a:p>
            <a:pPr marL="355600" indent="-355600">
              <a:buFont typeface="Wingdings"/>
              <a:buAutoNum type="arabicPeriod"/>
              <a:defRPr/>
            </a:pPr>
            <a:endParaRPr lang="ru-RU" sz="2400"/>
          </a:p>
        </p:txBody>
      </p:sp>
      <p:sp>
        <p:nvSpPr>
          <p:cNvPr id="3994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6572264" y="3857628"/>
          <a:ext cx="2308225" cy="468312"/>
        </p:xfrm>
        <a:graphic>
          <a:graphicData uri="http://schemas.openxmlformats.org/presentationml/2006/ole">
            <p:oleObj name="oleObj" r:id="rId3" imgW="1116965" imgH="228600" progId="Equation.3">
              <p:embed/>
              <p:pic>
                <p:nvPicPr>
                  <p:cNvPr id="39941" name="Object 4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6572264" y="3857628"/>
                    <a:ext cx="2308225" cy="468312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179388" y="4929198"/>
            <a:ext cx="8964612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chemeClr val="tx1"/>
              </a:buClr>
              <a:buSzPct val="70000"/>
              <a:buFont typeface="Wingdings"/>
              <a:buNone/>
              <a:defRPr/>
            </a:pPr>
            <a:r>
              <a:rPr lang="ru-RU" sz="2400">
                <a:solidFill>
                  <a:schemeClr val="tx2"/>
                </a:solidFill>
              </a:rPr>
              <a:t>Для функции </a:t>
            </a:r>
            <a:r>
              <a:rPr lang="en-US" sz="2400" i="1"/>
              <a:t>F</a:t>
            </a:r>
            <a:r>
              <a:rPr lang="ru-RU" sz="2400" i="1" baseline="-25000"/>
              <a:t>0</a:t>
            </a:r>
            <a:r>
              <a:rPr lang="ru-RU" sz="2400" i="1"/>
              <a:t>(</a:t>
            </a:r>
            <a:r>
              <a:rPr lang="ru-RU" sz="2400" i="1"/>
              <a:t>х</a:t>
            </a:r>
            <a:r>
              <a:rPr lang="ru-RU" sz="2400" i="1"/>
              <a:t>) </a:t>
            </a:r>
            <a:r>
              <a:rPr lang="ru-RU" sz="2400">
                <a:solidFill>
                  <a:schemeClr val="tx2"/>
                </a:solidFill>
              </a:rPr>
              <a:t> имеются расчетные таблицы</a:t>
            </a:r>
            <a:endParaRPr/>
          </a:p>
          <a:p>
            <a:pPr>
              <a:spcBef>
                <a:spcPts val="0"/>
              </a:spcBef>
              <a:buClr>
                <a:schemeClr val="tx1"/>
              </a:buClr>
              <a:buSzPct val="70000"/>
              <a:buFont typeface="Wingdings"/>
              <a:buNone/>
              <a:defRPr/>
            </a:pPr>
            <a:r>
              <a:rPr lang="en-US" sz="2400"/>
              <a:t>http://math-info.hse.ru/f/2017-18/ps-ms/stand_normal.pdf</a:t>
            </a:r>
            <a:endParaRPr lang="ru-RU" sz="2400"/>
          </a:p>
        </p:txBody>
      </p:sp>
      <p:sp>
        <p:nvSpPr>
          <p:cNvPr id="39944" name="Номер слайда 1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5C8F1780-B8FC-4FAA-821C-81A55F7BBBAC}" type="slidenum">
              <a:rPr lang="ru-RU"/>
              <a:t/>
            </a:fld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2285984" y="1500174"/>
          <a:ext cx="4967288" cy="881063"/>
        </p:xfrm>
        <a:graphic>
          <a:graphicData uri="http://schemas.openxmlformats.org/presentationml/2006/ole">
            <p:oleObj name="oleObj" r:id="rId5" imgW="2361565" imgH="418465" progId="Equation.3">
              <p:embed/>
              <p:pic>
                <p:nvPicPr>
                  <p:cNvPr id="113667" name="Object 3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>
                    <a:off x="2285984" y="1500174"/>
                    <a:ext cx="4967288" cy="881063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  <p:pic>
        <p:nvPicPr>
          <p:cNvPr id="113668" name="Ink 4"/>
          <p:cNvPicPr>
            <a:picLocks noChangeAspect="1" noChangeArrowheads="1" noChangeShapeType="1" noEditPoints="1" noRot="1"/>
          </p:cNvPicPr>
          <p:nvPr/>
        </p:nvPicPr>
        <p:blipFill>
          <a:blip r:embed="rId6"/>
          <a:stretch/>
        </p:blipFill>
        <p:spPr bwMode="auto">
          <a:xfrm>
            <a:off x="4010256" y="2059200"/>
            <a:ext cx="461502" cy="286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graphicFrame>
        <p:nvGraphicFramePr>
          <p:cNvPr id="3" name="Таблица 2"/>
          <p:cNvGraphicFramePr>
            <a:graphicFrameLocks xmlns:a="http://schemas.openxmlformats.org/drawingml/2006/main" noGrp="1"/>
          </p:cNvGraphicFramePr>
          <p:nvPr/>
        </p:nvGraphicFramePr>
        <p:xfrm>
          <a:off x="1500165" y="1285848"/>
          <a:ext cx="6357981" cy="5286417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{35758FB7-9AC5-4552-8A53-C91805E547FA}</a:tableStyleId>
              </a:tblPr>
              <a:tblGrid>
                <a:gridCol w="511281"/>
                <a:gridCol w="584670"/>
                <a:gridCol w="584670"/>
                <a:gridCol w="584670"/>
                <a:gridCol w="584670"/>
                <a:gridCol w="584670"/>
                <a:gridCol w="584670"/>
                <a:gridCol w="584670"/>
                <a:gridCol w="584670"/>
                <a:gridCol w="584670"/>
                <a:gridCol w="584670"/>
              </a:tblGrid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en-US" sz="600"/>
                        <a:t>x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0.5040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0.5080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0.5120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0.5160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0.5199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0.5239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0.5279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0.5319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0.5359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0.5398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0.5438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0.5478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0.5517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0.5557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0.5596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0.5636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0.5675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0.5714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0.5753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0.5793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0.5832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0.5871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0.5910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0.5948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0.5987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0.6026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0.6064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0.6103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0.6141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0.6179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0.6217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0.6255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0.6293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0.6331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0.6368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0.6406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0.6443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0.6480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0.6517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0.6554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0.6591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0.6628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0.6664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0.6700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0.6736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0.6772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0.6808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0.6844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0.6879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0.6915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0.6950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0.6985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0.7019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0.7054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0.7088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0.7123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0.7157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0.7190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0.7224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0.7257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0.7291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0.7324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0.7357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0.7389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0.7422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0.7454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0.7486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0.7517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0.7549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0.7580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0.7611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0.7642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0.7673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0.7704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0.7734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0.7764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0.7794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0.7823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0.7852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0.7881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0.7910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0.7939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0.7967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0.7995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0.8023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0.8051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0.8078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0.8106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0.8133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0.8159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0.8186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0.8212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0.8238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0.8264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0.8289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0.8315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0.8340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0.8365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0.8389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0.8413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0.8438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0.8461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0.8485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0.8508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0.8531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0.8554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0.8577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0.8599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0.8621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0.8643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0.8665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0.8686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0.8708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0.8729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0.8749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0.8770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0.8790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0.8810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0.8830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0.8849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0.8869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0.8888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0.8907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0.8925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0.8944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0.8962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0.8980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0.9015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0.9032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0.9049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0.9066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0.9082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0.9099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0.9115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0.9131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0.9147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0.9162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0.9177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0.9192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0.9207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0.9222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0.9236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0.9251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0.9265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0.9279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0.9292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0.9306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0.9319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0.9332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0.9345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0.9357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0.9370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0.9382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0.9394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0.9406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0.9418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0.9429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0.9441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0.9452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0.9463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0.9474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0.9484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0.9495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0.9505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0.9515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0.9525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0.9535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0.9545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0.9554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0.9564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0.9573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0.9582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0.9591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0.9608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0.9616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0.9625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0.9633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0.9641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0.9649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0.9656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0.9664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0.9671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0.9678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0.9686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0.9706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0.9713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0.9719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0.9726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0.9732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0.9738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0.9744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0.9750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0.9756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0.9761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0.9767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0.9772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0.9778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0.9783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0.9788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0.9803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0.9808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0.9812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0.9817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0.9821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0.9826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0.9830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0.9834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0.9838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0.9842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0.9846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0.9850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0.9854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0.9857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0.9861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0.9864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0.9868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0.9871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0.9875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0.9878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0.9881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0.9884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0.9887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0.9890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0.9896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0.9901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0.9904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0.9906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0.9909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0.9911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0.9913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0.9916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0.9918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0.9920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0.9922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0.9925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0.9927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0.9929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0.9931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0.9932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0.9934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0.9936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0.9938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0.9940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0.9941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0.9943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0.9945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0.9946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0.9948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0.9949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0.9951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0.9952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0.9953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0.9955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0.9956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0.9957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0.9959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</a:tbl>
          </a:graphicData>
        </a:graphic>
      </p:graphicFrame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1785918" y="142852"/>
            <a:ext cx="5578836" cy="29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300" b="0" i="0" u="none" strike="noStrike" cap="none">
                <a:ln>
                  <a:noFill/>
                </a:ln>
                <a:latin typeface="Times New Roman"/>
                <a:ea typeface="Arial Unicode MS"/>
                <a:cs typeface="Times New Roman"/>
              </a:rPr>
              <a:t>Таблица значений функции стандартного нормального распределения </a:t>
            </a:r>
            <a:r>
              <a:rPr lang="en-US" sz="1300" b="0" i="0" u="none" strike="noStrike" cap="none">
                <a:ln>
                  <a:noFill/>
                </a:ln>
                <a:latin typeface="Times New Roman"/>
                <a:ea typeface="Arial Unicode MS"/>
                <a:cs typeface="Times New Roman"/>
              </a:rPr>
              <a:t>F</a:t>
            </a:r>
            <a:r>
              <a:rPr lang="en-US" sz="1300" b="0" i="0" u="none" strike="noStrike" cap="none" baseline="-25000">
                <a:ln>
                  <a:noFill/>
                </a:ln>
                <a:latin typeface="Times New Roman"/>
                <a:ea typeface="Arial Unicode MS"/>
                <a:cs typeface="Times New Roman"/>
              </a:rPr>
              <a:t>0</a:t>
            </a:r>
            <a:r>
              <a:rPr lang="en-US" sz="1300" b="0" i="0" u="none" strike="noStrike" cap="none">
                <a:ln>
                  <a:noFill/>
                </a:ln>
                <a:latin typeface="Times New Roman"/>
                <a:ea typeface="Arial Unicode MS"/>
                <a:cs typeface="Times New Roman"/>
              </a:rPr>
              <a:t>(x)</a:t>
            </a:r>
            <a:endParaRPr lang="ru-RU" sz="1800" b="0" i="0" u="none" strike="noStrike" cap="none">
              <a:ln>
                <a:noFill/>
              </a:ln>
              <a:latin typeface="Arial"/>
              <a:cs typeface="Arial"/>
            </a:endParaRPr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2357422" y="500042"/>
          <a:ext cx="4127500" cy="762000"/>
        </p:xfrm>
        <a:graphic>
          <a:graphicData uri="http://schemas.openxmlformats.org/presentationml/2006/ole">
            <p:oleObj name="oleObj" r:id="rId3" imgW="4126865" imgH="761365" progId="Equation.3">
              <p:embed/>
              <p:pic>
                <p:nvPicPr>
                  <p:cNvPr id="115713" name="Object 1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2357422" y="500042"/>
                    <a:ext cx="4127500" cy="762000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115715" name="Rectangle 3"/>
          <p:cNvSpPr>
            <a:spLocks noChangeArrowheads="1"/>
          </p:cNvSpPr>
          <p:nvPr/>
        </p:nvSpPr>
        <p:spPr bwMode="auto">
          <a:xfrm>
            <a:off x="0" y="1041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300" b="0" i="0" u="none" strike="noStrike" cap="none">
                <a:ln>
                  <a:noFill/>
                </a:ln>
                <a:solidFill>
                  <a:srgbClr val="000000"/>
                </a:solidFill>
                <a:latin typeface="Times New Roman"/>
                <a:ea typeface="Arial Unicode MS"/>
                <a:cs typeface="Times New Roman"/>
              </a:rPr>
              <a:t> </a:t>
            </a:r>
            <a:endParaRPr lang="en-US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 noGrp="1"/>
          </p:cNvSpPr>
          <p:nvPr>
            <p:ph type="title"/>
          </p:nvPr>
        </p:nvSpPr>
        <p:spPr bwMode="auto">
          <a:xfrm>
            <a:off x="500034" y="190501"/>
            <a:ext cx="8643966" cy="95248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/>
              <a:t>Функция Лапласа (функция усеченного стандартного нормального распределения)</a:t>
            </a:r>
            <a:endParaRPr/>
          </a:p>
        </p:txBody>
      </p:sp>
      <p:sp>
        <p:nvSpPr>
          <p:cNvPr id="39939" name="Rectangle 3"/>
          <p:cNvSpPr>
            <a:spLocks noChangeArrowheads="1" noGrp="1"/>
          </p:cNvSpPr>
          <p:nvPr>
            <p:ph type="body" idx="1"/>
          </p:nvPr>
        </p:nvSpPr>
        <p:spPr bwMode="auto">
          <a:xfrm>
            <a:off x="250825" y="1628775"/>
            <a:ext cx="8713788" cy="2736850"/>
          </a:xfrm>
        </p:spPr>
        <p:txBody>
          <a:bodyPr>
            <a:normAutofit fontScale="25000" lnSpcReduction="20000"/>
          </a:bodyPr>
          <a:lstStyle/>
          <a:p>
            <a:pPr marL="355600" indent="-355600">
              <a:buFont typeface="Wingdings"/>
              <a:buNone/>
              <a:defRPr/>
            </a:pPr>
            <a:r>
              <a:rPr lang="ru-RU" sz="7400"/>
              <a:t>Функция </a:t>
            </a:r>
            <a:r>
              <a:rPr lang="en-US" sz="7400" i="1"/>
              <a:t>F</a:t>
            </a:r>
            <a:r>
              <a:rPr lang="ru-RU" sz="7400" i="1" baseline="-25000"/>
              <a:t>ус</a:t>
            </a:r>
            <a:r>
              <a:rPr lang="ru-RU" sz="7400" i="1"/>
              <a:t>(</a:t>
            </a:r>
            <a:r>
              <a:rPr lang="ru-RU" sz="7400" i="1"/>
              <a:t>х</a:t>
            </a:r>
            <a:r>
              <a:rPr lang="ru-RU" sz="7400" i="1"/>
              <a:t>)</a:t>
            </a:r>
            <a:endParaRPr lang="en-US" sz="7400" i="1"/>
          </a:p>
          <a:p>
            <a:pPr marL="355600" indent="-355600">
              <a:buFont typeface="Wingdings"/>
              <a:buNone/>
              <a:defRPr/>
            </a:pPr>
            <a:endParaRPr lang="en-US" sz="7400" i="1"/>
          </a:p>
          <a:p>
            <a:pPr marL="355600" indent="-355600">
              <a:buFont typeface="Wingdings"/>
              <a:buNone/>
              <a:defRPr/>
            </a:pPr>
            <a:endParaRPr lang="en-US" sz="7400" i="1"/>
          </a:p>
          <a:p>
            <a:pPr marL="355600" indent="-355600">
              <a:buFont typeface="Wingdings"/>
              <a:buNone/>
              <a:defRPr/>
            </a:pPr>
            <a:r>
              <a:rPr lang="ru-RU" sz="7400" i="1"/>
              <a:t> </a:t>
            </a:r>
            <a:r>
              <a:rPr lang="ru-RU" sz="7400"/>
              <a:t>называется</a:t>
            </a:r>
            <a:r>
              <a:rPr lang="en-US" sz="7400"/>
              <a:t> </a:t>
            </a:r>
            <a:r>
              <a:rPr lang="ru-RU" sz="7400"/>
              <a:t> </a:t>
            </a:r>
            <a:r>
              <a:rPr lang="ru-RU" sz="8000">
                <a:solidFill>
                  <a:schemeClr val="bg2">
                    <a:lumMod val="20000"/>
                    <a:lumOff val="80000"/>
                  </a:schemeClr>
                </a:solidFill>
              </a:rPr>
              <a:t>усеченной функцией нормального стандартного распределения или функцией Лапласа.</a:t>
            </a:r>
            <a:endParaRPr/>
          </a:p>
          <a:p>
            <a:pPr marL="355600" indent="-355600">
              <a:buFont typeface="Wingdings"/>
              <a:buNone/>
              <a:defRPr/>
            </a:pPr>
            <a:endParaRPr lang="ru-RU" sz="7400">
              <a:solidFill>
                <a:schemeClr val="tx1"/>
              </a:solidFill>
            </a:endParaRPr>
          </a:p>
          <a:p>
            <a:pPr marL="355600" indent="-355600">
              <a:buFont typeface="Wingdings"/>
              <a:buNone/>
              <a:defRPr/>
            </a:pPr>
            <a:r>
              <a:rPr lang="ru-RU" sz="7400" b="1"/>
              <a:t>Свойства функции </a:t>
            </a:r>
            <a:r>
              <a:rPr lang="en-US" sz="7400" i="1"/>
              <a:t>F</a:t>
            </a:r>
            <a:r>
              <a:rPr lang="ru-RU" sz="7400" i="1" baseline="-25000"/>
              <a:t>ус</a:t>
            </a:r>
            <a:r>
              <a:rPr lang="ru-RU" sz="7400" i="1"/>
              <a:t>(</a:t>
            </a:r>
            <a:r>
              <a:rPr lang="ru-RU" sz="7400" i="1"/>
              <a:t>х</a:t>
            </a:r>
            <a:r>
              <a:rPr lang="ru-RU" sz="7400" i="1"/>
              <a:t>) </a:t>
            </a:r>
            <a:r>
              <a:rPr lang="ru-RU" sz="7400" b="1"/>
              <a:t>:</a:t>
            </a:r>
            <a:endParaRPr/>
          </a:p>
          <a:p>
            <a:pPr marL="355600" indent="-355600">
              <a:buFont typeface="Wingdings"/>
              <a:buNone/>
              <a:defRPr/>
            </a:pPr>
            <a:endParaRPr lang="ru-RU" sz="7400" b="1"/>
          </a:p>
          <a:p>
            <a:pPr marL="355600" indent="-355600">
              <a:buFont typeface="Wingdings"/>
              <a:buAutoNum type="arabicPeriod"/>
              <a:defRPr/>
            </a:pPr>
            <a:r>
              <a:rPr lang="ru-RU" sz="7400"/>
              <a:t>Функция</a:t>
            </a:r>
            <a:r>
              <a:rPr lang="en-US" sz="7400" i="1"/>
              <a:t> F</a:t>
            </a:r>
            <a:r>
              <a:rPr lang="ru-RU" sz="7400" i="1" baseline="-25000"/>
              <a:t>ус</a:t>
            </a:r>
            <a:r>
              <a:rPr lang="ru-RU" sz="7400" i="1"/>
              <a:t>(</a:t>
            </a:r>
            <a:r>
              <a:rPr lang="ru-RU" sz="7400" i="1"/>
              <a:t>х</a:t>
            </a:r>
            <a:r>
              <a:rPr lang="ru-RU" sz="7400" i="1"/>
              <a:t>) </a:t>
            </a:r>
            <a:r>
              <a:rPr lang="ru-RU" sz="7400"/>
              <a:t> нечетная, т.е. </a:t>
            </a:r>
            <a:r>
              <a:rPr lang="en-US" sz="7400" i="1"/>
              <a:t>F</a:t>
            </a:r>
            <a:r>
              <a:rPr lang="ru-RU" sz="7400" i="1" baseline="-25000"/>
              <a:t>ус</a:t>
            </a:r>
            <a:r>
              <a:rPr lang="ru-RU" sz="7400" i="1"/>
              <a:t>(-</a:t>
            </a:r>
            <a:r>
              <a:rPr lang="ru-RU" sz="7400" i="1"/>
              <a:t>х</a:t>
            </a:r>
            <a:r>
              <a:rPr lang="ru-RU" sz="7400" i="1"/>
              <a:t>) = - </a:t>
            </a:r>
            <a:r>
              <a:rPr lang="en-US" sz="7400" i="1"/>
              <a:t>F</a:t>
            </a:r>
            <a:r>
              <a:rPr lang="ru-RU" sz="7400" i="1" baseline="-25000"/>
              <a:t>ус</a:t>
            </a:r>
            <a:r>
              <a:rPr lang="ru-RU" sz="7400" i="1"/>
              <a:t>(</a:t>
            </a:r>
            <a:r>
              <a:rPr lang="ru-RU" sz="7400" i="1"/>
              <a:t>х</a:t>
            </a:r>
            <a:r>
              <a:rPr lang="ru-RU" sz="7400" i="1"/>
              <a:t>).</a:t>
            </a:r>
            <a:r>
              <a:rPr lang="ru-RU" sz="7400"/>
              <a:t> </a:t>
            </a:r>
            <a:endParaRPr/>
          </a:p>
          <a:p>
            <a:pPr marL="355600" indent="-355600">
              <a:buFont typeface="Wingdings"/>
              <a:buAutoNum type="arabicPeriod"/>
              <a:defRPr/>
            </a:pPr>
            <a:r>
              <a:rPr lang="ru-RU" sz="7400"/>
              <a:t>Функция </a:t>
            </a:r>
            <a:r>
              <a:rPr lang="en-US" sz="7400" i="1"/>
              <a:t>F</a:t>
            </a:r>
            <a:r>
              <a:rPr lang="ru-RU" sz="7400" i="1" baseline="-25000"/>
              <a:t>ус</a:t>
            </a:r>
            <a:r>
              <a:rPr lang="ru-RU" sz="7400" i="1"/>
              <a:t>(</a:t>
            </a:r>
            <a:r>
              <a:rPr lang="ru-RU" sz="7400" i="1"/>
              <a:t>х</a:t>
            </a:r>
            <a:r>
              <a:rPr lang="ru-RU" sz="7400" i="1"/>
              <a:t>) </a:t>
            </a:r>
            <a:r>
              <a:rPr lang="ru-RU" sz="7400"/>
              <a:t>монотонно возрастающая, причем при   </a:t>
            </a:r>
            <a:endParaRPr/>
          </a:p>
          <a:p>
            <a:pPr marL="355600" indent="-355600">
              <a:buFont typeface="Wingdings"/>
              <a:buNone/>
              <a:defRPr/>
            </a:pPr>
            <a:r>
              <a:rPr lang="ru-RU" sz="7400"/>
              <a:t>                                              </a:t>
            </a:r>
            <a:endParaRPr/>
          </a:p>
          <a:p>
            <a:pPr marL="355600" indent="-355600">
              <a:buFont typeface="Wingdings"/>
              <a:buNone/>
              <a:defRPr/>
            </a:pPr>
            <a:endParaRPr lang="ru-RU" sz="7400"/>
          </a:p>
          <a:p>
            <a:pPr marL="355600" indent="-355600">
              <a:buFont typeface="Wingdings"/>
              <a:buNone/>
              <a:defRPr/>
            </a:pPr>
            <a:endParaRPr lang="ru-RU" sz="7400"/>
          </a:p>
          <a:p>
            <a:pPr marL="355600" indent="-355600">
              <a:buFont typeface="Wingdings"/>
              <a:buNone/>
              <a:defRPr/>
            </a:pPr>
            <a:r>
              <a:rPr lang="ru-RU" sz="7400"/>
              <a:t>(практически можно считать, что уже при </a:t>
            </a:r>
            <a:r>
              <a:rPr lang="ru-RU" sz="7400" i="1"/>
              <a:t>х</a:t>
            </a:r>
            <a:r>
              <a:rPr lang="ru-RU" sz="7400" i="1"/>
              <a:t> </a:t>
            </a:r>
            <a:r>
              <a:rPr lang="ru-RU" sz="7400"/>
              <a:t>&gt; </a:t>
            </a:r>
            <a:r>
              <a:rPr lang="en-US" sz="7400"/>
              <a:t>4 </a:t>
            </a:r>
            <a:r>
              <a:rPr lang="ru-RU" sz="7400"/>
              <a:t> </a:t>
            </a:r>
            <a:r>
              <a:rPr lang="en-US" sz="7400" i="1"/>
              <a:t>F</a:t>
            </a:r>
            <a:r>
              <a:rPr lang="ru-RU" sz="7400" i="1" baseline="-25000"/>
              <a:t>ус</a:t>
            </a:r>
            <a:r>
              <a:rPr lang="ru-RU" sz="7400" i="1"/>
              <a:t>(</a:t>
            </a:r>
            <a:r>
              <a:rPr lang="ru-RU" sz="7400" i="1"/>
              <a:t>х</a:t>
            </a:r>
            <a:r>
              <a:rPr lang="ru-RU" sz="7400" i="1"/>
              <a:t>) </a:t>
            </a:r>
            <a:r>
              <a:rPr lang="ru-RU" sz="7400"/>
              <a:t> </a:t>
            </a:r>
            <a:r>
              <a:rPr lang="en-US" sz="7400"/>
              <a:t>≈</a:t>
            </a:r>
            <a:r>
              <a:rPr lang="ru-RU" sz="7400"/>
              <a:t> 0,5). </a:t>
            </a:r>
            <a:endParaRPr/>
          </a:p>
          <a:p>
            <a:pPr marL="355600" indent="-355600">
              <a:buFont typeface="Wingdings"/>
              <a:buAutoNum type="arabicPeriod"/>
              <a:defRPr/>
            </a:pPr>
            <a:endParaRPr lang="ru-RU" sz="2400"/>
          </a:p>
        </p:txBody>
      </p:sp>
      <p:sp>
        <p:nvSpPr>
          <p:cNvPr id="3994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785786" y="4143380"/>
          <a:ext cx="2674937" cy="493712"/>
        </p:xfrm>
        <a:graphic>
          <a:graphicData uri="http://schemas.openxmlformats.org/presentationml/2006/ole">
            <p:oleObj name="oleObj" r:id="rId3" imgW="1294765" imgH="240665" progId="Equation.3">
              <p:embed/>
              <p:pic>
                <p:nvPicPr>
                  <p:cNvPr id="39941" name="Object 4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785786" y="4143380"/>
                    <a:ext cx="2674937" cy="493712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179388" y="4292600"/>
            <a:ext cx="8964612" cy="2160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chemeClr val="tx1"/>
              </a:buClr>
              <a:buSzPct val="70000"/>
              <a:buFont typeface="Wingdings"/>
              <a:buNone/>
              <a:defRPr/>
            </a:pPr>
            <a:endParaRPr lang="ru-RU" sz="2400">
              <a:solidFill>
                <a:schemeClr val="tx2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70000"/>
              <a:buFont typeface="Wingdings"/>
              <a:buNone/>
              <a:defRPr/>
            </a:pPr>
            <a:endParaRPr lang="en-US" sz="2400">
              <a:solidFill>
                <a:schemeClr val="tx2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70000"/>
              <a:buFont typeface="Wingdings"/>
              <a:buNone/>
              <a:defRPr/>
            </a:pPr>
            <a:r>
              <a:rPr lang="ru-RU" sz="2400">
                <a:solidFill>
                  <a:schemeClr val="tx2"/>
                </a:solidFill>
              </a:rPr>
              <a:t>Для функции </a:t>
            </a:r>
            <a:r>
              <a:rPr lang="en-US" sz="2400" i="1"/>
              <a:t>F</a:t>
            </a:r>
            <a:r>
              <a:rPr lang="ru-RU" sz="2400" i="1" baseline="-25000"/>
              <a:t>ус</a:t>
            </a:r>
            <a:r>
              <a:rPr lang="ru-RU" sz="2400" i="1"/>
              <a:t>(</a:t>
            </a:r>
            <a:r>
              <a:rPr lang="ru-RU" sz="2400" i="1"/>
              <a:t>х</a:t>
            </a:r>
            <a:r>
              <a:rPr lang="ru-RU" sz="2400" i="1"/>
              <a:t>)  </a:t>
            </a:r>
            <a:r>
              <a:rPr lang="ru-RU" sz="2400">
                <a:solidFill>
                  <a:schemeClr val="tx2"/>
                </a:solidFill>
              </a:rPr>
              <a:t>также имеются расчетные таблицы</a:t>
            </a:r>
            <a:endParaRPr/>
          </a:p>
          <a:p>
            <a:pPr>
              <a:spcBef>
                <a:spcPts val="0"/>
              </a:spcBef>
              <a:buClr>
                <a:schemeClr val="tx1"/>
              </a:buClr>
              <a:buSzPct val="70000"/>
              <a:buFont typeface="Wingdings"/>
              <a:buNone/>
              <a:defRPr/>
            </a:pPr>
            <a:r>
              <a:rPr lang="en-US" sz="2400"/>
              <a:t>https://tehtab.ru/Guide/GuideMathematics/TheTheoryOfProbabilityAndStatistics/TableLaplaseFunction/</a:t>
            </a:r>
            <a:endParaRPr lang="ru-RU" sz="2400"/>
          </a:p>
        </p:txBody>
      </p:sp>
      <p:sp>
        <p:nvSpPr>
          <p:cNvPr id="39944" name="Номер слайда 1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5C8F1780-B8FC-4FAA-821C-81A55F7BBBAC}" type="slidenum">
              <a:rPr lang="ru-RU"/>
              <a:t/>
            </a:fld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2285984" y="1428735"/>
          <a:ext cx="4405312" cy="812800"/>
        </p:xfrm>
        <a:graphic>
          <a:graphicData uri="http://schemas.openxmlformats.org/presentationml/2006/ole">
            <p:oleObj name="oleObj" r:id="rId5" imgW="2272665" imgH="418465" progId="Equation.3">
              <p:embed/>
              <p:pic>
                <p:nvPicPr>
                  <p:cNvPr id="112643" name="Object 3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>
                    <a:off x="2285984" y="1428735"/>
                    <a:ext cx="4405312" cy="81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</p:pic>
            </p:oleObj>
          </a:graphicData>
        </a:graphic>
      </p:graphicFrame>
      <p:pic>
        <p:nvPicPr>
          <p:cNvPr id="112644" name="Ink 4"/>
          <p:cNvPicPr>
            <a:picLocks noChangeAspect="1" noChangeArrowheads="1" noChangeShapeType="1" noEditPoints="1" noRot="1"/>
          </p:cNvPicPr>
          <p:nvPr/>
        </p:nvPicPr>
        <p:blipFill>
          <a:blip r:embed="rId6"/>
          <a:stretch/>
        </p:blipFill>
        <p:spPr bwMode="auto">
          <a:xfrm>
            <a:off x="3892903" y="1876644"/>
            <a:ext cx="380293" cy="4345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 noGrp="1"/>
          </p:cNvSpPr>
          <p:nvPr>
            <p:ph type="title"/>
          </p:nvPr>
        </p:nvSpPr>
        <p:spPr bwMode="auto">
          <a:xfrm>
            <a:off x="142844" y="285728"/>
            <a:ext cx="8786842" cy="1500198"/>
          </a:xfrm>
        </p:spPr>
        <p:txBody>
          <a:bodyPr>
            <a:normAutofit fontScale="90000"/>
          </a:bodyPr>
          <a:lstStyle/>
          <a:p>
            <a:pPr algn="just">
              <a:defRPr/>
            </a:pPr>
            <a:r>
              <a:rPr lang="ru-RU" sz="2700" b="1" u="sng"/>
              <a:t>Задача: </a:t>
            </a:r>
            <a:r>
              <a:rPr lang="ru-RU" sz="2700" b="1"/>
              <a:t>В некоторой местности из каждых 100 семей 80 имеют автомобили. Необходимо найти вероятность того, что из 400  семей от 300 до 360 семей (включительно) имеют автомобили</a:t>
            </a:r>
            <a:r>
              <a:rPr lang="ru-RU" sz="4000"/>
              <a:t>.</a:t>
            </a:r>
            <a:endParaRPr lang="ru-RU" sz="3900"/>
          </a:p>
        </p:txBody>
      </p:sp>
      <p:sp>
        <p:nvSpPr>
          <p:cNvPr id="40963" name="Rectangle 3"/>
          <p:cNvSpPr>
            <a:spLocks noChangeArrowheads="1" noGrp="1"/>
          </p:cNvSpPr>
          <p:nvPr>
            <p:ph type="body" idx="1"/>
          </p:nvPr>
        </p:nvSpPr>
        <p:spPr bwMode="auto">
          <a:xfrm>
            <a:off x="250825" y="1905000"/>
            <a:ext cx="8893175" cy="47640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Wingdings"/>
              <a:buNone/>
              <a:defRPr/>
            </a:pPr>
            <a:r>
              <a:rPr lang="ru-RU" sz="2000" b="1" u="sng">
                <a:solidFill>
                  <a:schemeClr val="bg2">
                    <a:lumMod val="20000"/>
                    <a:lumOff val="80000"/>
                  </a:schemeClr>
                </a:solidFill>
              </a:rPr>
              <a:t>Решение:</a:t>
            </a:r>
            <a:endParaRPr/>
          </a:p>
          <a:p>
            <a:pPr marL="0" indent="0">
              <a:buFont typeface="Wingdings"/>
              <a:buNone/>
              <a:defRPr/>
            </a:pPr>
            <a:r>
              <a:rPr lang="ru-RU" sz="2000" i="1"/>
              <a:t>р</a:t>
            </a:r>
            <a:r>
              <a:rPr lang="ru-RU" sz="2000"/>
              <a:t> = 80/100 = 0,8; </a:t>
            </a:r>
            <a:r>
              <a:rPr lang="en-US" sz="2000" i="1"/>
              <a:t>n </a:t>
            </a:r>
            <a:r>
              <a:rPr lang="en-US" sz="2000"/>
              <a:t>= 400, </a:t>
            </a:r>
            <a:r>
              <a:rPr lang="en-US" sz="2000" i="1"/>
              <a:t>q </a:t>
            </a:r>
            <a:r>
              <a:rPr lang="en-US" sz="2000"/>
              <a:t>= </a:t>
            </a:r>
            <a:r>
              <a:rPr lang="ru-RU" sz="2000"/>
              <a:t>0,2</a:t>
            </a:r>
            <a:r>
              <a:rPr lang="en-US" sz="2000"/>
              <a:t>, </a:t>
            </a:r>
            <a:r>
              <a:rPr lang="en-US" sz="2000" i="1"/>
              <a:t>a</a:t>
            </a:r>
            <a:r>
              <a:rPr lang="en-US" sz="2000"/>
              <a:t> = 300, </a:t>
            </a:r>
            <a:r>
              <a:rPr lang="en-US" sz="2000" i="1"/>
              <a:t>b</a:t>
            </a:r>
            <a:r>
              <a:rPr lang="en-US" sz="2000"/>
              <a:t> = 360.</a:t>
            </a:r>
            <a:endParaRPr/>
          </a:p>
          <a:p>
            <a:pPr marL="450850" lvl="1" indent="-271463">
              <a:buFont typeface="Wingdings"/>
              <a:buAutoNum type="arabicPeriod"/>
              <a:defRPr/>
            </a:pPr>
            <a:r>
              <a:rPr lang="en-US" sz="2000" i="1"/>
              <a:t>np</a:t>
            </a:r>
            <a:r>
              <a:rPr lang="en-US" sz="2000" i="1"/>
              <a:t> </a:t>
            </a:r>
            <a:r>
              <a:rPr lang="en-US" sz="2000"/>
              <a:t>= 0.8 </a:t>
            </a:r>
            <a:r>
              <a:rPr lang="ru-RU" sz="2000"/>
              <a:t>∙ </a:t>
            </a:r>
            <a:r>
              <a:rPr lang="en-US" sz="2000"/>
              <a:t>400 = 320 </a:t>
            </a:r>
            <a:r>
              <a:rPr lang="ru-RU" sz="2000"/>
              <a:t>&gt;</a:t>
            </a:r>
            <a:r>
              <a:rPr lang="en-US" sz="2000"/>
              <a:t> 10</a:t>
            </a:r>
            <a:r>
              <a:rPr lang="ru-RU" sz="2000"/>
              <a:t>, значит, можно применить интегральную теорему Муавра - Лапласа.</a:t>
            </a:r>
            <a:endParaRPr/>
          </a:p>
          <a:p>
            <a:pPr marL="450850" lvl="1" indent="-271463">
              <a:spcBef>
                <a:spcPts val="0"/>
              </a:spcBef>
              <a:buFont typeface="Wingdings"/>
              <a:buAutoNum type="arabicPeriod"/>
              <a:defRPr/>
            </a:pPr>
            <a:r>
              <a:rPr lang="ru-RU" sz="2000"/>
              <a:t>                                                           ;                                                         .</a:t>
            </a:r>
            <a:endParaRPr/>
          </a:p>
          <a:p>
            <a:pPr marL="450849" lvl="1" indent="-271462">
              <a:spcBef>
                <a:spcPts val="0"/>
              </a:spcBef>
              <a:buFont typeface="Wingdings"/>
              <a:buAutoNum type="arabicPeriod"/>
              <a:defRPr/>
            </a:pPr>
            <a:endParaRPr/>
          </a:p>
          <a:p>
            <a:pPr marL="450850" lvl="1" indent="-271463">
              <a:spcBef>
                <a:spcPts val="0"/>
              </a:spcBef>
              <a:buFont typeface="Wingdings"/>
              <a:buAutoNum type="arabicPeriod"/>
              <a:defRPr/>
            </a:pPr>
            <a:r>
              <a:rPr lang="ru-RU" sz="2000"/>
              <a:t>По таблице стандартного нормального распределения находим </a:t>
            </a:r>
            <a:r>
              <a:rPr lang="en-US" sz="2000"/>
              <a:t>F</a:t>
            </a:r>
            <a:r>
              <a:rPr lang="en-US" sz="2000" baseline="-25000"/>
              <a:t>0</a:t>
            </a:r>
            <a:r>
              <a:rPr lang="en-US" sz="2000"/>
              <a:t>(5)=1</a:t>
            </a:r>
            <a:r>
              <a:rPr lang="ru-RU" sz="2000"/>
              <a:t>, 	</a:t>
            </a:r>
            <a:r>
              <a:rPr lang="en-US" sz="2000"/>
              <a:t>F</a:t>
            </a:r>
            <a:r>
              <a:rPr lang="ru-RU" sz="2000" baseline="-25000"/>
              <a:t>0</a:t>
            </a:r>
            <a:r>
              <a:rPr lang="ru-RU" sz="2000"/>
              <a:t>(-2,5)</a:t>
            </a:r>
            <a:r>
              <a:rPr lang="en-US" sz="2000"/>
              <a:t>=1-F</a:t>
            </a:r>
            <a:r>
              <a:rPr lang="en-US" sz="2000" baseline="-25000"/>
              <a:t>0</a:t>
            </a:r>
            <a:r>
              <a:rPr lang="en-US" sz="2000"/>
              <a:t>(</a:t>
            </a:r>
            <a:r>
              <a:rPr lang="ru-RU" sz="2000"/>
              <a:t>2,5)=1-0,9938.</a:t>
            </a:r>
            <a:endParaRPr lang="ru-RU" sz="2000"/>
          </a:p>
          <a:p>
            <a:pPr marL="450850" lvl="1" indent="-271463">
              <a:spcBef>
                <a:spcPts val="0"/>
              </a:spcBef>
              <a:buNone/>
              <a:defRPr/>
            </a:pPr>
            <a:r>
              <a:rPr lang="ru-RU" sz="2000"/>
              <a:t> </a:t>
            </a:r>
            <a:endParaRPr lang="ru-RU" sz="2000"/>
          </a:p>
          <a:p>
            <a:pPr marL="450849" lvl="1" indent="-271462">
              <a:spcBef>
                <a:spcPts val="0"/>
              </a:spcBef>
              <a:buNone/>
              <a:defRPr/>
            </a:pPr>
            <a:endParaRPr/>
          </a:p>
          <a:p>
            <a:pPr marL="450849" lvl="1" indent="-271462">
              <a:spcBef>
                <a:spcPts val="0"/>
              </a:spcBef>
              <a:buNone/>
              <a:defRPr/>
            </a:pPr>
            <a:endParaRPr lang="ru-RU" sz="2000"/>
          </a:p>
          <a:p>
            <a:pPr marL="450849" lvl="1" indent="-271462">
              <a:spcBef>
                <a:spcPts val="0"/>
              </a:spcBef>
              <a:buNone/>
              <a:defRPr/>
            </a:pPr>
            <a:endParaRPr lang="ru-RU" sz="2000"/>
          </a:p>
          <a:p>
            <a:pPr marL="450849" lvl="1" indent="-271462">
              <a:spcBef>
                <a:spcPts val="0"/>
              </a:spcBef>
              <a:buNone/>
              <a:defRPr/>
            </a:pPr>
            <a:r>
              <a:rPr lang="ru-RU" sz="2000"/>
              <a:t>или </a:t>
            </a:r>
            <a:r>
              <a:rPr lang="en-US" sz="2000"/>
              <a:t>F</a:t>
            </a:r>
            <a:r>
              <a:rPr lang="ru-RU" sz="2000" baseline="-25000"/>
              <a:t>ус</a:t>
            </a:r>
            <a:r>
              <a:rPr lang="ru-RU" sz="2000"/>
              <a:t>(-2,5)=</a:t>
            </a:r>
            <a:r>
              <a:rPr lang="ru-RU" sz="2000" i="1"/>
              <a:t> -</a:t>
            </a:r>
            <a:r>
              <a:rPr lang="en-US" sz="2000"/>
              <a:t> F</a:t>
            </a:r>
            <a:r>
              <a:rPr lang="ru-RU" sz="2000" baseline="-25000"/>
              <a:t>ус</a:t>
            </a:r>
            <a:r>
              <a:rPr lang="ru-RU" sz="2000"/>
              <a:t>(2,5) </a:t>
            </a:r>
            <a:r>
              <a:rPr lang="en-US" sz="2000"/>
              <a:t>≈</a:t>
            </a:r>
            <a:r>
              <a:rPr lang="ru-RU" sz="2000"/>
              <a:t>  -0,49</a:t>
            </a:r>
            <a:r>
              <a:rPr lang="en-US" sz="2000"/>
              <a:t>379</a:t>
            </a:r>
            <a:r>
              <a:rPr lang="ru-RU" sz="2000"/>
              <a:t>,  </a:t>
            </a:r>
            <a:r>
              <a:rPr lang="en-US" sz="2000" i="1"/>
              <a:t>F</a:t>
            </a:r>
            <a:r>
              <a:rPr lang="ru-RU" sz="2000" i="1" baseline="-25000"/>
              <a:t>ус</a:t>
            </a:r>
            <a:r>
              <a:rPr lang="ru-RU" sz="2000"/>
              <a:t>(5) </a:t>
            </a:r>
            <a:r>
              <a:rPr lang="en-US" sz="2000"/>
              <a:t>≈</a:t>
            </a:r>
            <a:r>
              <a:rPr lang="ru-RU" sz="2000"/>
              <a:t> 0,</a:t>
            </a:r>
            <a:r>
              <a:rPr lang="en-US" sz="2000"/>
              <a:t>5</a:t>
            </a:r>
            <a:r>
              <a:rPr lang="ru-RU" sz="2000"/>
              <a:t>;</a:t>
            </a:r>
            <a:endParaRPr lang="ru-RU" sz="2000"/>
          </a:p>
          <a:p>
            <a:pPr marL="450850" lvl="1" indent="-271463">
              <a:spcBef>
                <a:spcPts val="0"/>
              </a:spcBef>
              <a:buNone/>
              <a:defRPr/>
            </a:pPr>
            <a:endParaRPr lang="ru-RU" sz="2000"/>
          </a:p>
        </p:txBody>
      </p:sp>
      <p:sp>
        <p:nvSpPr>
          <p:cNvPr id="40964" name="Rectangle 5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5000628" y="3357562"/>
          <a:ext cx="3851275" cy="693738"/>
        </p:xfrm>
        <a:graphic>
          <a:graphicData uri="http://schemas.openxmlformats.org/presentationml/2006/ole">
            <p:oleObj name="oleObj" r:id="rId3" imgW="2476500" imgH="444500" progId="Equation.3">
              <p:embed/>
              <p:pic>
                <p:nvPicPr>
                  <p:cNvPr id="40965" name="Object 4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5000628" y="3357562"/>
                    <a:ext cx="3851275" cy="693738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4096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714348" y="3357562"/>
          <a:ext cx="4105275" cy="655637"/>
        </p:xfrm>
        <a:graphic>
          <a:graphicData uri="http://schemas.openxmlformats.org/presentationml/2006/ole">
            <p:oleObj name="oleObj" r:id="rId5" imgW="2781300" imgH="444500" progId="Equation.3">
              <p:embed/>
              <p:pic>
                <p:nvPicPr>
                  <p:cNvPr id="40967" name="Object 6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>
                    <a:off x="714348" y="3357562"/>
                    <a:ext cx="4105275" cy="655637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4096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949325" y="6215063"/>
          <a:ext cx="6661150" cy="388937"/>
        </p:xfrm>
        <a:graphic>
          <a:graphicData uri="http://schemas.openxmlformats.org/presentationml/2006/ole">
            <p:oleObj name="oleObj" r:id="rId7" imgW="4138930" imgH="240665" progId="Equation.3">
              <p:embed/>
              <p:pic>
                <p:nvPicPr>
                  <p:cNvPr id="40969" name="Object 10"/>
                  <p:cNvPicPr/>
                  <p:nvPr/>
                </p:nvPicPr>
                <p:blipFill>
                  <a:blip r:embed="rId6"/>
                  <a:stretch/>
                </p:blipFill>
                <p:spPr bwMode="auto">
                  <a:xfrm>
                    <a:off x="949325" y="6215063"/>
                    <a:ext cx="6661150" cy="388937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40971" name="Номер слайда 1"/>
          <p:cNvSpPr>
            <a:spLocks noGrp="1"/>
          </p:cNvSpPr>
          <p:nvPr>
            <p:ph type="sldNum" sz="quarter" idx="12"/>
          </p:nvPr>
        </p:nvSpPr>
        <p:spPr bwMode="auto">
          <a:xfrm>
            <a:off x="7235825" y="6453188"/>
            <a:ext cx="1295400" cy="457200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A701F591-2D0C-4E42-8B1C-CDF40AC2B67F}" type="slidenum">
              <a:rPr lang="ru-RU"/>
              <a:t/>
            </a:fld>
            <a:endParaRPr lang="ru-RU"/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714348" y="4929198"/>
          <a:ext cx="6416675" cy="368300"/>
        </p:xfrm>
        <a:graphic>
          <a:graphicData uri="http://schemas.openxmlformats.org/presentationml/2006/ole">
            <p:oleObj name="oleObj" r:id="rId9" imgW="3986530" imgH="228600" progId="Equation.3">
              <p:embed/>
              <p:pic>
                <p:nvPicPr>
                  <p:cNvPr id="12" name="Object 10"/>
                  <p:cNvPicPr/>
                  <p:nvPr/>
                </p:nvPicPr>
                <p:blipFill>
                  <a:blip r:embed="rId8"/>
                  <a:stretch/>
                </p:blipFill>
                <p:spPr bwMode="auto">
                  <a:xfrm>
                    <a:off x="714348" y="4929198"/>
                    <a:ext cx="6416675" cy="368300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  <p:graphicFrame>
        <p:nvGraphicFramePr>
          <p:cNvPr id="3" name="Таблица 2"/>
          <p:cNvGraphicFramePr>
            <a:graphicFrameLocks xmlns:a="http://schemas.openxmlformats.org/drawingml/2006/main" noGrp="1"/>
          </p:cNvGraphicFramePr>
          <p:nvPr/>
        </p:nvGraphicFramePr>
        <p:xfrm>
          <a:off x="1500165" y="1285848"/>
          <a:ext cx="6357981" cy="5286417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{35758FB7-9AC5-4552-8A53-C91805E547FA}</a:tableStyleId>
              </a:tblPr>
              <a:tblGrid>
                <a:gridCol w="511281"/>
                <a:gridCol w="584670"/>
                <a:gridCol w="584670"/>
                <a:gridCol w="584670"/>
                <a:gridCol w="584670"/>
                <a:gridCol w="584670"/>
                <a:gridCol w="584670"/>
                <a:gridCol w="584670"/>
                <a:gridCol w="584670"/>
                <a:gridCol w="584670"/>
                <a:gridCol w="584670"/>
              </a:tblGrid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en-US" sz="600"/>
                        <a:t>x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0.5040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0.5080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0.5120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0.5160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0.5199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0.5239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0.5279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0.5319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0.5359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0.5398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0.5438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0.5478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0.5517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0.5557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0.5596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0.5636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0.5675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0.5714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0.5753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0.5793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0.5832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0.5871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0.5910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0.5948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0.5987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0.6026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0.6064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0.6103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0.6141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0.6179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0.6217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0.6255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0.6293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0.6331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0.6368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0.6406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0.6443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0.6480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0.6517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0.6554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0.6591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0.6628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0.6664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0.6700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0.6736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0.6772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0.6808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0.6844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0.6879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0.6915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0.6950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0.6985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0.7019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0.7054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0.7088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0.7123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0.7157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0.7190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0.7224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0.7257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0.7291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0.7324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0.7357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0.7389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0.7422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0.7454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0.7486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0.7517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0.7549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0.7580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0.7611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0.7642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0.7673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0.7704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0.7734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0.7764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0.7794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0.7823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0.7852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0.7881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0.7910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0.7939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0.7967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0.7995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0.8023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0.8051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0.8078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0.8106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0.8133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0.8159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0.8186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0.8212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0.8238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0.8264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0.8289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0.8315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0.8340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0.8365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0.8389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0.8413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0.8438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0.8461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0.8485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0.8508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0.8531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0.8554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0.8577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0.8599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0.8621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0.8643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0.8665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0.8686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0.8708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0.8729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0.8749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0.8770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0.8790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0.8810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0.8830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0.8849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0.8869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0.8888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0.8907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0.8925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0.8944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0.8962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0.8980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0.8997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0.9015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0.9032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0.9049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0.9066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0.9082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0.9099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0.9115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0.9131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0.9147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0.9162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0.9177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0.9192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0.9207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0.9222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0.9236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0.9251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0.9265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0.9279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0.9292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0.9306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0.9319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0.9332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0.9345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0.9357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0.9370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0.9382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0.9394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0.9406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0.9418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0.9429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0.9441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0.9452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0.9463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0.9474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0.9484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0.9495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0.9505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0.9515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0.9525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0.9535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0.9545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0.9554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0.9564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0.9573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0.9582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0.9591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0.9599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0.9608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0.9616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0.9625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0.9633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0.9641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0.9649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0.9656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0.9664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0.9671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0.9678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0.9686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0.9699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0.9706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0.9713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0.9719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0.9726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0.9732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0.9738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0.9744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0.9750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0.9756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0.9761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0.9767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0.9772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0.9778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0.9783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0.9788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0.9798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0.9803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0.9808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0.9812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0.9817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0.9821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0.9826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0.9830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0.9834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0.9838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0.9842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0.9846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0.9850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0.9854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0.9857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0.9861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0.9864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0.9868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0.9871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0.9875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0.9878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0.9881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0.9884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0.9887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0.9890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0.9896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0.9898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0.9901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0.9904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0.9906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0.9909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0.9911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0.9913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0.9916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0.9918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0.9920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0.9922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0.9925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0.9927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0.9929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0.9931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0.9932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0.9934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0.9936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0.9938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0.9940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0.9941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0.9943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0.9945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0.9946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0.9948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0.9949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0.9951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0.9952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0.9953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0.9955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0.9956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0.9957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0.9959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0.9969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0.9979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2.9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0.9989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0.9991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3.2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3.3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3.4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3.5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3.6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3.7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3.8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0.9999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  <a:tr h="12893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3.9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600"/>
                        <a:t>1.0000</a:t>
                      </a:r>
                      <a:endParaRPr lang="ru-RU" sz="600">
                        <a:solidFill>
                          <a:srgbClr val="000000"/>
                        </a:solidFill>
                        <a:latin typeface="Arial Unicode MS"/>
                        <a:ea typeface="Times New Roman"/>
                        <a:cs typeface="Times New Roman"/>
                      </a:endParaRPr>
                    </a:p>
                  </a:txBody>
                  <a:tcPr marL="4676" marR="4676" marT="4676" marB="4676" anchor="ctr"/>
                </a:tc>
              </a:tr>
            </a:tbl>
          </a:graphicData>
        </a:graphic>
      </p:graphicFrame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1785918" y="142852"/>
            <a:ext cx="5578836" cy="29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300" b="0" i="0" u="none" strike="noStrike" cap="none">
                <a:ln>
                  <a:noFill/>
                </a:ln>
                <a:latin typeface="Times New Roman"/>
                <a:ea typeface="Arial Unicode MS"/>
                <a:cs typeface="Times New Roman"/>
              </a:rPr>
              <a:t>Таблица значений функции стандартного нормального распределения </a:t>
            </a:r>
            <a:r>
              <a:rPr lang="en-US" sz="1300" b="0" i="0" u="none" strike="noStrike" cap="none">
                <a:ln>
                  <a:noFill/>
                </a:ln>
                <a:latin typeface="Times New Roman"/>
                <a:ea typeface="Arial Unicode MS"/>
                <a:cs typeface="Times New Roman"/>
              </a:rPr>
              <a:t>F</a:t>
            </a:r>
            <a:r>
              <a:rPr lang="en-US" sz="1300" b="0" i="0" u="none" strike="noStrike" cap="none" baseline="-25000">
                <a:ln>
                  <a:noFill/>
                </a:ln>
                <a:latin typeface="Times New Roman"/>
                <a:ea typeface="Arial Unicode MS"/>
                <a:cs typeface="Times New Roman"/>
              </a:rPr>
              <a:t>0</a:t>
            </a:r>
            <a:r>
              <a:rPr lang="en-US" sz="1300" b="0" i="0" u="none" strike="noStrike" cap="none">
                <a:ln>
                  <a:noFill/>
                </a:ln>
                <a:latin typeface="Times New Roman"/>
                <a:ea typeface="Arial Unicode MS"/>
                <a:cs typeface="Times New Roman"/>
              </a:rPr>
              <a:t>(x)</a:t>
            </a:r>
            <a:endParaRPr lang="ru-RU" sz="1800" b="0" i="0" u="none" strike="noStrike" cap="none">
              <a:ln>
                <a:noFill/>
              </a:ln>
              <a:latin typeface="Arial"/>
              <a:cs typeface="Arial"/>
            </a:endParaRPr>
          </a:p>
        </p:txBody>
      </p:sp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2357422" y="500042"/>
          <a:ext cx="4127500" cy="762000"/>
        </p:xfrm>
        <a:graphic>
          <a:graphicData uri="http://schemas.openxmlformats.org/presentationml/2006/ole">
            <p:oleObj name="oleObj" r:id="rId3" imgW="4126865" imgH="761365" progId="Equation.3">
              <p:embed/>
              <p:pic>
                <p:nvPicPr>
                  <p:cNvPr id="115713" name="Object 1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2357422" y="500042"/>
                    <a:ext cx="4127500" cy="762000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</p:pic>
            </p:oleObj>
          </a:graphicData>
        </a:graphic>
      </p:graphicFrame>
      <p:sp>
        <p:nvSpPr>
          <p:cNvPr id="115715" name="Rectangle 3"/>
          <p:cNvSpPr>
            <a:spLocks noChangeArrowheads="1"/>
          </p:cNvSpPr>
          <p:nvPr/>
        </p:nvSpPr>
        <p:spPr bwMode="auto">
          <a:xfrm>
            <a:off x="0" y="1041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300" b="0" i="0" u="none" strike="noStrike" cap="none">
                <a:ln>
                  <a:noFill/>
                </a:ln>
                <a:solidFill>
                  <a:srgbClr val="000000"/>
                </a:solidFill>
                <a:latin typeface="Times New Roman"/>
                <a:ea typeface="Arial Unicode MS"/>
                <a:cs typeface="Times New Roman"/>
              </a:rPr>
              <a:t> </a:t>
            </a:r>
            <a:endParaRPr lang="en-US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41315" name="Ink 3"/>
          <p:cNvPicPr>
            <a:picLocks noChangeAspect="1" noChangeArrowheads="1" noChangeShapeType="1" noEditPoints="1" noRot="1"/>
          </p:cNvPicPr>
          <p:nvPr/>
        </p:nvPicPr>
        <p:blipFill>
          <a:blip r:embed="rId4"/>
          <a:stretch/>
        </p:blipFill>
        <p:spPr bwMode="auto">
          <a:xfrm>
            <a:off x="1579708" y="4707205"/>
            <a:ext cx="26697" cy="56616"/>
          </a:xfrm>
          <a:prstGeom prst="rect">
            <a:avLst/>
          </a:prstGeom>
        </p:spPr>
      </p:pic>
      <p:pic>
        <p:nvPicPr>
          <p:cNvPr id="141316" name="Ink 4"/>
          <p:cNvPicPr>
            <a:picLocks noChangeAspect="1" noChangeArrowheads="1" noChangeShapeType="1" noEditPoints="1" noRot="1"/>
          </p:cNvPicPr>
          <p:nvPr/>
        </p:nvPicPr>
        <p:blipFill>
          <a:blip r:embed="rId5"/>
          <a:stretch/>
        </p:blipFill>
        <p:spPr bwMode="auto">
          <a:xfrm>
            <a:off x="1574948" y="4559550"/>
            <a:ext cx="366417" cy="209051"/>
          </a:xfrm>
          <a:prstGeom prst="rect">
            <a:avLst/>
          </a:prstGeom>
        </p:spPr>
      </p:pic>
      <p:pic>
        <p:nvPicPr>
          <p:cNvPr id="141317" name="Ink 5"/>
          <p:cNvPicPr>
            <a:picLocks noChangeAspect="1" noChangeArrowheads="1" noChangeShapeType="1" noEditPoints="1" noRot="1"/>
          </p:cNvPicPr>
          <p:nvPr/>
        </p:nvPicPr>
        <p:blipFill>
          <a:blip r:embed="rId6"/>
          <a:stretch/>
        </p:blipFill>
        <p:spPr bwMode="auto">
          <a:xfrm>
            <a:off x="2165492" y="1225716"/>
            <a:ext cx="309279" cy="3352469"/>
          </a:xfrm>
          <a:prstGeom prst="rect">
            <a:avLst/>
          </a:prstGeom>
        </p:spPr>
      </p:pic>
      <p:pic>
        <p:nvPicPr>
          <p:cNvPr id="141318" name="Ink 6"/>
          <p:cNvPicPr>
            <a:picLocks noChangeAspect="1" noChangeArrowheads="1" noChangeShapeType="1" noEditPoints="1" noRot="1"/>
          </p:cNvPicPr>
          <p:nvPr/>
        </p:nvPicPr>
        <p:blipFill>
          <a:blip r:embed="rId7"/>
          <a:stretch/>
        </p:blipFill>
        <p:spPr bwMode="auto">
          <a:xfrm>
            <a:off x="2251053" y="4453026"/>
            <a:ext cx="188596" cy="560211"/>
          </a:xfrm>
          <a:prstGeom prst="rect">
            <a:avLst/>
          </a:prstGeom>
        </p:spPr>
      </p:pic>
      <p:pic>
        <p:nvPicPr>
          <p:cNvPr id="141319" name="Ink 7"/>
          <p:cNvPicPr>
            <a:picLocks noChangeAspect="1" noChangeArrowheads="1" noChangeShapeType="1" noEditPoints="1" noRot="1"/>
          </p:cNvPicPr>
          <p:nvPr/>
        </p:nvPicPr>
        <p:blipFill>
          <a:blip r:embed="rId8"/>
          <a:stretch/>
        </p:blipFill>
        <p:spPr bwMode="auto">
          <a:xfrm>
            <a:off x="2139963" y="4654543"/>
            <a:ext cx="294888" cy="1444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 noGrp="1"/>
          </p:cNvSpPr>
          <p:nvPr>
            <p:ph type="title"/>
          </p:nvPr>
        </p:nvSpPr>
        <p:spPr bwMode="auto">
          <a:xfrm>
            <a:off x="1403350" y="-15875"/>
            <a:ext cx="7202488" cy="15271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200"/>
              <a:t>Схема выбора формулы решения</a:t>
            </a:r>
            <a:br>
              <a:rPr lang="ru-RU" sz="3200"/>
            </a:br>
            <a:endParaRPr lang="ru-RU" sz="3200"/>
          </a:p>
        </p:txBody>
      </p:sp>
      <p:sp>
        <p:nvSpPr>
          <p:cNvPr id="50179" name="AutoShape 5"/>
          <p:cNvSpPr>
            <a:spLocks noChangeArrowheads="1" noChangeAspect="1"/>
          </p:cNvSpPr>
          <p:nvPr/>
        </p:nvSpPr>
        <p:spPr bwMode="auto">
          <a:xfrm>
            <a:off x="395288" y="1441449"/>
            <a:ext cx="8424862" cy="530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0180" name="Rectangle 20"/>
          <p:cNvSpPr>
            <a:spLocks noChangeArrowheads="1"/>
          </p:cNvSpPr>
          <p:nvPr/>
        </p:nvSpPr>
        <p:spPr bwMode="auto">
          <a:xfrm>
            <a:off x="0" y="3381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50181" name="Rectangle 22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50182" name="Rectangle 24"/>
          <p:cNvSpPr>
            <a:spLocks noChangeArrowheads="1"/>
          </p:cNvSpPr>
          <p:nvPr/>
        </p:nvSpPr>
        <p:spPr bwMode="auto">
          <a:xfrm>
            <a:off x="0" y="32289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50183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50184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pSp>
        <p:nvGrpSpPr>
          <p:cNvPr id="2" name="Group 29"/>
          <p:cNvGrpSpPr/>
          <p:nvPr/>
        </p:nvGrpSpPr>
        <p:grpSpPr bwMode="auto">
          <a:xfrm>
            <a:off x="395288" y="1581150"/>
            <a:ext cx="8424862" cy="5011738"/>
            <a:chOff x="249" y="1115"/>
            <a:chExt cx="5307" cy="3157"/>
          </a:xfrm>
        </p:grpSpPr>
        <p:sp>
          <p:nvSpPr>
            <p:cNvPr id="50197" name="Text Box 6"/>
            <p:cNvSpPr txBox="1">
              <a:spLocks noChangeArrowheads="1"/>
            </p:cNvSpPr>
            <p:nvPr/>
          </p:nvSpPr>
          <p:spPr bwMode="auto">
            <a:xfrm>
              <a:off x="1868" y="1115"/>
              <a:ext cx="1889" cy="53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ru-RU" b="1"/>
                <a:t>Вероятность появления события ровно </a:t>
              </a:r>
              <a:r>
                <a:rPr lang="en-US" b="1"/>
                <a:t>m</a:t>
              </a:r>
              <a:r>
                <a:rPr lang="ru-RU" b="1"/>
                <a:t> раз в </a:t>
              </a:r>
              <a:r>
                <a:rPr lang="en-US" b="1"/>
                <a:t>n </a:t>
              </a:r>
              <a:r>
                <a:rPr lang="ru-RU" b="1"/>
                <a:t>испытаниях</a:t>
              </a:r>
              <a:endParaRPr lang="ru-RU"/>
            </a:p>
          </p:txBody>
        </p:sp>
        <p:sp>
          <p:nvSpPr>
            <p:cNvPr id="50198" name="Text Box 7"/>
            <p:cNvSpPr txBox="1">
              <a:spLocks noChangeArrowheads="1"/>
            </p:cNvSpPr>
            <p:nvPr/>
          </p:nvSpPr>
          <p:spPr bwMode="auto">
            <a:xfrm>
              <a:off x="339" y="1925"/>
              <a:ext cx="1528" cy="72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b="1"/>
                <a:t>n </a:t>
              </a:r>
              <a:r>
                <a:rPr lang="ru-RU" b="1"/>
                <a:t>невелико, </a:t>
              </a:r>
              <a:endParaRPr lang="en-US" b="1"/>
            </a:p>
            <a:p>
              <a:pPr algn="ctr">
                <a:defRPr/>
              </a:pPr>
              <a:r>
                <a:rPr lang="ru-RU" b="1"/>
                <a:t>р</a:t>
              </a:r>
              <a:r>
                <a:rPr lang="ru-RU" b="1"/>
                <a:t>  не очень мало</a:t>
              </a:r>
              <a:endParaRPr lang="ru-RU"/>
            </a:p>
          </p:txBody>
        </p:sp>
        <p:sp>
          <p:nvSpPr>
            <p:cNvPr id="50199" name="Text Box 8"/>
            <p:cNvSpPr txBox="1">
              <a:spLocks noChangeArrowheads="1"/>
            </p:cNvSpPr>
            <p:nvPr/>
          </p:nvSpPr>
          <p:spPr bwMode="auto">
            <a:xfrm>
              <a:off x="2138" y="1925"/>
              <a:ext cx="1528" cy="72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b="1"/>
                <a:t>n </a:t>
              </a:r>
              <a:r>
                <a:rPr lang="ru-RU" b="1"/>
                <a:t>велико, </a:t>
              </a:r>
              <a:endParaRPr lang="en-US" b="1"/>
            </a:p>
            <a:p>
              <a:pPr algn="ctr">
                <a:defRPr/>
              </a:pPr>
              <a:r>
                <a:rPr lang="ru-RU" b="1"/>
                <a:t>р</a:t>
              </a:r>
              <a:r>
                <a:rPr lang="ru-RU" b="1"/>
                <a:t>  не очень мало</a:t>
              </a:r>
              <a:endParaRPr lang="ru-RU"/>
            </a:p>
          </p:txBody>
        </p:sp>
        <p:sp>
          <p:nvSpPr>
            <p:cNvPr id="50200" name="Text Box 9"/>
            <p:cNvSpPr txBox="1">
              <a:spLocks noChangeArrowheads="1"/>
            </p:cNvSpPr>
            <p:nvPr/>
          </p:nvSpPr>
          <p:spPr bwMode="auto">
            <a:xfrm>
              <a:off x="3937" y="1925"/>
              <a:ext cx="1527" cy="72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b="1"/>
                <a:t>n </a:t>
              </a:r>
              <a:r>
                <a:rPr lang="ru-RU" b="1"/>
                <a:t>велико, </a:t>
              </a:r>
              <a:endParaRPr lang="en-US" b="1"/>
            </a:p>
            <a:p>
              <a:pPr algn="ctr">
                <a:defRPr/>
              </a:pPr>
              <a:r>
                <a:rPr lang="ru-RU" b="1"/>
                <a:t>р</a:t>
              </a:r>
              <a:r>
                <a:rPr lang="ru-RU" b="1"/>
                <a:t> очень мало</a:t>
              </a:r>
              <a:endParaRPr lang="ru-RU"/>
            </a:p>
          </p:txBody>
        </p:sp>
        <p:sp>
          <p:nvSpPr>
            <p:cNvPr id="50201" name="Text Box 10"/>
            <p:cNvSpPr txBox="1">
              <a:spLocks noChangeArrowheads="1"/>
            </p:cNvSpPr>
            <p:nvPr/>
          </p:nvSpPr>
          <p:spPr bwMode="auto">
            <a:xfrm>
              <a:off x="249" y="2915"/>
              <a:ext cx="1618" cy="81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ru-RU" b="1"/>
                <a:t>Формула Бернулли</a:t>
              </a:r>
              <a:endParaRPr/>
            </a:p>
            <a:p>
              <a:pPr algn="ctr">
                <a:defRPr/>
              </a:pPr>
              <a:endParaRPr lang="ru-RU"/>
            </a:p>
            <a:p>
              <a:pPr>
                <a:defRPr/>
              </a:pPr>
              <a:endParaRPr lang="ru-RU"/>
            </a:p>
          </p:txBody>
        </p:sp>
        <p:sp>
          <p:nvSpPr>
            <p:cNvPr id="50202" name="Text Box 11"/>
            <p:cNvSpPr txBox="1">
              <a:spLocks noChangeArrowheads="1"/>
            </p:cNvSpPr>
            <p:nvPr/>
          </p:nvSpPr>
          <p:spPr bwMode="auto">
            <a:xfrm>
              <a:off x="2138" y="2915"/>
              <a:ext cx="1529" cy="135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ru-RU" b="1"/>
                <a:t>Локальная теорема Муавра-Лапласа</a:t>
              </a:r>
              <a:endParaRPr/>
            </a:p>
            <a:p>
              <a:pPr>
                <a:defRPr/>
              </a:pPr>
              <a:endParaRPr lang="ru-RU"/>
            </a:p>
          </p:txBody>
        </p:sp>
        <p:sp>
          <p:nvSpPr>
            <p:cNvPr id="50203" name="Text Box 12"/>
            <p:cNvSpPr txBox="1">
              <a:spLocks noChangeArrowheads="1"/>
            </p:cNvSpPr>
            <p:nvPr/>
          </p:nvSpPr>
          <p:spPr bwMode="auto">
            <a:xfrm>
              <a:off x="3937" y="2915"/>
              <a:ext cx="1618" cy="120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ru-RU" b="1"/>
                <a:t>Формула Пуассона</a:t>
              </a:r>
              <a:endParaRPr/>
            </a:p>
            <a:p>
              <a:pPr>
                <a:defRPr/>
              </a:pPr>
              <a:endParaRPr lang="ru-RU"/>
            </a:p>
          </p:txBody>
        </p:sp>
        <p:sp>
          <p:nvSpPr>
            <p:cNvPr id="50204" name="Line 13"/>
            <p:cNvSpPr>
              <a:spLocks noChangeShapeType="1"/>
            </p:cNvSpPr>
            <p:nvPr/>
          </p:nvSpPr>
          <p:spPr bwMode="auto">
            <a:xfrm flipH="1">
              <a:off x="1059" y="1565"/>
              <a:ext cx="899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0205" name="Line 14"/>
            <p:cNvSpPr>
              <a:spLocks noChangeShapeType="1"/>
            </p:cNvSpPr>
            <p:nvPr/>
          </p:nvSpPr>
          <p:spPr bwMode="auto">
            <a:xfrm>
              <a:off x="2856" y="1565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0206" name="Line 15"/>
            <p:cNvSpPr>
              <a:spLocks noChangeShapeType="1"/>
            </p:cNvSpPr>
            <p:nvPr/>
          </p:nvSpPr>
          <p:spPr bwMode="auto">
            <a:xfrm>
              <a:off x="3667" y="1565"/>
              <a:ext cx="1079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0207" name="Line 16"/>
            <p:cNvSpPr>
              <a:spLocks noChangeShapeType="1"/>
            </p:cNvSpPr>
            <p:nvPr/>
          </p:nvSpPr>
          <p:spPr bwMode="auto">
            <a:xfrm>
              <a:off x="1059" y="2645"/>
              <a:ext cx="0" cy="2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0208" name="Line 17"/>
            <p:cNvSpPr>
              <a:spLocks noChangeShapeType="1"/>
            </p:cNvSpPr>
            <p:nvPr/>
          </p:nvSpPr>
          <p:spPr bwMode="auto">
            <a:xfrm>
              <a:off x="2856" y="2645"/>
              <a:ext cx="0" cy="2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0209" name="Line 18"/>
            <p:cNvSpPr>
              <a:spLocks noChangeShapeType="1"/>
            </p:cNvSpPr>
            <p:nvPr/>
          </p:nvSpPr>
          <p:spPr bwMode="auto">
            <a:xfrm>
              <a:off x="4746" y="2645"/>
              <a:ext cx="1" cy="2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graphicFrame>
          <p:nvGraphicFramePr>
            <p:cNvPr id="0" name=""/>
            <p:cNvGraphicFramePr>
              <a:graphicFrameLocks xmlns:a="http://schemas.openxmlformats.org/drawingml/2006/main" noChangeAspect="1"/>
            </p:cNvGraphicFramePr>
            <p:nvPr>
              <p:extLst>
                <p:ext uri="{D42A27DB-BD31-4B8C-83A1-F6EECF244321}">
                  <p14:modId xmlns:p14="http://schemas.microsoft.com/office/powerpoint/2010/main" val="2157879785"/>
                </p:ext>
              </p:extLst>
            </p:nvPr>
          </p:nvGraphicFramePr>
          <p:xfrm>
            <a:off x="295" y="3249"/>
            <a:ext cx="1542" cy="260"/>
          </p:xfrm>
          <a:graphic>
            <a:graphicData uri="http://schemas.openxmlformats.org/presentationml/2006/ole">
              <p:oleObj name="oleObj" r:id="rId3" imgW="1409065" imgH="240665" progId="Equation.3">
                <p:embed/>
                <p:pic>
                  <p:nvPicPr>
                    <p:cNvPr id="50210" name="Object 19"/>
                    <p:cNvPicPr/>
                    <p:nvPr/>
                  </p:nvPicPr>
                  <p:blipFill>
                    <a:blip r:embed="rId2"/>
                    <a:stretch/>
                  </p:blipFill>
                  <p:spPr bwMode="auto">
                    <a:xfrm>
                      <a:off x="295" y="3249"/>
                      <a:ext cx="1542" cy="260"/>
                    </a:xfrm>
                    <a:prstGeom prst="rect">
                      <a:avLst/>
                    </a:prstGeom>
                    <a:noFill/>
                  </p:spPr>
                </p:pic>
              </p:oleObj>
            </a:graphicData>
          </a:graphic>
        </p:graphicFrame>
        <p:graphicFrame>
          <p:nvGraphicFramePr>
            <p:cNvPr id="0" name=""/>
            <p:cNvGraphicFramePr>
              <a:graphicFrameLocks xmlns:a="http://schemas.openxmlformats.org/drawingml/2006/main" noChangeAspect="1"/>
            </p:cNvGraphicFramePr>
            <p:nvPr>
              <p:extLst>
                <p:ext uri="{D42A27DB-BD31-4B8C-83A1-F6EECF244321}">
                  <p14:modId xmlns:p14="http://schemas.microsoft.com/office/powerpoint/2010/main" val="2157879785"/>
                </p:ext>
              </p:extLst>
            </p:nvPr>
          </p:nvGraphicFramePr>
          <p:xfrm>
            <a:off x="2340" y="3224"/>
            <a:ext cx="1225" cy="489"/>
          </p:xfrm>
          <a:graphic>
            <a:graphicData uri="http://schemas.openxmlformats.org/presentationml/2006/ole">
              <p:oleObj name="oleObj" r:id="rId5" imgW="1143000" imgH="457200" progId="Equation.3">
                <p:embed/>
                <p:pic>
                  <p:nvPicPr>
                    <p:cNvPr id="50211" name="Object 21"/>
                    <p:cNvPicPr/>
                    <p:nvPr/>
                  </p:nvPicPr>
                  <p:blipFill>
                    <a:blip r:embed="rId4"/>
                    <a:stretch/>
                  </p:blipFill>
                  <p:spPr bwMode="auto">
                    <a:xfrm>
                      <a:off x="2340" y="3224"/>
                      <a:ext cx="1225" cy="489"/>
                    </a:xfrm>
                    <a:prstGeom prst="rect">
                      <a:avLst/>
                    </a:prstGeom>
                    <a:noFill/>
                  </p:spPr>
                </p:pic>
              </p:oleObj>
            </a:graphicData>
          </a:graphic>
        </p:graphicFrame>
        <p:graphicFrame>
          <p:nvGraphicFramePr>
            <p:cNvPr id="0" name=""/>
            <p:cNvGraphicFramePr>
              <a:graphicFrameLocks xmlns:a="http://schemas.openxmlformats.org/drawingml/2006/main" noChangeAspect="1"/>
            </p:cNvGraphicFramePr>
            <p:nvPr>
              <p:extLst>
                <p:ext uri="{D42A27DB-BD31-4B8C-83A1-F6EECF244321}">
                  <p14:modId xmlns:p14="http://schemas.microsoft.com/office/powerpoint/2010/main" val="2157879785"/>
                </p:ext>
              </p:extLst>
            </p:nvPr>
          </p:nvGraphicFramePr>
          <p:xfrm>
            <a:off x="4105" y="3113"/>
            <a:ext cx="1316" cy="509"/>
          </p:xfrm>
          <a:graphic>
            <a:graphicData uri="http://schemas.openxmlformats.org/presentationml/2006/ole">
              <p:oleObj name="oleObj" r:id="rId7" imgW="1104900" imgH="419100" progId="Equation.3">
                <p:embed/>
                <p:pic>
                  <p:nvPicPr>
                    <p:cNvPr id="50212" name="Object 23"/>
                    <p:cNvPicPr/>
                    <p:nvPr/>
                  </p:nvPicPr>
                  <p:blipFill>
                    <a:blip r:embed="rId6"/>
                    <a:stretch/>
                  </p:blipFill>
                  <p:spPr bwMode="auto">
                    <a:xfrm>
                      <a:off x="4105" y="3113"/>
                      <a:ext cx="1316" cy="509"/>
                    </a:xfrm>
                    <a:prstGeom prst="rect">
                      <a:avLst/>
                    </a:prstGeom>
                    <a:noFill/>
                  </p:spPr>
                </p:pic>
              </p:oleObj>
            </a:graphicData>
          </a:graphic>
        </p:graphicFrame>
        <p:graphicFrame>
          <p:nvGraphicFramePr>
            <p:cNvPr id="0" name=""/>
            <p:cNvGraphicFramePr>
              <a:graphicFrameLocks xmlns:a="http://schemas.openxmlformats.org/drawingml/2006/main" noChangeAspect="1"/>
            </p:cNvGraphicFramePr>
            <p:nvPr>
              <p:extLst>
                <p:ext uri="{D42A27DB-BD31-4B8C-83A1-F6EECF244321}">
                  <p14:modId xmlns:p14="http://schemas.microsoft.com/office/powerpoint/2010/main" val="2157879785"/>
                </p:ext>
              </p:extLst>
            </p:nvPr>
          </p:nvGraphicFramePr>
          <p:xfrm>
            <a:off x="2385" y="3674"/>
            <a:ext cx="945" cy="437"/>
          </p:xfrm>
          <a:graphic>
            <a:graphicData uri="http://schemas.openxmlformats.org/presentationml/2006/ole">
              <p:oleObj name="oleObj" r:id="rId9" imgW="850900" imgH="457200" progId="Equation.3">
                <p:embed/>
                <p:pic>
                  <p:nvPicPr>
                    <p:cNvPr id="50213" name="Object 25"/>
                    <p:cNvPicPr/>
                    <p:nvPr/>
                  </p:nvPicPr>
                  <p:blipFill>
                    <a:blip r:embed="rId8"/>
                    <a:stretch/>
                  </p:blipFill>
                  <p:spPr bwMode="auto">
                    <a:xfrm>
                      <a:off x="2385" y="3674"/>
                      <a:ext cx="945" cy="437"/>
                    </a:xfrm>
                    <a:prstGeom prst="rect">
                      <a:avLst/>
                    </a:prstGeom>
                    <a:noFill/>
                  </p:spPr>
                </p:pic>
              </p:oleObj>
            </a:graphicData>
          </a:graphic>
        </p:graphicFrame>
        <p:graphicFrame>
          <p:nvGraphicFramePr>
            <p:cNvPr id="0" name=""/>
            <p:cNvGraphicFramePr>
              <a:graphicFrameLocks xmlns:a="http://schemas.openxmlformats.org/drawingml/2006/main" noChangeAspect="1"/>
            </p:cNvGraphicFramePr>
            <p:nvPr>
              <p:extLst>
                <p:ext uri="{D42A27DB-BD31-4B8C-83A1-F6EECF244321}">
                  <p14:modId xmlns:p14="http://schemas.microsoft.com/office/powerpoint/2010/main" val="2157879785"/>
                </p:ext>
              </p:extLst>
            </p:nvPr>
          </p:nvGraphicFramePr>
          <p:xfrm>
            <a:off x="4422" y="3566"/>
            <a:ext cx="717" cy="255"/>
          </p:xfrm>
          <a:graphic>
            <a:graphicData uri="http://schemas.openxmlformats.org/presentationml/2006/ole">
              <p:oleObj name="oleObj" r:id="rId11" imgW="558165" imgH="202565" progId="Equation.3">
                <p:embed/>
                <p:pic>
                  <p:nvPicPr>
                    <p:cNvPr id="50214" name="Object 27"/>
                    <p:cNvPicPr/>
                    <p:nvPr/>
                  </p:nvPicPr>
                  <p:blipFill>
                    <a:blip r:embed="rId10"/>
                    <a:stretch/>
                  </p:blipFill>
                  <p:spPr bwMode="auto">
                    <a:xfrm>
                      <a:off x="4422" y="3566"/>
                      <a:ext cx="717" cy="255"/>
                    </a:xfrm>
                    <a:prstGeom prst="rect">
                      <a:avLst/>
                    </a:prstGeom>
                    <a:noFill/>
                  </p:spPr>
                </p:pic>
              </p:oleObj>
            </a:graphicData>
          </a:graphic>
        </p:graphicFrame>
      </p:grpSp>
      <p:sp>
        <p:nvSpPr>
          <p:cNvPr id="50187" name="Text Box 31"/>
          <p:cNvSpPr txBox="1">
            <a:spLocks noChangeArrowheads="1"/>
          </p:cNvSpPr>
          <p:nvPr/>
        </p:nvSpPr>
        <p:spPr bwMode="auto">
          <a:xfrm>
            <a:off x="468313" y="5903913"/>
            <a:ext cx="25193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ts val="0"/>
              </a:spcBef>
              <a:defRPr/>
            </a:pPr>
            <a:endParaRPr lang="ru-RU"/>
          </a:p>
        </p:txBody>
      </p:sp>
      <p:sp>
        <p:nvSpPr>
          <p:cNvPr id="50188" name="Text Box 33"/>
          <p:cNvSpPr txBox="1">
            <a:spLocks noChangeArrowheads="1"/>
          </p:cNvSpPr>
          <p:nvPr/>
        </p:nvSpPr>
        <p:spPr bwMode="auto">
          <a:xfrm>
            <a:off x="117475" y="6010274"/>
            <a:ext cx="309721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ru-RU" sz="1600" b="1"/>
          </a:p>
        </p:txBody>
      </p:sp>
      <p:sp>
        <p:nvSpPr>
          <p:cNvPr id="50189" name="Номер слайда 1"/>
          <p:cNvSpPr>
            <a:spLocks noGrp="1"/>
          </p:cNvSpPr>
          <p:nvPr>
            <p:ph type="sldNum" sz="quarter" idx="12"/>
          </p:nvPr>
        </p:nvSpPr>
        <p:spPr bwMode="auto">
          <a:xfrm>
            <a:off x="7510463" y="6500813"/>
            <a:ext cx="1295400" cy="457200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17A958C7-1552-4AA6-9CA5-03705CAB5F63}" type="slidenum">
              <a:rPr lang="ru-RU"/>
              <a:t/>
            </a:fld>
            <a:endParaRPr lang="ru-RU"/>
          </a:p>
        </p:txBody>
      </p:sp>
      <p:sp>
        <p:nvSpPr>
          <p:cNvPr id="50190" name="TextBox 2"/>
          <p:cNvSpPr txBox="1">
            <a:spLocks noChangeArrowheads="1"/>
          </p:cNvSpPr>
          <p:nvPr/>
        </p:nvSpPr>
        <p:spPr bwMode="auto">
          <a:xfrm>
            <a:off x="4062413" y="6249988"/>
            <a:ext cx="12239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/>
              <a:t>npq</a:t>
            </a:r>
            <a:r>
              <a:rPr lang="en-US"/>
              <a:t> &gt;= 10</a:t>
            </a:r>
            <a:endParaRPr lang="ru-RU"/>
          </a:p>
        </p:txBody>
      </p:sp>
      <p:sp>
        <p:nvSpPr>
          <p:cNvPr id="50191" name="TextBox 34"/>
          <p:cNvSpPr txBox="1">
            <a:spLocks noChangeArrowheads="1"/>
          </p:cNvSpPr>
          <p:nvPr/>
        </p:nvSpPr>
        <p:spPr bwMode="auto">
          <a:xfrm>
            <a:off x="7080250" y="5843588"/>
            <a:ext cx="9813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/>
              <a:t>np</a:t>
            </a:r>
            <a:r>
              <a:rPr lang="en-US"/>
              <a:t> ≤ 10</a:t>
            </a:r>
            <a:endParaRPr lang="ru-RU"/>
          </a:p>
        </p:txBody>
      </p:sp>
      <p:grpSp>
        <p:nvGrpSpPr>
          <p:cNvPr id="3" name="Группа 6"/>
          <p:cNvGrpSpPr/>
          <p:nvPr/>
        </p:nvGrpSpPr>
        <p:grpSpPr bwMode="auto">
          <a:xfrm>
            <a:off x="6300788" y="1062038"/>
            <a:ext cx="2928937" cy="784225"/>
            <a:chOff x="6390412" y="1105734"/>
            <a:chExt cx="2929007" cy="784404"/>
          </a:xfrm>
        </p:grpSpPr>
        <p:sp>
          <p:nvSpPr>
            <p:cNvPr id="50195" name="Прямоугольник 3"/>
            <p:cNvSpPr>
              <a:spLocks noChangeArrowheads="1"/>
            </p:cNvSpPr>
            <p:nvPr/>
          </p:nvSpPr>
          <p:spPr bwMode="auto">
            <a:xfrm>
              <a:off x="6530242" y="1520806"/>
              <a:ext cx="2616421" cy="36933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buFont typeface="Wingdings"/>
                <a:buNone/>
                <a:defRPr/>
              </a:pPr>
              <a:r>
                <a:rPr lang="en-US" b="1"/>
                <a:t>n</a:t>
              </a:r>
              <a:r>
                <a:rPr lang="ru-RU" b="1"/>
                <a:t> </a:t>
              </a:r>
              <a:r>
                <a:rPr lang="ru-RU" sz="1200" b="1"/>
                <a:t>• </a:t>
              </a:r>
              <a:r>
                <a:rPr lang="en-US" b="1"/>
                <a:t>p</a:t>
              </a:r>
              <a:r>
                <a:rPr lang="ru-RU" b="1"/>
                <a:t> </a:t>
              </a:r>
              <a:r>
                <a:rPr lang="en-US" b="1"/>
                <a:t>-</a:t>
              </a:r>
              <a:r>
                <a:rPr lang="ru-RU" b="1"/>
                <a:t> </a:t>
              </a:r>
              <a:r>
                <a:rPr lang="en-US" b="1"/>
                <a:t>q ≤ m</a:t>
              </a:r>
              <a:r>
                <a:rPr lang="en-US" sz="1100" b="1"/>
                <a:t>0</a:t>
              </a:r>
              <a:r>
                <a:rPr lang="en-US" b="1"/>
                <a:t> ≤ n </a:t>
              </a:r>
              <a:r>
                <a:rPr lang="ru-RU" sz="1200" b="1"/>
                <a:t>•</a:t>
              </a:r>
              <a:r>
                <a:rPr lang="en-US" sz="1200" b="1"/>
                <a:t> </a:t>
              </a:r>
              <a:r>
                <a:rPr lang="en-US" b="1"/>
                <a:t>p</a:t>
              </a:r>
              <a:r>
                <a:rPr lang="ru-RU" b="1"/>
                <a:t> </a:t>
              </a:r>
              <a:r>
                <a:rPr lang="en-US" b="1"/>
                <a:t>+</a:t>
              </a:r>
              <a:r>
                <a:rPr lang="ru-RU" b="1"/>
                <a:t> </a:t>
              </a:r>
              <a:r>
                <a:rPr lang="en-US" b="1"/>
                <a:t>p</a:t>
              </a:r>
              <a:endParaRPr/>
            </a:p>
          </p:txBody>
        </p:sp>
        <p:sp>
          <p:nvSpPr>
            <p:cNvPr id="50196" name="Прямоугольник 4"/>
            <p:cNvSpPr>
              <a:spLocks noChangeArrowheads="1"/>
            </p:cNvSpPr>
            <p:nvPr/>
          </p:nvSpPr>
          <p:spPr bwMode="auto">
            <a:xfrm>
              <a:off x="6390412" y="1105734"/>
              <a:ext cx="2929007" cy="36933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/>
                <a:t>Наивероятнейшее число 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/>
              <a:t>Всем спасибо за внимание!</a:t>
            </a: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C3DD56-44D6-4410-A1D4-F947CD7B8BFD}" type="slidenum">
              <a:rPr lang="ru-RU"/>
              <a:t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Литейная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Литейная">
      <a:majorFont>
        <a:latin typeface="Rockwell"/>
        <a:ea typeface="Arial"/>
        <a:cs typeface="Arial"/>
      </a:majorFont>
      <a:minorFont>
        <a:latin typeface="Rockwell"/>
        <a:ea typeface="Arial"/>
        <a:cs typeface="Arial"/>
      </a:minorFont>
    </a:fontScheme>
    <a:fmtScheme name="Литейная">
      <a:fillStyleLst>
        <a:solidFill>
          <a:schemeClr val="phClr"/>
        </a:solidFill>
        <a:gradFill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/>
        </a:gradFill>
        <a:blipFill>
          <a:blip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algn="t" flip="none" sx="50000" sy="50000" tx="0" ty="0"/>
        </a:blip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0</TotalTime>
  <Words>0</Words>
  <Application>R7-Office/2024.1.1.375</Application>
  <DocSecurity>0</DocSecurity>
  <PresentationFormat>Экран (4:3)</PresentationFormat>
  <Paragraphs>0</Paragraphs>
  <Slides>31</Slides>
  <Notes>31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Manager/>
  <Company>Reanimator Extreme Edition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вероятностей и математическая статистика</dc:title>
  <dc:subject/>
  <dc:creator>Elena</dc:creator>
  <cp:keywords/>
  <dc:description/>
  <dc:identifier/>
  <dc:language/>
  <cp:lastModifiedBy>ИСТ ИРИТ</cp:lastModifiedBy>
  <cp:revision>125</cp:revision>
  <dcterms:created xsi:type="dcterms:W3CDTF">2021-02-04T09:02:28Z</dcterms:created>
  <dcterms:modified xsi:type="dcterms:W3CDTF">2026-03-02T16:56:26Z</dcterms:modified>
  <cp:category/>
  <cp:contentStatus/>
  <cp:version/>
</cp:coreProperties>
</file>