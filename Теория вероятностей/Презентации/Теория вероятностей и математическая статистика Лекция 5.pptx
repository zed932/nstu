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60" r:id="rId1"/>
  </p:sldMasterIdLst>
  <p:notesMasterIdLst>
    <p:notesMasterId r:id="rId40"/>
  </p:notesMasterIdLst>
  <p:sldIdLst>
    <p:sldId id="256" r:id="rId2"/>
    <p:sldId id="394" r:id="rId3"/>
    <p:sldId id="428" r:id="rId4"/>
    <p:sldId id="429" r:id="rId5"/>
    <p:sldId id="430" r:id="rId6"/>
    <p:sldId id="431" r:id="rId7"/>
    <p:sldId id="432" r:id="rId8"/>
    <p:sldId id="433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2" r:id="rId24"/>
    <p:sldId id="413" r:id="rId25"/>
    <p:sldId id="414" r:id="rId26"/>
    <p:sldId id="415" r:id="rId27"/>
    <p:sldId id="416" r:id="rId28"/>
    <p:sldId id="417" r:id="rId29"/>
    <p:sldId id="418" r:id="rId30"/>
    <p:sldId id="419" r:id="rId31"/>
    <p:sldId id="420" r:id="rId32"/>
    <p:sldId id="422" r:id="rId33"/>
    <p:sldId id="423" r:id="rId34"/>
    <p:sldId id="424" r:id="rId35"/>
    <p:sldId id="425" r:id="rId36"/>
    <p:sldId id="426" r:id="rId37"/>
    <p:sldId id="427" r:id="rId38"/>
    <p:sldId id="421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25" autoAdjust="0"/>
  </p:normalViewPr>
  <p:slideViewPr>
    <p:cSldViewPr>
      <p:cViewPr varScale="1">
        <p:scale>
          <a:sx n="92" d="100"/>
          <a:sy n="92" d="100"/>
        </p:scale>
        <p:origin x="9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undo custSel modSld">
      <pc:chgData name="e s" userId="b32979be72172c5e" providerId="LiveId" clId="{1A9D4396-1918-4F43-B4DF-954C8EB3F697}" dt="2026-02-16T08:52:17.536" v="64" actId="122"/>
      <pc:docMkLst>
        <pc:docMk/>
      </pc:docMkLst>
      <pc:sldChg chg="addSp delSp modSp mod">
        <pc:chgData name="e s" userId="b32979be72172c5e" providerId="LiveId" clId="{1A9D4396-1918-4F43-B4DF-954C8EB3F697}" dt="2026-02-16T08:52:17.536" v="64" actId="122"/>
        <pc:sldMkLst>
          <pc:docMk/>
          <pc:sldMk cId="0" sldId="405"/>
        </pc:sldMkLst>
        <pc:spChg chg="del">
          <ac:chgData name="e s" userId="b32979be72172c5e" providerId="LiveId" clId="{1A9D4396-1918-4F43-B4DF-954C8EB3F697}" dt="2026-02-16T08:51:53.203" v="36" actId="22"/>
          <ac:spMkLst>
            <pc:docMk/>
            <pc:sldMk cId="0" sldId="405"/>
            <ac:spMk id="3" creationId="{00000000-0000-0000-0000-000000000000}"/>
          </ac:spMkLst>
        </pc:spChg>
        <pc:spChg chg="add mod">
          <ac:chgData name="e s" userId="b32979be72172c5e" providerId="LiveId" clId="{1A9D4396-1918-4F43-B4DF-954C8EB3F697}" dt="2026-02-16T08:52:17.536" v="64" actId="122"/>
          <ac:spMkLst>
            <pc:docMk/>
            <pc:sldMk cId="0" sldId="405"/>
            <ac:spMk id="8" creationId="{3E1BB440-5F62-A589-C782-534338EF3302}"/>
          </ac:spMkLst>
        </pc:spChg>
        <pc:picChg chg="add del mod ord">
          <ac:chgData name="e s" userId="b32979be72172c5e" providerId="LiveId" clId="{1A9D4396-1918-4F43-B4DF-954C8EB3F697}" dt="2026-02-16T08:51:56.548" v="39" actId="478"/>
          <ac:picMkLst>
            <pc:docMk/>
            <pc:sldMk cId="0" sldId="405"/>
            <ac:picMk id="6" creationId="{8B50660E-66B9-5B16-3841-924E47DAF801}"/>
          </ac:picMkLst>
        </pc:picChg>
      </pc:sldChg>
      <pc:sldChg chg="modSp mod">
        <pc:chgData name="e s" userId="b32979be72172c5e" providerId="LiveId" clId="{1A9D4396-1918-4F43-B4DF-954C8EB3F697}" dt="2026-02-16T08:43:37.538" v="0" actId="255"/>
        <pc:sldMkLst>
          <pc:docMk/>
          <pc:sldMk cId="0" sldId="412"/>
        </pc:sldMkLst>
        <pc:graphicFrameChg chg="modGraphic">
          <ac:chgData name="e s" userId="b32979be72172c5e" providerId="LiveId" clId="{1A9D4396-1918-4F43-B4DF-954C8EB3F697}" dt="2026-02-16T08:43:37.538" v="0" actId="255"/>
          <ac:graphicFrameMkLst>
            <pc:docMk/>
            <pc:sldMk cId="0" sldId="412"/>
            <ac:graphicFrameMk id="4" creationId="{00000000-0000-0000-0000-000000000000}"/>
          </ac:graphicFrameMkLst>
        </pc:graphicFrameChg>
      </pc:sldChg>
      <pc:sldChg chg="modSp mod">
        <pc:chgData name="e s" userId="b32979be72172c5e" providerId="LiveId" clId="{1A9D4396-1918-4F43-B4DF-954C8EB3F697}" dt="2026-02-16T08:44:07.462" v="2" actId="255"/>
        <pc:sldMkLst>
          <pc:docMk/>
          <pc:sldMk cId="0" sldId="414"/>
        </pc:sldMkLst>
        <pc:graphicFrameChg chg="modGraphic">
          <ac:chgData name="e s" userId="b32979be72172c5e" providerId="LiveId" clId="{1A9D4396-1918-4F43-B4DF-954C8EB3F697}" dt="2026-02-16T08:44:07.462" v="2" actId="255"/>
          <ac:graphicFrameMkLst>
            <pc:docMk/>
            <pc:sldMk cId="0" sldId="414"/>
            <ac:graphicFrameMk id="5" creationId="{00000000-0000-0000-0000-000000000000}"/>
          </ac:graphicFrameMkLst>
        </pc:graphicFrameChg>
      </pc:sldChg>
      <pc:sldChg chg="modSp mod">
        <pc:chgData name="e s" userId="b32979be72172c5e" providerId="LiveId" clId="{1A9D4396-1918-4F43-B4DF-954C8EB3F697}" dt="2026-02-16T08:44:53.326" v="9" actId="20577"/>
        <pc:sldMkLst>
          <pc:docMk/>
          <pc:sldMk cId="0" sldId="418"/>
        </pc:sldMkLst>
        <pc:spChg chg="mod">
          <ac:chgData name="e s" userId="b32979be72172c5e" providerId="LiveId" clId="{1A9D4396-1918-4F43-B4DF-954C8EB3F697}" dt="2026-02-16T08:44:53.326" v="9" actId="20577"/>
          <ac:spMkLst>
            <pc:docMk/>
            <pc:sldMk cId="0" sldId="418"/>
            <ac:spMk id="2" creationId="{00000000-0000-0000-0000-000000000000}"/>
          </ac:spMkLst>
        </pc:spChg>
      </pc:sldChg>
      <pc:sldChg chg="modSp mod">
        <pc:chgData name="e s" userId="b32979be72172c5e" providerId="LiveId" clId="{1A9D4396-1918-4F43-B4DF-954C8EB3F697}" dt="2026-02-16T08:47:37.123" v="35" actId="2710"/>
        <pc:sldMkLst>
          <pc:docMk/>
          <pc:sldMk cId="0" sldId="422"/>
        </pc:sldMkLst>
        <pc:spChg chg="mod">
          <ac:chgData name="e s" userId="b32979be72172c5e" providerId="LiveId" clId="{1A9D4396-1918-4F43-B4DF-954C8EB3F697}" dt="2026-02-16T08:46:24.696" v="23" actId="14100"/>
          <ac:spMkLst>
            <pc:docMk/>
            <pc:sldMk cId="0" sldId="422"/>
            <ac:spMk id="2" creationId="{00000000-0000-0000-0000-000000000000}"/>
          </ac:spMkLst>
        </pc:spChg>
        <pc:spChg chg="mod">
          <ac:chgData name="e s" userId="b32979be72172c5e" providerId="LiveId" clId="{1A9D4396-1918-4F43-B4DF-954C8EB3F697}" dt="2026-02-16T08:47:37.123" v="35" actId="2710"/>
          <ac:spMkLst>
            <pc:docMk/>
            <pc:sldMk cId="0" sldId="422"/>
            <ac:spMk id="3" creationId="{00000000-0000-0000-0000-000000000000}"/>
          </ac:spMkLst>
        </pc:spChg>
      </pc:sldChg>
      <pc:sldChg chg="modSp">
        <pc:chgData name="e s" userId="b32979be72172c5e" providerId="LiveId" clId="{1A9D4396-1918-4F43-B4DF-954C8EB3F697}" dt="2026-02-16T08:47:00.658" v="29" actId="20577"/>
        <pc:sldMkLst>
          <pc:docMk/>
          <pc:sldMk cId="0" sldId="423"/>
        </pc:sldMkLst>
        <pc:spChg chg="mod">
          <ac:chgData name="e s" userId="b32979be72172c5e" providerId="LiveId" clId="{1A9D4396-1918-4F43-B4DF-954C8EB3F697}" dt="2026-02-16T08:47:00.658" v="29" actId="20577"/>
          <ac:spMkLst>
            <pc:docMk/>
            <pc:sldMk cId="0" sldId="423"/>
            <ac:spMk id="3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17.78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43,'0'0,"0"0,0 0,0 0,0 0,0 0,0 0,0 0,0 0,106 0,-106 0,95 0,-95 0,127 0,-63 0,-1 0,1 0,-1 0,43 0,-21 0,-32 0,10 0,1 0,-11 0,0 0,-11 0,11 0,-32 0,11 0,-11 0,0 0,0 0,-10 0,10 0,-10 0,-1 0,-10 0,11 0,-11 0,0 0,0 0,0 0,0 0,0 0,0 0,0 0,-11 0,1 0,-33 0,22 0,-42 0,-1 0,-10 0,21 0,-10 0,-1 0,1 0,10 0,10 0,-10 0,22 0,10 0,10 0,-10 0,0 0,21 0,-11 0,11 0,0 0,0 0,11 0,-11 0,42 0,11 10,21 11,11 0,10-10,0-11,-21 0,0 0,11 11,0-11,-32 0,10 0,-10 0,0 0,-11 0,-10 0,0 0,-11 0,-11 0,12 0,-12 0,1 0,-11 0,0 0,0 0,0 0,0 0,-11 10,-31 11,0-10,-22 21,1-1,-12-9,-9 9,10 1,-22 0,1-22,11 12,-1-1,11-11,21 12,0-12,-11 1,43-11,0 0,11 10,-1-10,0 0,11 0,0 0,0 0,0 0,0 0,11 0,10 0,32 0,0 0,42 11,-10-1,10-10,11 11,0-11,0 0,-11 0,0 0,-21 0,0 0,11 11,0-11,-32 0,-11 0,-10 0,-11 0,0 0,-21 0,11 0,-11 0,0 0,0 0,-11 0,11 0,-42 0,-11 0,0 0,-42 0,-1 0,1 0,0 0,10 0,-21 0,0 0,22 0,10 0,10 0,1-11,10 0,-11 11,11-10,11 10,21 0,0 0,0 0,10 0,0 0,1 0,-1 0,1 0,10 0,0 0,0 0,0 0,0 0,0 0,0 0,31 0,1 0,63 0,-21 0,1 0,9 0,-10 0,0-11,0 11,-10 0,-1-10,-10-1,-10 1,-33 10,11 0,-10 0,-11 0,0 0,0 0,-11 10,-20 1,-12-1,-20 11,-11 1,-21-12,10 1,0 10,1-10,-1-1,-32-10,22 0,11 0,9 0,12-10,10 10,21 0,1 0,9 0,1 0,11 0,-1 0,11 0,-11 0,1 0,10 0,0 0,0 0,10 0,22 0,11-11,41-10,-10 0,22-22,-12 12,64-1,-42-11,-32 22,11 0,-11-11,0 22,-10-1,-11 1,-32 10,-11 0,11 0,-10 0,0 0,-11 0,0 0,0 0,0 0,-22 0,1 0,-63 21,-1-11,-10-10,-1 0,-9 0,-12 11,1 0,21-1,-1-10,33-10,-11-1,21 0,21 11,-10 0,31 0,-10 0,0 0,10 0,11 0,0 0,0 0,21 0,11 0,21 0,21-10,21-1,11 1,0-1,10 11,1-11,10 11,0-10,-11-11,-20 10,-1-10,11 10,-22-10,-10 11,-10-1,-11 11,0-11,-22 1,-20 10,0 0,-11 0,0 0,0 0,0 0,0 0,-11 0,-10 0,-32 0,0 0,-21-11,0 1,-11-1,1 1,20 10,-21-11,1 0,10 1,10-1,43 11,0 0,10 0,1 0,-1 0,11 0,0 0,11 0,-11 0,10 0,33 0,-1 0,43 0,20 0,12 0,-1 0,-10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21.91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63 67,'0'0,"0"0,0 0,0 0,0 0,0 0,0 0,0 0,0 0,0 0,0 0,0 0,0 0,0 0,0 0,138 0,-138 0,148 10,-74 1,32-11,-21 11,-1-11,-10 0,22 10,-1 1,-32-1,1-10,10 11,-10-11,-43 0,10 0,-9 0,-12 0,11 0,-10 0,0 0,-11 0,0 0,0 0,0 0,-11 0,0 0,-31-11,-11 1,0-1,-53 1,1-12,-1 12,-21-1,0 1,10 10,1-11,10 0,43 11,-1 0,11 0,11 0,10 0,11 0,10 0,1 0,10 0,0 0,0 0,0 0,10 0,33 0,-1 0,43 0,20 0,1 0,32 0,-11 0,-11 0,11 0,-10 0,-1 0,-10 0,-11-21,11 21,-32 0,0 0,-21 0,-32 0,-21 0,11 0,-11 0,0 0,0 0,0 0,-11 11,1 10,-43 0,0 22,-42-12,-11 1,0 0,-21-11,11 11,-1-1,1-20,10 10,11-10,31-1,1-10,10 0,0 0,21 0,11 0,0 0,10 0,1 0,-1 0,11 0,0 0,0 0,11 0,-1 0,11 11,53 10,22 11,31-32,-11 10,-21-10,22 0,-11 0,10 0,-10 0,-22 0,1 0,-11 0,-10 0,-11 0,-22 0,-9 0,-1 0,-11 0,-10 0,0 0,0 0,0 0,-10 11,-43 10,-11-10,-20-1,-33 22,11-11,-10 0,0-10,10-11,-11 0,11 11,22-11,-1 0,22 0,-1 0,22 0,-1 0,22 0,0 0,0 0,10 0,1 0,10 0,0 0,0 0,0 0,10 0,1 0,42 0,10 0,33 10,20-10,0 11,-31-11,10 0,1 0,-22 0,0 0,0 0,-11 0,-31 0,-21 0,10 0,0 0,-10 0,-1 0,-10 0,0 0,0 0,0 0,-10 0,-12 0,-30 0,-12 10,-21-10,-10 0,-11 0,-21 11,11 0,10-11,11 0,21 0,21 0,0 0,0 0,21 0,0 0,22 0,-1 0,1 0,10 0,0 0,0 0,10 0,11 0,43 21,10-11,32 22,42-11,-10 0,-33-10,12-11,-11 0,42 0,-11-11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26.20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0,0 0,0 0,0 0,0 0,0 0,0 0,0 0,0 0,0 0,127 0,-127 0,0 0,116 21,-116-21,96 11,-96-11,84 0,-84 0,117 11,-64-11,-11 0,11 10,10 1,-10-1,-10-10,10 11,-11-11,0 0,-10 0,0 0,-11 0,11 0,10 11,-10-1,-1-10,-9 0,-12 0,11 0,1 0,-12 0,-10 0,11 0,-1 11,1-11,-1 10,1-10,-11 0,0 0,11 0,-1 0,-10 0,11 11,-1-1,1-10,-11 0,0 0,0 0,0 11,0-11,0 0,0 0,0 0,0 0,0 0,0 0,0 0,0 0,0 0,0 11,0-1,0 1,11-1,-11-10,0 0,0 0,0 0,0 11,0 0,0-1,0 1,0-1,0 1,0-11,0 10,0 1,0 0,0-1,0 1,0-11,0 0,0 0,0 0,0 10,0 1,0 0,-11-1,11 1,-21-1,-11-10,-31 11,-107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37.403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47,'0'0,"0"0,106-21,-106 21,0 0,0 0,0 0,0 0,0 0,84 0,-84 0,0 0,85 0,-85 0,0 0,85 0,-85 0,84 0,-10 0,0 0,-21 0,11 0,-1 0,1 0,-1 10,11-10,11 0,0 0,-1 0,12 0,-22 0,21 0,0 0,1 0,9 0,1 0,-11 0,1-10,10 10,-1-11,-9 11,-1 0,11 0,10 0,-10 0,-11 0,0-11,-10 11,-11 0,11 0,0 0,-1 0,1 0,-32 0,0 0,-11 0,-31 0,10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38.362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0,0 0,0 0,0 0,116 63,-116-63,106 11,-106-11,169 21,-84-21,-22 0,11 0,0 0,11 0,32-11,-1 1,-10-1,0 11,21 0,-11 0,11 0,0 0,0 0,0 0,0 0,-11 0,1 0,10 0,-11 0,11 0,0 0,-10 0,-22 11,0-1,0-10,-20 11,-1-1,-32-10,0 0,-10 0,-21 0,-1 0,-10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39.191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0,0 0,127-11,-127 11,127 32,-53-11,11 0,-1-21,43 32,-21-21,-21-1,0 1,31-11,11 0,-11 10,11-10,-10 0,10 11,-11-11,11 0,0 0,0 0,11 0,-11 0,-11 0,11 0,0 0,-31 0,-1 0,0 0,-21 0,11 0,-22 0,11 0,0 0,-10 0,-11 0,0 0,-11 0,0 0,-10 0,-11 0,1 0,-1 0,-21 0,10 0,1 0,-1 0,-10 0,11 0,0 0,-11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40.553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0,0 0,116 11,-116-11,159 10,-85 1,11-1,-1-10,43 11,-10 0,-12-1,12-10,10 0,0 0,-11 0,22 11,-11-11,21 0,-10 0,-1 0,1 0,-1 0,-10 0,11 0,-11 10,-11 1,1 0,-11-1,-1 1,-20-11,0 0,-11 10,-11 1,-31-11,10 0,-10 0,0 0,-21 0,10 0,-11 0,-10 0,0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41.320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0 192,'0'0,"0"0,0 0,0 0,0 0,0 0,0 0,0 0,0 0,0 0,0 0,0 0,149-22,-149 22,158-10,-62-1,31 1,0-11,0-1,0 12,21-1,-21 1,10-1,-20 11,41 0,-20-11,10 11,-31 0,52-10,-21 10,-10-11,-1 11,-10 0,-10 0,20 0,-20-10,-11 10,-11 0,0 0,-10-11,-43 11,-10 0,0 0,-11 0,-11 0,-10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42.00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10,'0'0,"0"0,0 0,0 0,0 0,0 0,0 0,0 0,0 0,0 0,0 0,0 0,0 0,0 0,0 0,180 0,-74 22,10-1,1 0,20-11,-10 1,22 0,9-1,-9 1,-1-11,-11 0,22 0,0 0,0 0,-22 0,11 0,0 0,-21-11,-10 1,10-1,-11-10,-20 10,-22-10,-11 0,-10 10,0 11,-32-10,-21 10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42.724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32,'0'0,"0"0,0 0,0 0,0 0,0 0,0 0,0 0,148-11,-148 11,191 0,-75 0,22 0,-11 0,0 0,10 0,32 0,1 0,-11 0,-11 0,32 0,-22 0,-20 0,10 0,0 0,-10 0,-1 0,-31 0,0 0,0 0,0-11,-32 11,-21 0,0 0,-11-10,0 10,-10 0,-21 0,-1 0,1 0,-11 0,0 0,-11 0,1 0,-33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43.385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64,'0'0,"0"0,0 0,0 0,0 0,0 0,0 0,0 0,0 0,0 0,0 0,0 0,0 0,190-43,-73 33,10-1,10 11,22 0,21 11,-11-1,-10 1,0 0,-11-1,-11 1,-41-1,-1 1,-10-11,-11 0,-11 0,-20 0,-33 0,-10 0,0 0,0 0,-21 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43.744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1545 49,'-159'106,"32"-96,127-10,0 0,-159 0,1 22,9-1,12 0,31-21,-10 0,-22-21,32-11,22 21,41 1,22-1,-11 1,22 10,10-11,0 0,42-20,43-1,63 0,21 22,53 10,75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02.68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0,0 0,0 0,0 0,0 0,0 0,0 0,0 0,0 0,0 0,0 0,0 0,0 0,0 0,0 0,0 0,0 0,0 0,0 0,0 0,117 42,-117-42,0 0,106 10,-106-10,0 0,84 11,-84-11,0 0,74 0,-74 0,64 0,-64 0,74 0,-42 0,-1 0,-9 0,9 0,1 0,21 11,-11-11,1 0,-22 0,11 0,10 0,-21 0,11 0,-11 0,11 0,-11 0,11 0,-11 0,11 0,-11 0,-21 0,10 0,1 0,0 0,-1 0,1 0,-11 0,0 0,0 0,0 0,0 0,0 0,0 0,0 0,0 0,-11 0,1 0,-1 0,-21 0,-10-11,-11 0,0 11,0 0,0 0,11 0,-11 0,0 0,11 0,-11 11,-11 0,11-1,0 1,11-11,0 0,10 10,0-10,22 0,-11 0,10 0,0 0,11 0,-10 0,10 0,0 0,0 0,0 0,0 0,0 0,0 0,10 0,1 0,10 0,11 0,10 0,1 0,9 0,1 0,0 0,-10 0,31 0,-11 0,-31 0,10 0,1 0,-12 0,1 0,10 0,-10 0,0 0,-11 0,0 0,-10 0,-1 0,1 0,0 0,-11 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04.76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0,0 0,0 0,0 0,0 0,0 0,106 21,-106-21,0 0,116 22,-42-1,-10 0,-11-21,0 21,0-10,0-1,-1 1,1-11,0 10,-10 1,-1 0,32-1,11 11,-54-21,-9 0,9 0,-9 0,-12 0,11 0,-21 0,11 0,-1 0,1 0,-11 0,0 0,0 0,0 0,0 0,0 0,0 0,0 0,-11 0,1 0,-22 0,-31 0,-1 0,1 0,-22 0,0 0,1 0,10 0,10 0,1 0,-1 0,11 0,11 0,21 0,-1 0,1 0,21 0,-10 0,10 0,0 0,0 0,0 0,0 0,10 0,-10 0,32 0,0 0,21-10,10-1,1 1,10-1,0 0,-11 1,1-11,-1 10,22 0,-21 1,-12 10,-9-11,-11 11,-1 0,12 0,-22 0,11 0,-11 0,-21 0,10 0,1 0,-1 0,-10 0,0 0,0 0,0 0,0 0,0 0,-21 0,11 0,-22 0,-10 0,-32 0,-1 0,12 0,-32 0,21 0,10 0,11 0,0 0,11 0,-11 0,21 0,1 0,20 0,-10 0,0 0,21 0,-11 0,0 0,11 0,0 0,0 0,0 0,0 0,43-10,-1 10,22 0,31 0,-10-11,42 11,-11-21,0 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06.8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205 85,'0'0,"0"0,0 0,106-42,-106 42,0 0,85 0,-85 0,116 0,-52-11,-1 11,1-11,-1 11,-21-10,1-1,-1 11,0 0,-10 0,0 0,0 0,-1 0,1 0,-21 0,-1 0,-10 0,0 0,0 0,0 0,0 0,-10 0,-1 0,-31 0,-1 0,1 0,-43 0,11 0,-21 11,-11-11,11 0,10 0,-10 0,10 0,11 0,11 0,31 0,11 0,-11 0,11 0,21 0,-11 0,1 0,10 0,0 0,0 0,0 0,0 0,10 0,1 0,42 0,0 0,0 0,21 0,42 0,-31 0,-22 0,12 0,-1 0,-11 0,1 0,-11 0,-11 0,0 0,32 0,-21 0,-21 0,0 0,-11 10,-11-10,1 0,0 0,-11 0,0 0,0 0,0 0,-22 0,-9 11,-12 0,1-1,-43 11,-10-10,10 10,-20 11,-1-11,0 0,11 0,31-21,1 11,31-11,11 0,0 0,10 0,0 0,11 0,0 0,0 0,0 0,11 0,21-11,10 11,22-10,52-11,-31 10,-22 0,1 11,-1 0,11-10,0 10,-21 0,0 0,21 0,-10 0,-22 10,0 1,1 0,-1-1,-31 1,10-1,0-10,-21 0,0 0,0 0,0 0,0 0,0 0,0 0,0 0,-11 0,-10 11,0-1,-21 1,-1 0,-9-11,-1 10,0-10,10 11,-10-11,1 0,9 0,11 0,1 0,-1 0,0 0,-10 0,31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3:09.03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0,137 11,-137-11,117 0,-117 0,127 0,-127 0,116 0,-31 0,0 0,-33 0,12 0,-1 0,-10 0,0 0,-10 0,-12 0,1 0,-11 0,0 0,1 0,-12 0,-10 0,11 0,-1 0,-10 0,0 0,0 0,0 10,-10 1,-22 10,0 11,-42-11,0 0,0 0,11-10,-22 10,0 0,-10 0,10-10,1 0,20-1,11-10,11 0,31 0,11 0,0 0,0 0,0 0,0 0,0 0,0 0,0 0,11 0,10 0,53-21,-10 0,-1 10,1-10,41 0,-20 10,-21 1,-1 10,1-11,-1 11,-10 0,-11 0,-10 0,0 0,0 0,-22 0,11 0,-10 0,0 0,-1 0,-10 0,0 0,0 0,0 0,0 0,0 0,0 11,-21-1,0 1,-43-11,11 10,-10-10,-22 11,11 0,-11-11,1 0,20 0,-20 0,10 0,21 0,31 0,1 0,11 0,-1 0,1 0,-1 0,11 0,0 0,0 0,0 0,21 0,-10 0,42 0,-11-11,11 0,0 11,31-10,-20 10,-22 0,1 0,10-11,-11 1,0 10,1-11,-1 1,0-1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4:00.813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0 129,'0'0,"0"0,0 0,0 0,0 0,0 0,0 0,0 0,0 0,0 0,0 0,0 0,0 0,0 0,0 0,0 0,0 0,0 0,0 0,0 0,0 0,0 0,0 0,0 0,0 0,0 0,0 0,0 0,0 0,0 0,0 0,0 0,0 0,116-11,-116 11,0 0,0 0,0 0,96 0,-96 0,0 0,0 0,74 0,-11 0,-63 0,53 11,-53-11,42 0,-42 0,32 0,-11 0,0 0,11 0,-11 0,22 0,-12 0,1 0,0 0,-11 0,11 0,0 0,-11 10,11-10,20 11,1 0,-31-11,-1 0,-11 0,22 0,0 0,0 0,-1 0,12 0,-12 0,1 0,0 0,-11 0,21 0,-20 0,9 0,-9 0,9 0,-20 0,10 0,0 0,0 0,1 0,-1 0,-11 0,11 0,1 0,-1 0,0 0,0 0,11 0,0 0,-11 0,11 0,-22 0,22 10,-11-10,11 0,-11 0,0 0,0 0,-10 0,21 0,-11 0,0 0,0 0,-10 0,20 0,-9 0,9 11,-9-11,9 0,1 0,0 10,0-10,10 0,-10 0,-1 11,12-11,-12 0,1 0,0 0,-11 0,21 0,-20 0,9 0,1 0,0 0,-11 0,21 0,-10 0,0 0,10 0,-10 0,0 0,10 0,-21 0,11 0,-11 0,11 0,-11 0,0 0,11 0,-11 0,11 0,-22 0,12 0,-1 0,-11 0,12 0,-1 0,-11 0,11 0,1 0,-12 0,11 0,1 0,-12 0,11 0,0 0,-10 0,-11 0,11 0,-1 0,11 0,-10 0,0 0,-1 0,1 0,-1 0,1 0,-1 0,-10 0,11 0,0 0,-1 0,1 0,-1 0,-10 0,11 0,0 0,-1 0,1 0,-1 0,-10 0,11 0,-1 0,1 0,0 0,-1 0,-10 0,0 0,0 0,0 0,0 0,0 0,0 0,0 0,0 0,0 0,0 0,0 0,0 0,0 0,0 0,0 0,0 0,0 0,0 0,0-11,-10 1,-1-1,-10 11,0-10,0-1,-1 0,-9 11,9 0,1 0,-21 0,10 0,0 0,-10 0,10 0,1 0,-12 0,22 0,-21 0,10 0,11 0,-11 0,11 0,-11 0,11 0,-11 0,1 0,9 0,-9 0,9 0,-9 0,10 0,-11 0,21 0,-10 0,0 0,10 0,-10 0,0 0,0 0,0 0,-1 0,1 0,-10 0,9 0,-20 0,10 0,1 0,-12 0,1 0,10 0,-10 0,10 0,0 0,-10 0,10 0,0 0,-20 0,9 0,1 0,-11 0,11 0,-1 0,-10 0,0 0,1 0,-1 0,-11 0,11 0,0 0,-10 0,10 0,0 0,42 0,-52 0,-1 0,11-10,11 10,0-11,-11 11,-11 0,11 0,11 0,0 0,-1 0,-10 0,1 0,9 0,1 0,10 0,-10-10,-11 10,21 0,11 0,-11 0,11 0,-11 0,11 0,-11 0,1 0,20 0,-10 0,0 0,10 0,1 0,-1 0,0 0,1 0,10 0,0 0,0 0,0 0,-11 0,11 0,0 0,0 0,0 0,0 0,0 0,0 0,0 0,0 0,0 0,0 0,0 0,0 0,0 0,0 0,0 0,0 0,0 0,11 0,-11 0,21-11,0 11,-10 0,20 0,-9-10,31-1,-11 0,-10 1,10 10,-10-11,-1 1,1 10,0-11,10 0,-10 1,0 10,0 0,-11 0,10 0,-9 0,-1 0,42 0,-20 0,-12 0,1 0,0 0,10 0,-10 0,21 0,-11 0,1 0,10 10,-11 1,21-11,-10 0,0 0,-10 0,-12 0,12 0,-1 0,0 0,1 0,-1 0,0 0,-10 0,10 0,1 11,-1-11,0 0,1 0,-1 0,-10 0,0 0,-11 0,10 0,1 0,0 0,10 0,-10 0,0 0,-11 0,11 0,-11 0,21 0,-10 0,0 0,10 0,-10 0,0 0,10 0,-10 0,-1 0,12 0,-12 0,12 0,-22 0,11 0,-11 0,11 0,10 0,-10 0,10 0,-10 0,0 0,10 0,-10 0,-1 0,1 0,0 0,10 0,-21-11,11 11,-11 0,11 0,-21 0,10 0,0 0,-10 0,10 0,-11 0,1 0,-1 0,-10 0,11 0,0 0,-1 0,-10 0,0 0,0 0,11 0,-1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4:12.17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43,'0'0,"0"0,0 0,0 0,0 0,0 0,0 0,0 0,0 0,0 0,0 0,0 0,0 0,0 0,0 0,0 0,0 0,0 0,0 0,0 0,0 0,0 0,0 0,0 0,0 0,0 0,0 0,0 0,0 0,116-11,-116 11,0 0,0 0,85 0,-85 0,0 0,85 0,-85 0,0 0,84 0,-84 0,53 0,-53 0,53 0,-21 0,0 0,-11 0,11 0,10 0,-10 0,-1 0,-9 0,9 0,-10 0,22 0,-1 0,0 0,1 0,-1 0,11 0,-21 0,0 0,20 0,1 0,-10 0,-1 0,11 0,0 0,0 0,0 0,0 0,-11 0,11 0,0 0,0 0,0 0,0 0,10 0,-10 0,0 0,0 0,0 0,-11 0,0 0,1 0,10 0,0 0,-1 0,1 0,0-11,-10 11,-1 0,0 0,1 0,10 0,-11 0,0 0,1 0,-1 0,11 0,-21 0,-1 0,12 0,-12 0,1 0,10 0,-10 0,0 0,-11 0,11 0,-11 0,11 0,-11 0,11 0,-11 0,11 0,-22 0,11 0,1 0,-1 0,-11 0,11 0,-10 0,0 0,-1 0,1 0,-1 0,1 0,0 0,-11 0,10 0,1 0,-1 0,1 0,-1 0,-10 0,0 0,11 0,0 0,-1 0,1 0,-11 0,10 0,-10 0,0 0,0 0,11 0,0 0,-1 0,-10 0,0 0,0 0,11 0,-11 0,10 0,1 0,-11 0,10 0,1 0,0 0,-11 0,10 0,1 0,-11 0,0 0,10 0,-10 0,0 0,0 0,0 0,0 0,0 0,0 0,0 0,0 0,0 11,0-11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4:14.95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0,'0'0,"0"0,0 0,0 0,0 0,0 0,0 0,0 0,0 0,0 0,0 0,0 0,0 0,0 0,0 0,0 0,0 0,0 0,0 0,0 0,0 0,0 0,0 0,0 0,0 0,0 0,0 0,0 0,0 0,0 0,0 0,0 0,0 0,0 0,117 0,-117 0,0 0,0 0,0 0,106 0,-106 0,0 0,0 0,74 0,-74 0,0 0,84 0,-84 0,53 0,-53 0,0 0,53 0,-53 0,32 0,-32 0,21 0,-10 0,10 0,-11 0,43 0,-10 0,-12 0,-9 0,-1 0,0 0,0 0,-10 0,20 0,-9 0,9 0,-10 0,11 0,0 0,10 0,-21 0,11 0,0 0,10 0,1 0,-12 0,1 0,10 0,1 0,-1 0,0 0,1 0,-1 0,-10 0,10 0,-10 0,10 0,1 0,-1 0,11 0,-21 0,-1 0,12 0,-1 0,0 0,1 0,-12 0,1 0,0 0,0 0,-1 0,12 0,-11 0,10 0,11 0,-21 0,-1 0,12 0,-12 0,1 0,10 0,-10 0,0 0,10 0,-10 0,10 0,-10 0,0 0,10 0,-10 0,0 0,10 0,-21 0,11 0,-11 0,11 0,-11 0,11 0,-11 0,11 0,-11 0,11 0,-11 0,11 0,-11 0,0 0,11 0,-11 0,0 0,0 0,11 0,-11 0,0 0,0 0,-10 0,21 0,-11 0,-11 0,12 0,9 0,-9 0,9 0,-10 0,1 0,-12 0,11 0,11 0,-21 0,10 0,0 0,-10 0,10 0,0 0,-10 0,-1 0,11 0,0 0,-10 0,10 0,0 0,-21 0,11 0,0 0,-1 0,1 0,-1 0,-10 0,0 0,0 0,0 0,0 0,0 0,0 0,0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800" units="cm"/>
        </inkml:traceFormat>
        <inkml:channelProperties>
          <inkml:channelProperty channel="X" name="resolution" value="108.40108" units="1/cm"/>
          <inkml:channelProperty channel="Y" name="resolution" value="107.9784" units="1/cm"/>
        </inkml:channelProperties>
      </inkml:inkSource>
      <inkml:timestamp xml:id="ts0" timeString="2021-03-17T10:34:17.657"/>
    </inkml:context>
    <inkml:brush xml:id="br0">
      <inkml:brushProperty name="width" value="0.08819" units="cm"/>
      <inkml:brushProperty name="height" value="0.35278" units="cm"/>
      <inkml:brushProperty name="color" value="#92D050"/>
      <inkml:brushProperty name="transparency" value="170"/>
      <inkml:brushProperty name="tip" value="rectangle"/>
      <inkml:brushProperty name="rasterOp" value="maskPen"/>
      <inkml:brushProperty name="fitToCurve" value="1"/>
      <inkml:brushProperty name="ignorePressure" value="1"/>
    </inkml:brush>
  </inkml:definitions>
  <inkml:trace contextRef="#ctx0" brushRef="#br0">0 113,'0'0,"0"0,0 0,0 0,0 0,0 0,0 0,0 0,0 0,0 0,0 0,0 0,0 0,0 0,0 0,0 0,0 0,0 0,0 0,0 0,0 0,0 0,0 0,0 0,0 0,0 0,0 0,0 0,0 0,0 0,0 0,0 0,0 0,0 0,116-74,-116 74,0 0,85-10,-85 10,0 0,74 0,-74 0,0 0,63 0,-63 0,64 0,-64 0,53 0,-21 0,-11 0,11 0,-11 0,42 0,-10 0,-11 0,-20 0,9 0,1 0,0 0,21-11,-11 11,0 0,1 0,-1 0,11 0,0 0,-11 0,11 0,-10 0,-1 0,0 0,11 0,-11 0,-10 0,11 0,9 0,-9 0,-11 0,10 0,11 0,-11 0,-10 0,0 0,10 0,-10 0,10 0,0 0,-10 0,0 0,10 0,-10 0,10 0,1 0,-1 0,0 0,1 0,-12 0,1 0,0 0,-11 0,11 0,0 0,10 0,-10 0,-1 0,12 0,-12 0,-9 0,20 0,-10 0,10 0,11 0,-11 0,-10 0,0 0,-11 0,11 0,-11 0,21 0,-10 0,-11 0,11 0,-11 0,11 0,0 0,-22 0,11 0,0 0,-10 0,10 0,0 0,-10 0,10 0,0 0,-10 0,10 0,0 0,-10 0,-11 0,10 0,1 0,0 0,-1 0,1 0,-11 0,10 0,1 0,-1 0,1 0,0 0,-11 0,10 0,1 0,-1 0,-10 0,0 0,0 0,0 0,0 0,0 0,0 0,11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618A8932-62C9-4217-BDB8-ACC30534E1C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35C-E6EA-416D-AA91-2D7B45730357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26BC372-8821-47C8-8858-C1C512837FE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1F389-A53C-4A80-A700-AD17C06A2A6E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EEEE-F63A-45AF-84D9-BF154B20570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8AF9-156B-43BB-A6E4-2BA5B4B2CE04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241-2F2C-4BDB-949F-CDA85DBACC88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B5F21AF-98DF-4F3D-8D1F-E6D251F86555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4880FEF-A9E0-4096-A6F1-C5DFB362ABD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B0B1-7D84-48E7-96D3-793BA5087640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BA8E-E9BE-4983-8968-4586D2DC7992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16.02.2026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customXml" Target="../ink/ink6.xml"/><Relationship Id="rId18" Type="http://schemas.openxmlformats.org/officeDocument/2006/relationships/image" Target="../media/image31.png"/><Relationship Id="rId26" Type="http://schemas.openxmlformats.org/officeDocument/2006/relationships/image" Target="../media/image35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2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26.png"/><Relationship Id="rId16" Type="http://schemas.openxmlformats.org/officeDocument/2006/relationships/image" Target="../media/image30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customXml" Target="../ink/ink5.xml"/><Relationship Id="rId24" Type="http://schemas.openxmlformats.org/officeDocument/2006/relationships/image" Target="../media/image3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27.png"/><Relationship Id="rId19" Type="http://schemas.openxmlformats.org/officeDocument/2006/relationships/customXml" Target="../ink/ink9.xml"/><Relationship Id="rId4" Type="http://schemas.openxmlformats.org/officeDocument/2006/relationships/image" Target="../media/image240.png"/><Relationship Id="rId9" Type="http://schemas.openxmlformats.org/officeDocument/2006/relationships/customXml" Target="../ink/ink4.xml"/><Relationship Id="rId14" Type="http://schemas.openxmlformats.org/officeDocument/2006/relationships/image" Target="../media/image29.png"/><Relationship Id="rId22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customXml" Target="../ink/ink18.xml"/><Relationship Id="rId18" Type="http://schemas.openxmlformats.org/officeDocument/2006/relationships/image" Target="../media/image44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41.png"/><Relationship Id="rId17" Type="http://schemas.openxmlformats.org/officeDocument/2006/relationships/customXml" Target="../ink/ink20.xml"/><Relationship Id="rId2" Type="http://schemas.openxmlformats.org/officeDocument/2006/relationships/image" Target="../media/image36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customXml" Target="../ink/ink16.xml"/><Relationship Id="rId1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Теория вероятностей и математическая статистика. Лекция 5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>
                <a:solidFill>
                  <a:schemeClr val="tx1"/>
                </a:solidFill>
              </a:rPr>
              <a:t>Преподаватель</a:t>
            </a:r>
            <a:r>
              <a:rPr lang="en-US" sz="3000" dirty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>
                <a:solidFill>
                  <a:schemeClr val="tx1"/>
                </a:solidFill>
              </a:rPr>
              <a:t>к.т.н., доцент каф ЭСВМ</a:t>
            </a:r>
            <a:endParaRPr lang="en-US" sz="3000" dirty="0">
              <a:solidFill>
                <a:schemeClr val="tx1"/>
              </a:solidFill>
            </a:endParaRPr>
          </a:p>
          <a:p>
            <a:endParaRPr lang="ru-RU" sz="3000" dirty="0">
              <a:solidFill>
                <a:schemeClr val="tx1"/>
              </a:solidFill>
            </a:endParaRPr>
          </a:p>
          <a:p>
            <a:r>
              <a:rPr lang="ru-RU" sz="3300" b="1" i="1" dirty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E-mail: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>
                <a:solidFill>
                  <a:srgbClr val="FF0000"/>
                </a:solidFill>
              </a:rPr>
              <a:t>экзамен</a:t>
            </a:r>
            <a:endParaRPr lang="ru-RU" sz="3800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b="1" u="sng" cap="all" dirty="0">
                <a:solidFill>
                  <a:schemeClr val="accent2"/>
                </a:solidFill>
              </a:rPr>
              <a:t>Основные законы распределения СЛУЧАЙНЫХ ВЕЛИЧИН</a:t>
            </a:r>
            <a:endParaRPr lang="ru-RU" u="sng" dirty="0">
              <a:solidFill>
                <a:schemeClr val="accent2"/>
              </a:solidFill>
            </a:endParaRPr>
          </a:p>
          <a:p>
            <a:r>
              <a:rPr lang="ru-RU" dirty="0"/>
              <a:t> 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BCF263-2E7C-9090-E1E5-96E794D2A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/>
              <a:t>Равномерный закон </a:t>
            </a:r>
            <a:r>
              <a:rPr lang="ru-RU" sz="3600" b="1" dirty="0" err="1"/>
              <a:t>распределния</a:t>
            </a:r>
            <a:endParaRPr lang="ru-RU" sz="3600" b="1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962DBE5-493F-B6CD-3548-306AFAE94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28800"/>
            <a:ext cx="8229600" cy="1905456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2DF8EB-0A14-F451-A931-ABBB253E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655F25F-9CF0-57CC-3912-BDA19877E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501008"/>
            <a:ext cx="72199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47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CDAEF7-D8CD-49C0-E391-7B71C90B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EC538A5-A16A-AD7D-BAE3-D04168563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260648"/>
            <a:ext cx="7128792" cy="452596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484C51-E06B-C8F7-8B69-E9DC0E8C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DD0BBD9-4431-9A72-F2C3-2B21004E6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16775"/>
            <a:ext cx="9144000" cy="209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8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44415-70F2-9A0A-87B4-B11E383F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E29B0D-B023-961E-3955-CA2CED487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Поезда метрополитена идут регулярно с интервалом 2 минуты. Пассажир выходит на платформу в случайный момент времени. </a:t>
            </a:r>
          </a:p>
          <a:p>
            <a:pPr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Какова вероятность того, что ждать пассажиру придется не более полминуты. </a:t>
            </a:r>
          </a:p>
          <a:p>
            <a:pPr marL="0" indent="0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Найти мат ожидание и средне квадратичное отклонение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времени ожидания поезда.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B53FD6-8A60-FDAB-971D-6523D2AC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7B7CB3D-661A-66E4-F592-F41A9F53C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0358"/>
            <a:ext cx="9144000" cy="180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18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8C747-52B6-A739-2C4D-8F5CE103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BDD395AC-2E2B-3950-17A6-4F7847C96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72816"/>
            <a:ext cx="8229600" cy="384916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238FCB-862D-78C5-9C96-CE100962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89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7BE30C-E4E5-16FB-E8B7-62A1D51B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/>
              <a:t>Экспоненциальный (показательный)закон распределения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7CF1C68-5027-3215-BFF7-F4E407A31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72816"/>
            <a:ext cx="8229600" cy="4060875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AA3750-1DD0-8A60-E9FD-5661B6F4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724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08A00-9309-0D88-D9FC-F902A9B8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B4849C7-CB56-02A8-C4FF-454155D5A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126" y="1916832"/>
            <a:ext cx="8777370" cy="288032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474707-00D5-A9FE-92EA-49D16CD5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899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Нормальный закон распределения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Он является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предельным законом</a:t>
            </a:r>
            <a:r>
              <a:rPr lang="ru-RU" u="sng" dirty="0"/>
              <a:t>,</a:t>
            </a:r>
            <a:r>
              <a:rPr lang="ru-RU" dirty="0"/>
              <a:t> к которому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приближаются другие законы распределения при определенных условиях.</a:t>
            </a:r>
          </a:p>
          <a:p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Непрерывная</a:t>
            </a:r>
            <a:r>
              <a:rPr lang="ru-RU" dirty="0"/>
              <a:t> случайная величина Х имеет нормальный закон распределения (закон Гаусса) с параметрами </a:t>
            </a:r>
            <a:r>
              <a:rPr lang="en-US" b="1" i="1" dirty="0"/>
              <a:t>a</a:t>
            </a:r>
            <a:r>
              <a:rPr lang="ru-RU" dirty="0"/>
              <a:t> и σ</a:t>
            </a:r>
            <a:r>
              <a:rPr lang="ru-RU" baseline="30000" dirty="0"/>
              <a:t>2</a:t>
            </a:r>
            <a:r>
              <a:rPr lang="ru-RU" dirty="0"/>
              <a:t>, если ее плотность вероятности имеет вид: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/>
          </a:p>
        </p:txBody>
      </p:sp>
      <p:graphicFrame>
        <p:nvGraphicFramePr>
          <p:cNvPr id="258050" name="Object 2"/>
          <p:cNvGraphicFramePr>
            <a:graphicFrameLocks noChangeAspect="1"/>
          </p:cNvGraphicFramePr>
          <p:nvPr/>
        </p:nvGraphicFramePr>
        <p:xfrm>
          <a:off x="2428860" y="5578069"/>
          <a:ext cx="4143404" cy="127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371600" imgH="545760" progId="Equation.3">
                  <p:embed/>
                </p:oleObj>
              </mc:Choice>
              <mc:Fallback>
                <p:oleObj name="Формула" r:id="rId2" imgW="1371600" imgH="545760" progId="Equation.3">
                  <p:embed/>
                  <p:pic>
                    <p:nvPicPr>
                      <p:cNvPr id="258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60" y="5578069"/>
                        <a:ext cx="4143404" cy="1279931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646040" cy="1143000"/>
          </a:xfrm>
        </p:spPr>
        <p:txBody>
          <a:bodyPr>
            <a:noAutofit/>
          </a:bodyPr>
          <a:lstStyle/>
          <a:p>
            <a:pPr algn="ctr"/>
            <a:r>
              <a:rPr lang="ru-RU" sz="3000" b="1" dirty="0"/>
              <a:t>График плотности вероятности нормального закона распределения </a:t>
            </a:r>
            <a:r>
              <a:rPr lang="en-US" sz="3000" b="1" dirty="0"/>
              <a:t>N(a; </a:t>
            </a:r>
            <a:r>
              <a:rPr lang="el-GR" sz="3000" b="1" dirty="0">
                <a:latin typeface="Calibri"/>
                <a:cs typeface="Calibri"/>
              </a:rPr>
              <a:t>σ</a:t>
            </a:r>
            <a:r>
              <a:rPr lang="en-US" sz="3000" b="1" baseline="30000" dirty="0">
                <a:latin typeface="Calibri"/>
                <a:cs typeface="Calibri"/>
              </a:rPr>
              <a:t>2</a:t>
            </a:r>
            <a:r>
              <a:rPr lang="en-US" sz="3000" b="1" dirty="0">
                <a:latin typeface="Calibri"/>
                <a:cs typeface="Calibri"/>
              </a:rPr>
              <a:t>)</a:t>
            </a:r>
            <a:endParaRPr lang="ru-RU" sz="3000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259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428736"/>
            <a:ext cx="6991350" cy="427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9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5567386"/>
            <a:ext cx="7000924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59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791581"/>
              </p:ext>
            </p:extLst>
          </p:nvPr>
        </p:nvGraphicFramePr>
        <p:xfrm>
          <a:off x="5076056" y="1563062"/>
          <a:ext cx="283152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4" imgW="1384200" imgH="558720" progId="Equation.3">
                  <p:embed/>
                </p:oleObj>
              </mc:Choice>
              <mc:Fallback>
                <p:oleObj name="Формула" r:id="rId4" imgW="1384200" imgH="558720" progId="Equation.3">
                  <p:embed/>
                  <p:pic>
                    <p:nvPicPr>
                      <p:cNvPr id="259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1563062"/>
                        <a:ext cx="283152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Функция нормального закона распределения </a:t>
            </a:r>
            <a:r>
              <a:rPr lang="en-US" b="1" dirty="0"/>
              <a:t>N(a; </a:t>
            </a:r>
            <a:r>
              <a:rPr lang="el-GR" b="1" dirty="0">
                <a:latin typeface="Calibri"/>
                <a:cs typeface="Calibri"/>
              </a:rPr>
              <a:t>σ</a:t>
            </a:r>
            <a:r>
              <a:rPr lang="en-US" b="1" baseline="30000" dirty="0">
                <a:latin typeface="Calibri"/>
                <a:cs typeface="Calibri"/>
              </a:rPr>
              <a:t>2</a:t>
            </a:r>
            <a:r>
              <a:rPr lang="en-US" b="1" dirty="0">
                <a:latin typeface="Calibri"/>
                <a:cs typeface="Calibri"/>
              </a:rPr>
              <a:t>)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  <p:graphicFrame>
        <p:nvGraphicFramePr>
          <p:cNvPr id="2600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27848"/>
              </p:ext>
            </p:extLst>
          </p:nvPr>
        </p:nvGraphicFramePr>
        <p:xfrm>
          <a:off x="3059832" y="4365104"/>
          <a:ext cx="3168352" cy="1493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384200" imgH="558720" progId="Equation.3">
                  <p:embed/>
                </p:oleObj>
              </mc:Choice>
              <mc:Fallback>
                <p:oleObj name="Формула" r:id="rId2" imgW="1384200" imgH="558720" progId="Equation.3">
                  <p:embed/>
                  <p:pic>
                    <p:nvPicPr>
                      <p:cNvPr id="260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4365104"/>
                        <a:ext cx="3168352" cy="149301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0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-324544" y="1643050"/>
            <a:ext cx="9619830" cy="2145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Числовые характеристики СВ</a:t>
            </a:r>
            <a:br>
              <a:rPr lang="en-US" dirty="0"/>
            </a:br>
            <a:r>
              <a:rPr lang="ru-RU" dirty="0"/>
              <a:t> </a:t>
            </a:r>
            <a:r>
              <a:rPr lang="en-US" dirty="0"/>
              <a:t>X</a:t>
            </a:r>
            <a:r>
              <a:rPr lang="en-US" dirty="0">
                <a:latin typeface="Cambria"/>
                <a:ea typeface="Cambria"/>
              </a:rPr>
              <a:t>∈</a:t>
            </a:r>
            <a:r>
              <a:rPr lang="en-US" dirty="0"/>
              <a:t> N(a; </a:t>
            </a:r>
            <a:r>
              <a:rPr lang="el-GR" dirty="0">
                <a:latin typeface="Calibri"/>
                <a:cs typeface="Calibri"/>
              </a:rPr>
              <a:t>σ</a:t>
            </a:r>
            <a:r>
              <a:rPr lang="en-US" baseline="30000" dirty="0">
                <a:latin typeface="Calibri"/>
                <a:cs typeface="Calibri"/>
              </a:rPr>
              <a:t>2</a:t>
            </a:r>
            <a:r>
              <a:rPr lang="en-US" dirty="0">
                <a:latin typeface="Calibri"/>
                <a:cs typeface="Calibri"/>
              </a:rPr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261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14488"/>
            <a:ext cx="8205376" cy="1930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Пусть</a:t>
            </a:r>
            <a:r>
              <a:rPr lang="ru-RU" i="1" dirty="0"/>
              <a:t> σ=</a:t>
            </a:r>
            <a:r>
              <a:rPr lang="ru-RU" i="1" dirty="0" err="1"/>
              <a:t>const</a:t>
            </a:r>
            <a:r>
              <a:rPr lang="ru-RU" dirty="0"/>
              <a:t> и меняется параметр </a:t>
            </a:r>
            <a:r>
              <a:rPr lang="ru-RU" i="1" dirty="0"/>
              <a:t>а (а</a:t>
            </a:r>
            <a:r>
              <a:rPr lang="en-US" i="1" baseline="-25000" dirty="0"/>
              <a:t>3</a:t>
            </a:r>
            <a:r>
              <a:rPr lang="ru-RU" i="1" dirty="0"/>
              <a:t>&lt;a</a:t>
            </a:r>
            <a:r>
              <a:rPr lang="en-US" i="1" baseline="-25000" dirty="0"/>
              <a:t>2</a:t>
            </a:r>
            <a:r>
              <a:rPr lang="ru-RU" i="1" dirty="0"/>
              <a:t>&lt;a</a:t>
            </a:r>
            <a:r>
              <a:rPr lang="en-US" i="1" baseline="-25000" dirty="0"/>
              <a:t>1</a:t>
            </a:r>
            <a:r>
              <a:rPr lang="ru-RU" i="1" dirty="0"/>
              <a:t>)</a:t>
            </a:r>
            <a:r>
              <a:rPr lang="ru-RU" dirty="0"/>
              <a:t>,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262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51520" y="1714488"/>
            <a:ext cx="5408200" cy="4450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215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0152" y="1700213"/>
            <a:ext cx="3146677" cy="2014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Пусть </a:t>
            </a:r>
            <a:r>
              <a:rPr lang="ru-RU" i="1" dirty="0" err="1"/>
              <a:t>а=const</a:t>
            </a:r>
            <a:r>
              <a:rPr lang="ru-RU" dirty="0"/>
              <a:t> и меняется параметр </a:t>
            </a:r>
            <a:r>
              <a:rPr lang="ru-RU" i="1" dirty="0" err="1"/>
              <a:t>σ </a:t>
            </a:r>
            <a:r>
              <a:rPr lang="ru-RU" i="1" dirty="0"/>
              <a:t>(σ</a:t>
            </a:r>
            <a:r>
              <a:rPr lang="ru-RU" i="1" baseline="-25000" dirty="0"/>
              <a:t>1</a:t>
            </a:r>
            <a:r>
              <a:rPr lang="ru-RU" i="1" dirty="0"/>
              <a:t>&lt;σ</a:t>
            </a:r>
            <a:r>
              <a:rPr lang="ru-RU" i="1" baseline="-25000" dirty="0"/>
              <a:t>2</a:t>
            </a:r>
            <a:r>
              <a:rPr lang="ru-RU" i="1" dirty="0"/>
              <a:t>&lt;</a:t>
            </a:r>
            <a:r>
              <a:rPr lang="ru-RU" i="1" dirty="0" err="1"/>
              <a:t>σ</a:t>
            </a:r>
            <a:r>
              <a:rPr lang="en-US" i="1" baseline="-25000" dirty="0"/>
              <a:t>3</a:t>
            </a:r>
            <a:r>
              <a:rPr lang="ru-RU" i="1" dirty="0"/>
              <a:t>)</a:t>
            </a:r>
            <a:r>
              <a:rPr lang="ru-RU" dirty="0"/>
              <a:t>,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264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0877" y="1496067"/>
            <a:ext cx="5347207" cy="423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4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60" y="5865834"/>
            <a:ext cx="8646040" cy="777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6446" y="1700213"/>
            <a:ext cx="3146677" cy="2014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Стандартный нормальный закон распределения </a:t>
            </a:r>
            <a:r>
              <a:rPr lang="en-US" b="1" dirty="0"/>
              <a:t>N(</a:t>
            </a:r>
            <a:r>
              <a:rPr lang="ru-RU" b="1" dirty="0"/>
              <a:t>0</a:t>
            </a:r>
            <a:r>
              <a:rPr lang="en-US" b="1" dirty="0"/>
              <a:t>; </a:t>
            </a:r>
            <a:r>
              <a:rPr lang="ru-RU" b="1" dirty="0"/>
              <a:t>1</a:t>
            </a:r>
            <a:r>
              <a:rPr lang="en-US" b="1" dirty="0">
                <a:latin typeface="Calibri"/>
                <a:cs typeface="Calibri"/>
              </a:rPr>
              <a:t>)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Нормальный закон распределения случайной величины с параметрами </a:t>
            </a:r>
            <a:endParaRPr lang="en-US" dirty="0"/>
          </a:p>
          <a:p>
            <a:r>
              <a:rPr lang="ru-RU" b="1" i="1" u="sng" dirty="0"/>
              <a:t>а=0</a:t>
            </a:r>
            <a:r>
              <a:rPr lang="ru-RU" dirty="0"/>
              <a:t>, </a:t>
            </a:r>
            <a:r>
              <a:rPr lang="ru-RU" b="1" u="sng" dirty="0"/>
              <a:t>σ</a:t>
            </a:r>
            <a:r>
              <a:rPr lang="ru-RU" b="1" u="sng" baseline="30000" dirty="0"/>
              <a:t>2</a:t>
            </a:r>
            <a:r>
              <a:rPr lang="ru-RU" b="1" u="sng" dirty="0"/>
              <a:t>=1</a:t>
            </a:r>
            <a:r>
              <a:rPr lang="ru-RU" dirty="0"/>
              <a:t>, то есть </a:t>
            </a:r>
            <a:r>
              <a:rPr lang="ru-RU" b="1" dirty="0"/>
              <a:t>N(0;1)</a:t>
            </a:r>
            <a:r>
              <a:rPr lang="ru-RU" dirty="0"/>
              <a:t> называется </a:t>
            </a:r>
            <a:r>
              <a:rPr lang="ru-RU" b="1" i="1" u="sng" dirty="0"/>
              <a:t>стандартным нормальным</a:t>
            </a:r>
            <a:r>
              <a:rPr lang="ru-RU" dirty="0"/>
              <a:t> законом. </a:t>
            </a:r>
          </a:p>
          <a:p>
            <a:r>
              <a:rPr lang="ru-RU" dirty="0"/>
              <a:t>Для стандартного нормального закона (</a:t>
            </a:r>
            <a:r>
              <a:rPr lang="ru-RU" i="1" dirty="0"/>
              <a:t>а=0, σ</a:t>
            </a:r>
            <a:r>
              <a:rPr lang="ru-RU" i="1" baseline="30000" dirty="0"/>
              <a:t>2</a:t>
            </a:r>
            <a:r>
              <a:rPr lang="ru-RU" i="1" dirty="0"/>
              <a:t>=1</a:t>
            </a:r>
            <a:r>
              <a:rPr lang="ru-RU" dirty="0"/>
              <a:t>),  функции плотности вероятности φ</a:t>
            </a:r>
            <a:r>
              <a:rPr lang="ru-RU" baseline="-25000" dirty="0"/>
              <a:t>0</a:t>
            </a:r>
            <a:r>
              <a:rPr lang="ru-RU" dirty="0"/>
              <a:t>(</a:t>
            </a:r>
            <a:r>
              <a:rPr lang="ru-RU" i="1" dirty="0" err="1"/>
              <a:t>х</a:t>
            </a:r>
            <a:r>
              <a:rPr lang="ru-RU" dirty="0"/>
              <a:t>) и распределения </a:t>
            </a:r>
            <a:r>
              <a:rPr lang="en-US" dirty="0"/>
              <a:t>F</a:t>
            </a:r>
            <a:r>
              <a:rPr lang="en-US" baseline="-25000" dirty="0"/>
              <a:t>0</a:t>
            </a:r>
            <a:r>
              <a:rPr lang="ru-RU" dirty="0"/>
              <a:t>(</a:t>
            </a:r>
            <a:r>
              <a:rPr lang="en-US" i="1" dirty="0"/>
              <a:t>x</a:t>
            </a:r>
            <a:r>
              <a:rPr lang="ru-RU" dirty="0"/>
              <a:t>) примут вид:</a:t>
            </a:r>
          </a:p>
          <a:p>
            <a:endParaRPr lang="ru-RU" dirty="0"/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265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512" y="5643578"/>
            <a:ext cx="3320899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5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5643578"/>
            <a:ext cx="5320042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График плотности вероятности </a:t>
            </a:r>
            <a:r>
              <a:rPr lang="en-US" dirty="0"/>
              <a:t>N(</a:t>
            </a:r>
            <a:r>
              <a:rPr lang="ru-RU" dirty="0"/>
              <a:t>0</a:t>
            </a:r>
            <a:r>
              <a:rPr lang="en-US" dirty="0"/>
              <a:t>; </a:t>
            </a:r>
            <a:r>
              <a:rPr lang="ru-RU" dirty="0">
                <a:latin typeface="Calibri"/>
                <a:cs typeface="Calibri"/>
              </a:rPr>
              <a:t>1</a:t>
            </a:r>
            <a:r>
              <a:rPr lang="en-US" dirty="0">
                <a:latin typeface="Calibri"/>
                <a:cs typeface="Calibri"/>
              </a:rPr>
              <a:t>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E1BB440-5F62-A589-C782-534338EF3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ru-RU" dirty="0"/>
              <a:t>Построить самостоятельно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401080" cy="1143000"/>
          </a:xfrm>
        </p:spPr>
        <p:txBody>
          <a:bodyPr>
            <a:noAutofit/>
          </a:bodyPr>
          <a:lstStyle/>
          <a:p>
            <a:r>
              <a:rPr lang="ru-RU" sz="3200" b="1" dirty="0"/>
              <a:t>Свойства случайной величины, распределенной по нормальному закону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266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5537" y="1857364"/>
            <a:ext cx="8202682" cy="3515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Многомерные случайные величины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Часто результат испытания характеризуется не одной случайной величиной, а некоторой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системой случайных  величин</a:t>
            </a:r>
            <a:r>
              <a:rPr lang="ru-RU" dirty="0"/>
              <a:t> Х</a:t>
            </a:r>
            <a:r>
              <a:rPr lang="ru-RU" baseline="-25000" dirty="0"/>
              <a:t>1</a:t>
            </a:r>
            <a:r>
              <a:rPr lang="ru-RU" dirty="0"/>
              <a:t>, Х</a:t>
            </a:r>
            <a:r>
              <a:rPr lang="en-US" baseline="-25000" dirty="0"/>
              <a:t>2</a:t>
            </a:r>
            <a:r>
              <a:rPr lang="ru-RU" dirty="0"/>
              <a:t>, …, Х</a:t>
            </a:r>
            <a:r>
              <a:rPr lang="en-US" baseline="-25000" dirty="0"/>
              <a:t>n</a:t>
            </a:r>
            <a:r>
              <a:rPr lang="en-US" dirty="0"/>
              <a:t>, </a:t>
            </a:r>
            <a:r>
              <a:rPr lang="ru-RU" dirty="0"/>
              <a:t>которую называют </a:t>
            </a:r>
            <a:r>
              <a:rPr lang="ru-RU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многомерной случайной величиной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многомерных СВ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dirty="0"/>
              <a:t>Успеваемость школьника характеризуется системой </a:t>
            </a:r>
            <a:r>
              <a:rPr lang="ru-RU" i="1" dirty="0" err="1"/>
              <a:t>n</a:t>
            </a:r>
            <a:r>
              <a:rPr lang="ru-RU" i="1" dirty="0"/>
              <a:t> </a:t>
            </a:r>
            <a:r>
              <a:rPr lang="ru-RU" dirty="0"/>
              <a:t>случайных величин Х</a:t>
            </a:r>
            <a:r>
              <a:rPr lang="ru-RU" baseline="-25000" dirty="0"/>
              <a:t>1</a:t>
            </a:r>
            <a:r>
              <a:rPr lang="ru-RU" dirty="0"/>
              <a:t>, Х</a:t>
            </a:r>
            <a:r>
              <a:rPr lang="ru-RU" baseline="-25000" dirty="0"/>
              <a:t>2</a:t>
            </a:r>
            <a:r>
              <a:rPr lang="ru-RU" dirty="0"/>
              <a:t>, …,</a:t>
            </a:r>
            <a:r>
              <a:rPr lang="ru-RU" dirty="0" err="1"/>
              <a:t>Х</a:t>
            </a:r>
            <a:r>
              <a:rPr lang="ru-RU" i="1" baseline="-25000" dirty="0" err="1"/>
              <a:t>n</a:t>
            </a:r>
            <a:r>
              <a:rPr lang="ru-RU" i="1" dirty="0"/>
              <a:t> </a:t>
            </a:r>
            <a:r>
              <a:rPr lang="ru-RU" dirty="0"/>
              <a:t>– оценками по различным предметам.</a:t>
            </a:r>
          </a:p>
          <a:p>
            <a:pPr lvl="0"/>
            <a:r>
              <a:rPr lang="ru-RU" dirty="0"/>
              <a:t>Погода в данном месте в определенное время суток может быть охарактеризована системой случайных величин: Х</a:t>
            </a:r>
            <a:r>
              <a:rPr lang="ru-RU" baseline="-25000" dirty="0"/>
              <a:t>1</a:t>
            </a:r>
            <a:r>
              <a:rPr lang="ru-RU" dirty="0"/>
              <a:t> – температура, Х</a:t>
            </a:r>
            <a:r>
              <a:rPr lang="ru-RU" baseline="-25000" dirty="0"/>
              <a:t>2</a:t>
            </a:r>
            <a:r>
              <a:rPr lang="ru-RU" dirty="0"/>
              <a:t> – влажность, Х</a:t>
            </a:r>
            <a:r>
              <a:rPr lang="ru-RU" baseline="-25000" dirty="0"/>
              <a:t>3</a:t>
            </a:r>
            <a:r>
              <a:rPr lang="ru-RU" dirty="0"/>
              <a:t> – давление, Х</a:t>
            </a:r>
            <a:r>
              <a:rPr lang="ru-RU" baseline="-25000" dirty="0"/>
              <a:t>4</a:t>
            </a:r>
            <a:r>
              <a:rPr lang="ru-RU" dirty="0"/>
              <a:t> – скорость ветра.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Многомерная случайная величина есть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функция элементарных событий </a:t>
            </a:r>
            <a:r>
              <a:rPr lang="ru-RU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ω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</a:p>
          <a:p>
            <a:pPr algn="ctr">
              <a:buNone/>
            </a:pPr>
            <a:endParaRPr lang="ru-RU" dirty="0"/>
          </a:p>
          <a:p>
            <a:pPr algn="ctr">
              <a:buNone/>
            </a:pPr>
            <a:r>
              <a:rPr lang="ru-RU" dirty="0"/>
              <a:t>(Х</a:t>
            </a:r>
            <a:r>
              <a:rPr lang="ru-RU" baseline="-25000" dirty="0"/>
              <a:t>1</a:t>
            </a:r>
            <a:r>
              <a:rPr lang="ru-RU" dirty="0"/>
              <a:t>, Х</a:t>
            </a:r>
            <a:r>
              <a:rPr lang="ru-RU" baseline="-25000" dirty="0"/>
              <a:t>2</a:t>
            </a:r>
            <a:r>
              <a:rPr lang="ru-RU" dirty="0"/>
              <a:t>, …, </a:t>
            </a:r>
            <a:r>
              <a:rPr lang="ru-RU" dirty="0" err="1"/>
              <a:t>Х</a:t>
            </a:r>
            <a:r>
              <a:rPr lang="ru-RU" baseline="-25000" dirty="0" err="1"/>
              <a:t>n</a:t>
            </a:r>
            <a:r>
              <a:rPr lang="ru-RU" dirty="0"/>
              <a:t>)</a:t>
            </a:r>
            <a:r>
              <a:rPr lang="ru-RU" dirty="0" err="1"/>
              <a:t>=f(ω</a:t>
            </a:r>
            <a:r>
              <a:rPr lang="ru-RU" dirty="0"/>
              <a:t>),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то есть каждому элементарному событию </a:t>
            </a:r>
            <a:r>
              <a:rPr lang="ru-RU" dirty="0" err="1"/>
              <a:t>ω </a:t>
            </a:r>
            <a:r>
              <a:rPr lang="ru-RU" dirty="0"/>
              <a:t>ставится в соответствие несколько действительных чисел </a:t>
            </a:r>
            <a:r>
              <a:rPr lang="ru-RU" i="1" dirty="0"/>
              <a:t>х</a:t>
            </a:r>
            <a:r>
              <a:rPr lang="ru-RU" i="1" baseline="-25000" dirty="0"/>
              <a:t>1</a:t>
            </a:r>
            <a:r>
              <a:rPr lang="ru-RU" i="1" dirty="0"/>
              <a:t>, х</a:t>
            </a:r>
            <a:r>
              <a:rPr lang="ru-RU" i="1" baseline="-25000" dirty="0"/>
              <a:t>2</a:t>
            </a:r>
            <a:r>
              <a:rPr lang="ru-RU" i="1" dirty="0"/>
              <a:t>, …, </a:t>
            </a:r>
            <a:r>
              <a:rPr lang="ru-RU" i="1" dirty="0" err="1"/>
              <a:t>х</a:t>
            </a:r>
            <a:r>
              <a:rPr lang="ru-RU" i="1" baseline="-25000" dirty="0" err="1"/>
              <a:t>n</a:t>
            </a:r>
            <a:r>
              <a:rPr lang="ru-RU" dirty="0"/>
              <a:t>, которые приняли случайные величины Х</a:t>
            </a:r>
            <a:r>
              <a:rPr lang="ru-RU" baseline="-25000" dirty="0"/>
              <a:t>1</a:t>
            </a:r>
            <a:r>
              <a:rPr lang="ru-RU" dirty="0"/>
              <a:t>, Х</a:t>
            </a:r>
            <a:r>
              <a:rPr lang="ru-RU" baseline="-25000" dirty="0"/>
              <a:t>2</a:t>
            </a:r>
            <a:r>
              <a:rPr lang="ru-RU" dirty="0"/>
              <a:t>, …, </a:t>
            </a:r>
            <a:r>
              <a:rPr lang="ru-RU" dirty="0" err="1"/>
              <a:t>Х</a:t>
            </a:r>
            <a:r>
              <a:rPr lang="ru-RU" baseline="-25000" dirty="0" err="1"/>
              <a:t>n</a:t>
            </a:r>
            <a:r>
              <a:rPr lang="ru-RU" dirty="0"/>
              <a:t> в результате испытания.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Типы многомерных случайных величин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/>
              <a:t>Случайные величины Х</a:t>
            </a:r>
            <a:r>
              <a:rPr lang="ru-RU" baseline="-25000" dirty="0"/>
              <a:t>1</a:t>
            </a:r>
            <a:r>
              <a:rPr lang="ru-RU" dirty="0"/>
              <a:t>, Х</a:t>
            </a:r>
            <a:r>
              <a:rPr lang="ru-RU" baseline="-25000" dirty="0"/>
              <a:t>2</a:t>
            </a:r>
            <a:r>
              <a:rPr lang="ru-RU" dirty="0"/>
              <a:t>, …, </a:t>
            </a:r>
            <a:r>
              <a:rPr lang="ru-RU" dirty="0" err="1"/>
              <a:t>Х</a:t>
            </a:r>
            <a:r>
              <a:rPr lang="ru-RU" baseline="-25000" dirty="0" err="1"/>
              <a:t>n</a:t>
            </a:r>
            <a:r>
              <a:rPr lang="ru-RU" dirty="0"/>
              <a:t> входящие в систему, могут быть</a:t>
            </a:r>
          </a:p>
          <a:p>
            <a:r>
              <a:rPr lang="ru-RU" b="1" u="sng" dirty="0"/>
              <a:t>дискретными</a:t>
            </a:r>
            <a:r>
              <a:rPr lang="ru-RU" dirty="0"/>
              <a:t>, или</a:t>
            </a:r>
          </a:p>
          <a:p>
            <a:r>
              <a:rPr lang="ru-RU" b="1" u="sng" dirty="0"/>
              <a:t>непрерывными</a:t>
            </a:r>
            <a:r>
              <a:rPr lang="ru-RU" u="sng" dirty="0"/>
              <a:t>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Например,  подбрасываются  две игральные кости.</a:t>
            </a:r>
          </a:p>
          <a:p>
            <a:pPr>
              <a:buNone/>
            </a:pPr>
            <a:r>
              <a:rPr lang="ru-RU" dirty="0"/>
              <a:t>Х</a:t>
            </a:r>
            <a:r>
              <a:rPr lang="ru-RU" baseline="-25000" dirty="0"/>
              <a:t>1 </a:t>
            </a:r>
            <a:r>
              <a:rPr lang="ru-RU" dirty="0"/>
              <a:t>– сумма очков на выпавших гранях,</a:t>
            </a:r>
          </a:p>
          <a:p>
            <a:pPr>
              <a:buNone/>
            </a:pPr>
            <a:r>
              <a:rPr lang="ru-RU" dirty="0"/>
              <a:t>Х</a:t>
            </a:r>
            <a:r>
              <a:rPr lang="ru-RU" baseline="-25000" dirty="0"/>
              <a:t>2</a:t>
            </a:r>
            <a:r>
              <a:rPr lang="ru-RU" dirty="0"/>
              <a:t> – произведение очков на выпавших гранях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К какому типу будет относиться СВ ( Х</a:t>
            </a:r>
            <a:r>
              <a:rPr lang="ru-RU" baseline="-25000" dirty="0"/>
              <a:t>1</a:t>
            </a:r>
            <a:r>
              <a:rPr lang="ru-RU" dirty="0"/>
              <a:t>, Х</a:t>
            </a:r>
            <a:r>
              <a:rPr lang="ru-RU" baseline="-25000" dirty="0"/>
              <a:t>2</a:t>
            </a:r>
            <a:r>
              <a:rPr lang="ru-RU" dirty="0"/>
              <a:t>), как вы думаете?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Закон распределения двумерной дискретной величины (</a:t>
            </a:r>
            <a:r>
              <a:rPr lang="en-US" dirty="0"/>
              <a:t>X, Y)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Наиболее полным описанием многомерной случайной величины </a:t>
            </a:r>
            <a:r>
              <a:rPr lang="ru-RU" b="1" dirty="0"/>
              <a:t>является 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закон ее распределения</a:t>
            </a:r>
            <a:r>
              <a:rPr lang="ru-RU" b="1" dirty="0"/>
              <a:t>.</a:t>
            </a:r>
            <a:endParaRPr lang="ru-RU" dirty="0"/>
          </a:p>
          <a:p>
            <a:r>
              <a:rPr lang="ru-RU" dirty="0"/>
              <a:t>Если рассматривается </a:t>
            </a:r>
            <a:r>
              <a:rPr lang="ru-RU" u="sng" dirty="0"/>
              <a:t>двумерная дискретная случайная величина (Х, Y</a:t>
            </a:r>
            <a:r>
              <a:rPr lang="ru-RU" dirty="0"/>
              <a:t>), то ее распределение можно представить в виде </a:t>
            </a:r>
            <a:r>
              <a:rPr lang="ru-RU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таблицы распределения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Таблица распределения дискретной случайной величины (</a:t>
            </a:r>
            <a:r>
              <a:rPr lang="en-US" sz="3600" dirty="0"/>
              <a:t>X, Y)</a:t>
            </a:r>
            <a:endParaRPr lang="ru-RU" sz="36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23</a:t>
            </a:fld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975279"/>
              </p:ext>
            </p:extLst>
          </p:nvPr>
        </p:nvGraphicFramePr>
        <p:xfrm>
          <a:off x="179512" y="1500174"/>
          <a:ext cx="8507287" cy="4711494"/>
        </p:xfrm>
        <a:graphic>
          <a:graphicData uri="http://schemas.openxmlformats.org/drawingml/2006/table">
            <a:tbl>
              <a:tblPr/>
              <a:tblGrid>
                <a:gridCol w="1449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58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11972">
                <a:tc>
                  <a:txBody>
                    <a:bodyPr/>
                    <a:lstStyle/>
                    <a:p>
                      <a:pPr marL="224790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69850"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ru-RU" sz="20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9525" marR="48260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ru-RU" sz="2000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R="103505" algn="ctr">
                        <a:lnSpc>
                          <a:spcPts val="177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Symbol"/>
                          <a:ea typeface="Times New Roman"/>
                          <a:cs typeface="Times New Roman"/>
                        </a:rPr>
                        <a:t>å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86360" algn="ctr">
                        <a:lnSpc>
                          <a:spcPts val="965"/>
                        </a:lnSpc>
                        <a:spcAft>
                          <a:spcPts val="0"/>
                        </a:spcAft>
                      </a:pPr>
                      <a:r>
                        <a:rPr lang="ru-RU" sz="2000" i="1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074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2000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1j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4699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1m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218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i1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R="62230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ij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34290" marR="48260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im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218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791"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n1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nj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55880" marR="46990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nm</a:t>
                      </a:r>
                      <a:endParaRPr lang="ru-RU" sz="2000" baseline="-25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430">
                <a:tc>
                  <a:txBody>
                    <a:bodyPr/>
                    <a:lstStyle/>
                    <a:p>
                      <a:pPr marR="102870" algn="ctr">
                        <a:lnSpc>
                          <a:spcPts val="177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Symbol"/>
                          <a:ea typeface="Times New Roman"/>
                          <a:cs typeface="Times New Roman"/>
                        </a:rPr>
                        <a:t>å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R="104140" algn="ctr">
                        <a:lnSpc>
                          <a:spcPts val="935"/>
                        </a:lnSpc>
                        <a:spcAft>
                          <a:spcPts val="0"/>
                        </a:spcAft>
                      </a:pPr>
                      <a:r>
                        <a:rPr lang="ru-RU" sz="2000" i="1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215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985" marR="48260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20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m</a:t>
                      </a:r>
                      <a:endParaRPr lang="ru-RU" sz="2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9850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/>
          <p:cNvCxnSpPr/>
          <p:nvPr/>
        </p:nvCxnSpPr>
        <p:spPr>
          <a:xfrm>
            <a:off x="179512" y="1500173"/>
            <a:ext cx="1143008" cy="107157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1142976" y="6211669"/>
            <a:ext cx="7429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где </a:t>
            </a:r>
            <a:r>
              <a:rPr lang="ru-RU" dirty="0" err="1"/>
              <a:t>p</a:t>
            </a:r>
            <a:r>
              <a:rPr lang="ru-RU" i="1" baseline="-25000" dirty="0" err="1"/>
              <a:t>ij</a:t>
            </a:r>
            <a:r>
              <a:rPr lang="ru-RU" i="1" dirty="0"/>
              <a:t> – </a:t>
            </a:r>
            <a:r>
              <a:rPr lang="ru-RU" dirty="0"/>
              <a:t>вероятность произведения</a:t>
            </a:r>
            <a:r>
              <a:rPr lang="en-US" dirty="0"/>
              <a:t> </a:t>
            </a:r>
            <a:r>
              <a:rPr lang="ru-RU" dirty="0"/>
              <a:t>событий </a:t>
            </a:r>
            <a:r>
              <a:rPr lang="ru-RU" dirty="0" err="1"/>
              <a:t>X=</a:t>
            </a:r>
            <a:r>
              <a:rPr lang="ru-RU" i="1" dirty="0" err="1"/>
              <a:t>x</a:t>
            </a:r>
            <a:r>
              <a:rPr lang="ru-RU" i="1" baseline="-25000" dirty="0" err="1"/>
              <a:t>i</a:t>
            </a:r>
            <a:r>
              <a:rPr lang="ru-RU" i="1" dirty="0"/>
              <a:t> </a:t>
            </a:r>
            <a:r>
              <a:rPr lang="ru-RU" dirty="0"/>
              <a:t>и Y=</a:t>
            </a:r>
            <a:r>
              <a:rPr lang="ru-RU" i="1" dirty="0"/>
              <a:t>y</a:t>
            </a:r>
            <a:r>
              <a:rPr lang="ru-RU" i="1" baseline="-25000" dirty="0"/>
              <a:t>j</a:t>
            </a:r>
            <a:r>
              <a:rPr lang="ru-RU" dirty="0"/>
              <a:t>.</a:t>
            </a:r>
            <a:r>
              <a:rPr lang="en-US" dirty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Условные законы распределения дискретной двумерной СВ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85720" y="1428736"/>
            <a:ext cx="85725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Если </a:t>
            </a:r>
            <a:r>
              <a:rPr lang="ru-RU" sz="2400" u="sng" dirty="0"/>
              <a:t>зафиксировать значение одного из аргументов</a:t>
            </a:r>
            <a:r>
              <a:rPr lang="ru-RU" sz="2400" dirty="0"/>
              <a:t>, например, положить </a:t>
            </a:r>
            <a:r>
              <a:rPr lang="ru-RU" sz="2400" b="1" dirty="0"/>
              <a:t>Y=</a:t>
            </a:r>
            <a:r>
              <a:rPr lang="ru-RU" sz="2400" b="1" i="1" dirty="0"/>
              <a:t>y</a:t>
            </a:r>
            <a:r>
              <a:rPr lang="ru-RU" sz="2400" b="1" i="1" baseline="-25000" dirty="0"/>
              <a:t>j</a:t>
            </a:r>
            <a:r>
              <a:rPr lang="ru-RU" sz="2400" dirty="0"/>
              <a:t>, то полученное распределение случайной величины Х называется </a:t>
            </a:r>
            <a:r>
              <a:rPr lang="ru-RU" sz="2400" b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условным распределением Х при условии</a:t>
            </a:r>
            <a:r>
              <a:rPr lang="ru-RU" sz="24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Y=</a:t>
            </a:r>
            <a:r>
              <a:rPr lang="ru-RU" sz="2400" b="1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y</a:t>
            </a:r>
            <a:r>
              <a:rPr lang="ru-RU" sz="2400" b="1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j</a:t>
            </a:r>
            <a:r>
              <a:rPr lang="ru-RU" sz="2400" dirty="0"/>
              <a:t>. </a:t>
            </a:r>
          </a:p>
          <a:p>
            <a:r>
              <a:rPr lang="ru-RU" sz="2400" dirty="0"/>
              <a:t>Вероятности </a:t>
            </a:r>
            <a:r>
              <a:rPr lang="ru-RU" sz="2400" i="1" dirty="0"/>
              <a:t>P</a:t>
            </a:r>
            <a:r>
              <a:rPr lang="ru-RU" sz="2400" i="1" baseline="-25000" dirty="0"/>
              <a:t>Y</a:t>
            </a:r>
            <a:r>
              <a:rPr lang="ru-RU" sz="2400" i="1" dirty="0"/>
              <a:t> </a:t>
            </a:r>
            <a:r>
              <a:rPr lang="ru-RU" sz="2400" baseline="-25000" dirty="0"/>
              <a:t>= </a:t>
            </a:r>
            <a:r>
              <a:rPr lang="ru-RU" sz="2400" i="1" baseline="-25000" dirty="0"/>
              <a:t>y</a:t>
            </a:r>
            <a:r>
              <a:rPr lang="ru-RU" sz="2400" i="1" dirty="0"/>
              <a:t> </a:t>
            </a:r>
            <a:r>
              <a:rPr lang="ru-RU" sz="2400" i="1" baseline="-40000" dirty="0" err="1"/>
              <a:t>j</a:t>
            </a:r>
            <a:r>
              <a:rPr lang="ru-RU" sz="2400" i="1" baseline="-40000" dirty="0"/>
              <a:t> </a:t>
            </a:r>
            <a:r>
              <a:rPr lang="ru-RU" sz="2400" i="1" dirty="0"/>
              <a:t>( </a:t>
            </a:r>
            <a:r>
              <a:rPr lang="ru-RU" sz="2400" i="1" dirty="0" err="1"/>
              <a:t>x</a:t>
            </a:r>
            <a:r>
              <a:rPr lang="ru-RU" sz="2400" i="1" baseline="-25000" dirty="0" err="1"/>
              <a:t>i</a:t>
            </a:r>
            <a:r>
              <a:rPr lang="ru-RU" sz="2400" i="1" dirty="0"/>
              <a:t> ) </a:t>
            </a:r>
            <a:r>
              <a:rPr lang="ru-RU" sz="2400" dirty="0"/>
              <a:t>этого распределения будут условными вероятностями события Х=</a:t>
            </a:r>
            <a:r>
              <a:rPr lang="ru-RU" sz="2400" i="1" dirty="0"/>
              <a:t>х</a:t>
            </a:r>
            <a:r>
              <a:rPr lang="ru-RU" sz="2400" i="1" baseline="-25000" dirty="0"/>
              <a:t>i</a:t>
            </a:r>
            <a:r>
              <a:rPr lang="ru-RU" sz="2400" dirty="0"/>
              <a:t>, найденными в предположении, что событие Y=</a:t>
            </a:r>
            <a:r>
              <a:rPr lang="ru-RU" sz="2400" i="1" dirty="0"/>
              <a:t>y</a:t>
            </a:r>
            <a:r>
              <a:rPr lang="ru-RU" sz="2400" i="1" baseline="-25000" dirty="0"/>
              <a:t>j</a:t>
            </a:r>
            <a:r>
              <a:rPr lang="ru-RU" sz="2400" i="1" dirty="0"/>
              <a:t> </a:t>
            </a:r>
            <a:r>
              <a:rPr lang="ru-RU" sz="2400" dirty="0"/>
              <a:t>произошло.</a:t>
            </a:r>
          </a:p>
        </p:txBody>
      </p:sp>
      <p:pic>
        <p:nvPicPr>
          <p:cNvPr id="275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071942"/>
            <a:ext cx="8615393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54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776" y="4572008"/>
            <a:ext cx="4572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200" b="1" u="heavy" dirty="0"/>
              <a:t>Задача</a:t>
            </a:r>
            <a:br>
              <a:rPr lang="ru-RU" sz="3200" dirty="0"/>
            </a:br>
            <a:r>
              <a:rPr lang="ru-RU" sz="3200" dirty="0"/>
              <a:t>Закон распределения дискретной двумерной случайной величины (Х, Y) задан таблицей</a:t>
            </a:r>
            <a:r>
              <a:rPr lang="en-US" sz="3200" dirty="0"/>
              <a:t>.</a:t>
            </a:r>
            <a:endParaRPr lang="ru-RU" sz="32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25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051738"/>
              </p:ext>
            </p:extLst>
          </p:nvPr>
        </p:nvGraphicFramePr>
        <p:xfrm>
          <a:off x="857224" y="1857364"/>
          <a:ext cx="7429552" cy="2147700"/>
        </p:xfrm>
        <a:graphic>
          <a:graphicData uri="http://schemas.openxmlformats.org/drawingml/2006/table">
            <a:tbl>
              <a:tblPr/>
              <a:tblGrid>
                <a:gridCol w="1482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6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6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6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9966">
                <a:tc>
                  <a:txBody>
                    <a:bodyPr/>
                    <a:lstStyle/>
                    <a:p>
                      <a:pPr marL="947420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 err="1"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ru-RU" sz="12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0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ru-RU" sz="1200" i="1" dirty="0" err="1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12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60070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-1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838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0,25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561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0,15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896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0,05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0,05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/>
          <p:cNvCxnSpPr>
            <a:cxnSpLocks/>
          </p:cNvCxnSpPr>
          <p:nvPr/>
        </p:nvCxnSpPr>
        <p:spPr>
          <a:xfrm>
            <a:off x="857224" y="1857364"/>
            <a:ext cx="1410520" cy="106758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928662" y="4388911"/>
            <a:ext cx="75724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Найти:</a:t>
            </a:r>
          </a:p>
          <a:p>
            <a:r>
              <a:rPr lang="ru-RU" dirty="0"/>
              <a:t>а) законы распределения одномерных случайных величин X и Y;</a:t>
            </a:r>
          </a:p>
          <a:p>
            <a:r>
              <a:rPr lang="ru-RU" dirty="0"/>
              <a:t>б) условные законы распределения случайной величины Х при условии Y=2 и случайной величины Y при условии Х=1.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effectLst/>
              </a:rPr>
              <a:t>Решение:</a:t>
            </a:r>
            <a:endParaRPr lang="ru-RU" sz="32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26</a:t>
            </a:fld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857224" y="1428736"/>
          <a:ext cx="6572297" cy="1714511"/>
        </p:xfrm>
        <a:graphic>
          <a:graphicData uri="http://schemas.openxmlformats.org/drawingml/2006/table">
            <a:tbl>
              <a:tblPr/>
              <a:tblGrid>
                <a:gridCol w="1311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5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4155">
                <a:tc>
                  <a:txBody>
                    <a:bodyPr/>
                    <a:lstStyle/>
                    <a:p>
                      <a:pPr marL="947420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 err="1"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ru-RU" sz="12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05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ru-RU" sz="1200" i="1" dirty="0" err="1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12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60070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-1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34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953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0,25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561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0,15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403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0,1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0,05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78155" marR="47625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0,05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Прямая соединительная линия 6"/>
          <p:cNvCxnSpPr/>
          <p:nvPr/>
        </p:nvCxnSpPr>
        <p:spPr>
          <a:xfrm>
            <a:off x="857224" y="1500174"/>
            <a:ext cx="1285884" cy="7858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785786" y="3143248"/>
            <a:ext cx="80724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а)</a:t>
            </a:r>
          </a:p>
          <a:p>
            <a:r>
              <a:rPr lang="ru-RU" dirty="0"/>
              <a:t>Случайная величина Х может принимать значения</a:t>
            </a:r>
          </a:p>
          <a:p>
            <a:r>
              <a:rPr lang="ru-RU" dirty="0"/>
              <a:t>Х=1 с вероятностью р</a:t>
            </a:r>
            <a:r>
              <a:rPr lang="ru-RU" baseline="-25000" dirty="0"/>
              <a:t>1</a:t>
            </a:r>
            <a:r>
              <a:rPr lang="ru-RU" dirty="0"/>
              <a:t>=0,1+0,25+0,3+0,15=0,8 (сумма вероятностей по строке Х=1)</a:t>
            </a:r>
          </a:p>
          <a:p>
            <a:r>
              <a:rPr lang="ru-RU" dirty="0"/>
              <a:t> Х=2 с вероятностью p</a:t>
            </a:r>
            <a:r>
              <a:rPr lang="ru-RU" baseline="-25000" dirty="0"/>
              <a:t>2</a:t>
            </a:r>
            <a:r>
              <a:rPr lang="ru-RU" dirty="0"/>
              <a:t>=0,1+0,05+0+0,05=0,2 (сумма вероятностей по строке Х=2)</a:t>
            </a:r>
          </a:p>
          <a:p>
            <a:r>
              <a:rPr lang="ru-RU" dirty="0"/>
              <a:t> Проверка: сумма вероятностей ее значений равна 1.</a:t>
            </a:r>
          </a:p>
          <a:p>
            <a:r>
              <a:rPr lang="ru-RU" dirty="0"/>
              <a:t>То есть закон распределения Х:</a:t>
            </a: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671901"/>
              </p:ext>
            </p:extLst>
          </p:nvPr>
        </p:nvGraphicFramePr>
        <p:xfrm>
          <a:off x="1071538" y="5429264"/>
          <a:ext cx="3286147" cy="857232"/>
        </p:xfrm>
        <a:graphic>
          <a:graphicData uri="http://schemas.openxmlformats.org/drawingml/2006/table">
            <a:tbl>
              <a:tblPr/>
              <a:tblGrid>
                <a:gridCol w="591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733">
                <a:tc>
                  <a:txBody>
                    <a:bodyPr/>
                    <a:lstStyle/>
                    <a:p>
                      <a:pPr marR="189865" algn="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 err="1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12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99">
                <a:tc>
                  <a:txBody>
                    <a:bodyPr/>
                    <a:lstStyle/>
                    <a:p>
                      <a:pPr marR="186690" algn="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 err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12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i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0,8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857224" y="6286520"/>
            <a:ext cx="4069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Аналогично, закон распределения Y: </a:t>
            </a:r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2003"/>
              </p:ext>
            </p:extLst>
          </p:nvPr>
        </p:nvGraphicFramePr>
        <p:xfrm>
          <a:off x="4929189" y="5733256"/>
          <a:ext cx="3286147" cy="1124744"/>
        </p:xfrm>
        <a:graphic>
          <a:graphicData uri="http://schemas.openxmlformats.org/drawingml/2006/table">
            <a:tbl>
              <a:tblPr/>
              <a:tblGrid>
                <a:gridCol w="515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6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7269">
                <a:tc>
                  <a:txBody>
                    <a:bodyPr/>
                    <a:lstStyle/>
                    <a:p>
                      <a:pPr marL="75565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 err="1">
                          <a:latin typeface="Times New Roman"/>
                          <a:ea typeface="Times New Roman"/>
                          <a:cs typeface="Times New Roman"/>
                        </a:rPr>
                        <a:t>y</a:t>
                      </a:r>
                      <a:r>
                        <a:rPr lang="ru-RU" sz="1200" i="1" baseline="-25000" dirty="0" err="1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111125" algn="ctr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-1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6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475">
                <a:tc>
                  <a:txBody>
                    <a:bodyPr/>
                    <a:lstStyle/>
                    <a:p>
                      <a:pPr marL="6985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i="1">
                          <a:latin typeface="Times New Roman"/>
                          <a:ea typeface="Times New Roman"/>
                          <a:cs typeface="Times New Roman"/>
                        </a:rPr>
                        <a:t>p</a:t>
                      </a:r>
                      <a:r>
                        <a:rPr lang="ru-RU" sz="1200" i="1" baseline="-25000">
                          <a:latin typeface="Times New Roman"/>
                          <a:ea typeface="Times New Roman"/>
                          <a:cs typeface="Times New Roman"/>
                        </a:rPr>
                        <a:t>j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4610" marR="49530" algn="ctr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0,3</a:t>
                      </a:r>
                      <a:endParaRPr lang="ru-RU" sz="1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29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0,2</a:t>
                      </a:r>
                      <a:endParaRPr lang="ru-RU" sz="1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253536"/>
            <a:ext cx="8715436" cy="1143000"/>
          </a:xfrm>
        </p:spPr>
        <p:txBody>
          <a:bodyPr>
            <a:noAutofit/>
          </a:bodyPr>
          <a:lstStyle/>
          <a:p>
            <a:r>
              <a:rPr lang="ru-RU" sz="3600" dirty="0"/>
              <a:t>Условный закон распределения случайной величины Х при условии Y=2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Условный закон распределения Х при условии, что Y=2, получим, если вероятности </a:t>
            </a:r>
            <a:r>
              <a:rPr lang="ru-RU" dirty="0" err="1"/>
              <a:t>p</a:t>
            </a:r>
            <a:r>
              <a:rPr lang="ru-RU" i="1" baseline="-25000" dirty="0" err="1"/>
              <a:t>ij</a:t>
            </a:r>
            <a:r>
              <a:rPr lang="ru-RU" dirty="0"/>
              <a:t>, стоящие в столбце Y=2 общего ряда распределения (Х, Y), разделим на их сумму.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27853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19" y="4362469"/>
            <a:ext cx="8829705" cy="178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8532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240213" y="5127625"/>
              <a:ext cx="720725" cy="203200"/>
            </p14:xfrm>
          </p:contentPart>
        </mc:Choice>
        <mc:Fallback xmlns="">
          <p:pic>
            <p:nvPicPr>
              <p:cNvPr id="278532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24444" y="5063989"/>
                <a:ext cx="751905" cy="3304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8533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34200" y="5108575"/>
              <a:ext cx="601663" cy="260350"/>
            </p14:xfrm>
          </p:contentPart>
        </mc:Choice>
        <mc:Fallback xmlns="">
          <p:pic>
            <p:nvPicPr>
              <p:cNvPr id="278533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18175" y="5045285"/>
                <a:ext cx="633349" cy="3869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8534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969125" y="5154613"/>
              <a:ext cx="506413" cy="149225"/>
            </p14:xfrm>
          </p:contentPart>
        </mc:Choice>
        <mc:Fallback xmlns="">
          <p:pic>
            <p:nvPicPr>
              <p:cNvPr id="278534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53367" y="5091174"/>
                <a:ext cx="537571" cy="276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8535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97313" y="5775325"/>
              <a:ext cx="1327150" cy="15875"/>
            </p14:xfrm>
          </p:contentPart>
        </mc:Choice>
        <mc:Fallback xmlns="">
          <p:pic>
            <p:nvPicPr>
              <p:cNvPr id="278535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81462" y="5717117"/>
                <a:ext cx="1358491" cy="1322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8536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54463" y="5829300"/>
              <a:ext cx="1265237" cy="38100"/>
            </p14:xfrm>
          </p:contentPart>
        </mc:Choice>
        <mc:Fallback xmlns="">
          <p:pic>
            <p:nvPicPr>
              <p:cNvPr id="278536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38621" y="5766631"/>
                <a:ext cx="1296562" cy="1634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8537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840163" y="5886450"/>
              <a:ext cx="1376362" cy="57150"/>
            </p14:xfrm>
          </p:contentPart>
        </mc:Choice>
        <mc:Fallback xmlns="">
          <p:pic>
            <p:nvPicPr>
              <p:cNvPr id="278537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24318" y="5818944"/>
                <a:ext cx="1407692" cy="1921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8538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496050" y="5741988"/>
              <a:ext cx="1311275" cy="57150"/>
            </p14:xfrm>
          </p:contentPart>
        </mc:Choice>
        <mc:Fallback xmlns="">
          <p:pic>
            <p:nvPicPr>
              <p:cNvPr id="278538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80204" y="5679513"/>
                <a:ext cx="1342607" cy="1820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8539" name="Ink 11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53200" y="5878513"/>
              <a:ext cx="1300163" cy="69850"/>
            </p14:xfrm>
          </p:contentPart>
        </mc:Choice>
        <mc:Fallback xmlns="">
          <p:pic>
            <p:nvPicPr>
              <p:cNvPr id="278539" name="Ink 11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37353" y="5814816"/>
                <a:ext cx="1331497" cy="197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8540" name="Ink 1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08775" y="5908675"/>
              <a:ext cx="1182688" cy="46038"/>
            </p14:xfrm>
          </p:contentPart>
        </mc:Choice>
        <mc:Fallback xmlns="">
          <p:pic>
            <p:nvPicPr>
              <p:cNvPr id="278540" name="Ink 1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92919" y="5845863"/>
                <a:ext cx="1214039" cy="1716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8541" name="Ink 1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75425" y="5753100"/>
              <a:ext cx="1235075" cy="12700"/>
            </p14:xfrm>
          </p:contentPart>
        </mc:Choice>
        <mc:Fallback xmlns="">
          <p:pic>
            <p:nvPicPr>
              <p:cNvPr id="278541" name="Ink 1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59535" y="5685367"/>
                <a:ext cx="1266494" cy="1481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78542" name="Ink 1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569075" y="5794375"/>
              <a:ext cx="773113" cy="34925"/>
            </p14:xfrm>
          </p:contentPart>
        </mc:Choice>
        <mc:Fallback xmlns="">
          <p:pic>
            <p:nvPicPr>
              <p:cNvPr id="278542" name="Ink 1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53090" y="5731006"/>
                <a:ext cx="804721" cy="1616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78543" name="Ink 1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613525" y="5856288"/>
              <a:ext cx="557213" cy="79375"/>
            </p14:xfrm>
          </p:contentPart>
        </mc:Choice>
        <mc:Fallback xmlns="">
          <p:pic>
            <p:nvPicPr>
              <p:cNvPr id="278543" name="Ink 1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97666" y="5796587"/>
                <a:ext cx="588570" cy="1987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282" y="253536"/>
            <a:ext cx="8715436" cy="1143000"/>
          </a:xfrm>
        </p:spPr>
        <p:txBody>
          <a:bodyPr>
            <a:noAutofit/>
          </a:bodyPr>
          <a:lstStyle/>
          <a:p>
            <a:r>
              <a:rPr lang="ru-RU" sz="3600" dirty="0"/>
              <a:t>Условный закон распределения случайной величины Y при условии Х=1.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Аналогично для получения условного закона распределения Y при условии Х=1. Вероятности </a:t>
            </a:r>
            <a:r>
              <a:rPr lang="ru-RU" dirty="0" err="1"/>
              <a:t>p</a:t>
            </a:r>
            <a:r>
              <a:rPr lang="ru-RU" i="1" baseline="-25000" dirty="0" err="1"/>
              <a:t>ij</a:t>
            </a:r>
            <a:r>
              <a:rPr lang="ru-RU" dirty="0"/>
              <a:t>, стоящие в первой строке Х=1 общей таблицы (X, Y), делим на их сумму.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279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4357694"/>
            <a:ext cx="760095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9555" name="Ink 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2392363" y="5235575"/>
              <a:ext cx="427037" cy="41275"/>
            </p14:xfrm>
          </p:contentPart>
        </mc:Choice>
        <mc:Fallback xmlns="">
          <p:pic>
            <p:nvPicPr>
              <p:cNvPr id="279555" name="Ink 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76480" y="5173486"/>
                <a:ext cx="458442" cy="1654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9556" name="Ink 4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978275" y="5219700"/>
              <a:ext cx="452438" cy="73025"/>
            </p14:xfrm>
          </p:contentPart>
        </mc:Choice>
        <mc:Fallback xmlns="">
          <p:pic>
            <p:nvPicPr>
              <p:cNvPr id="279556" name="Ink 4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62450" y="5156388"/>
                <a:ext cx="483727" cy="199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9557" name="Ink 5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570538" y="5219700"/>
              <a:ext cx="465137" cy="95250"/>
            </p14:xfrm>
          </p:contentPart>
        </mc:Choice>
        <mc:Fallback xmlns="">
          <p:pic>
            <p:nvPicPr>
              <p:cNvPr id="279557" name="Ink 5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54486" y="5156677"/>
                <a:ext cx="496876" cy="221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9558" name="Ink 6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7143750" y="5192713"/>
              <a:ext cx="427038" cy="92075"/>
            </p14:xfrm>
          </p:contentPart>
        </mc:Choice>
        <mc:Fallback xmlns="">
          <p:pic>
            <p:nvPicPr>
              <p:cNvPr id="279558" name="Ink 6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27907" y="5129163"/>
                <a:ext cx="458364" cy="219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9559" name="Ink 7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1939925" y="5478463"/>
              <a:ext cx="1360488" cy="73025"/>
            </p14:xfrm>
          </p:contentPart>
        </mc:Choice>
        <mc:Fallback xmlns="">
          <p:pic>
            <p:nvPicPr>
              <p:cNvPr id="279559" name="Ink 7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24084" y="5418684"/>
                <a:ext cx="1391809" cy="192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9560" name="Ink 8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467100" y="5502275"/>
              <a:ext cx="1395413" cy="7938"/>
            </p14:xfrm>
          </p:contentPart>
        </mc:Choice>
        <mc:Fallback xmlns="">
          <p:pic>
            <p:nvPicPr>
              <p:cNvPr id="279560" name="Ink 8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51251" y="5470523"/>
                <a:ext cx="1426750" cy="714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9561" name="Ink 9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108575" y="5521325"/>
              <a:ext cx="1463675" cy="1588"/>
            </p14:xfrm>
          </p:contentPart>
        </mc:Choice>
        <mc:Fallback xmlns="">
          <p:pic>
            <p:nvPicPr>
              <p:cNvPr id="279561" name="Ink 9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92732" y="5241837"/>
                <a:ext cx="1495001" cy="5605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9562" name="Ink 10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6732588" y="5505450"/>
              <a:ext cx="1338262" cy="34925"/>
            </p14:xfrm>
          </p:contentPart>
        </mc:Choice>
        <mc:Fallback xmlns="">
          <p:pic>
            <p:nvPicPr>
              <p:cNvPr id="279562" name="Ink 10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16742" y="5451531"/>
                <a:ext cx="1369594" cy="1427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Функция распределения многомерной СВ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F(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x</a:t>
            </a:r>
            <a:r>
              <a:rPr lang="en-US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…, </a:t>
            </a:r>
            <a:r>
              <a:rPr lang="en-US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i="1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Функцией распределения </a:t>
            </a:r>
            <a:r>
              <a:rPr lang="ru-RU" b="1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-мерной случайной величины </a:t>
            </a:r>
            <a:r>
              <a:rPr lang="ru-RU" dirty="0"/>
              <a:t>(Х</a:t>
            </a:r>
            <a:r>
              <a:rPr lang="ru-RU" baseline="-25000" dirty="0"/>
              <a:t>1</a:t>
            </a:r>
            <a:r>
              <a:rPr lang="ru-RU" dirty="0"/>
              <a:t>, Х</a:t>
            </a:r>
            <a:r>
              <a:rPr lang="ru-RU" baseline="-25000" dirty="0"/>
              <a:t>2</a:t>
            </a:r>
            <a:r>
              <a:rPr lang="ru-RU" dirty="0"/>
              <a:t>, …, </a:t>
            </a:r>
            <a:r>
              <a:rPr lang="ru-RU" dirty="0" err="1"/>
              <a:t>Х</a:t>
            </a:r>
            <a:r>
              <a:rPr lang="ru-RU" i="1" dirty="0" err="1"/>
              <a:t>n</a:t>
            </a:r>
            <a:r>
              <a:rPr lang="ru-RU" dirty="0"/>
              <a:t>) называется функция F(</a:t>
            </a:r>
            <a:r>
              <a:rPr lang="ru-RU" i="1" dirty="0"/>
              <a:t>х</a:t>
            </a:r>
            <a:r>
              <a:rPr lang="ru-RU" i="1" baseline="-25000" dirty="0"/>
              <a:t>1</a:t>
            </a:r>
            <a:r>
              <a:rPr lang="ru-RU" i="1" dirty="0"/>
              <a:t>,х</a:t>
            </a:r>
            <a:r>
              <a:rPr lang="ru-RU" i="1" baseline="-25000" dirty="0"/>
              <a:t>2</a:t>
            </a:r>
            <a:r>
              <a:rPr lang="ru-RU" i="1" dirty="0"/>
              <a:t>, …, </a:t>
            </a:r>
            <a:r>
              <a:rPr lang="ru-RU" i="1" dirty="0" err="1"/>
              <a:t>х</a:t>
            </a:r>
            <a:r>
              <a:rPr lang="ru-RU" i="1" baseline="-25000" dirty="0" err="1"/>
              <a:t>n</a:t>
            </a:r>
            <a:r>
              <a:rPr lang="ru-RU" dirty="0"/>
              <a:t>), выражающая вероятность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совместного выполнения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неравенств </a:t>
            </a:r>
          </a:p>
          <a:p>
            <a:pPr marL="0" indent="0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Х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&lt;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ru-RU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X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&lt;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ru-RU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…, X</a:t>
            </a:r>
            <a:r>
              <a:rPr lang="ru-RU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&lt;</a:t>
            </a:r>
            <a:r>
              <a:rPr lang="ru-RU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ru-RU" i="1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</a:t>
            </a:r>
            <a:r>
              <a:rPr lang="ru-RU" dirty="0"/>
              <a:t>то есть</a:t>
            </a:r>
          </a:p>
          <a:p>
            <a:pPr>
              <a:buNone/>
            </a:pPr>
            <a:endParaRPr lang="ru-RU" dirty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F(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x</a:t>
            </a:r>
            <a:r>
              <a:rPr lang="en-US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…, </a:t>
            </a:r>
            <a:r>
              <a:rPr lang="en-US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i="1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)=P(X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&lt;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X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&lt;</a:t>
            </a:r>
            <a:r>
              <a:rPr lang="en-US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i="1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,…, </a:t>
            </a:r>
            <a:r>
              <a:rPr lang="en-US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&lt;</a:t>
            </a:r>
            <a:r>
              <a:rPr lang="en-US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en-US" i="1" baseline="-25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В двумерном случае для случайной величины (X, Y) функция распределения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F(</a:t>
            </a:r>
            <a:r>
              <a:rPr lang="ru-RU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ru-RU" i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y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)=P(X&lt;</a:t>
            </a:r>
            <a:r>
              <a:rPr lang="ru-RU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x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Y&lt;</a:t>
            </a:r>
            <a:r>
              <a:rPr lang="ru-RU" i="1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y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Функция </a:t>
            </a:r>
            <a:r>
              <a:rPr lang="en-US" dirty="0"/>
              <a:t>F(x, y) </a:t>
            </a:r>
            <a:r>
              <a:rPr lang="ru-RU" dirty="0"/>
              <a:t>распределения двумерной СВ (Х, У)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F(</a:t>
            </a:r>
            <a:r>
              <a:rPr lang="ru-RU" i="1" dirty="0" err="1">
                <a:solidFill>
                  <a:srgbClr val="FF0000"/>
                </a:solidFill>
              </a:rPr>
              <a:t>x</a:t>
            </a:r>
            <a:r>
              <a:rPr lang="ru-RU" i="1" dirty="0">
                <a:solidFill>
                  <a:srgbClr val="FF0000"/>
                </a:solidFill>
              </a:rPr>
              <a:t>, y</a:t>
            </a:r>
            <a:r>
              <a:rPr lang="ru-RU" dirty="0">
                <a:solidFill>
                  <a:srgbClr val="FF0000"/>
                </a:solidFill>
              </a:rPr>
              <a:t>)=P(X&lt;</a:t>
            </a:r>
            <a:r>
              <a:rPr lang="ru-RU" i="1" dirty="0" err="1">
                <a:solidFill>
                  <a:srgbClr val="FF0000"/>
                </a:solidFill>
              </a:rPr>
              <a:t>x</a:t>
            </a:r>
            <a:r>
              <a:rPr lang="ru-RU" dirty="0">
                <a:solidFill>
                  <a:srgbClr val="FF0000"/>
                </a:solidFill>
              </a:rPr>
              <a:t>, Y&lt;</a:t>
            </a:r>
            <a:r>
              <a:rPr lang="ru-RU" i="1" dirty="0" err="1">
                <a:solidFill>
                  <a:srgbClr val="FF0000"/>
                </a:solidFill>
              </a:rPr>
              <a:t>y</a:t>
            </a:r>
            <a:r>
              <a:rPr lang="ru-RU" dirty="0">
                <a:solidFill>
                  <a:srgbClr val="FF0000"/>
                </a:solidFill>
              </a:rPr>
              <a:t>).</a:t>
            </a:r>
          </a:p>
          <a:p>
            <a:r>
              <a:rPr lang="ru-RU" sz="2000" u="sng" dirty="0"/>
              <a:t>Геометрически функция распределения F(</a:t>
            </a:r>
            <a:r>
              <a:rPr lang="ru-RU" sz="2000" i="1" u="sng" dirty="0" err="1"/>
              <a:t>x</a:t>
            </a:r>
            <a:r>
              <a:rPr lang="ru-RU" sz="2000" i="1" u="sng" dirty="0"/>
              <a:t>, y</a:t>
            </a:r>
            <a:r>
              <a:rPr lang="ru-RU" sz="2000" u="sng" dirty="0"/>
              <a:t>)</a:t>
            </a:r>
            <a:r>
              <a:rPr lang="ru-RU" sz="2000" dirty="0"/>
              <a:t> означает вероятность попадания случайной точки (X, Y) в заштрихованную область – бесконечный квадрант, лежащий левее и ниже точки M(</a:t>
            </a:r>
            <a:r>
              <a:rPr lang="ru-RU" sz="2000" i="1" dirty="0" err="1"/>
              <a:t>x</a:t>
            </a:r>
            <a:r>
              <a:rPr lang="ru-RU" sz="2000" i="1" dirty="0"/>
              <a:t>, y</a:t>
            </a:r>
            <a:r>
              <a:rPr lang="ru-RU" sz="2000" dirty="0"/>
              <a:t>). Верхняя и правая граница не включается (так как строго &lt;).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28596" y="5301208"/>
            <a:ext cx="800105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В случае дискретной двумерной величины ее функция распределения определяется по формуле</a:t>
            </a:r>
          </a:p>
        </p:txBody>
      </p:sp>
      <p:pic>
        <p:nvPicPr>
          <p:cNvPr id="280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26907" y="5828932"/>
            <a:ext cx="2857924" cy="822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0580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" y="1785926"/>
            <a:ext cx="4038600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Свойства функции распределения </a:t>
            </a:r>
            <a:r>
              <a:rPr lang="en-US" b="1" dirty="0"/>
              <a:t>F(x, y)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31</a:t>
            </a:fld>
            <a:endParaRPr lang="ru-RU"/>
          </a:p>
        </p:txBody>
      </p:sp>
      <p:pic>
        <p:nvPicPr>
          <p:cNvPr id="281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643050"/>
            <a:ext cx="8746244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1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059" y="3474412"/>
            <a:ext cx="8715437" cy="1610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>
              <a:xfrm>
                <a:off x="107504" y="253536"/>
                <a:ext cx="9289032" cy="114300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ru-RU" sz="3600" dirty="0"/>
                  <a:t>Плотность вероятности двумерной непрерывной случайной величины</a:t>
                </a:r>
                <a:r>
                  <a:rPr lang="en-US" sz="3600" dirty="0"/>
                  <a:t>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600" dirty="0"/>
                  <a:t>(</a:t>
                </a:r>
                <a:r>
                  <a:rPr lang="en-US" sz="3600" dirty="0" err="1"/>
                  <a:t>x,y</a:t>
                </a:r>
                <a:r>
                  <a:rPr lang="en-US" sz="3600" dirty="0"/>
                  <a:t>)</a:t>
                </a:r>
                <a:r>
                  <a:rPr lang="ru-RU" sz="3600" dirty="0"/>
                  <a:t> </a:t>
                </a:r>
              </a:p>
            </p:txBody>
          </p:sp>
        </mc:Choice>
        <mc:Fallback xmlns=""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07504" y="253536"/>
                <a:ext cx="9289032" cy="1143000"/>
              </a:xfrm>
              <a:blipFill>
                <a:blip r:embed="rId2"/>
                <a:stretch>
                  <a:fillRect b="-5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/>
                <a:r>
                  <a:rPr lang="ru-RU" dirty="0"/>
                  <a:t>Двумерная	случайная	величина (X,Y) называется	</a:t>
                </a:r>
                <a:r>
                  <a:rPr lang="ru-RU" b="1" u="sng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непрерывной</a:t>
                </a:r>
                <a:r>
                  <a:rPr lang="ru-RU" dirty="0"/>
                  <a:t>, если ее	функция распределения </a:t>
                </a:r>
                <a:r>
                  <a:rPr lang="ru-RU" i="1" dirty="0"/>
                  <a:t>F</a:t>
                </a:r>
                <a:r>
                  <a:rPr lang="ru-RU" dirty="0"/>
                  <a:t>(</a:t>
                </a:r>
                <a:r>
                  <a:rPr lang="ru-RU" i="1" dirty="0"/>
                  <a:t>x,y</a:t>
                </a:r>
                <a:r>
                  <a:rPr lang="ru-RU" dirty="0"/>
                  <a:t>) – </a:t>
                </a:r>
                <a:r>
                  <a:rPr lang="ru-RU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непрерывная функция</a:t>
                </a:r>
                <a:r>
                  <a:rPr lang="ru-RU" dirty="0"/>
                  <a:t>, дифференцируемая по каждому из аргументов, и </a:t>
                </a:r>
                <a:r>
                  <a:rPr lang="ru-RU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существует вторая смешанная производная </a:t>
                </a:r>
                <a:r>
                  <a:rPr lang="ru-RU" i="1" dirty="0"/>
                  <a:t>F'' (x,y).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/>
                <a:r>
                  <a:rPr lang="ru-RU" dirty="0"/>
                  <a:t>Аналогично одномерному случаю, </a:t>
                </a:r>
                <a:r>
                  <a:rPr lang="ru-RU" b="1" u="sng" dirty="0">
                    <a:solidFill>
                      <a:schemeClr val="bg2">
                        <a:lumMod val="20000"/>
                        <a:lumOff val="80000"/>
                      </a:schemeClr>
                    </a:solidFill>
                  </a:rPr>
                  <a:t>вероятность пары отдельно взятых значений непрерывной двумерной случайной величины равна 0</a:t>
                </a:r>
                <a:r>
                  <a:rPr lang="ru-RU" dirty="0"/>
                  <a:t>, то есть </a:t>
                </a:r>
              </a:p>
              <a:p>
                <a:pPr marL="0" indent="0">
                  <a:buNone/>
                </a:pPr>
                <a:r>
                  <a:rPr lang="ru-RU" i="1" dirty="0"/>
                  <a:t>                                    P(X</a:t>
                </a:r>
                <a:r>
                  <a:rPr lang="ru-RU" dirty="0"/>
                  <a:t>= </a:t>
                </a:r>
                <a:r>
                  <a:rPr lang="ru-RU" i="1" dirty="0" err="1"/>
                  <a:t>x</a:t>
                </a:r>
                <a:r>
                  <a:rPr lang="ru-RU" i="1" baseline="-25000" dirty="0" err="1"/>
                  <a:t>i</a:t>
                </a:r>
                <a:r>
                  <a:rPr lang="ru-RU" i="1" dirty="0"/>
                  <a:t> ,Y </a:t>
                </a:r>
                <a:r>
                  <a:rPr lang="ru-RU" dirty="0"/>
                  <a:t>= </a:t>
                </a:r>
                <a:r>
                  <a:rPr lang="ru-RU" i="1" dirty="0"/>
                  <a:t>y </a:t>
                </a:r>
                <a:r>
                  <a:rPr lang="ru-RU" i="1" baseline="-25000" dirty="0"/>
                  <a:t>j</a:t>
                </a:r>
                <a:r>
                  <a:rPr lang="ru-RU" i="1" dirty="0"/>
                  <a:t> ) </a:t>
                </a:r>
                <a:r>
                  <a:rPr lang="ru-RU" dirty="0"/>
                  <a:t>= 0 . </a:t>
                </a:r>
              </a:p>
              <a:p>
                <a:pPr marL="0" indent="0"/>
                <a:endParaRPr lang="ru-RU" dirty="0"/>
              </a:p>
              <a:p>
                <a:pPr marL="0" indent="0"/>
                <a:r>
                  <a:rPr lang="ru-RU" dirty="0"/>
                  <a:t>Для двумерной случайной величины, так же как и для одномерной, вводится понятие </a:t>
                </a:r>
                <a:r>
                  <a:rPr lang="ru-RU" b="1" u="sng" dirty="0"/>
                  <a:t>плотности вероятности</a:t>
                </a:r>
                <a:r>
                  <a:rPr lang="en-US" b="1" u="sng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 err="1"/>
                  <a:t>x,y</a:t>
                </a:r>
                <a:r>
                  <a:rPr lang="en-US" dirty="0"/>
                  <a:t>)</a:t>
                </a:r>
                <a:r>
                  <a:rPr lang="ru-RU" b="1" u="sng" dirty="0"/>
                  <a:t>.</a:t>
                </a:r>
              </a:p>
              <a:p>
                <a:pPr marL="0" indent="0"/>
                <a:endParaRPr lang="ru-RU" dirty="0"/>
              </a:p>
            </p:txBody>
          </p:sp>
        </mc:Choice>
        <mc:Fallback xmlns="">
          <p:sp>
            <p:nvSpPr>
              <p:cNvPr id="3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85" t="-2692" r="-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Содержимое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b="1" dirty="0"/>
                  <a:t>Плотностью вероятности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(</a:t>
                </a:r>
                <a:r>
                  <a:rPr lang="en-US" dirty="0" err="1"/>
                  <a:t>x,y</a:t>
                </a:r>
                <a:r>
                  <a:rPr lang="en-US" dirty="0"/>
                  <a:t>)</a:t>
                </a:r>
                <a:r>
                  <a:rPr lang="ru-RU" b="1" dirty="0"/>
                  <a:t> </a:t>
                </a:r>
                <a:r>
                  <a:rPr lang="ru-RU" dirty="0"/>
                  <a:t>непрерывной случайной величины (X, Y) называется вторая смешанная частная производная ее функции распределения, то есть</a:t>
                </a:r>
              </a:p>
              <a:p>
                <a:pPr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Содержимое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1750" r="-10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33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238354"/>
              </p:ext>
            </p:extLst>
          </p:nvPr>
        </p:nvGraphicFramePr>
        <p:xfrm>
          <a:off x="1691680" y="4227358"/>
          <a:ext cx="5589453" cy="1289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3" imgW="1815840" imgH="419040" progId="Equation.3">
                  <p:embed/>
                </p:oleObj>
              </mc:Choice>
              <mc:Fallback>
                <p:oleObj name="Формула" r:id="rId3" imgW="1815840" imgH="41904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227358"/>
                        <a:ext cx="5589453" cy="128987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015224"/>
          </a:xfrm>
        </p:spPr>
        <p:txBody>
          <a:bodyPr>
            <a:normAutofit fontScale="90000"/>
          </a:bodyPr>
          <a:lstStyle/>
          <a:p>
            <a:r>
              <a:rPr lang="ru-RU" dirty="0"/>
              <a:t>Свойства плотности вероятности двумерной непрерывной СВ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34</a:t>
            </a:fld>
            <a:endParaRPr lang="ru-RU"/>
          </a:p>
        </p:txBody>
      </p:sp>
      <p:pic>
        <p:nvPicPr>
          <p:cNvPr id="2969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9847" y="1700808"/>
            <a:ext cx="8662633" cy="4371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Числовые характеристики  двумерной непрерывной СВ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35</a:t>
            </a:fld>
            <a:endParaRPr lang="ru-RU"/>
          </a:p>
        </p:txBody>
      </p:sp>
      <p:pic>
        <p:nvPicPr>
          <p:cNvPr id="2979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339752" y="1571612"/>
            <a:ext cx="4748555" cy="4233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Условные законы непрерывной двумерной СВ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Условным законом распределения одной из одномерных составляющих двумерной случайной величины </a:t>
            </a:r>
            <a:r>
              <a:rPr lang="ru-RU" dirty="0"/>
              <a:t>(X, Y) называется ее закон распределения, вычисленный при условии, что другая составляющая приняла определенное значение.</a:t>
            </a:r>
          </a:p>
          <a:p>
            <a:r>
              <a:rPr lang="ru-RU" dirty="0"/>
              <a:t>В случае </a:t>
            </a:r>
            <a:r>
              <a:rPr lang="ru-RU" u="sng" dirty="0"/>
              <a:t>непрерывных</a:t>
            </a:r>
            <a:r>
              <a:rPr lang="ru-RU" dirty="0"/>
              <a:t> случайных величин </a:t>
            </a:r>
            <a:r>
              <a:rPr lang="ru-RU" u="sng" dirty="0"/>
              <a:t>условная плотность вероятности</a:t>
            </a:r>
            <a:r>
              <a:rPr lang="ru-RU" dirty="0"/>
              <a:t> одной из одномерных составляющих двумерной случайной величины (X,Y) равна отношению совместной плотности к плотности вероятности другой составляющей.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350741"/>
              </p:ext>
            </p:extLst>
          </p:nvPr>
        </p:nvGraphicFramePr>
        <p:xfrm>
          <a:off x="2071670" y="5786454"/>
          <a:ext cx="5105600" cy="1071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2057400" imgH="431640" progId="Equation.3">
                  <p:embed/>
                </p:oleObj>
              </mc:Choice>
              <mc:Fallback>
                <p:oleObj name="Формула" r:id="rId2" imgW="2057400" imgH="43164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70" y="5786454"/>
                        <a:ext cx="5105600" cy="107154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Условные законы непрерывной двумерной величины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37</a:t>
            </a:fld>
            <a:endParaRPr lang="ru-RU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D195C7F-4CCD-42BE-8B32-53FC3C719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9" y="1646238"/>
            <a:ext cx="8490276" cy="4868330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 сегодня все, всем спасибо </a:t>
            </a:r>
            <a:r>
              <a:rPr lang="ru-RU"/>
              <a:t>за участие!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38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1677</TotalTime>
  <Words>1405</Words>
  <Application>Microsoft Office PowerPoint</Application>
  <PresentationFormat>Экран (4:3)</PresentationFormat>
  <Paragraphs>237</Paragraphs>
  <Slides>38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7" baseType="lpstr">
      <vt:lpstr>Calibri</vt:lpstr>
      <vt:lpstr>Cambria</vt:lpstr>
      <vt:lpstr>Cambria Math</vt:lpstr>
      <vt:lpstr>Rockwell</vt:lpstr>
      <vt:lpstr>Symbol</vt:lpstr>
      <vt:lpstr>Times New Roman</vt:lpstr>
      <vt:lpstr>Wingdings 2</vt:lpstr>
      <vt:lpstr>Литейная</vt:lpstr>
      <vt:lpstr>Формула</vt:lpstr>
      <vt:lpstr>Теория вероятностей и математическая статистика. Лекция 5</vt:lpstr>
      <vt:lpstr>Презентация PowerPoint</vt:lpstr>
      <vt:lpstr>Равномерный закон распределния</vt:lpstr>
      <vt:lpstr>Презентация PowerPoint</vt:lpstr>
      <vt:lpstr>Задача:</vt:lpstr>
      <vt:lpstr>Презентация PowerPoint</vt:lpstr>
      <vt:lpstr>Экспоненциальный (показательный)закон распределения</vt:lpstr>
      <vt:lpstr>Презентация PowerPoint</vt:lpstr>
      <vt:lpstr>Нормальный закон распределения</vt:lpstr>
      <vt:lpstr>График плотности вероятности нормального закона распределения N(a; σ2)</vt:lpstr>
      <vt:lpstr>Функция нормального закона распределения N(a; σ2)</vt:lpstr>
      <vt:lpstr>Числовые характеристики СВ  X∈ N(a; σ2)</vt:lpstr>
      <vt:lpstr>Пусть σ=const и меняется параметр а (а3&lt;a2&lt;a1),</vt:lpstr>
      <vt:lpstr>Пусть а=const и меняется параметр σ (σ1&lt;σ2&lt;σ3),</vt:lpstr>
      <vt:lpstr>Стандартный нормальный закон распределения N(0; 1) </vt:lpstr>
      <vt:lpstr>График плотности вероятности N(0; 1)</vt:lpstr>
      <vt:lpstr>Свойства случайной величины, распределенной по нормальному закону</vt:lpstr>
      <vt:lpstr>Многомерные случайные величины</vt:lpstr>
      <vt:lpstr>Примеры многомерных СВ</vt:lpstr>
      <vt:lpstr>Презентация PowerPoint</vt:lpstr>
      <vt:lpstr>Типы многомерных случайных величин</vt:lpstr>
      <vt:lpstr>Закон распределения двумерной дискретной величины (X, Y)</vt:lpstr>
      <vt:lpstr>Таблица распределения дискретной случайной величины (X, Y)</vt:lpstr>
      <vt:lpstr>Условные законы распределения дискретной двумерной СВ</vt:lpstr>
      <vt:lpstr>Задача Закон распределения дискретной двумерной случайной величины (Х, Y) задан таблицей.</vt:lpstr>
      <vt:lpstr>Решение:</vt:lpstr>
      <vt:lpstr>Условный закон распределения случайной величины Х при условии Y=2 </vt:lpstr>
      <vt:lpstr>Условный закон распределения случайной величины Y при условии Х=1.</vt:lpstr>
      <vt:lpstr>Функция распределения многомерной СВ F(x1, x2, …, xn)</vt:lpstr>
      <vt:lpstr>Функция F(x, y) распределения двумерной СВ (Х, У)</vt:lpstr>
      <vt:lpstr>Свойства функции распределения F(x, y)</vt:lpstr>
      <vt:lpstr>Плотность вероятности двумерной непрерывной случайной величины φ(x,y) </vt:lpstr>
      <vt:lpstr>Презентация PowerPoint</vt:lpstr>
      <vt:lpstr>Свойства плотности вероятности двумерной непрерывной СВ</vt:lpstr>
      <vt:lpstr>Числовые характеристики  двумерной непрерывной СВ</vt:lpstr>
      <vt:lpstr>Условные законы непрерывной двумерной СВ </vt:lpstr>
      <vt:lpstr>Условные законы непрерывной двумерной величины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 s</cp:lastModifiedBy>
  <cp:revision>199</cp:revision>
  <dcterms:created xsi:type="dcterms:W3CDTF">2021-02-04T09:02:28Z</dcterms:created>
  <dcterms:modified xsi:type="dcterms:W3CDTF">2026-02-16T08:52:34Z</dcterms:modified>
</cp:coreProperties>
</file>