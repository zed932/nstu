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60" r:id="rId1"/>
  </p:sldMasterIdLst>
  <p:notesMasterIdLst>
    <p:notesMasterId r:id="rId37"/>
  </p:notesMasterIdLst>
  <p:sldIdLst>
    <p:sldId id="256" r:id="rId2"/>
    <p:sldId id="551" r:id="rId3"/>
    <p:sldId id="552" r:id="rId4"/>
    <p:sldId id="553" r:id="rId5"/>
    <p:sldId id="554" r:id="rId6"/>
    <p:sldId id="556" r:id="rId7"/>
    <p:sldId id="557" r:id="rId8"/>
    <p:sldId id="558" r:id="rId9"/>
    <p:sldId id="559" r:id="rId10"/>
    <p:sldId id="555" r:id="rId11"/>
    <p:sldId id="561" r:id="rId12"/>
    <p:sldId id="563" r:id="rId13"/>
    <p:sldId id="566" r:id="rId14"/>
    <p:sldId id="570" r:id="rId15"/>
    <p:sldId id="571" r:id="rId16"/>
    <p:sldId id="572" r:id="rId17"/>
    <p:sldId id="564" r:id="rId18"/>
    <p:sldId id="584" r:id="rId19"/>
    <p:sldId id="569" r:id="rId20"/>
    <p:sldId id="573" r:id="rId21"/>
    <p:sldId id="568" r:id="rId22"/>
    <p:sldId id="565" r:id="rId23"/>
    <p:sldId id="574" r:id="rId24"/>
    <p:sldId id="575" r:id="rId25"/>
    <p:sldId id="577" r:id="rId26"/>
    <p:sldId id="579" r:id="rId27"/>
    <p:sldId id="580" r:id="rId28"/>
    <p:sldId id="581" r:id="rId29"/>
    <p:sldId id="582" r:id="rId30"/>
    <p:sldId id="578" r:id="rId31"/>
    <p:sldId id="583" r:id="rId32"/>
    <p:sldId id="547" r:id="rId33"/>
    <p:sldId id="548" r:id="rId34"/>
    <p:sldId id="550" r:id="rId35"/>
    <p:sldId id="546" r:id="rId36"/>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E4D4A"/>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Стиль из темы 1 - акцент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525" autoAdjust="0"/>
  </p:normalViewPr>
  <p:slideViewPr>
    <p:cSldViewPr>
      <p:cViewPr varScale="1">
        <p:scale>
          <a:sx n="92" d="100"/>
          <a:sy n="92" d="100"/>
        </p:scale>
        <p:origin x="944"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 s" userId="b32979be72172c5e" providerId="LiveId" clId="{1A9D4396-1918-4F43-B4DF-954C8EB3F697}"/>
    <pc:docChg chg="custSel modSld">
      <pc:chgData name="e s" userId="b32979be72172c5e" providerId="LiveId" clId="{1A9D4396-1918-4F43-B4DF-954C8EB3F697}" dt="2026-02-16T09:40:16.849" v="5" actId="1076"/>
      <pc:docMkLst>
        <pc:docMk/>
      </pc:docMkLst>
      <pc:sldChg chg="addSp delSp modSp mod">
        <pc:chgData name="e s" userId="b32979be72172c5e" providerId="LiveId" clId="{1A9D4396-1918-4F43-B4DF-954C8EB3F697}" dt="2026-02-16T09:40:16.849" v="5" actId="1076"/>
        <pc:sldMkLst>
          <pc:docMk/>
          <pc:sldMk cId="0" sldId="547"/>
        </pc:sldMkLst>
        <pc:spChg chg="add mod">
          <ac:chgData name="e s" userId="b32979be72172c5e" providerId="LiveId" clId="{1A9D4396-1918-4F43-B4DF-954C8EB3F697}" dt="2026-02-16T09:40:09.078" v="0" actId="478"/>
          <ac:spMkLst>
            <pc:docMk/>
            <pc:sldMk cId="0" sldId="547"/>
            <ac:spMk id="9" creationId="{C2B7569F-3A86-A356-464D-720579552BF3}"/>
          </ac:spMkLst>
        </pc:spChg>
        <pc:graphicFrameChg chg="del">
          <ac:chgData name="e s" userId="b32979be72172c5e" providerId="LiveId" clId="{1A9D4396-1918-4F43-B4DF-954C8EB3F697}" dt="2026-02-16T09:40:09.078" v="0" actId="478"/>
          <ac:graphicFrameMkLst>
            <pc:docMk/>
            <pc:sldMk cId="0" sldId="547"/>
            <ac:graphicFrameMk id="8" creationId="{00000000-0000-0000-0000-000000000000}"/>
          </ac:graphicFrameMkLst>
        </pc:graphicFrameChg>
        <pc:picChg chg="add mod">
          <ac:chgData name="e s" userId="b32979be72172c5e" providerId="LiveId" clId="{1A9D4396-1918-4F43-B4DF-954C8EB3F697}" dt="2026-02-16T09:40:16.849" v="5" actId="1076"/>
          <ac:picMkLst>
            <pc:docMk/>
            <pc:sldMk cId="0" sldId="547"/>
            <ac:picMk id="11" creationId="{31F3EBF2-8C55-EEBA-2185-2DF9635EA71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F777D3-0B2B-48AE-98C1-113779481BCC}" type="datetimeFigureOut">
              <a:rPr lang="ru-RU" smtClean="0"/>
              <a:pPr/>
              <a:t>16.02.2026</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08C6C41-54EF-49D8-8026-9CCF966A16E6}" type="slidenum">
              <a:rPr lang="ru-RU" smtClean="0"/>
              <a:pPr/>
              <a:t>‹#›</a:t>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Прямоугольник с двумя скругленными противолежащими углами 6"/>
          <p:cNvSpPr/>
          <p:nvPr/>
        </p:nvSpPr>
        <p:spPr>
          <a:xfrm>
            <a:off x="164592" y="146304"/>
            <a:ext cx="8814816" cy="2505456"/>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Заголовок 7"/>
          <p:cNvSpPr>
            <a:spLocks noGrp="1"/>
          </p:cNvSpPr>
          <p:nvPr>
            <p:ph type="ctrTitle"/>
          </p:nvPr>
        </p:nvSpPr>
        <p:spPr>
          <a:xfrm>
            <a:off x="464234" y="381001"/>
            <a:ext cx="8229600" cy="2209800"/>
          </a:xfrm>
        </p:spPr>
        <p:txBody>
          <a:bodyPr lIns="45720" rIns="228600" anchor="b">
            <a:normAutofit/>
          </a:bodyPr>
          <a:lstStyle>
            <a:lvl1pPr marL="0" algn="r">
              <a:defRPr sz="4800"/>
            </a:lvl1pPr>
            <a:extLst/>
          </a:lstStyle>
          <a:p>
            <a:r>
              <a:rPr kumimoji="0" lang="ru-RU"/>
              <a:t>Образец заголовка</a:t>
            </a:r>
            <a:endParaRPr kumimoji="0" lang="en-US"/>
          </a:p>
        </p:txBody>
      </p:sp>
      <p:sp>
        <p:nvSpPr>
          <p:cNvPr id="9" name="Подзаголовок 8"/>
          <p:cNvSpPr>
            <a:spLocks noGrp="1"/>
          </p:cNvSpPr>
          <p:nvPr>
            <p:ph type="subTitle" idx="1"/>
          </p:nvPr>
        </p:nvSpPr>
        <p:spPr>
          <a:xfrm>
            <a:off x="2133600" y="2819400"/>
            <a:ext cx="6560234" cy="1752600"/>
          </a:xfrm>
        </p:spPr>
        <p:txBody>
          <a:bodyPr lIns="45720" rIns="246888"/>
          <a:lstStyle>
            <a:lvl1pPr marL="0" indent="0" algn="r">
              <a:spcBef>
                <a:spcPts val="0"/>
              </a:spcBef>
              <a:buNone/>
              <a:defRPr>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ru-RU"/>
              <a:t>Образец подзаголовка</a:t>
            </a:r>
            <a:endParaRPr kumimoji="0" lang="en-US"/>
          </a:p>
        </p:txBody>
      </p:sp>
      <p:sp>
        <p:nvSpPr>
          <p:cNvPr id="10" name="Дата 9"/>
          <p:cNvSpPr>
            <a:spLocks noGrp="1"/>
          </p:cNvSpPr>
          <p:nvPr>
            <p:ph type="dt" sz="half" idx="10"/>
          </p:nvPr>
        </p:nvSpPr>
        <p:spPr>
          <a:xfrm>
            <a:off x="5562600" y="6509004"/>
            <a:ext cx="3002280" cy="274320"/>
          </a:xfrm>
        </p:spPr>
        <p:txBody>
          <a:bodyPr vert="horz" rtlCol="0"/>
          <a:lstStyle/>
          <a:p>
            <a:fld id="{9DA4B023-4EC8-4E87-8D10-87005E855F51}" type="datetime1">
              <a:rPr lang="ru-RU" smtClean="0"/>
              <a:pPr/>
              <a:t>16.02.2026</a:t>
            </a:fld>
            <a:endParaRPr lang="ru-RU"/>
          </a:p>
        </p:txBody>
      </p:sp>
      <p:sp>
        <p:nvSpPr>
          <p:cNvPr id="11" name="Номер слайда 10"/>
          <p:cNvSpPr>
            <a:spLocks noGrp="1"/>
          </p:cNvSpPr>
          <p:nvPr>
            <p:ph type="sldNum" sz="quarter" idx="11"/>
          </p:nvPr>
        </p:nvSpPr>
        <p:spPr>
          <a:xfrm>
            <a:off x="8638952" y="6509004"/>
            <a:ext cx="464288" cy="274320"/>
          </a:xfrm>
        </p:spPr>
        <p:txBody>
          <a:bodyPr vert="horz" rtlCol="0"/>
          <a:lstStyle>
            <a:lvl1pPr>
              <a:defRPr>
                <a:solidFill>
                  <a:schemeClr val="tx2">
                    <a:shade val="90000"/>
                  </a:schemeClr>
                </a:solidFill>
              </a:defRPr>
            </a:lvl1pPr>
            <a:extLst/>
          </a:lstStyle>
          <a:p>
            <a:fld id="{0CC3DD56-44D6-4410-A1D4-F947CD7B8BFD}" type="slidenum">
              <a:rPr lang="ru-RU" smtClean="0"/>
              <a:pPr/>
              <a:t>‹#›</a:t>
            </a:fld>
            <a:endParaRPr lang="ru-RU"/>
          </a:p>
        </p:txBody>
      </p:sp>
      <p:sp>
        <p:nvSpPr>
          <p:cNvPr id="12" name="Нижний колонтитул 11"/>
          <p:cNvSpPr>
            <a:spLocks noGrp="1"/>
          </p:cNvSpPr>
          <p:nvPr>
            <p:ph type="ftr" sz="quarter" idx="12"/>
          </p:nvPr>
        </p:nvSpPr>
        <p:spPr>
          <a:xfrm>
            <a:off x="1600200" y="6509004"/>
            <a:ext cx="3907464" cy="274320"/>
          </a:xfrm>
        </p:spPr>
        <p:txBody>
          <a:bodyPr vert="horz" rtlCol="0"/>
          <a:lstStyle/>
          <a:p>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7" name="Прямоугольник 6"/>
          <p:cNvSpPr/>
          <p:nvPr/>
        </p:nvSpPr>
        <p:spPr>
          <a:xfrm>
            <a:off x="588392" y="1424588"/>
            <a:ext cx="8001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Заголовок 1"/>
          <p:cNvSpPr>
            <a:spLocks noGrp="1"/>
          </p:cNvSpPr>
          <p:nvPr>
            <p:ph type="title"/>
          </p:nvPr>
        </p:nvSpPr>
        <p:spPr/>
        <p:txBody>
          <a:bodyPr/>
          <a:lstStyle/>
          <a:p>
            <a:r>
              <a:rPr kumimoji="0" lang="ru-RU"/>
              <a:t>Образец заголовка</a:t>
            </a:r>
            <a:endParaRPr kumimoji="0" lang="en-US"/>
          </a:p>
        </p:txBody>
      </p:sp>
      <p:sp>
        <p:nvSpPr>
          <p:cNvPr id="3" name="Содержимое 2"/>
          <p:cNvSpPr>
            <a:spLocks noGrp="1"/>
          </p:cNvSpPr>
          <p:nvPr>
            <p:ph idx="1"/>
          </p:nvPr>
        </p:nvSpPr>
        <p:spPr/>
        <p:txBody>
          <a:body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fld id="{C642A1EA-5706-405C-9D82-D3F50139CBDF}" type="datetime1">
              <a:rPr lang="ru-RU" smtClean="0"/>
              <a:pPr/>
              <a:t>16.02.2026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CC3DD56-44D6-4410-A1D4-F947CD7B8BFD}"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7" name="Прямоугольник 6"/>
          <p:cNvSpPr/>
          <p:nvPr/>
        </p:nvSpPr>
        <p:spPr>
          <a:xfrm>
            <a:off x="1000128" y="3267456"/>
            <a:ext cx="74066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Заголовок 1"/>
          <p:cNvSpPr>
            <a:spLocks noGrp="1"/>
          </p:cNvSpPr>
          <p:nvPr>
            <p:ph type="title"/>
          </p:nvPr>
        </p:nvSpPr>
        <p:spPr>
          <a:xfrm>
            <a:off x="722376" y="498230"/>
            <a:ext cx="7772400" cy="2731008"/>
          </a:xfrm>
        </p:spPr>
        <p:txBody>
          <a:bodyPr rIns="100584"/>
          <a:lstStyle>
            <a:lvl1pPr algn="r">
              <a:buNone/>
              <a:defRPr sz="4000" b="1" cap="none">
                <a:solidFill>
                  <a:schemeClr val="accent1">
                    <a:tint val="95000"/>
                    <a:satMod val="200000"/>
                  </a:schemeClr>
                </a:solidFill>
              </a:defRPr>
            </a:lvl1pPr>
            <a:extLst/>
          </a:lstStyle>
          <a:p>
            <a:r>
              <a:rPr kumimoji="0" lang="ru-RU"/>
              <a:t>Образец заголовка</a:t>
            </a:r>
            <a:endParaRPr kumimoji="0" lang="en-US"/>
          </a:p>
        </p:txBody>
      </p:sp>
      <p:sp>
        <p:nvSpPr>
          <p:cNvPr id="3" name="Текст 2"/>
          <p:cNvSpPr>
            <a:spLocks noGrp="1"/>
          </p:cNvSpPr>
          <p:nvPr>
            <p:ph type="body" idx="1"/>
          </p:nvPr>
        </p:nvSpPr>
        <p:spPr>
          <a:xfrm>
            <a:off x="722313" y="3287713"/>
            <a:ext cx="7772400" cy="1509712"/>
          </a:xfrm>
        </p:spPr>
        <p:txBody>
          <a:bodyPr rIns="128016" anchor="t"/>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ru-RU"/>
              <a:t>Образец текста</a:t>
            </a:r>
          </a:p>
        </p:txBody>
      </p:sp>
      <p:sp>
        <p:nvSpPr>
          <p:cNvPr id="8" name="Дата 7"/>
          <p:cNvSpPr>
            <a:spLocks noGrp="1"/>
          </p:cNvSpPr>
          <p:nvPr>
            <p:ph type="dt" sz="half" idx="10"/>
          </p:nvPr>
        </p:nvSpPr>
        <p:spPr>
          <a:xfrm>
            <a:off x="5562600" y="6513670"/>
            <a:ext cx="3002280" cy="274320"/>
          </a:xfrm>
        </p:spPr>
        <p:txBody>
          <a:bodyPr vert="horz" rtlCol="0"/>
          <a:lstStyle/>
          <a:p>
            <a:fld id="{2721A47F-BF8D-4158-90B0-8D81B0AD755C}" type="datetime1">
              <a:rPr lang="ru-RU" smtClean="0"/>
              <a:pPr/>
              <a:t>16.02.2026</a:t>
            </a:fld>
            <a:endParaRPr lang="ru-RU"/>
          </a:p>
        </p:txBody>
      </p:sp>
      <p:sp>
        <p:nvSpPr>
          <p:cNvPr id="9" name="Номер слайда 8"/>
          <p:cNvSpPr>
            <a:spLocks noGrp="1"/>
          </p:cNvSpPr>
          <p:nvPr>
            <p:ph type="sldNum" sz="quarter" idx="11"/>
          </p:nvPr>
        </p:nvSpPr>
        <p:spPr>
          <a:xfrm>
            <a:off x="8638952" y="6513670"/>
            <a:ext cx="464288" cy="274320"/>
          </a:xfrm>
        </p:spPr>
        <p:txBody>
          <a:bodyPr vert="horz" rtlCol="0"/>
          <a:lstStyle>
            <a:lvl1pPr>
              <a:defRPr>
                <a:solidFill>
                  <a:schemeClr val="tx2">
                    <a:shade val="90000"/>
                  </a:schemeClr>
                </a:solidFill>
              </a:defRPr>
            </a:lvl1pPr>
            <a:extLst/>
          </a:lstStyle>
          <a:p>
            <a:fld id="{0CC3DD56-44D6-4410-A1D4-F947CD7B8BFD}" type="slidenum">
              <a:rPr lang="ru-RU" smtClean="0"/>
              <a:pPr/>
              <a:t>‹#›</a:t>
            </a:fld>
            <a:endParaRPr lang="ru-RU"/>
          </a:p>
        </p:txBody>
      </p:sp>
      <p:sp>
        <p:nvSpPr>
          <p:cNvPr id="10" name="Нижний колонтитул 9"/>
          <p:cNvSpPr>
            <a:spLocks noGrp="1"/>
          </p:cNvSpPr>
          <p:nvPr>
            <p:ph type="ftr" sz="quarter" idx="12"/>
          </p:nvPr>
        </p:nvSpPr>
        <p:spPr>
          <a:xfrm>
            <a:off x="1600200" y="6513670"/>
            <a:ext cx="3907464" cy="274320"/>
          </a:xfrm>
        </p:spPr>
        <p:txBody>
          <a:bodyPr vert="horz" rtlCol="0"/>
          <a:lstStyle/>
          <a:p>
            <a:endParaRPr lang="ru-R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a:t>Образец заголовка</a:t>
            </a:r>
            <a:endParaRPr kumimoji="0" lang="en-US"/>
          </a:p>
        </p:txBody>
      </p:sp>
      <p:sp>
        <p:nvSpPr>
          <p:cNvPr id="3" name="Содержимое 2"/>
          <p:cNvSpPr>
            <a:spLocks noGrp="1"/>
          </p:cNvSpPr>
          <p:nvPr>
            <p:ph sz="half" idx="1"/>
          </p:nvPr>
        </p:nvSpPr>
        <p:spPr>
          <a:xfrm>
            <a:off x="457200" y="1645920"/>
            <a:ext cx="4038600" cy="45262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Содержимое 3"/>
          <p:cNvSpPr>
            <a:spLocks noGrp="1"/>
          </p:cNvSpPr>
          <p:nvPr>
            <p:ph sz="half" idx="2"/>
          </p:nvPr>
        </p:nvSpPr>
        <p:spPr>
          <a:xfrm>
            <a:off x="4648200" y="1645920"/>
            <a:ext cx="4038600" cy="452628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5" name="Дата 4"/>
          <p:cNvSpPr>
            <a:spLocks noGrp="1"/>
          </p:cNvSpPr>
          <p:nvPr>
            <p:ph type="dt" sz="half" idx="10"/>
          </p:nvPr>
        </p:nvSpPr>
        <p:spPr/>
        <p:txBody>
          <a:bodyPr/>
          <a:lstStyle/>
          <a:p>
            <a:fld id="{2D35F9C3-7EE8-42E5-8BDE-3535E02067D3}" type="datetime1">
              <a:rPr lang="ru-RU" smtClean="0"/>
              <a:pPr/>
              <a:t>16.02.2026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a:xfrm>
            <a:off x="8641080" y="6514568"/>
            <a:ext cx="464288" cy="274320"/>
          </a:xfrm>
        </p:spPr>
        <p:txBody>
          <a:bodyPr/>
          <a:lstStyle/>
          <a:p>
            <a:fld id="{0CC3DD56-44D6-4410-A1D4-F947CD7B8BFD}" type="slidenum">
              <a:rPr lang="ru-RU" smtClean="0"/>
              <a:pPr/>
              <a:t>‹#›</a:t>
            </a:fld>
            <a:endParaRPr lang="ru-RU"/>
          </a:p>
        </p:txBody>
      </p:sp>
      <p:sp>
        <p:nvSpPr>
          <p:cNvPr id="10" name="Прямоугольник 9"/>
          <p:cNvSpPr/>
          <p:nvPr/>
        </p:nvSpPr>
        <p:spPr>
          <a:xfrm>
            <a:off x="588392" y="1424588"/>
            <a:ext cx="8001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Прямоугольник 9"/>
          <p:cNvSpPr/>
          <p:nvPr/>
        </p:nvSpPr>
        <p:spPr>
          <a:xfrm>
            <a:off x="616744" y="2165216"/>
            <a:ext cx="37490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p>
            <a:pPr algn="ctr" eaLnBrk="1" latinLnBrk="0" hangingPunct="1"/>
            <a:endParaRPr kumimoji="0" lang="en-US"/>
          </a:p>
        </p:txBody>
      </p:sp>
      <p:sp>
        <p:nvSpPr>
          <p:cNvPr id="11" name="Прямоугольник 10"/>
          <p:cNvSpPr/>
          <p:nvPr/>
        </p:nvSpPr>
        <p:spPr>
          <a:xfrm>
            <a:off x="4800600" y="2165216"/>
            <a:ext cx="37490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b"/>
          <a:lstStyle/>
          <a:p>
            <a:pPr algn="ctr" eaLnBrk="1" latinLnBrk="0" hangingPunct="1"/>
            <a:endParaRPr kumimoji="0" lang="en-US"/>
          </a:p>
        </p:txBody>
      </p:sp>
      <p:sp>
        <p:nvSpPr>
          <p:cNvPr id="2" name="Заголовок 1"/>
          <p:cNvSpPr>
            <a:spLocks noGrp="1"/>
          </p:cNvSpPr>
          <p:nvPr>
            <p:ph type="title"/>
          </p:nvPr>
        </p:nvSpPr>
        <p:spPr>
          <a:xfrm>
            <a:off x="457200" y="251948"/>
            <a:ext cx="8229600" cy="1143000"/>
          </a:xfrm>
        </p:spPr>
        <p:txBody>
          <a:bodyPr anchor="b"/>
          <a:lstStyle>
            <a:lvl1pPr>
              <a:defRPr/>
            </a:lvl1pPr>
            <a:extLst/>
          </a:lstStyle>
          <a:p>
            <a:r>
              <a:rPr kumimoji="0" lang="ru-RU"/>
              <a:t>Образец заголовка</a:t>
            </a:r>
            <a:endParaRPr kumimoji="0" lang="en-US"/>
          </a:p>
        </p:txBody>
      </p:sp>
      <p:sp>
        <p:nvSpPr>
          <p:cNvPr id="3" name="Текст 2"/>
          <p:cNvSpPr>
            <a:spLocks noGrp="1"/>
          </p:cNvSpPr>
          <p:nvPr>
            <p:ph type="body" idx="1"/>
          </p:nvPr>
        </p:nvSpPr>
        <p:spPr>
          <a:xfrm>
            <a:off x="457200" y="1535113"/>
            <a:ext cx="4040188"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eaLnBrk="1" latinLnBrk="0" hangingPunct="1"/>
            <a:r>
              <a:rPr kumimoji="0" lang="ru-RU"/>
              <a:t>Образец текста</a:t>
            </a:r>
          </a:p>
        </p:txBody>
      </p:sp>
      <p:sp>
        <p:nvSpPr>
          <p:cNvPr id="4" name="Текст 3"/>
          <p:cNvSpPr>
            <a:spLocks noGrp="1"/>
          </p:cNvSpPr>
          <p:nvPr>
            <p:ph type="body" sz="half" idx="3"/>
          </p:nvPr>
        </p:nvSpPr>
        <p:spPr>
          <a:xfrm>
            <a:off x="4645025" y="1535113"/>
            <a:ext cx="4041775" cy="639762"/>
          </a:xfrm>
        </p:spPr>
        <p:txBody>
          <a:bodyPr anchor="b">
            <a:noAutofit/>
          </a:bodyPr>
          <a:lstStyle>
            <a:lvl1pPr marL="91440" indent="0" algn="l">
              <a:spcBef>
                <a:spcPts val="0"/>
              </a:spcBef>
              <a:buNone/>
              <a:defRPr sz="2200" b="0" cap="all" baseline="0"/>
            </a:lvl1pPr>
            <a:lvl2pPr>
              <a:buNone/>
              <a:defRPr sz="2000" b="1"/>
            </a:lvl2pPr>
            <a:lvl3pPr>
              <a:buNone/>
              <a:defRPr sz="1800" b="1"/>
            </a:lvl3pPr>
            <a:lvl4pPr>
              <a:buNone/>
              <a:defRPr sz="1600" b="1"/>
            </a:lvl4pPr>
            <a:lvl5pPr>
              <a:buNone/>
              <a:defRPr sz="1600" b="1"/>
            </a:lvl5pPr>
            <a:extLst/>
          </a:lstStyle>
          <a:p>
            <a:pPr lvl="0" eaLnBrk="1" latinLnBrk="0" hangingPunct="1"/>
            <a:r>
              <a:rPr kumimoji="0" lang="ru-RU"/>
              <a:t>Образец текста</a:t>
            </a:r>
          </a:p>
        </p:txBody>
      </p:sp>
      <p:sp>
        <p:nvSpPr>
          <p:cNvPr id="5" name="Содержимое 4"/>
          <p:cNvSpPr>
            <a:spLocks noGrp="1"/>
          </p:cNvSpPr>
          <p:nvPr>
            <p:ph sz="quarter" idx="2"/>
          </p:nvPr>
        </p:nvSpPr>
        <p:spPr>
          <a:xfrm>
            <a:off x="457200" y="2362200"/>
            <a:ext cx="4040188" cy="3941763"/>
          </a:xfrm>
        </p:spPr>
        <p:txBody>
          <a:bodyPr lIns="91440"/>
          <a:lstStyle>
            <a:lvl1pPr>
              <a:defRPr sz="2200"/>
            </a:lvl1pPr>
            <a:lvl2pPr>
              <a:defRPr sz="2000"/>
            </a:lvl2pPr>
            <a:lvl3pPr>
              <a:defRPr sz="1800"/>
            </a:lvl3pPr>
            <a:lvl4pPr>
              <a:defRPr sz="1600"/>
            </a:lvl4pPr>
            <a:lvl5pPr>
              <a:defRPr sz="1600"/>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6" name="Содержимое 5"/>
          <p:cNvSpPr>
            <a:spLocks noGrp="1"/>
          </p:cNvSpPr>
          <p:nvPr>
            <p:ph sz="quarter" idx="4"/>
          </p:nvPr>
        </p:nvSpPr>
        <p:spPr>
          <a:xfrm>
            <a:off x="4645025" y="2362200"/>
            <a:ext cx="4041775" cy="3941763"/>
          </a:xfrm>
        </p:spPr>
        <p:txBody>
          <a:bodyPr/>
          <a:lstStyle>
            <a:lvl1pPr>
              <a:defRPr sz="2200"/>
            </a:lvl1pPr>
            <a:lvl2pPr>
              <a:defRPr sz="2000"/>
            </a:lvl2pPr>
            <a:lvl3pPr>
              <a:defRPr sz="1800"/>
            </a:lvl3pPr>
            <a:lvl4pPr>
              <a:defRPr sz="1600"/>
            </a:lvl4pPr>
            <a:lvl5pPr>
              <a:defRPr sz="1600"/>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7" name="Дата 6"/>
          <p:cNvSpPr>
            <a:spLocks noGrp="1"/>
          </p:cNvSpPr>
          <p:nvPr>
            <p:ph type="dt" sz="half" idx="10"/>
          </p:nvPr>
        </p:nvSpPr>
        <p:spPr/>
        <p:txBody>
          <a:bodyPr/>
          <a:lstStyle/>
          <a:p>
            <a:fld id="{1E6B13AE-217D-46D5-9520-D042ED6C2AF8}" type="datetime1">
              <a:rPr lang="ru-RU" smtClean="0"/>
              <a:pPr/>
              <a:t>16.02.2026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a:xfrm>
            <a:off x="8641080" y="6514568"/>
            <a:ext cx="464288" cy="274320"/>
          </a:xfrm>
        </p:spPr>
        <p:txBody>
          <a:bodyPr/>
          <a:lstStyle/>
          <a:p>
            <a:fld id="{0CC3DD56-44D6-4410-A1D4-F947CD7B8BFD}"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53218"/>
            <a:ext cx="8229600" cy="1143000"/>
          </a:xfrm>
        </p:spPr>
        <p:txBody>
          <a:bodyPr/>
          <a:lstStyle/>
          <a:p>
            <a:r>
              <a:rPr kumimoji="0" lang="ru-RU"/>
              <a:t>Образец заголовка</a:t>
            </a:r>
            <a:endParaRPr kumimoji="0" lang="en-US"/>
          </a:p>
        </p:txBody>
      </p:sp>
      <p:sp>
        <p:nvSpPr>
          <p:cNvPr id="3" name="Дата 2"/>
          <p:cNvSpPr>
            <a:spLocks noGrp="1"/>
          </p:cNvSpPr>
          <p:nvPr>
            <p:ph type="dt" sz="half" idx="10"/>
          </p:nvPr>
        </p:nvSpPr>
        <p:spPr/>
        <p:txBody>
          <a:bodyPr/>
          <a:lstStyle/>
          <a:p>
            <a:fld id="{A2F697C3-AE15-413D-8801-46B3DB2C9C14}" type="datetime1">
              <a:rPr lang="ru-RU" smtClean="0"/>
              <a:pPr/>
              <a:t>16.02.2026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0CC3DD56-44D6-4410-A1D4-F947CD7B8BFD}" type="slidenum">
              <a:rPr lang="ru-RU" smtClean="0"/>
              <a:pPr/>
              <a:t>‹#›</a:t>
            </a:fld>
            <a:endParaRPr lang="ru-RU"/>
          </a:p>
        </p:txBody>
      </p:sp>
      <p:sp>
        <p:nvSpPr>
          <p:cNvPr id="7" name="Прямоугольник 6"/>
          <p:cNvSpPr/>
          <p:nvPr/>
        </p:nvSpPr>
        <p:spPr>
          <a:xfrm>
            <a:off x="588392" y="1424588"/>
            <a:ext cx="800100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6A581E1-F4BB-476C-AAE7-A11915068708}" type="datetime1">
              <a:rPr lang="ru-RU" smtClean="0"/>
              <a:pPr/>
              <a:t>16.02.2026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0CC3DD56-44D6-4410-A1D4-F947CD7B8BFD}"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bg>
      <p:bgRef idx="1001">
        <a:schemeClr val="bg2"/>
      </p:bgRef>
    </p:bg>
    <p:spTree>
      <p:nvGrpSpPr>
        <p:cNvPr id="1" name=""/>
        <p:cNvGrpSpPr/>
        <p:nvPr/>
      </p:nvGrpSpPr>
      <p:grpSpPr>
        <a:xfrm>
          <a:off x="0" y="0"/>
          <a:ext cx="0" cy="0"/>
          <a:chOff x="0" y="0"/>
          <a:chExt cx="0" cy="0"/>
        </a:xfrm>
      </p:grpSpPr>
      <p:sp>
        <p:nvSpPr>
          <p:cNvPr id="8" name="Прямоугольник 7"/>
          <p:cNvSpPr/>
          <p:nvPr/>
        </p:nvSpPr>
        <p:spPr>
          <a:xfrm>
            <a:off x="5057552" y="1057656"/>
            <a:ext cx="3749040" cy="9144"/>
          </a:xfrm>
          <a:prstGeom prst="rect">
            <a:avLst/>
          </a:prstGeom>
          <a:solidFill>
            <a:schemeClr val="accent1"/>
          </a:solidFill>
          <a:ln w="38100" cap="rnd" cmpd="sng" algn="ctr">
            <a:noFill/>
            <a:prstDash val="solid"/>
          </a:ln>
          <a:effectLst>
            <a:outerShdw blurRad="12700" dist="12900" dir="5400000" algn="tl" rotWithShape="0">
              <a:srgbClr val="000000">
                <a:alpha val="7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Заголовок 1"/>
          <p:cNvSpPr>
            <a:spLocks noGrp="1"/>
          </p:cNvSpPr>
          <p:nvPr>
            <p:ph type="title"/>
          </p:nvPr>
        </p:nvSpPr>
        <p:spPr>
          <a:xfrm>
            <a:off x="4963136" y="304800"/>
            <a:ext cx="3931920" cy="762000"/>
          </a:xfrm>
        </p:spPr>
        <p:txBody>
          <a:bodyPr anchor="b"/>
          <a:lstStyle>
            <a:lvl1pPr marL="0" algn="r">
              <a:buNone/>
              <a:defRPr sz="2000" b="1"/>
            </a:lvl1pPr>
            <a:extLst/>
          </a:lstStyle>
          <a:p>
            <a:r>
              <a:rPr kumimoji="0" lang="ru-RU"/>
              <a:t>Образец заголовка</a:t>
            </a:r>
            <a:endParaRPr kumimoji="0" lang="en-US"/>
          </a:p>
        </p:txBody>
      </p:sp>
      <p:sp>
        <p:nvSpPr>
          <p:cNvPr id="3" name="Текст 2"/>
          <p:cNvSpPr>
            <a:spLocks noGrp="1"/>
          </p:cNvSpPr>
          <p:nvPr>
            <p:ph type="body" idx="2"/>
          </p:nvPr>
        </p:nvSpPr>
        <p:spPr>
          <a:xfrm>
            <a:off x="4963136" y="1107560"/>
            <a:ext cx="3931920" cy="1066800"/>
          </a:xfrm>
        </p:spPr>
        <p:txBody>
          <a:bodyPr/>
          <a:lstStyle>
            <a:lvl1pPr marL="0" indent="0" algn="r">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ru-RU"/>
              <a:t>Образец текста</a:t>
            </a:r>
          </a:p>
        </p:txBody>
      </p:sp>
      <p:sp>
        <p:nvSpPr>
          <p:cNvPr id="4" name="Содержимое 3"/>
          <p:cNvSpPr>
            <a:spLocks noGrp="1"/>
          </p:cNvSpPr>
          <p:nvPr>
            <p:ph sz="half" idx="1"/>
          </p:nvPr>
        </p:nvSpPr>
        <p:spPr>
          <a:xfrm>
            <a:off x="228600" y="2209800"/>
            <a:ext cx="8666456" cy="3977640"/>
          </a:xfrm>
        </p:spPr>
        <p:txBody>
          <a:bodyPr/>
          <a:lstStyle>
            <a:lvl1pPr marL="292608">
              <a:defRPr sz="3200"/>
            </a:lvl1pPr>
            <a:lvl2pPr marL="594360">
              <a:defRPr sz="2800"/>
            </a:lvl2pPr>
            <a:lvl3pPr marL="822960">
              <a:defRPr sz="2400"/>
            </a:lvl3pPr>
            <a:lvl4pPr marL="1051560">
              <a:defRPr sz="2000"/>
            </a:lvl4pPr>
            <a:lvl5pPr marL="1261872">
              <a:defRPr sz="2000"/>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9" name="Дата 8"/>
          <p:cNvSpPr>
            <a:spLocks noGrp="1"/>
          </p:cNvSpPr>
          <p:nvPr>
            <p:ph type="dt" sz="half" idx="10"/>
          </p:nvPr>
        </p:nvSpPr>
        <p:spPr>
          <a:xfrm>
            <a:off x="5562600" y="6513670"/>
            <a:ext cx="3002280" cy="274320"/>
          </a:xfrm>
        </p:spPr>
        <p:txBody>
          <a:bodyPr vert="horz" rtlCol="0"/>
          <a:lstStyle/>
          <a:p>
            <a:fld id="{ECD7F1EA-FF77-48FA-AA09-32C053AB401A}" type="datetime1">
              <a:rPr lang="ru-RU" smtClean="0"/>
              <a:pPr/>
              <a:t>16.02.2026</a:t>
            </a:fld>
            <a:endParaRPr lang="ru-RU"/>
          </a:p>
        </p:txBody>
      </p:sp>
      <p:sp>
        <p:nvSpPr>
          <p:cNvPr id="10" name="Номер слайда 9"/>
          <p:cNvSpPr>
            <a:spLocks noGrp="1"/>
          </p:cNvSpPr>
          <p:nvPr>
            <p:ph type="sldNum" sz="quarter" idx="11"/>
          </p:nvPr>
        </p:nvSpPr>
        <p:spPr>
          <a:xfrm>
            <a:off x="8638952" y="6513670"/>
            <a:ext cx="464288" cy="274320"/>
          </a:xfrm>
        </p:spPr>
        <p:txBody>
          <a:bodyPr vert="horz" rtlCol="0"/>
          <a:lstStyle>
            <a:lvl1pPr>
              <a:defRPr>
                <a:solidFill>
                  <a:schemeClr val="tx2">
                    <a:shade val="90000"/>
                  </a:schemeClr>
                </a:solidFill>
              </a:defRPr>
            </a:lvl1pPr>
            <a:extLst/>
          </a:lstStyle>
          <a:p>
            <a:fld id="{0CC3DD56-44D6-4410-A1D4-F947CD7B8BFD}" type="slidenum">
              <a:rPr lang="ru-RU" smtClean="0"/>
              <a:pPr/>
              <a:t>‹#›</a:t>
            </a:fld>
            <a:endParaRPr lang="ru-RU"/>
          </a:p>
        </p:txBody>
      </p:sp>
      <p:sp>
        <p:nvSpPr>
          <p:cNvPr id="11" name="Нижний колонтитул 10"/>
          <p:cNvSpPr>
            <a:spLocks noGrp="1"/>
          </p:cNvSpPr>
          <p:nvPr>
            <p:ph type="ftr" sz="quarter" idx="12"/>
          </p:nvPr>
        </p:nvSpPr>
        <p:spPr>
          <a:xfrm>
            <a:off x="1600200" y="6513670"/>
            <a:ext cx="3907464" cy="274320"/>
          </a:xfrm>
        </p:spPr>
        <p:txBody>
          <a:bodyPr vert="horz" rtlCol="0"/>
          <a:lstStyle/>
          <a:p>
            <a:endParaRPr lang="ru-RU"/>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40443" y="4724400"/>
            <a:ext cx="5486400" cy="664536"/>
          </a:xfrm>
        </p:spPr>
        <p:txBody>
          <a:bodyPr anchor="b"/>
          <a:lstStyle>
            <a:lvl1pPr marL="0" algn="r">
              <a:buNone/>
              <a:defRPr sz="2000" b="1"/>
            </a:lvl1pPr>
            <a:extLst/>
          </a:lstStyle>
          <a:p>
            <a:r>
              <a:rPr kumimoji="0" lang="ru-RU"/>
              <a:t>Образец заголовка</a:t>
            </a:r>
            <a:endParaRPr kumimoji="0" lang="en-US"/>
          </a:p>
        </p:txBody>
      </p:sp>
      <p:sp>
        <p:nvSpPr>
          <p:cNvPr id="4" name="Текст 3"/>
          <p:cNvSpPr>
            <a:spLocks noGrp="1"/>
          </p:cNvSpPr>
          <p:nvPr>
            <p:ph type="body" sz="half" idx="2"/>
          </p:nvPr>
        </p:nvSpPr>
        <p:spPr>
          <a:xfrm>
            <a:off x="3040443" y="5388936"/>
            <a:ext cx="5486400" cy="912255"/>
          </a:xfrm>
        </p:spPr>
        <p:txBody>
          <a:bodyPr/>
          <a:lstStyle>
            <a:lvl1pPr marL="0" indent="0" algn="r">
              <a:spcBef>
                <a:spcPts val="0"/>
              </a:spcBef>
              <a:buNone/>
              <a:defRPr sz="1400"/>
            </a:lvl1pPr>
            <a:lvl2pPr>
              <a:defRPr sz="1200"/>
            </a:lvl2pPr>
            <a:lvl3pPr>
              <a:defRPr sz="1000"/>
            </a:lvl3pPr>
            <a:lvl4pPr>
              <a:defRPr sz="900"/>
            </a:lvl4pPr>
            <a:lvl5pPr>
              <a:defRPr sz="900"/>
            </a:lvl5pPr>
            <a:extLst/>
          </a:lstStyle>
          <a:p>
            <a:pPr lvl="0" eaLnBrk="1" latinLnBrk="0" hangingPunct="1"/>
            <a:r>
              <a:rPr kumimoji="0" lang="ru-RU"/>
              <a:t>Образец текста</a:t>
            </a:r>
          </a:p>
        </p:txBody>
      </p:sp>
      <p:sp>
        <p:nvSpPr>
          <p:cNvPr id="13" name="Рисунок 12"/>
          <p:cNvSpPr>
            <a:spLocks noGrp="1"/>
          </p:cNvSpPr>
          <p:nvPr>
            <p:ph type="pic" idx="1"/>
          </p:nvPr>
        </p:nvSpPr>
        <p:spPr>
          <a:xfrm>
            <a:off x="304800" y="249864"/>
            <a:ext cx="8534400" cy="4343400"/>
          </a:xfrm>
          <a:prstGeom prst="round2DiagRect">
            <a:avLst>
              <a:gd name="adj1" fmla="val 11403"/>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extLst/>
          </a:lstStyle>
          <a:p>
            <a:pPr marL="0" algn="l" rtl="0" eaLnBrk="1" latinLnBrk="0" hangingPunct="1"/>
            <a:r>
              <a:rPr kumimoji="0" lang="ru-RU">
                <a:solidFill>
                  <a:schemeClr val="lt1"/>
                </a:solidFill>
                <a:latin typeface="+mn-lt"/>
                <a:ea typeface="+mn-ea"/>
                <a:cs typeface="+mn-cs"/>
              </a:rPr>
              <a:t>Вставка рисунка</a:t>
            </a:r>
            <a:endParaRPr kumimoji="0" lang="en-US" dirty="0">
              <a:solidFill>
                <a:schemeClr val="lt1"/>
              </a:solidFill>
              <a:latin typeface="+mn-lt"/>
              <a:ea typeface="+mn-ea"/>
              <a:cs typeface="+mn-cs"/>
            </a:endParaRPr>
          </a:p>
        </p:txBody>
      </p:sp>
      <p:sp>
        <p:nvSpPr>
          <p:cNvPr id="8" name="Дата 7"/>
          <p:cNvSpPr>
            <a:spLocks noGrp="1"/>
          </p:cNvSpPr>
          <p:nvPr>
            <p:ph type="dt" sz="half" idx="10"/>
          </p:nvPr>
        </p:nvSpPr>
        <p:spPr>
          <a:xfrm>
            <a:off x="5562600" y="6509004"/>
            <a:ext cx="3002280" cy="274320"/>
          </a:xfrm>
        </p:spPr>
        <p:txBody>
          <a:bodyPr vert="horz" rtlCol="0"/>
          <a:lstStyle/>
          <a:p>
            <a:fld id="{840CA0E6-3DD9-4068-867F-F49F04F75132}" type="datetime1">
              <a:rPr lang="ru-RU" smtClean="0"/>
              <a:pPr/>
              <a:t>16.02.2026</a:t>
            </a:fld>
            <a:endParaRPr lang="ru-RU"/>
          </a:p>
        </p:txBody>
      </p:sp>
      <p:sp>
        <p:nvSpPr>
          <p:cNvPr id="9" name="Номер слайда 8"/>
          <p:cNvSpPr>
            <a:spLocks noGrp="1"/>
          </p:cNvSpPr>
          <p:nvPr>
            <p:ph type="sldNum" sz="quarter" idx="11"/>
          </p:nvPr>
        </p:nvSpPr>
        <p:spPr>
          <a:xfrm>
            <a:off x="8638952" y="6509004"/>
            <a:ext cx="464288" cy="274320"/>
          </a:xfrm>
        </p:spPr>
        <p:txBody>
          <a:bodyPr vert="horz" rtlCol="0"/>
          <a:lstStyle>
            <a:lvl1pPr>
              <a:defRPr>
                <a:solidFill>
                  <a:schemeClr val="tx2">
                    <a:shade val="90000"/>
                  </a:schemeClr>
                </a:solidFill>
              </a:defRPr>
            </a:lvl1pPr>
            <a:extLst/>
          </a:lstStyle>
          <a:p>
            <a:fld id="{0CC3DD56-44D6-4410-A1D4-F947CD7B8BFD}" type="slidenum">
              <a:rPr lang="ru-RU" smtClean="0"/>
              <a:pPr/>
              <a:t>‹#›</a:t>
            </a:fld>
            <a:endParaRPr lang="ru-RU"/>
          </a:p>
        </p:txBody>
      </p:sp>
      <p:sp>
        <p:nvSpPr>
          <p:cNvPr id="10" name="Нижний колонтитул 9"/>
          <p:cNvSpPr>
            <a:spLocks noGrp="1"/>
          </p:cNvSpPr>
          <p:nvPr>
            <p:ph type="ftr" sz="quarter" idx="12"/>
          </p:nvPr>
        </p:nvSpPr>
        <p:spPr>
          <a:xfrm>
            <a:off x="1600200" y="6509004"/>
            <a:ext cx="3907464" cy="274320"/>
          </a:xfrm>
        </p:spPr>
        <p:txBody>
          <a:bodyPr vert="horz" rtlCol="0"/>
          <a:lstStyle/>
          <a:p>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a:t>Образец заголовка</a:t>
            </a:r>
            <a:endParaRPr kumimoji="0" lang="en-US"/>
          </a:p>
        </p:txBody>
      </p:sp>
      <p:sp>
        <p:nvSpPr>
          <p:cNvPr id="3" name="Вертикальный текст 2"/>
          <p:cNvSpPr>
            <a:spLocks noGrp="1"/>
          </p:cNvSpPr>
          <p:nvPr>
            <p:ph type="body" orient="vert" idx="1"/>
          </p:nvPr>
        </p:nvSpPr>
        <p:spPr/>
        <p:txBody>
          <a:bodyPr vert="eaVer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fld id="{14FE00CA-6DCD-47B1-99B2-12BA0B83A26A}" type="datetime1">
              <a:rPr lang="ru-RU" smtClean="0"/>
              <a:pPr/>
              <a:t>16.02.2026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CC3DD56-44D6-4410-A1D4-F947CD7B8BFD}"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lvl1pPr algn="l">
              <a:defRPr/>
            </a:lvl1pPr>
            <a:extLst/>
          </a:lstStyle>
          <a:p>
            <a:r>
              <a:rPr kumimoji="0" lang="ru-RU"/>
              <a:t>Образец заголовка</a:t>
            </a:r>
            <a:endParaRPr kumimoji="0" lang="en-US"/>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fld id="{1658B74D-580E-439A-9822-DC4946DBD8DB}" type="datetime1">
              <a:rPr lang="ru-RU" smtClean="0"/>
              <a:pPr/>
              <a:t>16.02.2026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CC3DD56-44D6-4410-A1D4-F947CD7B8BFD}"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Прямоугольник с двумя скругленными противолежащими углами 6"/>
          <p:cNvSpPr/>
          <p:nvPr/>
        </p:nvSpPr>
        <p:spPr>
          <a:xfrm>
            <a:off x="164592" y="147085"/>
            <a:ext cx="8810846" cy="6565392"/>
          </a:xfrm>
          <a:prstGeom prst="round2DiagRect">
            <a:avLst>
              <a:gd name="adj1" fmla="val 11807"/>
              <a:gd name="adj2" fmla="val 0"/>
            </a:avLst>
          </a:prstGeom>
          <a:solidFill>
            <a:schemeClr val="bg2">
              <a:tint val="85000"/>
              <a:shade val="90000"/>
              <a:satMod val="150000"/>
              <a:alpha val="65000"/>
            </a:schemeClr>
          </a:solidFill>
          <a:ln w="11000" cap="rnd" cmpd="sng" algn="ctr">
            <a:solidFill>
              <a:schemeClr val="bg2">
                <a:tint val="78000"/>
                <a:satMod val="180000"/>
                <a:alpha val="88000"/>
              </a:schemeClr>
            </a:solidFill>
            <a:prstDash val="solid"/>
          </a:ln>
          <a:effectLst>
            <a:innerShdw blurRad="114300">
              <a:srgbClr val="000000">
                <a:alpha val="10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Нижний колонтитул 2"/>
          <p:cNvSpPr>
            <a:spLocks noGrp="1"/>
          </p:cNvSpPr>
          <p:nvPr>
            <p:ph type="ftr" sz="quarter" idx="3"/>
          </p:nvPr>
        </p:nvSpPr>
        <p:spPr>
          <a:xfrm>
            <a:off x="1295400" y="6400800"/>
            <a:ext cx="4212264" cy="274320"/>
          </a:xfrm>
          <a:prstGeom prst="rect">
            <a:avLst/>
          </a:prstGeom>
        </p:spPr>
        <p:txBody>
          <a:bodyPr/>
          <a:lstStyle>
            <a:lvl1pPr algn="r" eaLnBrk="1" latinLnBrk="0" hangingPunct="1">
              <a:defRPr kumimoji="0" sz="1300">
                <a:solidFill>
                  <a:schemeClr val="bg2">
                    <a:tint val="60000"/>
                    <a:satMod val="155000"/>
                  </a:schemeClr>
                </a:solidFill>
              </a:defRPr>
            </a:lvl1pPr>
            <a:extLst/>
          </a:lstStyle>
          <a:p>
            <a:endParaRPr lang="ru-RU"/>
          </a:p>
        </p:txBody>
      </p:sp>
      <p:sp>
        <p:nvSpPr>
          <p:cNvPr id="14" name="Дата 13"/>
          <p:cNvSpPr>
            <a:spLocks noGrp="1"/>
          </p:cNvSpPr>
          <p:nvPr>
            <p:ph type="dt" sz="half" idx="2"/>
          </p:nvPr>
        </p:nvSpPr>
        <p:spPr>
          <a:xfrm>
            <a:off x="5562600" y="6400800"/>
            <a:ext cx="3002280" cy="274320"/>
          </a:xfrm>
          <a:prstGeom prst="rect">
            <a:avLst/>
          </a:prstGeom>
        </p:spPr>
        <p:txBody>
          <a:bodyPr/>
          <a:lstStyle>
            <a:lvl1pPr algn="l" eaLnBrk="1" latinLnBrk="0" hangingPunct="1">
              <a:defRPr kumimoji="0" sz="1300">
                <a:solidFill>
                  <a:schemeClr val="bg2">
                    <a:tint val="60000"/>
                    <a:satMod val="155000"/>
                  </a:schemeClr>
                </a:solidFill>
              </a:defRPr>
            </a:lvl1pPr>
            <a:extLst/>
          </a:lstStyle>
          <a:p>
            <a:fld id="{A4728004-4E79-45FE-A559-9E34E00967AC}" type="datetime1">
              <a:rPr lang="ru-RU" smtClean="0"/>
              <a:pPr/>
              <a:t>16.02.2026</a:t>
            </a:fld>
            <a:endParaRPr lang="ru-RU"/>
          </a:p>
        </p:txBody>
      </p:sp>
      <p:sp>
        <p:nvSpPr>
          <p:cNvPr id="23" name="Номер слайда 22"/>
          <p:cNvSpPr>
            <a:spLocks noGrp="1"/>
          </p:cNvSpPr>
          <p:nvPr>
            <p:ph type="sldNum" sz="quarter" idx="4"/>
          </p:nvPr>
        </p:nvSpPr>
        <p:spPr>
          <a:xfrm>
            <a:off x="8638952" y="6514568"/>
            <a:ext cx="464288" cy="274320"/>
          </a:xfrm>
          <a:prstGeom prst="rect">
            <a:avLst/>
          </a:prstGeom>
        </p:spPr>
        <p:txBody>
          <a:bodyPr anchor="ctr"/>
          <a:lstStyle>
            <a:lvl1pPr algn="r" eaLnBrk="1" latinLnBrk="0" hangingPunct="1">
              <a:defRPr kumimoji="0" sz="1600">
                <a:solidFill>
                  <a:schemeClr val="tx2">
                    <a:shade val="90000"/>
                  </a:schemeClr>
                </a:solidFill>
                <a:effectLst/>
              </a:defRPr>
            </a:lvl1pPr>
            <a:extLst/>
          </a:lstStyle>
          <a:p>
            <a:fld id="{0CC3DD56-44D6-4410-A1D4-F947CD7B8BFD}" type="slidenum">
              <a:rPr lang="ru-RU" smtClean="0"/>
              <a:pPr/>
              <a:t>‹#›</a:t>
            </a:fld>
            <a:endParaRPr lang="ru-RU"/>
          </a:p>
        </p:txBody>
      </p:sp>
      <p:sp>
        <p:nvSpPr>
          <p:cNvPr id="22" name="Заголовок 21"/>
          <p:cNvSpPr>
            <a:spLocks noGrp="1"/>
          </p:cNvSpPr>
          <p:nvPr>
            <p:ph type="title"/>
          </p:nvPr>
        </p:nvSpPr>
        <p:spPr>
          <a:xfrm>
            <a:off x="457200" y="253536"/>
            <a:ext cx="8229600" cy="1143000"/>
          </a:xfrm>
          <a:prstGeom prst="rect">
            <a:avLst/>
          </a:prstGeom>
        </p:spPr>
        <p:txBody>
          <a:bodyPr rIns="91440" anchor="b">
            <a:normAutofit/>
            <a:scene3d>
              <a:camera prst="orthographicFront"/>
              <a:lightRig rig="soft" dir="t">
                <a:rot lat="0" lon="0" rev="2400000"/>
              </a:lightRig>
            </a:scene3d>
            <a:sp3d>
              <a:bevelT w="19050" h="12700"/>
            </a:sp3d>
          </a:bodyPr>
          <a:lstStyle/>
          <a:p>
            <a:r>
              <a:rPr kumimoji="0" lang="ru-RU"/>
              <a:t>Образец заголовка</a:t>
            </a:r>
            <a:endParaRPr kumimoji="0" lang="en-US"/>
          </a:p>
        </p:txBody>
      </p:sp>
      <p:sp>
        <p:nvSpPr>
          <p:cNvPr id="13" name="Текст 12"/>
          <p:cNvSpPr>
            <a:spLocks noGrp="1"/>
          </p:cNvSpPr>
          <p:nvPr>
            <p:ph type="body" idx="1"/>
          </p:nvPr>
        </p:nvSpPr>
        <p:spPr>
          <a:xfrm>
            <a:off x="457200" y="1646237"/>
            <a:ext cx="8229600" cy="4526280"/>
          </a:xfrm>
          <a:prstGeom prst="rect">
            <a:avLst/>
          </a:prstGeom>
        </p:spPr>
        <p:txBody>
          <a:bodyPr>
            <a:normAutofit/>
          </a:bodyPr>
          <a:lstStyle/>
          <a:p>
            <a:pPr lvl="0" eaLnBrk="1" latinLnBrk="0" hangingPunct="1"/>
            <a:r>
              <a:rPr kumimoji="0" lang="ru-RU"/>
              <a:t>Образец текста</a:t>
            </a:r>
          </a:p>
          <a:p>
            <a:pPr lvl="1" eaLnBrk="1" latinLnBrk="0" hangingPunct="1"/>
            <a:r>
              <a:rPr kumimoji="0" lang="ru-RU"/>
              <a:t>Второй уровень</a:t>
            </a:r>
          </a:p>
          <a:p>
            <a:pPr lvl="2" eaLnBrk="1" latinLnBrk="0" hangingPunct="1"/>
            <a:r>
              <a:rPr kumimoji="0" lang="ru-RU"/>
              <a:t>Третий уровень</a:t>
            </a:r>
          </a:p>
          <a:p>
            <a:pPr lvl="3" eaLnBrk="1" latinLnBrk="0" hangingPunct="1"/>
            <a:r>
              <a:rPr kumimoji="0" lang="ru-RU"/>
              <a:t>Четвертый уровень</a:t>
            </a:r>
          </a:p>
          <a:p>
            <a:pPr lvl="4" eaLnBrk="1" latinLnBrk="0" hangingPunct="1"/>
            <a:r>
              <a:rPr kumimoji="0" lang="ru-RU"/>
              <a:t>Пятый уровень</a:t>
            </a:r>
            <a:endParaRPr kumimoji="0"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marL="54864" algn="r" rtl="0" eaLnBrk="1" latinLnBrk="0" hangingPunct="1">
        <a:spcBef>
          <a:spcPct val="0"/>
        </a:spcBef>
        <a:buNone/>
        <a:defRPr kumimoji="0" sz="4600" kern="1200">
          <a:solidFill>
            <a:schemeClr val="tx2">
              <a:tint val="100000"/>
              <a:shade val="90000"/>
              <a:satMod val="250000"/>
              <a:alpha val="100000"/>
            </a:schemeClr>
          </a:solidFill>
          <a:effectLst>
            <a:outerShdw blurRad="38100" dist="25500" dir="5400000" algn="tl" rotWithShape="0">
              <a:srgbClr val="000000">
                <a:satMod val="180000"/>
                <a:alpha val="75000"/>
              </a:srgbClr>
            </a:outerShdw>
          </a:effectLst>
          <a:latin typeface="+mj-lt"/>
          <a:ea typeface="+mj-ea"/>
          <a:cs typeface="+mj-cs"/>
        </a:defRPr>
      </a:lvl1pPr>
      <a:extLst/>
    </p:titleStyle>
    <p:body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TV.09.03.02.NNTU@yandex.r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6.wmf"/><Relationship Id="rId7" Type="http://schemas.openxmlformats.org/officeDocument/2006/relationships/image" Target="../media/image8.w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7.wmf"/><Relationship Id="rId4" Type="http://schemas.openxmlformats.org/officeDocument/2006/relationships/oleObject" Target="../embeddings/oleObject3.bin"/><Relationship Id="rId9" Type="http://schemas.openxmlformats.org/officeDocument/2006/relationships/image" Target="../media/image9.wmf"/></Relationships>
</file>

<file path=ppt/slides/_rels/slide22.xml.rels><?xml version="1.0" encoding="UTF-8" standalone="yes"?>
<Relationships xmlns="http://schemas.openxmlformats.org/package/2006/relationships"><Relationship Id="rId3" Type="http://schemas.openxmlformats.org/officeDocument/2006/relationships/image" Target="../media/image10.wmf"/><Relationship Id="rId7" Type="http://schemas.openxmlformats.org/officeDocument/2006/relationships/image" Target="../media/image12.wmf"/><Relationship Id="rId2" Type="http://schemas.openxmlformats.org/officeDocument/2006/relationships/oleObject" Target="../embeddings/oleObject6.bin"/><Relationship Id="rId1" Type="http://schemas.openxmlformats.org/officeDocument/2006/relationships/slideLayout" Target="../slideLayouts/slideLayout2.xml"/><Relationship Id="rId6" Type="http://schemas.openxmlformats.org/officeDocument/2006/relationships/oleObject" Target="../embeddings/oleObject8.bin"/><Relationship Id="rId5" Type="http://schemas.openxmlformats.org/officeDocument/2006/relationships/image" Target="../media/image11.wmf"/><Relationship Id="rId4" Type="http://schemas.openxmlformats.org/officeDocument/2006/relationships/oleObject" Target="../embeddings/oleObject7.bin"/></Relationships>
</file>

<file path=ppt/slides/_rels/slide2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14.wmf"/><Relationship Id="rId7" Type="http://schemas.openxmlformats.org/officeDocument/2006/relationships/image" Target="../media/image16.wmf"/><Relationship Id="rId2"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12.bin"/><Relationship Id="rId5" Type="http://schemas.openxmlformats.org/officeDocument/2006/relationships/image" Target="../media/image15.wmf"/><Relationship Id="rId4" Type="http://schemas.openxmlformats.org/officeDocument/2006/relationships/oleObject" Target="../embeddings/oleObject11.bin"/><Relationship Id="rId9" Type="http://schemas.openxmlformats.org/officeDocument/2006/relationships/image" Target="../media/image17.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18.wmf"/><Relationship Id="rId7" Type="http://schemas.openxmlformats.org/officeDocument/2006/relationships/image" Target="../media/image20.wmf"/><Relationship Id="rId2" Type="http://schemas.openxmlformats.org/officeDocument/2006/relationships/oleObject" Target="../embeddings/oleObject14.bin"/><Relationship Id="rId1" Type="http://schemas.openxmlformats.org/officeDocument/2006/relationships/slideLayout" Target="../slideLayouts/slideLayout2.xml"/><Relationship Id="rId6" Type="http://schemas.openxmlformats.org/officeDocument/2006/relationships/oleObject" Target="../embeddings/oleObject16.bin"/><Relationship Id="rId5" Type="http://schemas.openxmlformats.org/officeDocument/2006/relationships/image" Target="../media/image19.wmf"/><Relationship Id="rId4" Type="http://schemas.openxmlformats.org/officeDocument/2006/relationships/oleObject" Target="../embeddings/oleObject15.bin"/><Relationship Id="rId9" Type="http://schemas.openxmlformats.org/officeDocument/2006/relationships/image" Target="../media/image21.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8.bin"/><Relationship Id="rId1" Type="http://schemas.openxmlformats.org/officeDocument/2006/relationships/slideLayout" Target="../slideLayouts/slideLayout2.xml"/><Relationship Id="rId5" Type="http://schemas.openxmlformats.org/officeDocument/2006/relationships/image" Target="../media/image23.wmf"/><Relationship Id="rId4" Type="http://schemas.openxmlformats.org/officeDocument/2006/relationships/oleObject" Target="../embeddings/oleObject19.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4.wmf"/><Relationship Id="rId7" Type="http://schemas.openxmlformats.org/officeDocument/2006/relationships/image" Target="../media/image13.wmf"/><Relationship Id="rId2" Type="http://schemas.openxmlformats.org/officeDocument/2006/relationships/oleObject" Target="../embeddings/oleObject20.bin"/><Relationship Id="rId1" Type="http://schemas.openxmlformats.org/officeDocument/2006/relationships/slideLayout" Target="../slideLayouts/slideLayout2.xml"/><Relationship Id="rId6" Type="http://schemas.openxmlformats.org/officeDocument/2006/relationships/oleObject" Target="../embeddings/oleObject22.bin"/><Relationship Id="rId5" Type="http://schemas.openxmlformats.org/officeDocument/2006/relationships/image" Target="../media/image25.wmf"/><Relationship Id="rId4" Type="http://schemas.openxmlformats.org/officeDocument/2006/relationships/oleObject" Target="../embeddings/oleObject21.bin"/></Relationships>
</file>

<file path=ppt/slides/_rels/slide31.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23.bin"/><Relationship Id="rId1" Type="http://schemas.openxmlformats.org/officeDocument/2006/relationships/slideLayout" Target="../slideLayouts/slideLayout2.xml"/><Relationship Id="rId5" Type="http://schemas.openxmlformats.org/officeDocument/2006/relationships/image" Target="../media/image27.wmf"/><Relationship Id="rId4" Type="http://schemas.openxmlformats.org/officeDocument/2006/relationships/oleObject" Target="../embeddings/oleObject24.bin"/></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fontScale="90000"/>
          </a:bodyPr>
          <a:lstStyle/>
          <a:p>
            <a:r>
              <a:rPr lang="ru-RU" b="1" dirty="0">
                <a:solidFill>
                  <a:srgbClr val="00B0F0"/>
                </a:solidFill>
              </a:rPr>
              <a:t>Теория вероятностей и математическая статистика. Лекция </a:t>
            </a:r>
            <a:r>
              <a:rPr lang="en-US" b="1" dirty="0">
                <a:solidFill>
                  <a:srgbClr val="00B0F0"/>
                </a:solidFill>
              </a:rPr>
              <a:t>1</a:t>
            </a:r>
            <a:r>
              <a:rPr lang="ru-RU" b="1" dirty="0">
                <a:solidFill>
                  <a:srgbClr val="00B0F0"/>
                </a:solidFill>
              </a:rPr>
              <a:t>4</a:t>
            </a:r>
          </a:p>
        </p:txBody>
      </p:sp>
      <p:sp>
        <p:nvSpPr>
          <p:cNvPr id="3" name="Подзаголовок 2"/>
          <p:cNvSpPr>
            <a:spLocks noGrp="1"/>
          </p:cNvSpPr>
          <p:nvPr>
            <p:ph type="subTitle" idx="1"/>
          </p:nvPr>
        </p:nvSpPr>
        <p:spPr>
          <a:xfrm>
            <a:off x="2133600" y="2819400"/>
            <a:ext cx="6560234" cy="3609996"/>
          </a:xfrm>
        </p:spPr>
        <p:txBody>
          <a:bodyPr>
            <a:normAutofit fontScale="85000" lnSpcReduction="20000"/>
          </a:bodyPr>
          <a:lstStyle/>
          <a:p>
            <a:r>
              <a:rPr lang="ru-RU" sz="3000" dirty="0">
                <a:solidFill>
                  <a:schemeClr val="tx1"/>
                </a:solidFill>
              </a:rPr>
              <a:t>Преподаватель</a:t>
            </a:r>
            <a:r>
              <a:rPr lang="en-US" sz="3000" dirty="0">
                <a:solidFill>
                  <a:schemeClr val="tx1"/>
                </a:solidFill>
              </a:rPr>
              <a:t>:</a:t>
            </a:r>
          </a:p>
          <a:p>
            <a:r>
              <a:rPr lang="ru-RU" sz="3000" dirty="0">
                <a:solidFill>
                  <a:schemeClr val="tx1"/>
                </a:solidFill>
              </a:rPr>
              <a:t>к.т.н., доцент каф ЭСВМ</a:t>
            </a:r>
            <a:endParaRPr lang="en-US" sz="3000" dirty="0">
              <a:solidFill>
                <a:schemeClr val="tx1"/>
              </a:solidFill>
            </a:endParaRPr>
          </a:p>
          <a:p>
            <a:endParaRPr lang="ru-RU" sz="3000" dirty="0">
              <a:solidFill>
                <a:schemeClr val="tx1"/>
              </a:solidFill>
            </a:endParaRPr>
          </a:p>
          <a:p>
            <a:r>
              <a:rPr lang="ru-RU" sz="3300" b="1" i="1" dirty="0">
                <a:solidFill>
                  <a:schemeClr val="accent5"/>
                </a:solidFill>
              </a:rPr>
              <a:t>Елена Владимировна Сидорова</a:t>
            </a:r>
          </a:p>
          <a:p>
            <a:endParaRPr lang="en-US" dirty="0">
              <a:solidFill>
                <a:schemeClr val="tx1"/>
              </a:solidFill>
            </a:endParaRPr>
          </a:p>
          <a:p>
            <a:r>
              <a:rPr lang="en-US" dirty="0">
                <a:solidFill>
                  <a:schemeClr val="tx1"/>
                </a:solidFill>
              </a:rPr>
              <a:t>E-mail:</a:t>
            </a:r>
            <a:endParaRPr lang="ru-RU" dirty="0">
              <a:solidFill>
                <a:schemeClr val="tx2"/>
              </a:solidFill>
            </a:endParaRPr>
          </a:p>
          <a:p>
            <a:r>
              <a:rPr lang="en-US" dirty="0">
                <a:solidFill>
                  <a:schemeClr val="tx2"/>
                </a:solidFill>
                <a:hlinkClick r:id="rId2"/>
              </a:rPr>
              <a:t>TV.09.03.02.NNTU@yandex.ru</a:t>
            </a:r>
            <a:endParaRPr lang="en-US" dirty="0">
              <a:solidFill>
                <a:schemeClr val="tx2"/>
              </a:solidFill>
            </a:endParaRPr>
          </a:p>
          <a:p>
            <a:endParaRPr lang="ru-RU" dirty="0">
              <a:solidFill>
                <a:schemeClr val="tx2"/>
              </a:solidFill>
            </a:endParaRPr>
          </a:p>
          <a:p>
            <a:r>
              <a:rPr lang="ru-RU" dirty="0">
                <a:solidFill>
                  <a:schemeClr val="tx2"/>
                </a:solidFill>
              </a:rPr>
              <a:t>Аттестация: </a:t>
            </a:r>
          </a:p>
          <a:p>
            <a:r>
              <a:rPr lang="ru-RU" sz="3800" b="1" u="sng" dirty="0">
                <a:solidFill>
                  <a:srgbClr val="FF0000"/>
                </a:solidFill>
              </a:rPr>
              <a:t>экзамен</a:t>
            </a:r>
            <a:endParaRPr lang="ru-RU" sz="3800" dirty="0">
              <a:solidFill>
                <a:schemeClr val="tx2"/>
              </a:solidFill>
            </a:endParaRPr>
          </a:p>
          <a:p>
            <a:endParaRPr lang="ru-RU" dirty="0">
              <a:solidFill>
                <a:schemeClr val="tx2"/>
              </a:solidFill>
            </a:endParaRPr>
          </a:p>
          <a:p>
            <a:endParaRPr lang="ru-RU" dirty="0">
              <a:solidFill>
                <a:schemeClr val="tx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Проверка статистических гипотез</a:t>
            </a:r>
          </a:p>
        </p:txBody>
      </p:sp>
      <p:sp>
        <p:nvSpPr>
          <p:cNvPr id="3" name="Содержимое 2"/>
          <p:cNvSpPr>
            <a:spLocks noGrp="1"/>
          </p:cNvSpPr>
          <p:nvPr>
            <p:ph idx="1"/>
          </p:nvPr>
        </p:nvSpPr>
        <p:spPr>
          <a:xfrm>
            <a:off x="457200" y="1428736"/>
            <a:ext cx="8229600" cy="4526280"/>
          </a:xfrm>
        </p:spPr>
        <p:txBody>
          <a:bodyPr>
            <a:noAutofit/>
          </a:bodyPr>
          <a:lstStyle/>
          <a:p>
            <a:r>
              <a:rPr lang="ru-RU" sz="2400" b="1" i="1" dirty="0">
                <a:solidFill>
                  <a:schemeClr val="accent2"/>
                </a:solidFill>
                <a:cs typeface="Times New Roman" pitchFamily="18" charset="0"/>
              </a:rPr>
              <a:t>Статистическ</a:t>
            </a:r>
            <a:r>
              <a:rPr lang="ru-RU" sz="2400" b="1" i="1" dirty="0">
                <a:solidFill>
                  <a:schemeClr val="accent2"/>
                </a:solidFill>
              </a:rPr>
              <a:t>ой</a:t>
            </a:r>
            <a:r>
              <a:rPr lang="ru-RU" sz="2400" i="1" dirty="0">
                <a:solidFill>
                  <a:schemeClr val="accent2"/>
                </a:solidFill>
                <a:cs typeface="Times New Roman" pitchFamily="18" charset="0"/>
              </a:rPr>
              <a:t> </a:t>
            </a:r>
            <a:r>
              <a:rPr lang="ru-RU" sz="2400" dirty="0"/>
              <a:t>называется </a:t>
            </a:r>
            <a:r>
              <a:rPr lang="ru-RU" sz="2400" dirty="0">
                <a:solidFill>
                  <a:schemeClr val="bg2">
                    <a:lumMod val="20000"/>
                    <a:lumOff val="80000"/>
                  </a:schemeClr>
                </a:solidFill>
                <a:cs typeface="Times New Roman" pitchFamily="18" charset="0"/>
              </a:rPr>
              <a:t>гипотеза </a:t>
            </a:r>
            <a:r>
              <a:rPr lang="ru-RU" sz="2400" dirty="0">
                <a:solidFill>
                  <a:schemeClr val="bg2">
                    <a:lumMod val="20000"/>
                    <a:lumOff val="80000"/>
                  </a:schemeClr>
                </a:solidFill>
              </a:rPr>
              <a:t>о виде неизвестного распределения</a:t>
            </a:r>
            <a:r>
              <a:rPr lang="ru-RU" sz="2400" dirty="0">
                <a:solidFill>
                  <a:schemeClr val="bg2">
                    <a:lumMod val="20000"/>
                    <a:lumOff val="80000"/>
                  </a:schemeClr>
                </a:solidFill>
                <a:cs typeface="Times New Roman" pitchFamily="18" charset="0"/>
              </a:rPr>
              <a:t> или о параметрах </a:t>
            </a:r>
            <a:r>
              <a:rPr lang="ru-RU" sz="2400" dirty="0">
                <a:solidFill>
                  <a:schemeClr val="bg2">
                    <a:lumMod val="20000"/>
                    <a:lumOff val="80000"/>
                  </a:schemeClr>
                </a:solidFill>
              </a:rPr>
              <a:t>известных распределений</a:t>
            </a:r>
            <a:r>
              <a:rPr lang="en-US" sz="2400" dirty="0">
                <a:solidFill>
                  <a:schemeClr val="bg2">
                    <a:lumMod val="20000"/>
                    <a:lumOff val="80000"/>
                  </a:schemeClr>
                </a:solidFill>
              </a:rPr>
              <a:t> </a:t>
            </a:r>
            <a:r>
              <a:rPr lang="ru-RU" sz="2400" dirty="0">
                <a:solidFill>
                  <a:schemeClr val="bg2">
                    <a:lumMod val="20000"/>
                    <a:lumOff val="80000"/>
                  </a:schemeClr>
                </a:solidFill>
              </a:rPr>
              <a:t>генеральной совокупности</a:t>
            </a:r>
            <a:r>
              <a:rPr lang="ru-RU" sz="2400" dirty="0">
                <a:cs typeface="Times New Roman" pitchFamily="18" charset="0"/>
              </a:rPr>
              <a:t>, формулируем</a:t>
            </a:r>
            <a:r>
              <a:rPr lang="ru-RU" sz="2400" dirty="0"/>
              <a:t>ая</a:t>
            </a:r>
            <a:r>
              <a:rPr lang="ru-RU" sz="2400" dirty="0">
                <a:cs typeface="Times New Roman" pitchFamily="18" charset="0"/>
              </a:rPr>
              <a:t> на основе выборки из неё.</a:t>
            </a:r>
            <a:endParaRPr lang="ru-RU" sz="2400" dirty="0"/>
          </a:p>
          <a:p>
            <a:pPr>
              <a:buFont typeface="Wingdings" pitchFamily="2" charset="2"/>
              <a:buNone/>
            </a:pPr>
            <a:r>
              <a:rPr lang="ru-RU" sz="2400" u="sng" dirty="0"/>
              <a:t>Примеры статистических гипотез</a:t>
            </a:r>
            <a:r>
              <a:rPr lang="ru-RU" sz="2400" dirty="0"/>
              <a:t>:</a:t>
            </a:r>
          </a:p>
          <a:p>
            <a:r>
              <a:rPr lang="ru-RU" sz="2400" dirty="0"/>
              <a:t>генеральная совокупность распределена по нормальному закону;</a:t>
            </a:r>
          </a:p>
          <a:p>
            <a:r>
              <a:rPr lang="ru-RU" sz="2400" dirty="0"/>
              <a:t>генеральное среднее равно конкретному числовому значению</a:t>
            </a:r>
            <a:r>
              <a:rPr lang="en-US" sz="2400" dirty="0"/>
              <a:t>;</a:t>
            </a:r>
            <a:endParaRPr lang="ru-RU" sz="2400" dirty="0"/>
          </a:p>
          <a:p>
            <a:r>
              <a:rPr lang="ru-RU" sz="2400" dirty="0"/>
              <a:t>математические ожидания двух выборок из генеральной совокупности равны. </a:t>
            </a:r>
          </a:p>
          <a:p>
            <a:pPr>
              <a:buFont typeface="Wingdings" pitchFamily="2" charset="2"/>
              <a:buNone/>
            </a:pPr>
            <a:endParaRPr lang="ru-RU" sz="2400" dirty="0"/>
          </a:p>
          <a:p>
            <a:pPr algn="ctr">
              <a:buFont typeface="Wingdings" pitchFamily="2" charset="2"/>
              <a:buNone/>
            </a:pPr>
            <a:r>
              <a:rPr lang="ru-RU" sz="2400" dirty="0">
                <a:solidFill>
                  <a:schemeClr val="bg2">
                    <a:lumMod val="40000"/>
                    <a:lumOff val="60000"/>
                  </a:schemeClr>
                </a:solidFill>
              </a:rPr>
              <a:t>Гипотезы формулируются только для параметров генеральной совокупности  </a:t>
            </a:r>
          </a:p>
        </p:txBody>
      </p:sp>
      <p:sp>
        <p:nvSpPr>
          <p:cNvPr id="4" name="Номер слайда 3"/>
          <p:cNvSpPr>
            <a:spLocks noGrp="1"/>
          </p:cNvSpPr>
          <p:nvPr>
            <p:ph type="sldNum" sz="quarter" idx="12"/>
          </p:nvPr>
        </p:nvSpPr>
        <p:spPr/>
        <p:txBody>
          <a:bodyPr/>
          <a:lstStyle/>
          <a:p>
            <a:fld id="{0CC3DD56-44D6-4410-A1D4-F947CD7B8BFD}" type="slidenum">
              <a:rPr lang="ru-RU" smtClean="0"/>
              <a:pPr/>
              <a:t>2</a:t>
            </a:fld>
            <a:endParaRPr lang="ru-RU"/>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b="1" dirty="0"/>
              <a:t>Типы гипотез</a:t>
            </a:r>
            <a:br>
              <a:rPr lang="ru-RU" b="1" dirty="0"/>
            </a:br>
            <a:endParaRPr lang="ru-RU" dirty="0"/>
          </a:p>
        </p:txBody>
      </p:sp>
      <p:sp>
        <p:nvSpPr>
          <p:cNvPr id="3" name="Содержимое 2"/>
          <p:cNvSpPr>
            <a:spLocks noGrp="1"/>
          </p:cNvSpPr>
          <p:nvPr>
            <p:ph idx="1"/>
          </p:nvPr>
        </p:nvSpPr>
        <p:spPr/>
        <p:txBody>
          <a:bodyPr>
            <a:normAutofit/>
          </a:bodyPr>
          <a:lstStyle/>
          <a:p>
            <a:pPr marL="0" indent="0">
              <a:buFont typeface="Arial" charset="0"/>
              <a:buNone/>
            </a:pPr>
            <a:r>
              <a:rPr lang="ru-RU" dirty="0"/>
              <a:t>1) Гипотезы о виде закона распределения исследуемой случайной величины.</a:t>
            </a:r>
          </a:p>
          <a:p>
            <a:pPr marL="0" indent="0">
              <a:buFont typeface="Arial" charset="0"/>
              <a:buNone/>
            </a:pPr>
            <a:r>
              <a:rPr lang="ru-RU" dirty="0"/>
              <a:t>2) Гипотезы о числовых значениях параметров случайной величины.</a:t>
            </a:r>
          </a:p>
          <a:p>
            <a:pPr marL="0" indent="0">
              <a:buFont typeface="Arial" charset="0"/>
              <a:buNone/>
            </a:pPr>
            <a:r>
              <a:rPr lang="ru-RU" dirty="0"/>
              <a:t>3) Гипотезы об общем виде модели, описывающей статистическую зависимость между признаками.</a:t>
            </a:r>
          </a:p>
          <a:p>
            <a:pPr marL="0" indent="0">
              <a:buFont typeface="Arial" charset="0"/>
              <a:buNone/>
            </a:pPr>
            <a:r>
              <a:rPr lang="ru-RU" dirty="0"/>
              <a:t>4) Гипотезы о принадлежности некоторого признака к тому или иному классу.</a:t>
            </a:r>
          </a:p>
          <a:p>
            <a:endParaRPr lang="ru-RU" dirty="0"/>
          </a:p>
        </p:txBody>
      </p:sp>
      <p:sp>
        <p:nvSpPr>
          <p:cNvPr id="4" name="Номер слайда 3"/>
          <p:cNvSpPr>
            <a:spLocks noGrp="1"/>
          </p:cNvSpPr>
          <p:nvPr>
            <p:ph type="sldNum" sz="quarter" idx="12"/>
          </p:nvPr>
        </p:nvSpPr>
        <p:spPr/>
        <p:txBody>
          <a:bodyPr/>
          <a:lstStyle/>
          <a:p>
            <a:fld id="{0CC3DD56-44D6-4410-A1D4-F947CD7B8BFD}" type="slidenum">
              <a:rPr lang="ru-RU" smtClean="0"/>
              <a:pPr/>
              <a:t>3</a:t>
            </a:fld>
            <a:endParaRPr lang="ru-RU"/>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a:xfrm>
            <a:off x="457200" y="214290"/>
            <a:ext cx="8229600" cy="4526280"/>
          </a:xfrm>
        </p:spPr>
        <p:txBody>
          <a:bodyPr>
            <a:noAutofit/>
          </a:bodyPr>
          <a:lstStyle/>
          <a:p>
            <a:r>
              <a:rPr lang="ru-RU" sz="2800" dirty="0">
                <a:cs typeface="Times New Roman" pitchFamily="18" charset="0"/>
              </a:rPr>
              <a:t>Гипотезы, в основе которых нет никаких допущений о конкретном виде закона распределения, называют </a:t>
            </a:r>
            <a:r>
              <a:rPr lang="ru-RU" sz="2800" i="1" dirty="0">
                <a:solidFill>
                  <a:schemeClr val="bg2">
                    <a:lumMod val="20000"/>
                    <a:lumOff val="80000"/>
                  </a:schemeClr>
                </a:solidFill>
                <a:cs typeface="Times New Roman" pitchFamily="18" charset="0"/>
              </a:rPr>
              <a:t>непараметрическими</a:t>
            </a:r>
            <a:r>
              <a:rPr lang="ru-RU" sz="2800" dirty="0">
                <a:solidFill>
                  <a:schemeClr val="bg2">
                    <a:lumMod val="20000"/>
                    <a:lumOff val="80000"/>
                  </a:schemeClr>
                </a:solidFill>
                <a:cs typeface="Times New Roman" pitchFamily="18" charset="0"/>
              </a:rPr>
              <a:t>,</a:t>
            </a:r>
            <a:r>
              <a:rPr lang="ru-RU" sz="2800" dirty="0">
                <a:cs typeface="Times New Roman" pitchFamily="18" charset="0"/>
              </a:rPr>
              <a:t> в противном случае – </a:t>
            </a:r>
            <a:r>
              <a:rPr lang="ru-RU" sz="2800" i="1" dirty="0">
                <a:solidFill>
                  <a:schemeClr val="bg2">
                    <a:lumMod val="20000"/>
                    <a:lumOff val="80000"/>
                  </a:schemeClr>
                </a:solidFill>
                <a:cs typeface="Times New Roman" pitchFamily="18" charset="0"/>
              </a:rPr>
              <a:t>параметрическими</a:t>
            </a:r>
            <a:r>
              <a:rPr lang="ru-RU" sz="2800" dirty="0">
                <a:solidFill>
                  <a:schemeClr val="bg2">
                    <a:lumMod val="20000"/>
                    <a:lumOff val="80000"/>
                  </a:schemeClr>
                </a:solidFill>
                <a:cs typeface="Times New Roman" pitchFamily="18" charset="0"/>
              </a:rPr>
              <a:t>.</a:t>
            </a:r>
          </a:p>
          <a:p>
            <a:r>
              <a:rPr lang="ru-RU" sz="2800" dirty="0"/>
              <a:t>Гипотеза </a:t>
            </a:r>
            <a:r>
              <a:rPr lang="ru-RU" sz="2800" b="1" dirty="0"/>
              <a:t>Н</a:t>
            </a:r>
            <a:r>
              <a:rPr lang="en-US" sz="2800" b="1" dirty="0"/>
              <a:t>ₒ</a:t>
            </a:r>
            <a:r>
              <a:rPr lang="ru-RU" sz="2800" b="1" dirty="0"/>
              <a:t> </a:t>
            </a:r>
            <a:r>
              <a:rPr lang="ru-RU" sz="2800" dirty="0"/>
              <a:t>является </a:t>
            </a:r>
            <a:r>
              <a:rPr lang="ru-RU" sz="2800" b="1" dirty="0">
                <a:solidFill>
                  <a:schemeClr val="accent2"/>
                </a:solidFill>
              </a:rPr>
              <a:t>основной</a:t>
            </a:r>
            <a:r>
              <a:rPr lang="ru-RU" sz="2800" dirty="0"/>
              <a:t> в том смысле, что желательно убедиться в ее справедливости (проверяемая гипотеза). Ей противопоставляются гипотезы </a:t>
            </a:r>
            <a:r>
              <a:rPr lang="en-US" sz="2800" dirty="0"/>
              <a:t>H</a:t>
            </a:r>
            <a:r>
              <a:rPr lang="en-US" sz="2800" baseline="-25000" dirty="0"/>
              <a:t>1</a:t>
            </a:r>
            <a:r>
              <a:rPr lang="en-US" sz="2800" dirty="0"/>
              <a:t>, H</a:t>
            </a:r>
            <a:r>
              <a:rPr lang="en-US" sz="2800" baseline="-25000" dirty="0"/>
              <a:t>2</a:t>
            </a:r>
            <a:r>
              <a:rPr lang="en-US" sz="2800" dirty="0"/>
              <a:t>, …</a:t>
            </a:r>
            <a:r>
              <a:rPr lang="ru-RU" sz="2800" dirty="0"/>
              <a:t> </a:t>
            </a:r>
            <a:r>
              <a:rPr lang="en-US" sz="2800" dirty="0" err="1"/>
              <a:t>H</a:t>
            </a:r>
            <a:r>
              <a:rPr lang="en-US" sz="2800" baseline="-25000" dirty="0" err="1"/>
              <a:t>k</a:t>
            </a:r>
            <a:r>
              <a:rPr lang="ru-RU" sz="2800" dirty="0"/>
              <a:t>, называемые </a:t>
            </a:r>
            <a:r>
              <a:rPr lang="ru-RU" sz="2800" b="1" dirty="0">
                <a:solidFill>
                  <a:schemeClr val="accent2"/>
                </a:solidFill>
              </a:rPr>
              <a:t>альтернативными  (конкурирующими)</a:t>
            </a:r>
            <a:r>
              <a:rPr lang="ru-RU" sz="2800" dirty="0"/>
              <a:t>. Обычно рассматривается лишь одна альтернативная гипотеза Н</a:t>
            </a:r>
            <a:r>
              <a:rPr lang="ru-RU" sz="2800" baseline="-25000" dirty="0"/>
              <a:t>1</a:t>
            </a:r>
          </a:p>
        </p:txBody>
      </p:sp>
      <p:sp>
        <p:nvSpPr>
          <p:cNvPr id="4" name="Номер слайда 3"/>
          <p:cNvSpPr>
            <a:spLocks noGrp="1"/>
          </p:cNvSpPr>
          <p:nvPr>
            <p:ph type="sldNum" sz="quarter" idx="12"/>
          </p:nvPr>
        </p:nvSpPr>
        <p:spPr/>
        <p:txBody>
          <a:bodyPr/>
          <a:lstStyle/>
          <a:p>
            <a:fld id="{0CC3DD56-44D6-4410-A1D4-F947CD7B8BFD}" type="slidenum">
              <a:rPr lang="ru-RU" smtClean="0"/>
              <a:pPr/>
              <a:t>4</a:t>
            </a:fld>
            <a:endParaRPr lang="ru-R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Простые и сложные гипотезы</a:t>
            </a:r>
          </a:p>
        </p:txBody>
      </p:sp>
      <p:sp>
        <p:nvSpPr>
          <p:cNvPr id="3" name="Содержимое 2"/>
          <p:cNvSpPr>
            <a:spLocks noGrp="1"/>
          </p:cNvSpPr>
          <p:nvPr>
            <p:ph idx="1"/>
          </p:nvPr>
        </p:nvSpPr>
        <p:spPr>
          <a:xfrm>
            <a:off x="457200" y="1328425"/>
            <a:ext cx="8229600" cy="5815351"/>
          </a:xfrm>
        </p:spPr>
        <p:txBody>
          <a:bodyPr>
            <a:normAutofit fontScale="85000" lnSpcReduction="20000"/>
          </a:bodyPr>
          <a:lstStyle/>
          <a:p>
            <a:pPr algn="just"/>
            <a:r>
              <a:rPr lang="ru-RU" i="1" dirty="0">
                <a:cs typeface="Times New Roman" pitchFamily="18" charset="0"/>
              </a:rPr>
              <a:t>Гипотезу называют </a:t>
            </a:r>
            <a:r>
              <a:rPr lang="ru-RU" b="1" i="1" dirty="0">
                <a:solidFill>
                  <a:schemeClr val="accent2"/>
                </a:solidFill>
                <a:cs typeface="Times New Roman" pitchFamily="18" charset="0"/>
              </a:rPr>
              <a:t>простой</a:t>
            </a:r>
            <a:r>
              <a:rPr lang="ru-RU" dirty="0">
                <a:cs typeface="Times New Roman" pitchFamily="18" charset="0"/>
              </a:rPr>
              <a:t>, если она однозначно характеризует параметр распределения случайной величины. Например, если </a:t>
            </a:r>
            <a:r>
              <a:rPr lang="el-GR" dirty="0">
                <a:latin typeface="Cambria"/>
                <a:ea typeface="Cambria"/>
                <a:cs typeface="Times New Roman" pitchFamily="18" charset="0"/>
              </a:rPr>
              <a:t>λ</a:t>
            </a:r>
            <a:r>
              <a:rPr lang="ru-RU" dirty="0">
                <a:latin typeface="Cambria"/>
                <a:ea typeface="Cambria"/>
                <a:cs typeface="Times New Roman" pitchFamily="18" charset="0"/>
              </a:rPr>
              <a:t> </a:t>
            </a:r>
            <a:r>
              <a:rPr lang="ru-RU" dirty="0">
                <a:cs typeface="Times New Roman" pitchFamily="18" charset="0"/>
              </a:rPr>
              <a:t>является параметром экспоненциального распределения, то гипотеза </a:t>
            </a:r>
            <a:r>
              <a:rPr lang="ru-RU" i="1" dirty="0">
                <a:cs typeface="Times New Roman" pitchFamily="18" charset="0"/>
              </a:rPr>
              <a:t>Н</a:t>
            </a:r>
            <a:r>
              <a:rPr lang="ru-RU" baseline="-30000" dirty="0">
                <a:cs typeface="Times New Roman" pitchFamily="18" charset="0"/>
              </a:rPr>
              <a:t>0</a:t>
            </a:r>
            <a:r>
              <a:rPr lang="ru-RU" dirty="0">
                <a:cs typeface="Times New Roman" pitchFamily="18" charset="0"/>
              </a:rPr>
              <a:t> : </a:t>
            </a:r>
            <a:r>
              <a:rPr lang="el-GR" dirty="0">
                <a:latin typeface="Cambria"/>
                <a:ea typeface="Cambria"/>
                <a:cs typeface="Times New Roman" pitchFamily="18" charset="0"/>
              </a:rPr>
              <a:t>λ</a:t>
            </a:r>
            <a:r>
              <a:rPr lang="ru-RU" i="1" dirty="0">
                <a:cs typeface="Times New Roman" pitchFamily="18" charset="0"/>
              </a:rPr>
              <a:t> =</a:t>
            </a:r>
            <a:r>
              <a:rPr lang="ru-RU" dirty="0">
                <a:cs typeface="Times New Roman" pitchFamily="18" charset="0"/>
              </a:rPr>
              <a:t>10</a:t>
            </a:r>
            <a:r>
              <a:rPr lang="ru-RU" i="1" dirty="0">
                <a:cs typeface="Times New Roman" pitchFamily="18" charset="0"/>
              </a:rPr>
              <a:t> </a:t>
            </a:r>
            <a:r>
              <a:rPr lang="ru-RU" dirty="0">
                <a:cs typeface="Times New Roman" pitchFamily="18" charset="0"/>
              </a:rPr>
              <a:t>–</a:t>
            </a:r>
            <a:r>
              <a:rPr lang="ru-RU" i="1" dirty="0">
                <a:cs typeface="Times New Roman" pitchFamily="18" charset="0"/>
              </a:rPr>
              <a:t> </a:t>
            </a:r>
            <a:r>
              <a:rPr lang="ru-RU" dirty="0">
                <a:cs typeface="Times New Roman" pitchFamily="18" charset="0"/>
              </a:rPr>
              <a:t>простая гипотеза.</a:t>
            </a:r>
            <a:r>
              <a:rPr lang="ru-RU" dirty="0"/>
              <a:t> </a:t>
            </a:r>
          </a:p>
          <a:p>
            <a:pPr marL="0" indent="0">
              <a:buFont typeface="Arial" charset="0"/>
              <a:buNone/>
              <a:defRPr/>
            </a:pPr>
            <a:r>
              <a:rPr lang="ru-RU" i="1" dirty="0"/>
              <a:t>Пример простых гипотез:</a:t>
            </a:r>
            <a:r>
              <a:rPr lang="ru-RU" dirty="0"/>
              <a:t> </a:t>
            </a:r>
            <a:r>
              <a:rPr lang="ru-RU" b="1" dirty="0"/>
              <a:t>Н:</a:t>
            </a:r>
            <a:r>
              <a:rPr lang="ru-RU" dirty="0"/>
              <a:t> </a:t>
            </a:r>
            <a:r>
              <a:rPr lang="ru-RU" i="1" dirty="0"/>
              <a:t>а</a:t>
            </a:r>
            <a:r>
              <a:rPr lang="ru-RU" dirty="0"/>
              <a:t>=5; </a:t>
            </a:r>
            <a:r>
              <a:rPr lang="ru-RU" b="1" dirty="0"/>
              <a:t>Н:</a:t>
            </a:r>
            <a:r>
              <a:rPr lang="ru-RU" dirty="0"/>
              <a:t> р=0,71; </a:t>
            </a:r>
            <a:r>
              <a:rPr lang="ru-RU" b="1" dirty="0"/>
              <a:t>Н:</a:t>
            </a:r>
            <a:r>
              <a:rPr lang="ru-RU" dirty="0"/>
              <a:t> </a:t>
            </a:r>
            <a:r>
              <a:rPr lang="el-GR" dirty="0"/>
              <a:t>σ</a:t>
            </a:r>
            <a:r>
              <a:rPr lang="ru-RU" dirty="0"/>
              <a:t>=2,3.</a:t>
            </a:r>
          </a:p>
          <a:p>
            <a:pPr algn="just"/>
            <a:r>
              <a:rPr lang="ru-RU" b="1" i="1" dirty="0">
                <a:solidFill>
                  <a:schemeClr val="accent2"/>
                </a:solidFill>
                <a:cs typeface="Times New Roman" pitchFamily="18" charset="0"/>
              </a:rPr>
              <a:t>Сложной</a:t>
            </a:r>
            <a:r>
              <a:rPr lang="ru-RU" i="1" dirty="0">
                <a:cs typeface="Times New Roman" pitchFamily="18" charset="0"/>
              </a:rPr>
              <a:t> называют гипотезу</a:t>
            </a:r>
            <a:r>
              <a:rPr lang="ru-RU" dirty="0">
                <a:cs typeface="Times New Roman" pitchFamily="18" charset="0"/>
              </a:rPr>
              <a:t>, которая состоит из конечного или бесконечного множества простых гипотез.</a:t>
            </a:r>
            <a:r>
              <a:rPr lang="ru-RU" dirty="0"/>
              <a:t> Например г</a:t>
            </a:r>
            <a:r>
              <a:rPr lang="ru-RU" dirty="0">
                <a:cs typeface="Times New Roman" pitchFamily="18" charset="0"/>
              </a:rPr>
              <a:t>ипотеза </a:t>
            </a:r>
            <a:r>
              <a:rPr lang="ru-RU" i="1" dirty="0">
                <a:cs typeface="Times New Roman" pitchFamily="18" charset="0"/>
              </a:rPr>
              <a:t>Н</a:t>
            </a:r>
            <a:r>
              <a:rPr lang="ru-RU" dirty="0">
                <a:cs typeface="Times New Roman" pitchFamily="18" charset="0"/>
              </a:rPr>
              <a:t>: </a:t>
            </a:r>
            <a:r>
              <a:rPr lang="ru-RU" i="1" dirty="0">
                <a:cs typeface="Times New Roman" pitchFamily="18" charset="0"/>
              </a:rPr>
              <a:t>а</a:t>
            </a:r>
            <a:r>
              <a:rPr lang="ru-RU" dirty="0">
                <a:cs typeface="Times New Roman" pitchFamily="18" charset="0"/>
              </a:rPr>
              <a:t>=2 о том, что математическое ожидание нормального распределения равно двум </a:t>
            </a:r>
            <a:r>
              <a:rPr lang="ru-RU" u="sng" dirty="0">
                <a:cs typeface="Times New Roman" pitchFamily="18" charset="0"/>
              </a:rPr>
              <a:t>при неизвестной дисперсии</a:t>
            </a:r>
            <a:r>
              <a:rPr lang="ru-RU" dirty="0">
                <a:cs typeface="Times New Roman" pitchFamily="18" charset="0"/>
              </a:rPr>
              <a:t>, становится сложной.</a:t>
            </a:r>
            <a:r>
              <a:rPr lang="ru-RU" dirty="0"/>
              <a:t> </a:t>
            </a:r>
            <a:endParaRPr lang="en-US" dirty="0"/>
          </a:p>
          <a:p>
            <a:pPr algn="just">
              <a:buNone/>
            </a:pPr>
            <a:r>
              <a:rPr lang="ru-RU" i="1" dirty="0"/>
              <a:t>Пример сложных гипотез:</a:t>
            </a:r>
            <a:r>
              <a:rPr lang="ru-RU" dirty="0"/>
              <a:t> </a:t>
            </a:r>
            <a:r>
              <a:rPr lang="ru-RU" b="1" dirty="0"/>
              <a:t>Н:</a:t>
            </a:r>
            <a:r>
              <a:rPr lang="ru-RU" dirty="0"/>
              <a:t> </a:t>
            </a:r>
            <a:r>
              <a:rPr lang="ru-RU" i="1" dirty="0"/>
              <a:t>а</a:t>
            </a:r>
            <a:r>
              <a:rPr lang="en-US" dirty="0"/>
              <a:t>&gt;</a:t>
            </a:r>
            <a:r>
              <a:rPr lang="ru-RU" dirty="0"/>
              <a:t>5; </a:t>
            </a:r>
            <a:r>
              <a:rPr lang="ru-RU" b="1" dirty="0"/>
              <a:t>Н:</a:t>
            </a:r>
            <a:r>
              <a:rPr lang="ru-RU" dirty="0"/>
              <a:t> </a:t>
            </a:r>
            <a:r>
              <a:rPr lang="ru-RU" dirty="0" err="1"/>
              <a:t>р</a:t>
            </a:r>
            <a:r>
              <a:rPr lang="en-US" dirty="0"/>
              <a:t>&lt;</a:t>
            </a:r>
            <a:r>
              <a:rPr lang="ru-RU" dirty="0"/>
              <a:t>0,71; </a:t>
            </a:r>
            <a:r>
              <a:rPr lang="ru-RU" b="1" dirty="0"/>
              <a:t>Н:</a:t>
            </a:r>
            <a:r>
              <a:rPr lang="ru-RU" dirty="0"/>
              <a:t> </a:t>
            </a:r>
            <a:r>
              <a:rPr lang="el-GR" dirty="0"/>
              <a:t>σ</a:t>
            </a:r>
            <a:r>
              <a:rPr lang="ru-RU" dirty="0"/>
              <a:t>≠2,3.</a:t>
            </a:r>
            <a:endParaRPr lang="en-US" dirty="0"/>
          </a:p>
          <a:p>
            <a:pPr algn="just"/>
            <a:endParaRPr lang="ru-RU" dirty="0"/>
          </a:p>
          <a:p>
            <a:endParaRPr lang="ru-RU" dirty="0"/>
          </a:p>
        </p:txBody>
      </p:sp>
      <p:sp>
        <p:nvSpPr>
          <p:cNvPr id="4" name="Номер слайда 3"/>
          <p:cNvSpPr>
            <a:spLocks noGrp="1"/>
          </p:cNvSpPr>
          <p:nvPr>
            <p:ph type="sldNum" sz="quarter" idx="12"/>
          </p:nvPr>
        </p:nvSpPr>
        <p:spPr/>
        <p:txBody>
          <a:bodyPr/>
          <a:lstStyle/>
          <a:p>
            <a:fld id="{0CC3DD56-44D6-4410-A1D4-F947CD7B8BFD}" type="slidenum">
              <a:rPr lang="ru-RU" smtClean="0"/>
              <a:pPr/>
              <a:t>5</a:t>
            </a:fld>
            <a:endParaRPr lang="ru-RU"/>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Ошибки первого и второго рода</a:t>
            </a:r>
          </a:p>
        </p:txBody>
      </p:sp>
      <p:sp>
        <p:nvSpPr>
          <p:cNvPr id="4" name="Номер слайда 3"/>
          <p:cNvSpPr>
            <a:spLocks noGrp="1"/>
          </p:cNvSpPr>
          <p:nvPr>
            <p:ph type="sldNum" sz="quarter" idx="12"/>
          </p:nvPr>
        </p:nvSpPr>
        <p:spPr/>
        <p:txBody>
          <a:bodyPr/>
          <a:lstStyle/>
          <a:p>
            <a:fld id="{0CC3DD56-44D6-4410-A1D4-F947CD7B8BFD}" type="slidenum">
              <a:rPr lang="ru-RU" smtClean="0"/>
              <a:pPr/>
              <a:t>6</a:t>
            </a:fld>
            <a:endParaRPr lang="ru-RU"/>
          </a:p>
        </p:txBody>
      </p:sp>
      <p:sp>
        <p:nvSpPr>
          <p:cNvPr id="5" name="Содержимое 4"/>
          <p:cNvSpPr>
            <a:spLocks noGrp="1"/>
          </p:cNvSpPr>
          <p:nvPr>
            <p:ph idx="1"/>
          </p:nvPr>
        </p:nvSpPr>
        <p:spPr/>
        <p:txBody>
          <a:bodyPr>
            <a:normAutofit fontScale="77500" lnSpcReduction="20000"/>
          </a:bodyPr>
          <a:lstStyle/>
          <a:p>
            <a:pPr>
              <a:lnSpc>
                <a:spcPct val="90000"/>
              </a:lnSpc>
            </a:pPr>
            <a:r>
              <a:rPr lang="ru-RU" sz="3400" dirty="0"/>
              <a:t>Статистические гипотезы проверяются статистическими методами, на основании выборки, полученной из генеральной совокупности. Из-за случайности выборки в результате проверки могут возникать ошибки и приниматься неправильные решения. </a:t>
            </a:r>
            <a:endParaRPr lang="en-US" sz="3400" dirty="0"/>
          </a:p>
          <a:p>
            <a:pPr>
              <a:lnSpc>
                <a:spcPct val="90000"/>
              </a:lnSpc>
            </a:pPr>
            <a:r>
              <a:rPr lang="ru-RU" sz="3400" dirty="0">
                <a:cs typeface="Times New Roman" pitchFamily="18" charset="0"/>
              </a:rPr>
              <a:t>Возможны два рода ошибок.</a:t>
            </a:r>
            <a:r>
              <a:rPr lang="ru-RU" sz="3400" dirty="0"/>
              <a:t> </a:t>
            </a:r>
          </a:p>
          <a:p>
            <a:pPr>
              <a:lnSpc>
                <a:spcPct val="90000"/>
              </a:lnSpc>
            </a:pPr>
            <a:r>
              <a:rPr lang="ru-RU" sz="3400" b="1" i="1" dirty="0">
                <a:solidFill>
                  <a:schemeClr val="bg2">
                    <a:lumMod val="20000"/>
                    <a:lumOff val="80000"/>
                  </a:schemeClr>
                </a:solidFill>
                <a:cs typeface="Times New Roman" pitchFamily="18" charset="0"/>
              </a:rPr>
              <a:t>Ошибка первого рода</a:t>
            </a:r>
            <a:r>
              <a:rPr lang="ru-RU" sz="3400" b="1" dirty="0">
                <a:solidFill>
                  <a:schemeClr val="bg2">
                    <a:lumMod val="20000"/>
                    <a:lumOff val="80000"/>
                  </a:schemeClr>
                </a:solidFill>
                <a:cs typeface="Times New Roman" pitchFamily="18" charset="0"/>
              </a:rPr>
              <a:t> </a:t>
            </a:r>
            <a:r>
              <a:rPr lang="ru-RU" sz="3400" dirty="0">
                <a:cs typeface="Times New Roman" pitchFamily="18" charset="0"/>
              </a:rPr>
              <a:t>возникает с вероятностью </a:t>
            </a:r>
            <a:r>
              <a:rPr lang="el-GR" sz="3400" dirty="0">
                <a:latin typeface="Cambria"/>
                <a:ea typeface="Cambria"/>
                <a:cs typeface="Times New Roman" pitchFamily="18" charset="0"/>
              </a:rPr>
              <a:t>α</a:t>
            </a:r>
            <a:r>
              <a:rPr lang="ru-RU" sz="3400" dirty="0">
                <a:latin typeface="Cambria"/>
                <a:ea typeface="Cambria"/>
                <a:cs typeface="Times New Roman" pitchFamily="18" charset="0"/>
              </a:rPr>
              <a:t> (альфа)</a:t>
            </a:r>
            <a:r>
              <a:rPr lang="ru-RU" sz="3400" dirty="0">
                <a:cs typeface="Times New Roman" pitchFamily="18" charset="0"/>
              </a:rPr>
              <a:t> тогда, когда отвергается верная гипотеза </a:t>
            </a:r>
            <a:r>
              <a:rPr lang="ru-RU" sz="3400" i="1" dirty="0">
                <a:cs typeface="Times New Roman" pitchFamily="18" charset="0"/>
              </a:rPr>
              <a:t>Н</a:t>
            </a:r>
            <a:r>
              <a:rPr lang="ru-RU" sz="3400" baseline="-30000" dirty="0">
                <a:cs typeface="Times New Roman" pitchFamily="18" charset="0"/>
              </a:rPr>
              <a:t>0</a:t>
            </a:r>
            <a:r>
              <a:rPr lang="ru-RU" sz="3400" dirty="0">
                <a:cs typeface="Times New Roman" pitchFamily="18" charset="0"/>
              </a:rPr>
              <a:t> и принимается конкурирующая гипотеза </a:t>
            </a:r>
            <a:r>
              <a:rPr lang="ru-RU" sz="3400" i="1" dirty="0">
                <a:cs typeface="Times New Roman" pitchFamily="18" charset="0"/>
              </a:rPr>
              <a:t>Н</a:t>
            </a:r>
            <a:r>
              <a:rPr lang="ru-RU" sz="3400" baseline="-30000" dirty="0">
                <a:cs typeface="Times New Roman" pitchFamily="18" charset="0"/>
              </a:rPr>
              <a:t>1</a:t>
            </a:r>
            <a:r>
              <a:rPr lang="ru-RU" sz="3400" dirty="0">
                <a:cs typeface="Times New Roman" pitchFamily="18" charset="0"/>
              </a:rPr>
              <a:t>. </a:t>
            </a:r>
          </a:p>
          <a:p>
            <a:pPr>
              <a:lnSpc>
                <a:spcPct val="90000"/>
              </a:lnSpc>
            </a:pPr>
            <a:r>
              <a:rPr lang="ru-RU" sz="3400" b="1" i="1" dirty="0">
                <a:solidFill>
                  <a:schemeClr val="bg2">
                    <a:lumMod val="20000"/>
                    <a:lumOff val="80000"/>
                  </a:schemeClr>
                </a:solidFill>
                <a:cs typeface="Times New Roman" pitchFamily="18" charset="0"/>
              </a:rPr>
              <a:t>Ошибка второго рода </a:t>
            </a:r>
            <a:r>
              <a:rPr lang="ru-RU" sz="3400" dirty="0">
                <a:cs typeface="Times New Roman" pitchFamily="18" charset="0"/>
              </a:rPr>
              <a:t>возникает с вероятностью </a:t>
            </a:r>
            <a:r>
              <a:rPr lang="el-GR" sz="3400" dirty="0">
                <a:cs typeface="Times New Roman" pitchFamily="18" charset="0"/>
              </a:rPr>
              <a:t>β</a:t>
            </a:r>
            <a:r>
              <a:rPr lang="ru-RU" sz="3400" dirty="0">
                <a:cs typeface="Times New Roman" pitchFamily="18" charset="0"/>
              </a:rPr>
              <a:t> (бета) в том случае, когда принимается неверная гипотеза </a:t>
            </a:r>
            <a:r>
              <a:rPr lang="ru-RU" sz="3400" i="1" dirty="0">
                <a:cs typeface="Times New Roman" pitchFamily="18" charset="0"/>
              </a:rPr>
              <a:t>Н</a:t>
            </a:r>
            <a:r>
              <a:rPr lang="ru-RU" sz="3400" baseline="-30000" dirty="0">
                <a:cs typeface="Times New Roman" pitchFamily="18" charset="0"/>
              </a:rPr>
              <a:t>0</a:t>
            </a:r>
            <a:r>
              <a:rPr lang="ru-RU" sz="3400" dirty="0">
                <a:cs typeface="Times New Roman" pitchFamily="18" charset="0"/>
              </a:rPr>
              <a:t>, в то время как справедлива конкурирующая гипотеза </a:t>
            </a:r>
            <a:r>
              <a:rPr lang="ru-RU" sz="3400" i="1" dirty="0">
                <a:cs typeface="Times New Roman" pitchFamily="18" charset="0"/>
              </a:rPr>
              <a:t>Н</a:t>
            </a:r>
            <a:r>
              <a:rPr lang="ru-RU" sz="3400" baseline="-30000" dirty="0">
                <a:cs typeface="Times New Roman" pitchFamily="18" charset="0"/>
              </a:rPr>
              <a:t>1</a:t>
            </a:r>
            <a:r>
              <a:rPr lang="ru-RU" sz="3400" dirty="0">
                <a:cs typeface="Times New Roman" pitchFamily="18" charset="0"/>
              </a:rPr>
              <a:t>.</a:t>
            </a:r>
            <a:r>
              <a:rPr lang="ru-RU" sz="3400" dirty="0"/>
              <a:t> </a:t>
            </a:r>
          </a:p>
          <a:p>
            <a:endParaRPr lang="ru-RU"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p:txBody>
          <a:bodyPr>
            <a:normAutofit/>
          </a:bodyPr>
          <a:lstStyle/>
          <a:p>
            <a:pPr>
              <a:buNone/>
            </a:pPr>
            <a:endParaRPr lang="ru-RU" i="1" dirty="0">
              <a:latin typeface="Times New Roman" pitchFamily="18" charset="0"/>
              <a:cs typeface="Times New Roman" pitchFamily="18" charset="0"/>
            </a:endParaRPr>
          </a:p>
          <a:p>
            <a:pPr>
              <a:buNone/>
            </a:pPr>
            <a:endParaRPr lang="ru-RU" i="1" dirty="0">
              <a:cs typeface="Times New Roman" pitchFamily="18" charset="0"/>
            </a:endParaRPr>
          </a:p>
          <a:p>
            <a:pPr>
              <a:buNone/>
            </a:pPr>
            <a:endParaRPr lang="ru-RU" i="1" dirty="0">
              <a:cs typeface="Times New Roman" pitchFamily="18" charset="0"/>
            </a:endParaRPr>
          </a:p>
          <a:p>
            <a:endParaRPr lang="en-US" i="1" dirty="0">
              <a:cs typeface="Times New Roman" pitchFamily="18" charset="0"/>
            </a:endParaRPr>
          </a:p>
          <a:p>
            <a:endParaRPr lang="en-US" i="1" dirty="0">
              <a:cs typeface="Times New Roman" pitchFamily="18" charset="0"/>
            </a:endParaRPr>
          </a:p>
          <a:p>
            <a:pPr>
              <a:buNone/>
            </a:pPr>
            <a:endParaRPr lang="ru-RU" dirty="0"/>
          </a:p>
          <a:p>
            <a:endParaRPr lang="ru-RU" dirty="0"/>
          </a:p>
          <a:p>
            <a:endParaRPr lang="ru-RU" dirty="0">
              <a:latin typeface="Times New Roman" pitchFamily="18" charset="0"/>
              <a:cs typeface="Times New Roman" pitchFamily="18" charset="0"/>
            </a:endParaRPr>
          </a:p>
          <a:p>
            <a:endParaRPr lang="ru-RU" dirty="0"/>
          </a:p>
        </p:txBody>
      </p:sp>
      <p:sp>
        <p:nvSpPr>
          <p:cNvPr id="4" name="Номер слайда 3"/>
          <p:cNvSpPr>
            <a:spLocks noGrp="1"/>
          </p:cNvSpPr>
          <p:nvPr>
            <p:ph type="sldNum" sz="quarter" idx="12"/>
          </p:nvPr>
        </p:nvSpPr>
        <p:spPr/>
        <p:txBody>
          <a:bodyPr/>
          <a:lstStyle/>
          <a:p>
            <a:fld id="{0CC3DD56-44D6-4410-A1D4-F947CD7B8BFD}" type="slidenum">
              <a:rPr lang="ru-RU" smtClean="0"/>
              <a:pPr/>
              <a:t>7</a:t>
            </a:fld>
            <a:endParaRPr lang="ru-RU"/>
          </a:p>
        </p:txBody>
      </p:sp>
      <p:graphicFrame>
        <p:nvGraphicFramePr>
          <p:cNvPr id="8" name="Group 159"/>
          <p:cNvGraphicFramePr>
            <a:graphicFrameLocks noGrp="1"/>
          </p:cNvGraphicFramePr>
          <p:nvPr/>
        </p:nvGraphicFramePr>
        <p:xfrm>
          <a:off x="1089048" y="285728"/>
          <a:ext cx="6840538" cy="2749680"/>
        </p:xfrm>
        <a:graphic>
          <a:graphicData uri="http://schemas.openxmlformats.org/drawingml/2006/table">
            <a:tbl>
              <a:tblPr/>
              <a:tblGrid>
                <a:gridCol w="2565400">
                  <a:extLst>
                    <a:ext uri="{9D8B030D-6E8A-4147-A177-3AD203B41FA5}">
                      <a16:colId xmlns:a16="http://schemas.microsoft.com/office/drawing/2014/main" val="20000"/>
                    </a:ext>
                  </a:extLst>
                </a:gridCol>
                <a:gridCol w="2060575">
                  <a:extLst>
                    <a:ext uri="{9D8B030D-6E8A-4147-A177-3AD203B41FA5}">
                      <a16:colId xmlns:a16="http://schemas.microsoft.com/office/drawing/2014/main" val="20001"/>
                    </a:ext>
                  </a:extLst>
                </a:gridCol>
                <a:gridCol w="2214563">
                  <a:extLst>
                    <a:ext uri="{9D8B030D-6E8A-4147-A177-3AD203B41FA5}">
                      <a16:colId xmlns:a16="http://schemas.microsoft.com/office/drawing/2014/main" val="20002"/>
                    </a:ext>
                  </a:extLst>
                </a:gridCol>
              </a:tblGrid>
              <a:tr h="6127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ru-RU" sz="1800" b="0" i="0" u="none" strike="noStrike" cap="none" normalizeH="0" baseline="0" dirty="0">
                          <a:ln>
                            <a:noFill/>
                          </a:ln>
                          <a:solidFill>
                            <a:schemeClr val="tx1"/>
                          </a:solidFill>
                          <a:effectLst/>
                          <a:latin typeface="Arial" pitchFamily="34" charset="0"/>
                          <a:cs typeface="Arial" pitchFamily="34" charset="0"/>
                        </a:rPr>
                        <a:t>Основная гипотеза</a:t>
                      </a:r>
                      <a:r>
                        <a:rPr kumimoji="0" lang="en-US" sz="1800" b="0" i="0" u="none" strike="noStrike" cap="none" normalizeH="0" baseline="0" dirty="0">
                          <a:ln>
                            <a:noFill/>
                          </a:ln>
                          <a:solidFill>
                            <a:schemeClr val="tx1"/>
                          </a:solidFill>
                          <a:effectLst/>
                          <a:latin typeface="Arial" pitchFamily="34" charset="0"/>
                          <a:cs typeface="Arial" pitchFamily="34" charset="0"/>
                        </a:rPr>
                        <a:t> </a:t>
                      </a:r>
                      <a:r>
                        <a:rPr lang="ru-RU" b="1" i="1" dirty="0">
                          <a:cs typeface="Times New Roman" pitchFamily="18" charset="0"/>
                        </a:rPr>
                        <a:t>Н</a:t>
                      </a:r>
                      <a:r>
                        <a:rPr lang="ru-RU" b="1" i="1" baseline="-25000" dirty="0">
                          <a:cs typeface="Times New Roman" pitchFamily="18" charset="0"/>
                        </a:rPr>
                        <a:t>0 </a:t>
                      </a:r>
                      <a:r>
                        <a:rPr kumimoji="0" lang="ru-RU" sz="1800" b="0" i="0" u="none" strike="noStrike" cap="none" normalizeH="0" baseline="0" dirty="0">
                          <a:ln>
                            <a:noFill/>
                          </a:ln>
                          <a:solidFill>
                            <a:schemeClr val="tx1"/>
                          </a:solidFill>
                          <a:effectLst/>
                          <a:latin typeface="Arial" pitchFamily="34" charset="0"/>
                          <a:cs typeface="Arial" pitchFamily="34" charset="0"/>
                        </a:rPr>
                        <a:t>верна </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60000"/>
                        <a:lumOff val="40000"/>
                      </a:scheme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ru-RU" sz="1800" b="0" i="0" u="none" strike="noStrike" cap="none" normalizeH="0" baseline="0" dirty="0">
                          <a:ln>
                            <a:noFill/>
                          </a:ln>
                          <a:solidFill>
                            <a:schemeClr val="tx1"/>
                          </a:solidFill>
                          <a:effectLst/>
                          <a:latin typeface="Arial" pitchFamily="34" charset="0"/>
                          <a:cs typeface="Arial" pitchFamily="34" charset="0"/>
                        </a:rPr>
                        <a:t>Основная гипотеза </a:t>
                      </a:r>
                      <a:r>
                        <a:rPr lang="ru-RU" b="1" i="1" dirty="0">
                          <a:cs typeface="Times New Roman" pitchFamily="18" charset="0"/>
                        </a:rPr>
                        <a:t>Н</a:t>
                      </a:r>
                      <a:r>
                        <a:rPr lang="ru-RU" b="1" i="1" baseline="-25000" dirty="0">
                          <a:cs typeface="Times New Roman" pitchFamily="18" charset="0"/>
                        </a:rPr>
                        <a:t>0</a:t>
                      </a:r>
                      <a:r>
                        <a:rPr kumimoji="0" lang="ru-RU" sz="1800" b="0" i="0" u="none" strike="noStrike" cap="none" normalizeH="0" baseline="0" dirty="0">
                          <a:ln>
                            <a:noFill/>
                          </a:ln>
                          <a:solidFill>
                            <a:schemeClr val="tx1"/>
                          </a:solidFill>
                          <a:effectLst/>
                          <a:latin typeface="Arial" pitchFamily="34" charset="0"/>
                          <a:cs typeface="Arial" pitchFamily="34" charset="0"/>
                        </a:rPr>
                        <a:t> неверна</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60000"/>
                        <a:lumOff val="40000"/>
                      </a:schemeClr>
                    </a:solidFill>
                  </a:tcPr>
                </a:tc>
                <a:extLst>
                  <a:ext uri="{0D108BD9-81ED-4DB2-BD59-A6C34878D82A}">
                    <a16:rowId xmlns:a16="http://schemas.microsoft.com/office/drawing/2014/main" val="10000"/>
                  </a:ext>
                </a:extLst>
              </a:tr>
              <a:tr h="61436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ru-RU" sz="1800" b="0" i="0" u="none" strike="noStrike" cap="none" normalizeH="0" baseline="0" dirty="0">
                          <a:ln>
                            <a:noFill/>
                          </a:ln>
                          <a:solidFill>
                            <a:schemeClr val="tx1"/>
                          </a:solidFill>
                          <a:effectLst/>
                          <a:latin typeface="Arial" pitchFamily="34" charset="0"/>
                          <a:cs typeface="Arial" pitchFamily="34" charset="0"/>
                        </a:rPr>
                        <a:t>Мы приняли основную гипотезу  </a:t>
                      </a:r>
                      <a:r>
                        <a:rPr lang="ru-RU" b="1" i="1" dirty="0">
                          <a:cs typeface="Times New Roman" pitchFamily="18" charset="0"/>
                        </a:rPr>
                        <a:t>Н</a:t>
                      </a:r>
                      <a:r>
                        <a:rPr lang="ru-RU" b="1" i="1" baseline="-25000" dirty="0">
                          <a:cs typeface="Times New Roman" pitchFamily="18" charset="0"/>
                        </a:rPr>
                        <a:t>0</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ru-RU" sz="1800" b="0" i="0" u="none" strike="noStrike" cap="none" normalizeH="0" baseline="0">
                          <a:ln>
                            <a:noFill/>
                          </a:ln>
                          <a:solidFill>
                            <a:schemeClr val="tx1"/>
                          </a:solidFill>
                          <a:effectLst/>
                          <a:latin typeface="Arial" pitchFamily="34" charset="0"/>
                          <a:cs typeface="Arial" pitchFamily="34" charset="0"/>
                        </a:rPr>
                        <a:t>Верное решение</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ru-RU" sz="1800" b="0" i="0" u="none" strike="noStrike" cap="none" normalizeH="0" baseline="0" dirty="0">
                          <a:ln>
                            <a:noFill/>
                          </a:ln>
                          <a:solidFill>
                            <a:schemeClr val="bg1"/>
                          </a:solidFill>
                          <a:effectLst/>
                          <a:latin typeface="Arial" pitchFamily="34" charset="0"/>
                          <a:cs typeface="Arial" pitchFamily="34" charset="0"/>
                        </a:rPr>
                        <a:t>Ошибка </a:t>
                      </a:r>
                      <a:r>
                        <a:rPr kumimoji="0" lang="en-US" sz="1800" b="0" i="0" u="none" strike="noStrike" cap="none" normalizeH="0" baseline="0" dirty="0">
                          <a:ln>
                            <a:noFill/>
                          </a:ln>
                          <a:solidFill>
                            <a:schemeClr val="bg1"/>
                          </a:solidFill>
                          <a:effectLst/>
                          <a:latin typeface="Arial" pitchFamily="34" charset="0"/>
                          <a:cs typeface="Arial" pitchFamily="34" charset="0"/>
                        </a:rPr>
                        <a:t>II</a:t>
                      </a:r>
                      <a:r>
                        <a:rPr kumimoji="0" lang="ru-RU" sz="1800" b="0" i="0" u="none" strike="noStrike" cap="none" normalizeH="0" baseline="0" dirty="0">
                          <a:ln>
                            <a:noFill/>
                          </a:ln>
                          <a:solidFill>
                            <a:schemeClr val="bg1"/>
                          </a:solidFill>
                          <a:effectLst/>
                          <a:latin typeface="Arial" pitchFamily="34" charset="0"/>
                          <a:cs typeface="Arial" pitchFamily="34" charset="0"/>
                        </a:rPr>
                        <a:t> рода</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1"/>
                  </a:ext>
                </a:extLst>
              </a:tr>
              <a:tr h="61277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ru-RU" sz="1800" b="0" i="0" u="none" strike="noStrike" cap="none" normalizeH="0" baseline="0" dirty="0">
                          <a:ln>
                            <a:noFill/>
                          </a:ln>
                          <a:solidFill>
                            <a:schemeClr val="tx1"/>
                          </a:solidFill>
                          <a:effectLst/>
                          <a:latin typeface="Arial" pitchFamily="34" charset="0"/>
                          <a:cs typeface="Arial" pitchFamily="34" charset="0"/>
                        </a:rPr>
                        <a:t>Мы отклонили основную гипотезу  </a:t>
                      </a:r>
                      <a:r>
                        <a:rPr lang="ru-RU" b="1" i="1" dirty="0">
                          <a:cs typeface="Times New Roman" pitchFamily="18" charset="0"/>
                        </a:rPr>
                        <a:t>Н</a:t>
                      </a:r>
                      <a:r>
                        <a:rPr lang="ru-RU" b="1" i="1" baseline="-25000" dirty="0">
                          <a:cs typeface="Times New Roman" pitchFamily="18" charset="0"/>
                        </a:rPr>
                        <a:t>0,</a:t>
                      </a:r>
                      <a:r>
                        <a:rPr lang="ru-RU" b="1" i="1" baseline="0" dirty="0">
                          <a:cs typeface="Times New Roman" pitchFamily="18" charset="0"/>
                        </a:rPr>
                        <a:t> </a:t>
                      </a:r>
                      <a:r>
                        <a:rPr lang="ru-RU" b="0" i="0" baseline="0" dirty="0">
                          <a:latin typeface="Arial" pitchFamily="34" charset="0"/>
                          <a:cs typeface="Arial" pitchFamily="34" charset="0"/>
                        </a:rPr>
                        <a:t>то есть приняли гипотезу </a:t>
                      </a:r>
                      <a:r>
                        <a:rPr lang="ru-RU" b="1" i="1" dirty="0">
                          <a:cs typeface="Times New Roman" pitchFamily="18" charset="0"/>
                        </a:rPr>
                        <a:t>Н</a:t>
                      </a:r>
                      <a:r>
                        <a:rPr lang="en-US" b="1" i="1" baseline="-25000" dirty="0">
                          <a:cs typeface="Times New Roman" pitchFamily="18" charset="0"/>
                        </a:rPr>
                        <a:t>1</a:t>
                      </a:r>
                      <a:endParaRPr kumimoji="0" lang="ru-RU" sz="1800" b="0" i="0" u="none" strike="noStrike" cap="none" normalizeH="0" baseline="0" dirty="0">
                        <a:ln>
                          <a:noFill/>
                        </a:ln>
                        <a:solidFill>
                          <a:schemeClr val="tx1"/>
                        </a:solidFill>
                        <a:effectLst/>
                        <a:latin typeface="Arial" pitchFamily="34" charset="0"/>
                        <a:cs typeface="Arial" pitchFamily="34" charset="0"/>
                      </a:endParaRP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ru-RU" sz="1800" b="0" i="0" u="none" strike="noStrike" cap="none" normalizeH="0" baseline="0" dirty="0">
                          <a:ln>
                            <a:noFill/>
                          </a:ln>
                          <a:solidFill>
                            <a:schemeClr val="bg1"/>
                          </a:solidFill>
                          <a:effectLst/>
                          <a:latin typeface="Arial" pitchFamily="34" charset="0"/>
                          <a:cs typeface="Arial" pitchFamily="34" charset="0"/>
                        </a:rPr>
                        <a:t>Ошибка </a:t>
                      </a:r>
                      <a:r>
                        <a:rPr kumimoji="0" lang="en-US" sz="1800" b="0" i="0" u="none" strike="noStrike" cap="none" normalizeH="0" baseline="0" dirty="0">
                          <a:ln>
                            <a:noFill/>
                          </a:ln>
                          <a:solidFill>
                            <a:schemeClr val="bg1"/>
                          </a:solidFill>
                          <a:effectLst/>
                          <a:latin typeface="Arial" pitchFamily="34" charset="0"/>
                          <a:cs typeface="Arial" pitchFamily="34" charset="0"/>
                        </a:rPr>
                        <a:t>I</a:t>
                      </a:r>
                      <a:r>
                        <a:rPr kumimoji="0" lang="ru-RU" sz="1800" b="0" i="0" u="none" strike="noStrike" cap="none" normalizeH="0" baseline="0" dirty="0">
                          <a:ln>
                            <a:noFill/>
                          </a:ln>
                          <a:solidFill>
                            <a:schemeClr val="bg1"/>
                          </a:solidFill>
                          <a:effectLst/>
                          <a:latin typeface="Arial" pitchFamily="34" charset="0"/>
                          <a:cs typeface="Arial" pitchFamily="34" charset="0"/>
                        </a:rPr>
                        <a:t> рода</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ru-RU" sz="1800" b="0" i="0" u="none" strike="noStrike" cap="none" normalizeH="0" baseline="0" dirty="0">
                          <a:ln>
                            <a:noFill/>
                          </a:ln>
                          <a:solidFill>
                            <a:schemeClr val="tx1"/>
                          </a:solidFill>
                          <a:effectLst/>
                          <a:latin typeface="Arial" pitchFamily="34" charset="0"/>
                          <a:cs typeface="Arial" pitchFamily="34" charset="0"/>
                        </a:rPr>
                        <a:t>Верное решение</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10002"/>
                  </a:ext>
                </a:extLst>
              </a:tr>
            </a:tbl>
          </a:graphicData>
        </a:graphic>
      </p:graphicFrame>
      <p:sp>
        <p:nvSpPr>
          <p:cNvPr id="9" name="Прямоугольник 8"/>
          <p:cNvSpPr/>
          <p:nvPr/>
        </p:nvSpPr>
        <p:spPr>
          <a:xfrm>
            <a:off x="500034" y="3326501"/>
            <a:ext cx="8358246" cy="2462213"/>
          </a:xfrm>
          <a:prstGeom prst="rect">
            <a:avLst/>
          </a:prstGeom>
        </p:spPr>
        <p:txBody>
          <a:bodyPr wrap="square">
            <a:spAutoFit/>
          </a:bodyPr>
          <a:lstStyle/>
          <a:p>
            <a:pPr>
              <a:defRPr/>
            </a:pPr>
            <a:r>
              <a:rPr lang="ru-RU" sz="2200" dirty="0"/>
              <a:t>Вероятность отвергнуть основную гипотезу </a:t>
            </a:r>
            <a:r>
              <a:rPr lang="ru-RU" sz="2200" b="1" dirty="0"/>
              <a:t>Н</a:t>
            </a:r>
            <a:r>
              <a:rPr lang="en-US" sz="2200" b="1" dirty="0"/>
              <a:t>ₒ</a:t>
            </a:r>
            <a:r>
              <a:rPr lang="ru-RU" sz="2200" b="1" dirty="0"/>
              <a:t> </a:t>
            </a:r>
            <a:r>
              <a:rPr lang="ru-RU" sz="2200" dirty="0"/>
              <a:t>если она верна (т.е. принять гипотезу </a:t>
            </a:r>
            <a:r>
              <a:rPr lang="ru-RU" sz="2200" b="1" dirty="0"/>
              <a:t>Н₁</a:t>
            </a:r>
            <a:r>
              <a:rPr lang="ru-RU" sz="2200" dirty="0"/>
              <a:t>),  называется </a:t>
            </a:r>
            <a:r>
              <a:rPr lang="ru-RU" sz="2200" b="1" dirty="0"/>
              <a:t>вероятностью ошибки первого рода</a:t>
            </a:r>
            <a:r>
              <a:rPr lang="ru-RU" sz="2200" dirty="0"/>
              <a:t> или </a:t>
            </a:r>
            <a:r>
              <a:rPr lang="ru-RU" sz="2200" b="1" u="sng" dirty="0">
                <a:solidFill>
                  <a:schemeClr val="accent2"/>
                </a:solidFill>
              </a:rPr>
              <a:t>уровнем значимости</a:t>
            </a:r>
            <a:r>
              <a:rPr lang="ru-RU" sz="2200" dirty="0"/>
              <a:t>: </a:t>
            </a:r>
            <a:r>
              <a:rPr lang="en-US" sz="2200" dirty="0"/>
              <a:t>P(</a:t>
            </a:r>
            <a:r>
              <a:rPr lang="ru-RU" sz="2200" b="1" dirty="0"/>
              <a:t>Н₁ </a:t>
            </a:r>
            <a:r>
              <a:rPr lang="en-US" sz="2200" dirty="0"/>
              <a:t>|</a:t>
            </a:r>
            <a:r>
              <a:rPr lang="ru-RU" sz="2200" b="1" dirty="0"/>
              <a:t> Н</a:t>
            </a:r>
            <a:r>
              <a:rPr lang="en-US" sz="2200" b="1" dirty="0"/>
              <a:t>ₒ</a:t>
            </a:r>
            <a:r>
              <a:rPr lang="en-US" sz="2200" dirty="0"/>
              <a:t>)=</a:t>
            </a:r>
            <a:r>
              <a:rPr lang="el-GR" sz="2200" dirty="0"/>
              <a:t>α</a:t>
            </a:r>
            <a:r>
              <a:rPr lang="en-US" sz="2200" dirty="0"/>
              <a:t> (</a:t>
            </a:r>
            <a:r>
              <a:rPr lang="ru-RU" sz="2200" dirty="0"/>
              <a:t>альфа)</a:t>
            </a:r>
            <a:r>
              <a:rPr lang="en-US" sz="2200" dirty="0"/>
              <a:t>.</a:t>
            </a:r>
            <a:endParaRPr lang="ru-RU" sz="2200" dirty="0"/>
          </a:p>
          <a:p>
            <a:pPr>
              <a:defRPr/>
            </a:pPr>
            <a:r>
              <a:rPr lang="ru-RU" sz="2200" dirty="0"/>
              <a:t>Величина </a:t>
            </a:r>
            <a:r>
              <a:rPr lang="el-GR" sz="2200" dirty="0"/>
              <a:t>γ</a:t>
            </a:r>
            <a:r>
              <a:rPr lang="en-US" sz="2200" dirty="0"/>
              <a:t>=1-</a:t>
            </a:r>
            <a:r>
              <a:rPr lang="el-GR" sz="2200" dirty="0"/>
              <a:t>α</a:t>
            </a:r>
            <a:r>
              <a:rPr lang="en-US" sz="2200" dirty="0"/>
              <a:t>= P(</a:t>
            </a:r>
            <a:r>
              <a:rPr lang="ru-RU" sz="2200" b="1" dirty="0"/>
              <a:t>Н</a:t>
            </a:r>
            <a:r>
              <a:rPr lang="en-US" sz="2200" b="1" dirty="0"/>
              <a:t>ₒ </a:t>
            </a:r>
            <a:r>
              <a:rPr lang="en-US" sz="2200" dirty="0"/>
              <a:t>|</a:t>
            </a:r>
            <a:r>
              <a:rPr lang="ru-RU" sz="2200" b="1" dirty="0"/>
              <a:t> Н</a:t>
            </a:r>
            <a:r>
              <a:rPr lang="en-US" sz="2200" b="1" dirty="0"/>
              <a:t>ₒ</a:t>
            </a:r>
            <a:r>
              <a:rPr lang="en-US" sz="2200" dirty="0"/>
              <a:t>)</a:t>
            </a:r>
            <a:r>
              <a:rPr lang="ru-RU" sz="2200" dirty="0"/>
              <a:t> называется </a:t>
            </a:r>
            <a:r>
              <a:rPr lang="ru-RU" sz="2200" b="1" u="sng" dirty="0">
                <a:solidFill>
                  <a:schemeClr val="accent2"/>
                </a:solidFill>
              </a:rPr>
              <a:t>уровнем доверия</a:t>
            </a:r>
            <a:r>
              <a:rPr lang="ru-RU" sz="2200" dirty="0"/>
              <a:t>.</a:t>
            </a:r>
            <a:endParaRPr lang="en-US" sz="2200" dirty="0"/>
          </a:p>
          <a:p>
            <a:pPr>
              <a:defRPr/>
            </a:pPr>
            <a:r>
              <a:rPr lang="ru-RU" sz="2200" dirty="0"/>
              <a:t>Вероятность принять основную гипотезу </a:t>
            </a:r>
            <a:r>
              <a:rPr lang="ru-RU" sz="2200" b="1" dirty="0"/>
              <a:t>Н</a:t>
            </a:r>
            <a:r>
              <a:rPr lang="en-US" sz="2200" b="1" dirty="0"/>
              <a:t>ₒ</a:t>
            </a:r>
            <a:r>
              <a:rPr lang="ru-RU" sz="2200" b="1" dirty="0"/>
              <a:t> </a:t>
            </a:r>
            <a:r>
              <a:rPr lang="ru-RU" sz="2200" dirty="0"/>
              <a:t>если она неверна, называется </a:t>
            </a:r>
            <a:r>
              <a:rPr lang="ru-RU" sz="2200" b="1" u="sng" dirty="0">
                <a:solidFill>
                  <a:schemeClr val="accent2"/>
                </a:solidFill>
              </a:rPr>
              <a:t>вероятностью ошибки второго рода</a:t>
            </a:r>
            <a:r>
              <a:rPr lang="ru-RU" sz="2200" dirty="0"/>
              <a:t>: </a:t>
            </a:r>
            <a:r>
              <a:rPr lang="en-US" sz="2200" dirty="0"/>
              <a:t>P(</a:t>
            </a:r>
            <a:r>
              <a:rPr lang="ru-RU" sz="2200" b="1" dirty="0"/>
              <a:t>Н</a:t>
            </a:r>
            <a:r>
              <a:rPr lang="en-US" sz="2200" b="1" dirty="0"/>
              <a:t>ₒ </a:t>
            </a:r>
            <a:r>
              <a:rPr lang="en-US" sz="2200" dirty="0"/>
              <a:t>|</a:t>
            </a:r>
            <a:r>
              <a:rPr lang="ru-RU" sz="2200" b="1" dirty="0"/>
              <a:t> Н₁</a:t>
            </a:r>
            <a:r>
              <a:rPr lang="en-US" sz="2200" dirty="0"/>
              <a:t>)</a:t>
            </a:r>
            <a:r>
              <a:rPr lang="ru-RU" sz="2200" dirty="0"/>
              <a:t>=</a:t>
            </a:r>
            <a:r>
              <a:rPr lang="el-GR" sz="2200" dirty="0"/>
              <a:t>β</a:t>
            </a:r>
            <a:r>
              <a:rPr lang="ru-RU" sz="2200" dirty="0"/>
              <a:t> </a:t>
            </a:r>
          </a:p>
          <a:p>
            <a:pPr>
              <a:defRPr/>
            </a:pPr>
            <a:r>
              <a:rPr lang="ru-RU" sz="2200" dirty="0"/>
              <a:t>Величина  1-</a:t>
            </a:r>
            <a:r>
              <a:rPr lang="el-GR" sz="2200" dirty="0"/>
              <a:t>β</a:t>
            </a:r>
            <a:r>
              <a:rPr lang="ru-RU" sz="2200" dirty="0"/>
              <a:t>=</a:t>
            </a:r>
            <a:r>
              <a:rPr lang="en-US" sz="2200" dirty="0"/>
              <a:t> P(</a:t>
            </a:r>
            <a:r>
              <a:rPr lang="ru-RU" sz="2200" b="1" dirty="0"/>
              <a:t>Н₁ </a:t>
            </a:r>
            <a:r>
              <a:rPr lang="en-US" sz="2200" dirty="0"/>
              <a:t>|</a:t>
            </a:r>
            <a:r>
              <a:rPr lang="ru-RU" sz="2200" b="1" dirty="0"/>
              <a:t> Н₁</a:t>
            </a:r>
            <a:r>
              <a:rPr lang="en-US" sz="2200" dirty="0"/>
              <a:t>) </a:t>
            </a:r>
            <a:r>
              <a:rPr lang="ru-RU" sz="2200" dirty="0"/>
              <a:t>называется </a:t>
            </a:r>
            <a:r>
              <a:rPr lang="ru-RU" sz="2200" b="1" u="sng" dirty="0">
                <a:solidFill>
                  <a:schemeClr val="accent2"/>
                </a:solidFill>
              </a:rPr>
              <a:t>мощностью критерия</a:t>
            </a:r>
            <a:r>
              <a:rPr lang="ru-RU" sz="2200" b="1"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p:txBody>
          <a:bodyPr>
            <a:normAutofit/>
          </a:bodyPr>
          <a:lstStyle/>
          <a:p>
            <a:endParaRPr lang="ru-RU" dirty="0"/>
          </a:p>
        </p:txBody>
      </p:sp>
      <p:sp>
        <p:nvSpPr>
          <p:cNvPr id="4" name="Номер слайда 3"/>
          <p:cNvSpPr>
            <a:spLocks noGrp="1"/>
          </p:cNvSpPr>
          <p:nvPr>
            <p:ph type="sldNum" sz="quarter" idx="12"/>
          </p:nvPr>
        </p:nvSpPr>
        <p:spPr/>
        <p:txBody>
          <a:bodyPr/>
          <a:lstStyle/>
          <a:p>
            <a:fld id="{0CC3DD56-44D6-4410-A1D4-F947CD7B8BFD}" type="slidenum">
              <a:rPr lang="ru-RU" smtClean="0"/>
              <a:pPr/>
              <a:t>8</a:t>
            </a:fld>
            <a:endParaRPr lang="ru-RU"/>
          </a:p>
        </p:txBody>
      </p:sp>
      <p:sp>
        <p:nvSpPr>
          <p:cNvPr id="5" name="TextBox 4"/>
          <p:cNvSpPr txBox="1"/>
          <p:nvPr/>
        </p:nvSpPr>
        <p:spPr>
          <a:xfrm>
            <a:off x="2143108" y="2214554"/>
            <a:ext cx="1357322" cy="369332"/>
          </a:xfrm>
          <a:prstGeom prst="rect">
            <a:avLst/>
          </a:prstGeom>
          <a:noFill/>
        </p:spPr>
        <p:txBody>
          <a:bodyPr wrap="square" rtlCol="0">
            <a:spAutoFit/>
          </a:bodyPr>
          <a:lstStyle/>
          <a:p>
            <a:endParaRPr lang="ru-RU" dirty="0"/>
          </a:p>
        </p:txBody>
      </p:sp>
      <p:graphicFrame>
        <p:nvGraphicFramePr>
          <p:cNvPr id="6" name="Group 64"/>
          <p:cNvGraphicFramePr>
            <a:graphicFrameLocks/>
          </p:cNvGraphicFramePr>
          <p:nvPr/>
        </p:nvGraphicFramePr>
        <p:xfrm>
          <a:off x="857224" y="1000108"/>
          <a:ext cx="7705725" cy="5079365"/>
        </p:xfrm>
        <a:graphic>
          <a:graphicData uri="http://schemas.openxmlformats.org/drawingml/2006/table">
            <a:tbl>
              <a:tblPr/>
              <a:tblGrid>
                <a:gridCol w="1728787">
                  <a:extLst>
                    <a:ext uri="{9D8B030D-6E8A-4147-A177-3AD203B41FA5}">
                      <a16:colId xmlns:a16="http://schemas.microsoft.com/office/drawing/2014/main" val="20000"/>
                    </a:ext>
                  </a:extLst>
                </a:gridCol>
                <a:gridCol w="2346325">
                  <a:extLst>
                    <a:ext uri="{9D8B030D-6E8A-4147-A177-3AD203B41FA5}">
                      <a16:colId xmlns:a16="http://schemas.microsoft.com/office/drawing/2014/main" val="20001"/>
                    </a:ext>
                  </a:extLst>
                </a:gridCol>
                <a:gridCol w="1254125">
                  <a:extLst>
                    <a:ext uri="{9D8B030D-6E8A-4147-A177-3AD203B41FA5}">
                      <a16:colId xmlns:a16="http://schemas.microsoft.com/office/drawing/2014/main" val="20002"/>
                    </a:ext>
                  </a:extLst>
                </a:gridCol>
                <a:gridCol w="2376488">
                  <a:extLst>
                    <a:ext uri="{9D8B030D-6E8A-4147-A177-3AD203B41FA5}">
                      <a16:colId xmlns:a16="http://schemas.microsoft.com/office/drawing/2014/main" val="20003"/>
                    </a:ext>
                  </a:extLst>
                </a:gridCol>
              </a:tblGrid>
              <a:tr h="935038">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ru-RU" sz="2400" b="0" i="0" u="none" strike="noStrike" cap="none" normalizeH="0" baseline="0" dirty="0">
                          <a:ln>
                            <a:noFill/>
                          </a:ln>
                          <a:solidFill>
                            <a:srgbClr val="000000"/>
                          </a:solidFill>
                          <a:effectLst/>
                          <a:latin typeface="Times New Roman" pitchFamily="18" charset="0"/>
                          <a:cs typeface="Times New Roman" pitchFamily="18" charset="0"/>
                        </a:rPr>
                        <a:t>Гипотеза </a:t>
                      </a:r>
                      <a:r>
                        <a:rPr kumimoji="0" lang="ru-RU" sz="2400" b="0" i="1" u="none" strike="noStrike" cap="none" normalizeH="0" baseline="0" dirty="0">
                          <a:ln>
                            <a:noFill/>
                          </a:ln>
                          <a:solidFill>
                            <a:srgbClr val="000000"/>
                          </a:solidFill>
                          <a:effectLst/>
                          <a:latin typeface="Times New Roman" pitchFamily="18" charset="0"/>
                          <a:cs typeface="Times New Roman" pitchFamily="18" charset="0"/>
                        </a:rPr>
                        <a:t>Н</a:t>
                      </a:r>
                      <a:r>
                        <a:rPr kumimoji="0" lang="ru-RU" sz="2400" b="0" i="0" u="none" strike="noStrike" cap="none" normalizeH="0" baseline="-30000" dirty="0">
                          <a:ln>
                            <a:noFill/>
                          </a:ln>
                          <a:solidFill>
                            <a:srgbClr val="000000"/>
                          </a:solidFill>
                          <a:effectLst/>
                          <a:latin typeface="Times New Roman" pitchFamily="18" charset="0"/>
                          <a:cs typeface="Times New Roman" pitchFamily="18" charset="0"/>
                        </a:rPr>
                        <a:t>0</a:t>
                      </a:r>
                      <a:endParaRPr kumimoji="0" lang="ru-RU" sz="2400" b="0" i="0" u="none" strike="noStrike" cap="none" normalizeH="0" baseline="0" dirty="0">
                        <a:ln>
                          <a:noFill/>
                        </a:ln>
                        <a:solidFill>
                          <a:srgbClr val="000000"/>
                        </a:solidFill>
                        <a:effectLst/>
                        <a:latin typeface="Times New Roman" pitchFamily="18" charset="0"/>
                        <a:cs typeface="Times New Roman"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ru-RU" sz="2400" b="0" i="0" u="none" strike="noStrike" cap="none" normalizeH="0" baseline="0" dirty="0">
                          <a:ln>
                            <a:noFill/>
                          </a:ln>
                          <a:solidFill>
                            <a:srgbClr val="000000"/>
                          </a:solidFill>
                          <a:effectLst/>
                          <a:latin typeface="Times New Roman" pitchFamily="18" charset="0"/>
                          <a:cs typeface="Times New Roman" pitchFamily="18" charset="0"/>
                        </a:rPr>
                        <a:t>Вывод по анализу выборки</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ru-RU" sz="2400" b="0" i="0" u="none" strike="noStrike" cap="none" normalizeH="0" baseline="0" dirty="0" err="1">
                          <a:ln>
                            <a:noFill/>
                          </a:ln>
                          <a:solidFill>
                            <a:srgbClr val="000000"/>
                          </a:solidFill>
                          <a:effectLst/>
                          <a:latin typeface="Times New Roman" pitchFamily="18" charset="0"/>
                          <a:cs typeface="Times New Roman" pitchFamily="18" charset="0"/>
                        </a:rPr>
                        <a:t>Вероят</a:t>
                      </a:r>
                      <a:r>
                        <a:rPr kumimoji="0" lang="ru-RU" sz="2400" b="0" i="0" u="none" strike="noStrike" cap="none" normalizeH="0" baseline="0" dirty="0">
                          <a:ln>
                            <a:noFill/>
                          </a:ln>
                          <a:solidFill>
                            <a:srgbClr val="000000"/>
                          </a:solidFill>
                          <a:effectLst/>
                          <a:latin typeface="Times New Roman" pitchFamily="18" charset="0"/>
                          <a:cs typeface="Times New Roman" pitchFamily="18" charset="0"/>
                        </a:rPr>
                        <a:t>-</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ru-RU" sz="2400" b="0" i="0" u="none" strike="noStrike" cap="none" normalizeH="0" baseline="0" dirty="0" err="1">
                          <a:ln>
                            <a:noFill/>
                          </a:ln>
                          <a:solidFill>
                            <a:srgbClr val="000000"/>
                          </a:solidFill>
                          <a:effectLst/>
                          <a:latin typeface="Times New Roman" pitchFamily="18" charset="0"/>
                          <a:cs typeface="Times New Roman" pitchFamily="18" charset="0"/>
                        </a:rPr>
                        <a:t>ность</a:t>
                      </a:r>
                      <a:endParaRPr kumimoji="0" lang="ru-RU" sz="2400" b="0" i="0" u="none" strike="noStrike" cap="none" normalizeH="0" baseline="0" dirty="0">
                        <a:ln>
                          <a:noFill/>
                        </a:ln>
                        <a:solidFill>
                          <a:srgbClr val="000000"/>
                        </a:solidFill>
                        <a:effectLst/>
                        <a:latin typeface="Times New Roman" pitchFamily="18"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ru-RU" sz="2400" b="0" i="0" u="none" strike="noStrike" cap="none" normalizeH="0" baseline="0" dirty="0">
                          <a:ln>
                            <a:noFill/>
                          </a:ln>
                          <a:solidFill>
                            <a:srgbClr val="000000"/>
                          </a:solidFill>
                          <a:effectLst/>
                          <a:latin typeface="Times New Roman" pitchFamily="18" charset="0"/>
                          <a:cs typeface="Times New Roman" pitchFamily="18" charset="0"/>
                        </a:rPr>
                        <a:t>Примечание</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20000"/>
                        <a:lumOff val="80000"/>
                      </a:schemeClr>
                    </a:solidFill>
                  </a:tcPr>
                </a:tc>
                <a:extLst>
                  <a:ext uri="{0D108BD9-81ED-4DB2-BD59-A6C34878D82A}">
                    <a16:rowId xmlns:a16="http://schemas.microsoft.com/office/drawing/2014/main" val="10000"/>
                  </a:ext>
                </a:extLst>
              </a:tr>
              <a:tr h="682625">
                <a:tc rowSpan="2">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ru-RU" sz="2400" b="0" i="0" u="none" strike="noStrike" cap="none" normalizeH="0" baseline="0" dirty="0">
                          <a:ln>
                            <a:noFill/>
                          </a:ln>
                          <a:solidFill>
                            <a:srgbClr val="000000"/>
                          </a:solidFill>
                          <a:effectLst/>
                          <a:latin typeface="Times New Roman" pitchFamily="18" charset="0"/>
                          <a:cs typeface="Times New Roman" pitchFamily="18" charset="0"/>
                        </a:rPr>
                        <a:t>Верна</a:t>
                      </a:r>
                      <a:r>
                        <a:rPr kumimoji="0" lang="ru-RU" sz="2400" b="0" i="0" u="none" strike="noStrike" cap="none" normalizeH="0" baseline="0" dirty="0">
                          <a:ln>
                            <a:noFill/>
                          </a:ln>
                          <a:solidFill>
                            <a:schemeClr val="tx1"/>
                          </a:solidFill>
                          <a:effectLst/>
                          <a:latin typeface="Times New Roman" pitchFamily="18"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ru-RU" sz="2400" b="0" i="0" u="none" strike="noStrike" cap="none" normalizeH="0" baseline="0" dirty="0">
                          <a:ln>
                            <a:noFill/>
                          </a:ln>
                          <a:solidFill>
                            <a:schemeClr val="tx1"/>
                          </a:solidFill>
                          <a:effectLst/>
                          <a:latin typeface="+mn-lt"/>
                          <a:cs typeface="Times New Roman" pitchFamily="18" charset="0"/>
                        </a:rPr>
                        <a:t>Принимается</a:t>
                      </a:r>
                      <a:r>
                        <a:rPr kumimoji="0" lang="ru-RU" sz="2400" b="0" i="0" u="none" strike="noStrike" cap="none" normalizeH="0" baseline="0" dirty="0">
                          <a:ln>
                            <a:noFill/>
                          </a:ln>
                          <a:solidFill>
                            <a:schemeClr val="tx1"/>
                          </a:solidFill>
                          <a:effectLst/>
                          <a:latin typeface="+mn-lt"/>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ru-RU" sz="2400" b="0" i="0" u="none" strike="noStrike" cap="none" normalizeH="0" baseline="0" dirty="0">
                          <a:ln>
                            <a:noFill/>
                          </a:ln>
                          <a:solidFill>
                            <a:srgbClr val="000000"/>
                          </a:solidFill>
                          <a:effectLst/>
                          <a:latin typeface="Arial" pitchFamily="34" charset="0"/>
                          <a:cs typeface="Times New Roman" pitchFamily="18" charset="0"/>
                        </a:rPr>
                        <a:t>1–</a:t>
                      </a:r>
                      <a:r>
                        <a:rPr kumimoji="0" lang="ru-RU" sz="2400" b="0" i="0" u="none" strike="noStrike" cap="none" normalizeH="0" baseline="0" dirty="0">
                          <a:ln>
                            <a:noFill/>
                          </a:ln>
                          <a:solidFill>
                            <a:srgbClr val="000000"/>
                          </a:solidFill>
                          <a:effectLst/>
                          <a:latin typeface="Symbol" pitchFamily="18" charset="2"/>
                          <a:cs typeface="Times New Roman" pitchFamily="18" charset="0"/>
                        </a:rPr>
                        <a:t>a</a:t>
                      </a:r>
                      <a:r>
                        <a:rPr kumimoji="0" lang="ru-RU" sz="2400" b="0" i="0" u="none" strike="noStrike" cap="none" normalizeH="0" baseline="0" dirty="0">
                          <a:ln>
                            <a:noFill/>
                          </a:ln>
                          <a:solidFill>
                            <a:schemeClr val="tx1"/>
                          </a:solidFill>
                          <a:effectLst/>
                          <a:latin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ru-RU" sz="2000" b="0" i="0" u="none" strike="noStrike" cap="none" normalizeH="0" baseline="0" dirty="0">
                          <a:ln>
                            <a:noFill/>
                          </a:ln>
                          <a:solidFill>
                            <a:schemeClr val="tx1"/>
                          </a:solidFill>
                          <a:effectLst/>
                          <a:latin typeface="Arial" pitchFamily="34" charset="0"/>
                          <a:cs typeface="Times New Roman" pitchFamily="18" charset="0"/>
                        </a:rPr>
                        <a:t>Доверительная вероятность</a:t>
                      </a:r>
                      <a:r>
                        <a:rPr kumimoji="0" lang="ru-RU" sz="2000" b="0" i="0" u="none" strike="noStrike" cap="none" normalizeH="0" baseline="0" dirty="0">
                          <a:ln>
                            <a:noFill/>
                          </a:ln>
                          <a:solidFill>
                            <a:schemeClr val="tx1"/>
                          </a:solidFill>
                          <a:effectLst/>
                          <a:latin typeface="Arial" pitchFamily="34"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57263">
                <a:tc vMerge="1">
                  <a:txBody>
                    <a:bodyPr/>
                    <a:lstStyle/>
                    <a:p>
                      <a:endParaRPr lang="ru-RU"/>
                    </a:p>
                  </a:txBody>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ru-RU" sz="2400" b="0" i="0" u="none" strike="noStrike" cap="none" normalizeH="0" baseline="0" dirty="0">
                          <a:ln>
                            <a:noFill/>
                          </a:ln>
                          <a:solidFill>
                            <a:schemeClr val="tx1"/>
                          </a:solidFill>
                          <a:effectLst/>
                          <a:latin typeface="+mn-lt"/>
                        </a:rPr>
                        <a:t>Отвергается</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ru-RU" sz="2400" b="0" i="0" u="none" strike="noStrike" cap="none" normalizeH="0" baseline="0" dirty="0">
                          <a:ln>
                            <a:noFill/>
                          </a:ln>
                          <a:solidFill>
                            <a:srgbClr val="000000"/>
                          </a:solidFill>
                          <a:effectLst/>
                          <a:latin typeface="Symbol" pitchFamily="18" charset="2"/>
                          <a:cs typeface="Times New Roman" pitchFamily="18" charset="0"/>
                        </a:rPr>
                        <a:t>a</a:t>
                      </a:r>
                      <a:r>
                        <a:rPr kumimoji="0" lang="ru-RU" sz="2400" b="0" i="0" u="none" strike="noStrike" cap="none" normalizeH="0" baseline="0" dirty="0">
                          <a:ln>
                            <a:noFill/>
                          </a:ln>
                          <a:solidFill>
                            <a:schemeClr val="tx1"/>
                          </a:solidFill>
                          <a:effectLst/>
                          <a:latin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ru-RU" sz="2000" b="0" i="0" u="none" strike="noStrike" cap="none" normalizeH="0" baseline="0" dirty="0">
                          <a:ln>
                            <a:noFill/>
                          </a:ln>
                          <a:solidFill>
                            <a:schemeClr val="tx1"/>
                          </a:solidFill>
                          <a:effectLst/>
                          <a:latin typeface="Arial" pitchFamily="34" charset="0"/>
                          <a:cs typeface="Times New Roman" pitchFamily="18" charset="0"/>
                        </a:rPr>
                        <a:t>Вероятность ошибки первого рода</a:t>
                      </a:r>
                      <a:r>
                        <a:rPr kumimoji="0" lang="ru-RU" sz="2000" b="0" i="0" u="none" strike="noStrike" cap="none" normalizeH="0" baseline="0" dirty="0">
                          <a:ln>
                            <a:noFill/>
                          </a:ln>
                          <a:solidFill>
                            <a:schemeClr val="tx1"/>
                          </a:solidFill>
                          <a:effectLst/>
                          <a:latin typeface="Arial" pitchFamily="34"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01713">
                <a:tc rowSpan="2">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ru-RU" sz="2400" b="0" i="0" u="none" strike="noStrike" cap="none" normalizeH="0" baseline="0" dirty="0">
                          <a:ln>
                            <a:noFill/>
                          </a:ln>
                          <a:solidFill>
                            <a:srgbClr val="000000"/>
                          </a:solidFill>
                          <a:effectLst/>
                          <a:latin typeface="Times New Roman" pitchFamily="18" charset="0"/>
                          <a:cs typeface="Times New Roman" pitchFamily="18" charset="0"/>
                        </a:rPr>
                        <a:t>Не верна</a:t>
                      </a:r>
                      <a:r>
                        <a:rPr kumimoji="0" lang="ru-RU" sz="2400" b="1" i="0" u="none" strike="noStrike" cap="none" normalizeH="0" baseline="0" dirty="0">
                          <a:ln>
                            <a:noFill/>
                          </a:ln>
                          <a:solidFill>
                            <a:schemeClr val="tx1"/>
                          </a:solidFill>
                          <a:effectLst/>
                          <a:latin typeface="Times New Roman" pitchFamily="18" charset="0"/>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ru-RU" sz="2400" b="0" i="0" u="none" strike="noStrike" cap="none" normalizeH="0" baseline="0" dirty="0">
                          <a:ln>
                            <a:noFill/>
                          </a:ln>
                          <a:solidFill>
                            <a:schemeClr val="tx1"/>
                          </a:solidFill>
                          <a:effectLst/>
                          <a:latin typeface="+mn-lt"/>
                          <a:cs typeface="Times New Roman" pitchFamily="18" charset="0"/>
                        </a:rPr>
                        <a:t>Принимается</a:t>
                      </a:r>
                      <a:r>
                        <a:rPr kumimoji="0" lang="ru-RU" sz="2400" b="0" i="0" u="none" strike="noStrike" cap="none" normalizeH="0" baseline="0" dirty="0">
                          <a:ln>
                            <a:noFill/>
                          </a:ln>
                          <a:solidFill>
                            <a:schemeClr val="tx1"/>
                          </a:solidFill>
                          <a:effectLst/>
                          <a:latin typeface="+mn-lt"/>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ru-RU" sz="2400" b="0" i="0" u="none" strike="noStrike" cap="none" normalizeH="0" baseline="0" dirty="0" err="1">
                          <a:ln>
                            <a:noFill/>
                          </a:ln>
                          <a:solidFill>
                            <a:srgbClr val="000000"/>
                          </a:solidFill>
                          <a:effectLst/>
                          <a:latin typeface="Symbol" pitchFamily="18" charset="2"/>
                          <a:cs typeface="Times New Roman" pitchFamily="18" charset="0"/>
                        </a:rPr>
                        <a:t>b</a:t>
                      </a:r>
                      <a:r>
                        <a:rPr kumimoji="0" lang="ru-RU" sz="2400" b="0" i="0" u="none" strike="noStrike" cap="none" normalizeH="0" baseline="0" dirty="0">
                          <a:ln>
                            <a:noFill/>
                          </a:ln>
                          <a:solidFill>
                            <a:schemeClr val="tx1"/>
                          </a:solidFill>
                          <a:effectLst/>
                          <a:latin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ru-RU" sz="2000" b="0" i="0" u="none" strike="noStrike" cap="none" normalizeH="0" baseline="0" dirty="0">
                          <a:ln>
                            <a:noFill/>
                          </a:ln>
                          <a:solidFill>
                            <a:schemeClr val="tx1"/>
                          </a:solidFill>
                          <a:effectLst/>
                          <a:latin typeface="Arial" pitchFamily="34" charset="0"/>
                          <a:cs typeface="Times New Roman" pitchFamily="18" charset="0"/>
                        </a:rPr>
                        <a:t>Вероятность ошибки второго рода</a:t>
                      </a:r>
                      <a:r>
                        <a:rPr kumimoji="0" lang="ru-RU" sz="2000" b="0" i="0" u="none" strike="noStrike" cap="none" normalizeH="0" baseline="0" dirty="0">
                          <a:ln>
                            <a:noFill/>
                          </a:ln>
                          <a:solidFill>
                            <a:schemeClr val="tx1"/>
                          </a:solidFill>
                          <a:effectLst/>
                          <a:latin typeface="Arial" pitchFamily="34"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177925">
                <a:tc vMerge="1">
                  <a:txBody>
                    <a:bodyPr/>
                    <a:lstStyle/>
                    <a:p>
                      <a:endParaRPr lang="ru-RU"/>
                    </a:p>
                  </a:txBody>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ru-RU" sz="2400" b="0" i="0" u="none" strike="noStrike" cap="none" normalizeH="0" baseline="0" dirty="0">
                          <a:ln>
                            <a:noFill/>
                          </a:ln>
                          <a:solidFill>
                            <a:schemeClr val="tx1"/>
                          </a:solidFill>
                          <a:effectLst/>
                          <a:latin typeface="+mn-lt"/>
                        </a:rPr>
                        <a:t>Отвергается</a:t>
                      </a:r>
                    </a:p>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ru-RU" sz="28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ru-RU" sz="2400" b="0" i="0" u="none" strike="noStrike" cap="none" normalizeH="0" baseline="0" dirty="0">
                          <a:ln>
                            <a:noFill/>
                          </a:ln>
                          <a:solidFill>
                            <a:srgbClr val="000000"/>
                          </a:solidFill>
                          <a:effectLst/>
                          <a:latin typeface="Arial" pitchFamily="34" charset="0"/>
                          <a:cs typeface="Times New Roman" pitchFamily="18" charset="0"/>
                        </a:rPr>
                        <a:t>1–</a:t>
                      </a:r>
                      <a:r>
                        <a:rPr kumimoji="0" lang="ru-RU" sz="2400" b="0" i="0" u="none" strike="noStrike" cap="none" normalizeH="0" baseline="0" dirty="0" err="1">
                          <a:ln>
                            <a:noFill/>
                          </a:ln>
                          <a:solidFill>
                            <a:srgbClr val="000000"/>
                          </a:solidFill>
                          <a:effectLst/>
                          <a:latin typeface="Symbol" pitchFamily="18" charset="2"/>
                          <a:cs typeface="Times New Roman" pitchFamily="18" charset="0"/>
                        </a:rPr>
                        <a:t>b</a:t>
                      </a:r>
                      <a:r>
                        <a:rPr kumimoji="0" lang="ru-RU" sz="2400" b="1" i="0" u="none" strike="noStrike" cap="none" normalizeH="0" baseline="0" dirty="0">
                          <a:ln>
                            <a:noFill/>
                          </a:ln>
                          <a:solidFill>
                            <a:schemeClr val="tx1"/>
                          </a:solidFill>
                          <a:effectLst/>
                          <a:latin typeface="Arial"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ru-RU" sz="2000" b="0" i="0" u="none" strike="noStrike" cap="none" normalizeH="0" baseline="0" dirty="0">
                          <a:ln>
                            <a:noFill/>
                          </a:ln>
                          <a:solidFill>
                            <a:schemeClr val="tx1"/>
                          </a:solidFill>
                          <a:effectLst/>
                          <a:latin typeface="Arial" pitchFamily="34" charset="0"/>
                          <a:cs typeface="Times New Roman" pitchFamily="18" charset="0"/>
                        </a:rPr>
                        <a:t>Мощность критерия</a:t>
                      </a:r>
                      <a:r>
                        <a:rPr kumimoji="0" lang="ru-RU" sz="2000" b="0" i="0" u="none" strike="noStrike" cap="none" normalizeH="0" baseline="0" dirty="0">
                          <a:ln>
                            <a:noFill/>
                          </a:ln>
                          <a:solidFill>
                            <a:schemeClr val="tx1"/>
                          </a:solidFill>
                          <a:effectLst/>
                          <a:latin typeface="Arial" pitchFamily="34"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Уровень значимости </a:t>
            </a:r>
            <a:r>
              <a:rPr lang="el-GR" dirty="0">
                <a:latin typeface="Cambria"/>
                <a:ea typeface="Cambria"/>
              </a:rPr>
              <a:t>α</a:t>
            </a:r>
            <a:r>
              <a:rPr lang="ru-RU" dirty="0">
                <a:latin typeface="Cambria"/>
                <a:ea typeface="Cambria"/>
              </a:rPr>
              <a:t> и уровень доверия ϒ</a:t>
            </a:r>
            <a:endParaRPr lang="ru-RU" dirty="0"/>
          </a:p>
        </p:txBody>
      </p:sp>
      <p:sp>
        <p:nvSpPr>
          <p:cNvPr id="3" name="Содержимое 2"/>
          <p:cNvSpPr>
            <a:spLocks noGrp="1"/>
          </p:cNvSpPr>
          <p:nvPr>
            <p:ph idx="1"/>
          </p:nvPr>
        </p:nvSpPr>
        <p:spPr/>
        <p:txBody>
          <a:bodyPr>
            <a:normAutofit lnSpcReduction="10000"/>
          </a:bodyPr>
          <a:lstStyle/>
          <a:p>
            <a:r>
              <a:rPr lang="ru-RU" i="1" dirty="0">
                <a:cs typeface="Times New Roman" pitchFamily="18" charset="0"/>
              </a:rPr>
              <a:t>Обычно гипотеза проверяется на некотором </a:t>
            </a:r>
          </a:p>
          <a:p>
            <a:pPr>
              <a:buNone/>
            </a:pPr>
            <a:r>
              <a:rPr lang="ru-RU" b="1" i="1" dirty="0">
                <a:solidFill>
                  <a:schemeClr val="bg2">
                    <a:lumMod val="40000"/>
                    <a:lumOff val="60000"/>
                  </a:schemeClr>
                </a:solidFill>
                <a:cs typeface="Times New Roman" pitchFamily="18" charset="0"/>
              </a:rPr>
              <a:t>Уровне значимости </a:t>
            </a:r>
            <a:r>
              <a:rPr lang="el-GR" b="1" i="1" dirty="0">
                <a:solidFill>
                  <a:schemeClr val="bg2">
                    <a:lumMod val="40000"/>
                    <a:lumOff val="60000"/>
                  </a:schemeClr>
                </a:solidFill>
                <a:ea typeface="Cambria"/>
                <a:cs typeface="Times New Roman" pitchFamily="18" charset="0"/>
              </a:rPr>
              <a:t>α</a:t>
            </a:r>
            <a:r>
              <a:rPr lang="ru-RU" b="1" i="1" dirty="0">
                <a:solidFill>
                  <a:schemeClr val="bg2">
                    <a:lumMod val="40000"/>
                    <a:lumOff val="60000"/>
                  </a:schemeClr>
                </a:solidFill>
                <a:ea typeface="Cambria"/>
                <a:cs typeface="Times New Roman" pitchFamily="18" charset="0"/>
              </a:rPr>
              <a:t>(альфа) </a:t>
            </a:r>
            <a:r>
              <a:rPr lang="ru-RU" dirty="0">
                <a:solidFill>
                  <a:schemeClr val="bg2">
                    <a:lumMod val="40000"/>
                    <a:lumOff val="60000"/>
                  </a:schemeClr>
                </a:solidFill>
                <a:ea typeface="Cambria"/>
                <a:cs typeface="Times New Roman" pitchFamily="18" charset="0"/>
              </a:rPr>
              <a:t> </a:t>
            </a:r>
            <a:r>
              <a:rPr lang="ru-RU" dirty="0">
                <a:ea typeface="Cambria"/>
                <a:cs typeface="Times New Roman" pitchFamily="18" charset="0"/>
              </a:rPr>
              <a:t>или</a:t>
            </a:r>
            <a:r>
              <a:rPr lang="ru-RU" dirty="0">
                <a:solidFill>
                  <a:schemeClr val="bg2">
                    <a:lumMod val="40000"/>
                    <a:lumOff val="60000"/>
                  </a:schemeClr>
                </a:solidFill>
                <a:ea typeface="Cambria"/>
                <a:cs typeface="Times New Roman" pitchFamily="18" charset="0"/>
              </a:rPr>
              <a:t> </a:t>
            </a:r>
            <a:r>
              <a:rPr lang="ru-RU" b="1" i="1" dirty="0">
                <a:solidFill>
                  <a:schemeClr val="bg2">
                    <a:lumMod val="40000"/>
                    <a:lumOff val="60000"/>
                  </a:schemeClr>
                </a:solidFill>
                <a:ea typeface="Cambria"/>
                <a:cs typeface="Times New Roman" pitchFamily="18" charset="0"/>
              </a:rPr>
              <a:t>Уровне доверия </a:t>
            </a:r>
            <a:r>
              <a:rPr lang="el-GR" b="1" i="1" dirty="0">
                <a:solidFill>
                  <a:schemeClr val="bg2">
                    <a:lumMod val="40000"/>
                    <a:lumOff val="60000"/>
                  </a:schemeClr>
                </a:solidFill>
                <a:ea typeface="Cambria"/>
                <a:cs typeface="Times New Roman" pitchFamily="18" charset="0"/>
              </a:rPr>
              <a:t>ϒ</a:t>
            </a:r>
            <a:r>
              <a:rPr lang="ru-RU" b="1" i="1" dirty="0">
                <a:solidFill>
                  <a:schemeClr val="bg2">
                    <a:lumMod val="40000"/>
                    <a:lumOff val="60000"/>
                  </a:schemeClr>
                </a:solidFill>
                <a:ea typeface="Cambria"/>
                <a:cs typeface="Times New Roman" pitchFamily="18" charset="0"/>
              </a:rPr>
              <a:t>=1-</a:t>
            </a:r>
            <a:r>
              <a:rPr lang="el-GR" b="1" i="1" dirty="0">
                <a:solidFill>
                  <a:schemeClr val="bg2">
                    <a:lumMod val="40000"/>
                    <a:lumOff val="60000"/>
                  </a:schemeClr>
                </a:solidFill>
                <a:latin typeface="Cambria"/>
                <a:ea typeface="Cambria"/>
                <a:cs typeface="Times New Roman" pitchFamily="18" charset="0"/>
              </a:rPr>
              <a:t>α</a:t>
            </a:r>
            <a:r>
              <a:rPr lang="ru-RU" b="1" i="1" dirty="0">
                <a:solidFill>
                  <a:schemeClr val="bg2">
                    <a:lumMod val="40000"/>
                    <a:lumOff val="60000"/>
                  </a:schemeClr>
                </a:solidFill>
                <a:latin typeface="Cambria"/>
                <a:ea typeface="Cambria"/>
                <a:cs typeface="Times New Roman" pitchFamily="18" charset="0"/>
              </a:rPr>
              <a:t> </a:t>
            </a:r>
            <a:r>
              <a:rPr lang="ru-RU" b="1" i="1" dirty="0">
                <a:solidFill>
                  <a:schemeClr val="bg2">
                    <a:lumMod val="40000"/>
                    <a:lumOff val="60000"/>
                  </a:schemeClr>
                </a:solidFill>
                <a:ea typeface="Cambria"/>
                <a:cs typeface="Times New Roman" pitchFamily="18" charset="0"/>
              </a:rPr>
              <a:t>(гамма).</a:t>
            </a:r>
          </a:p>
          <a:p>
            <a:r>
              <a:rPr lang="ru-RU" b="1" i="1" dirty="0">
                <a:solidFill>
                  <a:schemeClr val="bg2">
                    <a:lumMod val="40000"/>
                    <a:lumOff val="60000"/>
                  </a:schemeClr>
                </a:solidFill>
                <a:ea typeface="Cambria"/>
                <a:cs typeface="Times New Roman" pitchFamily="18" charset="0"/>
              </a:rPr>
              <a:t> </a:t>
            </a:r>
            <a:r>
              <a:rPr lang="ru-RU" dirty="0"/>
              <a:t>Значение уровня значимости </a:t>
            </a:r>
            <a:r>
              <a:rPr lang="el-GR" dirty="0">
                <a:latin typeface="Cambria"/>
                <a:ea typeface="Cambria"/>
              </a:rPr>
              <a:t>α</a:t>
            </a:r>
            <a:r>
              <a:rPr lang="ru-RU" dirty="0">
                <a:latin typeface="Cambria"/>
                <a:ea typeface="Cambria"/>
              </a:rPr>
              <a:t> </a:t>
            </a:r>
            <a:r>
              <a:rPr lang="ru-RU" dirty="0"/>
              <a:t>обычно выбирается небольшим, например, 0,10; 0,05 или 0,01. </a:t>
            </a:r>
          </a:p>
          <a:p>
            <a:r>
              <a:rPr lang="ru-RU" dirty="0"/>
              <a:t>Соответственно, значение уровня доверия </a:t>
            </a:r>
            <a:r>
              <a:rPr lang="el-GR" dirty="0">
                <a:latin typeface="Cambria"/>
                <a:ea typeface="Cambria"/>
              </a:rPr>
              <a:t>ϒ</a:t>
            </a:r>
            <a:r>
              <a:rPr lang="ru-RU" dirty="0"/>
              <a:t> выбирается близким к 1: 0,9</a:t>
            </a:r>
            <a:r>
              <a:rPr lang="en-US" dirty="0"/>
              <a:t>;</a:t>
            </a:r>
            <a:r>
              <a:rPr lang="ru-RU" dirty="0"/>
              <a:t> 0,95; 0,99.</a:t>
            </a:r>
          </a:p>
          <a:p>
            <a:endParaRPr lang="ru-RU" dirty="0"/>
          </a:p>
        </p:txBody>
      </p:sp>
      <p:sp>
        <p:nvSpPr>
          <p:cNvPr id="4" name="Номер слайда 3"/>
          <p:cNvSpPr>
            <a:spLocks noGrp="1"/>
          </p:cNvSpPr>
          <p:nvPr>
            <p:ph type="sldNum" sz="quarter" idx="12"/>
          </p:nvPr>
        </p:nvSpPr>
        <p:spPr/>
        <p:txBody>
          <a:bodyPr/>
          <a:lstStyle/>
          <a:p>
            <a:fld id="{0CC3DD56-44D6-4410-A1D4-F947CD7B8BFD}" type="slidenum">
              <a:rPr lang="ru-RU" smtClean="0"/>
              <a:pPr/>
              <a:t>9</a:t>
            </a:fld>
            <a:endParaRPr lang="ru-RU"/>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Критерии проверки гипотезы</a:t>
            </a:r>
          </a:p>
        </p:txBody>
      </p:sp>
      <p:sp>
        <p:nvSpPr>
          <p:cNvPr id="3" name="Содержимое 2"/>
          <p:cNvSpPr>
            <a:spLocks noGrp="1"/>
          </p:cNvSpPr>
          <p:nvPr>
            <p:ph idx="1"/>
          </p:nvPr>
        </p:nvSpPr>
        <p:spPr/>
        <p:txBody>
          <a:bodyPr>
            <a:normAutofit fontScale="92500" lnSpcReduction="20000"/>
          </a:bodyPr>
          <a:lstStyle/>
          <a:p>
            <a:pPr>
              <a:defRPr/>
            </a:pPr>
            <a:r>
              <a:rPr lang="ru-RU" dirty="0"/>
              <a:t>Правило, по которому принимается или отвергается гипотеза, называется </a:t>
            </a:r>
            <a:r>
              <a:rPr lang="ru-RU" b="1" dirty="0">
                <a:solidFill>
                  <a:schemeClr val="accent2"/>
                </a:solidFill>
              </a:rPr>
              <a:t>критерием</a:t>
            </a:r>
            <a:r>
              <a:rPr lang="ru-RU" dirty="0"/>
              <a:t>.</a:t>
            </a:r>
            <a:r>
              <a:rPr lang="ru-RU" b="1" dirty="0"/>
              <a:t> </a:t>
            </a:r>
          </a:p>
          <a:p>
            <a:pPr>
              <a:defRPr/>
            </a:pPr>
            <a:r>
              <a:rPr lang="ru-RU" dirty="0"/>
              <a:t>Отдельный вид критериев для гипотез о законе распределения генеральной совокупности называются </a:t>
            </a:r>
            <a:r>
              <a:rPr lang="ru-RU" b="1" u="sng" dirty="0"/>
              <a:t>критериями согласия.</a:t>
            </a:r>
          </a:p>
          <a:p>
            <a:pPr>
              <a:defRPr/>
            </a:pPr>
            <a:r>
              <a:rPr lang="ru-RU" b="1" u="sng" dirty="0">
                <a:solidFill>
                  <a:schemeClr val="accent2"/>
                </a:solidFill>
              </a:rPr>
              <a:t>Критерии согласия</a:t>
            </a:r>
            <a:r>
              <a:rPr lang="ru-RU" u="sng" dirty="0">
                <a:solidFill>
                  <a:schemeClr val="accent2"/>
                </a:solidFill>
              </a:rPr>
              <a:t> </a:t>
            </a:r>
            <a:r>
              <a:rPr lang="ru-RU" dirty="0"/>
              <a:t>– критерии, устанавливающие </a:t>
            </a:r>
            <a:r>
              <a:rPr lang="ru-RU" b="1" dirty="0">
                <a:solidFill>
                  <a:srgbClr val="BE4D4A"/>
                </a:solidFill>
              </a:rPr>
              <a:t>закон распределения случайной величины </a:t>
            </a:r>
            <a:r>
              <a:rPr lang="ru-RU" dirty="0"/>
              <a:t>(например, критерий Пирсона и критерий Колмогорова).</a:t>
            </a:r>
          </a:p>
          <a:p>
            <a:endParaRPr lang="ru-RU" dirty="0"/>
          </a:p>
        </p:txBody>
      </p:sp>
      <p:sp>
        <p:nvSpPr>
          <p:cNvPr id="4" name="Номер слайда 3"/>
          <p:cNvSpPr>
            <a:spLocks noGrp="1"/>
          </p:cNvSpPr>
          <p:nvPr>
            <p:ph type="sldNum" sz="quarter" idx="12"/>
          </p:nvPr>
        </p:nvSpPr>
        <p:spPr/>
        <p:txBody>
          <a:bodyPr/>
          <a:lstStyle/>
          <a:p>
            <a:fld id="{0CC3DD56-44D6-4410-A1D4-F947CD7B8BFD}" type="slidenum">
              <a:rPr lang="ru-RU" smtClean="0"/>
              <a:pPr/>
              <a:t>10</a:t>
            </a:fld>
            <a:endParaRPr lang="ru-RU"/>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7903" name="Rectangle 15"/>
          <p:cNvSpPr>
            <a:spLocks noChangeArrowheads="1"/>
          </p:cNvSpPr>
          <p:nvPr/>
        </p:nvSpPr>
        <p:spPr bwMode="auto">
          <a:xfrm>
            <a:off x="5303227" y="5661025"/>
            <a:ext cx="930519" cy="215900"/>
          </a:xfrm>
          <a:prstGeom prst="rect">
            <a:avLst/>
          </a:prstGeom>
          <a:solidFill>
            <a:srgbClr val="FF0000"/>
          </a:solidFill>
          <a:ln w="9525">
            <a:noFill/>
            <a:miter lim="800000"/>
            <a:headEnd/>
            <a:tailEnd/>
          </a:ln>
          <a:effectLst/>
        </p:spPr>
        <p:txBody>
          <a:bodyPr wrap="none" anchor="ctr"/>
          <a:lstStyle/>
          <a:p>
            <a:endParaRPr lang="ru-RU"/>
          </a:p>
        </p:txBody>
      </p:sp>
      <p:sp>
        <p:nvSpPr>
          <p:cNvPr id="2597890" name="Rectangle 2"/>
          <p:cNvSpPr>
            <a:spLocks noGrp="1" noChangeArrowheads="1"/>
          </p:cNvSpPr>
          <p:nvPr>
            <p:ph type="title"/>
          </p:nvPr>
        </p:nvSpPr>
        <p:spPr/>
        <p:txBody>
          <a:bodyPr>
            <a:normAutofit/>
          </a:bodyPr>
          <a:lstStyle/>
          <a:p>
            <a:r>
              <a:rPr lang="ru-RU" dirty="0"/>
              <a:t>Критерий проверки гипотезы</a:t>
            </a:r>
          </a:p>
        </p:txBody>
      </p:sp>
      <p:sp>
        <p:nvSpPr>
          <p:cNvPr id="2597891" name="Rectangle 3"/>
          <p:cNvSpPr>
            <a:spLocks noGrp="1" noChangeArrowheads="1"/>
          </p:cNvSpPr>
          <p:nvPr>
            <p:ph type="body" idx="1"/>
          </p:nvPr>
        </p:nvSpPr>
        <p:spPr/>
        <p:txBody>
          <a:bodyPr/>
          <a:lstStyle/>
          <a:p>
            <a:pPr>
              <a:buNone/>
            </a:pPr>
            <a:r>
              <a:rPr lang="ru-RU" sz="1800" dirty="0"/>
              <a:t>Каким образом на основании выборки принимается решение? </a:t>
            </a:r>
          </a:p>
          <a:p>
            <a:pPr>
              <a:buNone/>
            </a:pPr>
            <a:r>
              <a:rPr lang="ru-RU" sz="1800" dirty="0"/>
              <a:t>Принятие гипотезы </a:t>
            </a:r>
            <a:r>
              <a:rPr lang="ru-RU" sz="1800" b="1" dirty="0"/>
              <a:t>Н</a:t>
            </a:r>
            <a:r>
              <a:rPr lang="en-US" sz="1800" b="1" dirty="0"/>
              <a:t>ₒ</a:t>
            </a:r>
            <a:r>
              <a:rPr lang="ru-RU" sz="1800" dirty="0"/>
              <a:t> или ее альтернативы </a:t>
            </a:r>
            <a:r>
              <a:rPr lang="ru-RU" sz="1800" b="1" dirty="0"/>
              <a:t>Н₁</a:t>
            </a:r>
            <a:r>
              <a:rPr lang="ru-RU" sz="1800" dirty="0"/>
              <a:t> основано на расчете статистики </a:t>
            </a:r>
            <a:r>
              <a:rPr lang="en-US" sz="1800" dirty="0"/>
              <a:t>t </a:t>
            </a:r>
            <a:r>
              <a:rPr lang="ru-RU" sz="1800" dirty="0"/>
              <a:t>по выборке из генеральной совокупности. </a:t>
            </a:r>
          </a:p>
          <a:p>
            <a:pPr>
              <a:buNone/>
            </a:pPr>
            <a:r>
              <a:rPr lang="ru-RU" sz="1800" dirty="0"/>
              <a:t>Множество значений статистики </a:t>
            </a:r>
            <a:r>
              <a:rPr lang="en-US" sz="1800" dirty="0"/>
              <a:t>t </a:t>
            </a:r>
            <a:r>
              <a:rPr lang="ru-RU" sz="1800" dirty="0"/>
              <a:t>включает:</a:t>
            </a:r>
            <a:endParaRPr lang="ru-RU" sz="1800" i="1" dirty="0"/>
          </a:p>
          <a:p>
            <a:r>
              <a:rPr lang="ru-RU" sz="1800" b="1" dirty="0"/>
              <a:t>область принятия гипотезы</a:t>
            </a:r>
            <a:r>
              <a:rPr lang="ru-RU" sz="1800" dirty="0"/>
              <a:t>, то есть множество тех значений статистики, при которых гипотеза </a:t>
            </a:r>
            <a:r>
              <a:rPr lang="en-US" sz="1800" dirty="0"/>
              <a:t>H</a:t>
            </a:r>
            <a:r>
              <a:rPr lang="en-US" sz="1800" b="1" baseline="-25000" dirty="0"/>
              <a:t>0</a:t>
            </a:r>
            <a:r>
              <a:rPr lang="ru-RU" sz="1800" dirty="0"/>
              <a:t> принимается</a:t>
            </a:r>
            <a:endParaRPr lang="ru-RU" sz="1800" i="1" dirty="0"/>
          </a:p>
          <a:p>
            <a:r>
              <a:rPr lang="ru-RU" sz="1800" b="1" dirty="0"/>
              <a:t>критическую область</a:t>
            </a:r>
            <a:r>
              <a:rPr lang="ru-RU" sz="1800" dirty="0"/>
              <a:t>, то есть множество тех значений статистики, при которых гипотеза </a:t>
            </a:r>
            <a:r>
              <a:rPr lang="en-US" sz="1800" dirty="0"/>
              <a:t>H</a:t>
            </a:r>
            <a:r>
              <a:rPr lang="en-US" sz="1800" b="1" baseline="-25000" dirty="0"/>
              <a:t>0</a:t>
            </a:r>
            <a:r>
              <a:rPr lang="ru-RU" sz="1800" dirty="0"/>
              <a:t> отклоняется и принимается альтернативная гипотеза</a:t>
            </a:r>
          </a:p>
        </p:txBody>
      </p:sp>
      <p:sp>
        <p:nvSpPr>
          <p:cNvPr id="2597892" name="Rectangle 4"/>
          <p:cNvSpPr>
            <a:spLocks noChangeArrowheads="1"/>
          </p:cNvSpPr>
          <p:nvPr/>
        </p:nvSpPr>
        <p:spPr bwMode="auto">
          <a:xfrm>
            <a:off x="2645020" y="5661025"/>
            <a:ext cx="2658208" cy="217488"/>
          </a:xfrm>
          <a:prstGeom prst="rect">
            <a:avLst/>
          </a:prstGeom>
          <a:solidFill>
            <a:srgbClr val="F3D957"/>
          </a:solidFill>
          <a:ln w="9525">
            <a:noFill/>
            <a:miter lim="800000"/>
            <a:headEnd/>
            <a:tailEnd/>
          </a:ln>
          <a:effectLst/>
        </p:spPr>
        <p:txBody>
          <a:bodyPr wrap="none" anchor="ctr"/>
          <a:lstStyle/>
          <a:p>
            <a:endParaRPr lang="ru-RU"/>
          </a:p>
        </p:txBody>
      </p:sp>
      <p:sp>
        <p:nvSpPr>
          <p:cNvPr id="2597893" name="Line 5"/>
          <p:cNvSpPr>
            <a:spLocks noChangeShapeType="1"/>
          </p:cNvSpPr>
          <p:nvPr/>
        </p:nvSpPr>
        <p:spPr bwMode="auto">
          <a:xfrm>
            <a:off x="1780443" y="5876925"/>
            <a:ext cx="4652596" cy="0"/>
          </a:xfrm>
          <a:prstGeom prst="line">
            <a:avLst/>
          </a:prstGeom>
          <a:noFill/>
          <a:ln w="38100">
            <a:solidFill>
              <a:srgbClr val="333399"/>
            </a:solidFill>
            <a:round/>
            <a:headEnd/>
            <a:tailEnd type="stealth" w="lg" len="lg"/>
          </a:ln>
          <a:effectLst/>
        </p:spPr>
        <p:txBody>
          <a:bodyPr/>
          <a:lstStyle/>
          <a:p>
            <a:endParaRPr lang="ru-RU"/>
          </a:p>
        </p:txBody>
      </p:sp>
      <p:sp>
        <p:nvSpPr>
          <p:cNvPr id="2597894" name="Line 6"/>
          <p:cNvSpPr>
            <a:spLocks noChangeShapeType="1"/>
          </p:cNvSpPr>
          <p:nvPr/>
        </p:nvSpPr>
        <p:spPr bwMode="auto">
          <a:xfrm>
            <a:off x="2645020" y="5805488"/>
            <a:ext cx="0" cy="215900"/>
          </a:xfrm>
          <a:prstGeom prst="line">
            <a:avLst/>
          </a:prstGeom>
          <a:noFill/>
          <a:ln w="38100">
            <a:solidFill>
              <a:srgbClr val="333399"/>
            </a:solidFill>
            <a:round/>
            <a:headEnd/>
            <a:tailEnd/>
          </a:ln>
          <a:effectLst/>
        </p:spPr>
        <p:txBody>
          <a:bodyPr/>
          <a:lstStyle/>
          <a:p>
            <a:endParaRPr lang="ru-RU"/>
          </a:p>
        </p:txBody>
      </p:sp>
      <p:sp>
        <p:nvSpPr>
          <p:cNvPr id="2597895" name="Line 7"/>
          <p:cNvSpPr>
            <a:spLocks noChangeShapeType="1"/>
          </p:cNvSpPr>
          <p:nvPr/>
        </p:nvSpPr>
        <p:spPr bwMode="auto">
          <a:xfrm>
            <a:off x="5303227" y="5805488"/>
            <a:ext cx="0" cy="215900"/>
          </a:xfrm>
          <a:prstGeom prst="line">
            <a:avLst/>
          </a:prstGeom>
          <a:noFill/>
          <a:ln w="38100">
            <a:solidFill>
              <a:srgbClr val="333399"/>
            </a:solidFill>
            <a:round/>
            <a:headEnd/>
            <a:tailEnd/>
          </a:ln>
          <a:effectLst/>
        </p:spPr>
        <p:txBody>
          <a:bodyPr/>
          <a:lstStyle/>
          <a:p>
            <a:endParaRPr lang="ru-RU"/>
          </a:p>
        </p:txBody>
      </p:sp>
      <p:sp>
        <p:nvSpPr>
          <p:cNvPr id="2597900" name="AutoShape 12"/>
          <p:cNvSpPr>
            <a:spLocks/>
          </p:cNvSpPr>
          <p:nvPr/>
        </p:nvSpPr>
        <p:spPr bwMode="auto">
          <a:xfrm rot="5400000">
            <a:off x="3829662" y="4189047"/>
            <a:ext cx="288925" cy="2658208"/>
          </a:xfrm>
          <a:prstGeom prst="leftBrace">
            <a:avLst>
              <a:gd name="adj1" fmla="val 83059"/>
              <a:gd name="adj2" fmla="val 50000"/>
            </a:avLst>
          </a:prstGeom>
          <a:noFill/>
          <a:ln w="38100">
            <a:solidFill>
              <a:srgbClr val="333399"/>
            </a:solidFill>
            <a:round/>
            <a:headEnd/>
            <a:tailEnd/>
          </a:ln>
          <a:effectLst/>
        </p:spPr>
        <p:txBody>
          <a:bodyPr wrap="none" anchor="ctr"/>
          <a:lstStyle/>
          <a:p>
            <a:endParaRPr lang="ru-RU"/>
          </a:p>
        </p:txBody>
      </p:sp>
      <p:sp>
        <p:nvSpPr>
          <p:cNvPr id="2597901" name="Text Box 13"/>
          <p:cNvSpPr txBox="1">
            <a:spLocks noChangeArrowheads="1"/>
          </p:cNvSpPr>
          <p:nvPr/>
        </p:nvSpPr>
        <p:spPr bwMode="auto">
          <a:xfrm>
            <a:off x="2910255" y="4732338"/>
            <a:ext cx="2292615" cy="646331"/>
          </a:xfrm>
          <a:prstGeom prst="rect">
            <a:avLst/>
          </a:prstGeom>
          <a:noFill/>
          <a:ln w="9525">
            <a:noFill/>
            <a:miter lim="800000"/>
            <a:headEnd/>
            <a:tailEnd/>
          </a:ln>
          <a:effectLst/>
        </p:spPr>
        <p:txBody>
          <a:bodyPr wrap="none">
            <a:spAutoFit/>
          </a:bodyPr>
          <a:lstStyle/>
          <a:p>
            <a:pPr algn="ctr"/>
            <a:r>
              <a:rPr lang="ru-RU" sz="1800" b="1" dirty="0">
                <a:solidFill>
                  <a:schemeClr val="tx1"/>
                </a:solidFill>
              </a:rPr>
              <a:t>Область принятия </a:t>
            </a:r>
          </a:p>
          <a:p>
            <a:pPr algn="ctr"/>
            <a:r>
              <a:rPr lang="ru-RU" sz="1800" b="1" dirty="0">
                <a:solidFill>
                  <a:schemeClr val="tx1"/>
                </a:solidFill>
              </a:rPr>
              <a:t>гипотезы</a:t>
            </a:r>
          </a:p>
        </p:txBody>
      </p:sp>
      <p:sp>
        <p:nvSpPr>
          <p:cNvPr id="2597902" name="Rectangle 14"/>
          <p:cNvSpPr>
            <a:spLocks noChangeArrowheads="1"/>
          </p:cNvSpPr>
          <p:nvPr/>
        </p:nvSpPr>
        <p:spPr bwMode="auto">
          <a:xfrm>
            <a:off x="1846385" y="5661025"/>
            <a:ext cx="798635" cy="215900"/>
          </a:xfrm>
          <a:prstGeom prst="rect">
            <a:avLst/>
          </a:prstGeom>
          <a:solidFill>
            <a:srgbClr val="FF0000"/>
          </a:solidFill>
          <a:ln w="9525">
            <a:noFill/>
            <a:miter lim="800000"/>
            <a:headEnd/>
            <a:tailEnd/>
          </a:ln>
          <a:effectLst/>
        </p:spPr>
        <p:txBody>
          <a:bodyPr wrap="none" anchor="ctr"/>
          <a:lstStyle/>
          <a:p>
            <a:endParaRPr lang="ru-RU"/>
          </a:p>
        </p:txBody>
      </p:sp>
      <p:sp>
        <p:nvSpPr>
          <p:cNvPr id="2597904" name="Text Box 16"/>
          <p:cNvSpPr txBox="1">
            <a:spLocks noChangeArrowheads="1"/>
          </p:cNvSpPr>
          <p:nvPr/>
        </p:nvSpPr>
        <p:spPr bwMode="auto">
          <a:xfrm>
            <a:off x="5250474" y="4724400"/>
            <a:ext cx="1714500" cy="641350"/>
          </a:xfrm>
          <a:prstGeom prst="rect">
            <a:avLst/>
          </a:prstGeom>
          <a:noFill/>
          <a:ln w="9525">
            <a:noFill/>
            <a:miter lim="800000"/>
            <a:headEnd/>
            <a:tailEnd/>
          </a:ln>
          <a:effectLst/>
        </p:spPr>
        <p:txBody>
          <a:bodyPr>
            <a:spAutoFit/>
          </a:bodyPr>
          <a:lstStyle/>
          <a:p>
            <a:r>
              <a:rPr lang="ru-RU" sz="1800" b="1">
                <a:solidFill>
                  <a:schemeClr val="tx1"/>
                </a:solidFill>
              </a:rPr>
              <a:t>Критическая область</a:t>
            </a:r>
          </a:p>
        </p:txBody>
      </p:sp>
      <p:sp>
        <p:nvSpPr>
          <p:cNvPr id="2597905" name="Text Box 17"/>
          <p:cNvSpPr txBox="1">
            <a:spLocks noChangeArrowheads="1"/>
          </p:cNvSpPr>
          <p:nvPr/>
        </p:nvSpPr>
        <p:spPr bwMode="auto">
          <a:xfrm>
            <a:off x="996462" y="4724400"/>
            <a:ext cx="1714500" cy="641350"/>
          </a:xfrm>
          <a:prstGeom prst="rect">
            <a:avLst/>
          </a:prstGeom>
          <a:noFill/>
          <a:ln w="9525">
            <a:noFill/>
            <a:miter lim="800000"/>
            <a:headEnd/>
            <a:tailEnd/>
          </a:ln>
          <a:effectLst/>
        </p:spPr>
        <p:txBody>
          <a:bodyPr>
            <a:spAutoFit/>
          </a:bodyPr>
          <a:lstStyle/>
          <a:p>
            <a:pPr algn="r"/>
            <a:r>
              <a:rPr lang="ru-RU" sz="1800" b="1" dirty="0">
                <a:solidFill>
                  <a:schemeClr val="tx1"/>
                </a:solidFill>
              </a:rPr>
              <a:t>Критическая область</a:t>
            </a:r>
          </a:p>
        </p:txBody>
      </p:sp>
      <p:sp>
        <p:nvSpPr>
          <p:cNvPr id="2597906" name="Text Box 18"/>
          <p:cNvSpPr txBox="1">
            <a:spLocks noChangeArrowheads="1"/>
          </p:cNvSpPr>
          <p:nvPr/>
        </p:nvSpPr>
        <p:spPr bwMode="auto">
          <a:xfrm>
            <a:off x="6498982" y="5445125"/>
            <a:ext cx="1714500" cy="915988"/>
          </a:xfrm>
          <a:prstGeom prst="rect">
            <a:avLst/>
          </a:prstGeom>
          <a:noFill/>
          <a:ln w="9525">
            <a:noFill/>
            <a:miter lim="800000"/>
            <a:headEnd/>
            <a:tailEnd/>
          </a:ln>
          <a:effectLst/>
        </p:spPr>
        <p:txBody>
          <a:bodyPr>
            <a:spAutoFit/>
          </a:bodyPr>
          <a:lstStyle/>
          <a:p>
            <a:r>
              <a:rPr lang="ru-RU" sz="1800" b="1">
                <a:solidFill>
                  <a:schemeClr val="tx1"/>
                </a:solidFill>
              </a:rPr>
              <a:t>Возможные значения статистики</a:t>
            </a:r>
          </a:p>
        </p:txBody>
      </p:sp>
      <p:sp>
        <p:nvSpPr>
          <p:cNvPr id="15" name="Номер слайда 14"/>
          <p:cNvSpPr>
            <a:spLocks noGrp="1"/>
          </p:cNvSpPr>
          <p:nvPr>
            <p:ph type="sldNum" sz="quarter" idx="12"/>
          </p:nvPr>
        </p:nvSpPr>
        <p:spPr/>
        <p:txBody>
          <a:bodyPr/>
          <a:lstStyle/>
          <a:p>
            <a:fld id="{0CC3DD56-44D6-4410-A1D4-F947CD7B8BFD}" type="slidenum">
              <a:rPr lang="ru-RU" smtClean="0"/>
              <a:pPr/>
              <a:t>11</a:t>
            </a:fld>
            <a:endParaRPr lang="ru-RU"/>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6866" name="Rectangle 1026"/>
          <p:cNvSpPr>
            <a:spLocks noGrp="1" noChangeArrowheads="1"/>
          </p:cNvSpPr>
          <p:nvPr>
            <p:ph type="title"/>
          </p:nvPr>
        </p:nvSpPr>
        <p:spPr/>
        <p:txBody>
          <a:bodyPr>
            <a:normAutofit fontScale="90000"/>
          </a:bodyPr>
          <a:lstStyle/>
          <a:p>
            <a:r>
              <a:rPr lang="ru-RU"/>
              <a:t>Критическая область и ее границы</a:t>
            </a:r>
          </a:p>
        </p:txBody>
      </p:sp>
      <p:sp>
        <p:nvSpPr>
          <p:cNvPr id="2596867" name="Rectangle 1027"/>
          <p:cNvSpPr>
            <a:spLocks noGrp="1" noChangeArrowheads="1"/>
          </p:cNvSpPr>
          <p:nvPr>
            <p:ph type="body" idx="1"/>
          </p:nvPr>
        </p:nvSpPr>
        <p:spPr>
          <a:xfrm>
            <a:off x="184639" y="1476382"/>
            <a:ext cx="8774723" cy="2952750"/>
          </a:xfrm>
        </p:spPr>
        <p:txBody>
          <a:bodyPr>
            <a:normAutofit fontScale="77500" lnSpcReduction="20000"/>
          </a:bodyPr>
          <a:lstStyle/>
          <a:p>
            <a:pPr>
              <a:lnSpc>
                <a:spcPct val="90000"/>
              </a:lnSpc>
              <a:buNone/>
            </a:pPr>
            <a:r>
              <a:rPr lang="ru-RU" dirty="0"/>
              <a:t>Критическая область строится для каждой статистики, основываясь на ее свойствах, и зависит от: </a:t>
            </a:r>
          </a:p>
          <a:p>
            <a:pPr>
              <a:lnSpc>
                <a:spcPct val="90000"/>
              </a:lnSpc>
              <a:buFontTx/>
              <a:buChar char="•"/>
            </a:pPr>
            <a:r>
              <a:rPr lang="ru-RU" dirty="0"/>
              <a:t>	объема выборки </a:t>
            </a:r>
          </a:p>
          <a:p>
            <a:pPr>
              <a:lnSpc>
                <a:spcPct val="90000"/>
              </a:lnSpc>
              <a:buFontTx/>
              <a:buChar char="•"/>
            </a:pPr>
            <a:r>
              <a:rPr lang="ru-RU" dirty="0"/>
              <a:t>	уровня значимости </a:t>
            </a:r>
            <a:r>
              <a:rPr lang="el-GR" dirty="0">
                <a:latin typeface="Cambria"/>
                <a:ea typeface="Cambria"/>
              </a:rPr>
              <a:t>α</a:t>
            </a:r>
            <a:r>
              <a:rPr lang="ru-RU" dirty="0"/>
              <a:t>, задаваемого исследователем</a:t>
            </a:r>
          </a:p>
          <a:p>
            <a:pPr>
              <a:lnSpc>
                <a:spcPct val="90000"/>
              </a:lnSpc>
              <a:buFontTx/>
              <a:buChar char="•"/>
            </a:pPr>
            <a:r>
              <a:rPr lang="ru-RU" dirty="0"/>
              <a:t>	вида альтернативной гипотезы</a:t>
            </a:r>
          </a:p>
          <a:p>
            <a:pPr>
              <a:lnSpc>
                <a:spcPct val="90000"/>
              </a:lnSpc>
            </a:pPr>
            <a:endParaRPr lang="ru-RU" dirty="0"/>
          </a:p>
          <a:p>
            <a:pPr>
              <a:lnSpc>
                <a:spcPct val="90000"/>
              </a:lnSpc>
              <a:buNone/>
            </a:pPr>
            <a:r>
              <a:rPr lang="ru-RU" dirty="0"/>
              <a:t>Критическая область ограничена </a:t>
            </a:r>
            <a:r>
              <a:rPr lang="ru-RU" b="1" dirty="0"/>
              <a:t>критическими значениями</a:t>
            </a:r>
            <a:r>
              <a:rPr lang="ru-RU" dirty="0"/>
              <a:t>, или </a:t>
            </a:r>
            <a:r>
              <a:rPr lang="ru-RU" b="1" dirty="0"/>
              <a:t>границами</a:t>
            </a:r>
            <a:r>
              <a:rPr lang="ru-RU" dirty="0"/>
              <a:t> </a:t>
            </a:r>
            <a:r>
              <a:rPr lang="ru-RU" b="1" dirty="0"/>
              <a:t>критической области</a:t>
            </a:r>
            <a:r>
              <a:rPr lang="ru-RU" dirty="0"/>
              <a:t>, которые вычисляются для каждой статистики при </a:t>
            </a:r>
            <a:r>
              <a:rPr lang="ru-RU" b="1" dirty="0">
                <a:solidFill>
                  <a:srgbClr val="BE4D4A"/>
                </a:solidFill>
              </a:rPr>
              <a:t>помощи таблиц значений различных функций.  </a:t>
            </a:r>
          </a:p>
          <a:p>
            <a:pPr>
              <a:lnSpc>
                <a:spcPct val="90000"/>
              </a:lnSpc>
            </a:pPr>
            <a:endParaRPr lang="ru-RU" dirty="0"/>
          </a:p>
        </p:txBody>
      </p:sp>
      <p:sp>
        <p:nvSpPr>
          <p:cNvPr id="2596868" name="Rectangle 1028"/>
          <p:cNvSpPr>
            <a:spLocks noChangeArrowheads="1"/>
          </p:cNvSpPr>
          <p:nvPr/>
        </p:nvSpPr>
        <p:spPr bwMode="auto">
          <a:xfrm>
            <a:off x="5317881" y="5373688"/>
            <a:ext cx="930519" cy="215900"/>
          </a:xfrm>
          <a:prstGeom prst="rect">
            <a:avLst/>
          </a:prstGeom>
          <a:solidFill>
            <a:srgbClr val="FF0000"/>
          </a:solidFill>
          <a:ln w="9525">
            <a:noFill/>
            <a:miter lim="800000"/>
            <a:headEnd/>
            <a:tailEnd/>
          </a:ln>
          <a:effectLst/>
        </p:spPr>
        <p:txBody>
          <a:bodyPr wrap="none" anchor="ctr"/>
          <a:lstStyle/>
          <a:p>
            <a:endParaRPr lang="ru-RU"/>
          </a:p>
        </p:txBody>
      </p:sp>
      <p:sp>
        <p:nvSpPr>
          <p:cNvPr id="2596869" name="Rectangle 1029"/>
          <p:cNvSpPr>
            <a:spLocks noChangeArrowheads="1"/>
          </p:cNvSpPr>
          <p:nvPr/>
        </p:nvSpPr>
        <p:spPr bwMode="auto">
          <a:xfrm>
            <a:off x="2659674" y="5373689"/>
            <a:ext cx="2658208" cy="217487"/>
          </a:xfrm>
          <a:prstGeom prst="rect">
            <a:avLst/>
          </a:prstGeom>
          <a:solidFill>
            <a:srgbClr val="F3D957"/>
          </a:solidFill>
          <a:ln w="9525">
            <a:noFill/>
            <a:miter lim="800000"/>
            <a:headEnd/>
            <a:tailEnd/>
          </a:ln>
          <a:effectLst/>
        </p:spPr>
        <p:txBody>
          <a:bodyPr wrap="none" anchor="ctr"/>
          <a:lstStyle/>
          <a:p>
            <a:endParaRPr lang="ru-RU"/>
          </a:p>
        </p:txBody>
      </p:sp>
      <p:sp>
        <p:nvSpPr>
          <p:cNvPr id="2596870" name="Line 1030"/>
          <p:cNvSpPr>
            <a:spLocks noChangeShapeType="1"/>
          </p:cNvSpPr>
          <p:nvPr/>
        </p:nvSpPr>
        <p:spPr bwMode="auto">
          <a:xfrm>
            <a:off x="1795096" y="5589588"/>
            <a:ext cx="4652596" cy="0"/>
          </a:xfrm>
          <a:prstGeom prst="line">
            <a:avLst/>
          </a:prstGeom>
          <a:noFill/>
          <a:ln w="38100">
            <a:solidFill>
              <a:srgbClr val="333399"/>
            </a:solidFill>
            <a:round/>
            <a:headEnd/>
            <a:tailEnd type="stealth" w="lg" len="lg"/>
          </a:ln>
          <a:effectLst/>
        </p:spPr>
        <p:txBody>
          <a:bodyPr/>
          <a:lstStyle/>
          <a:p>
            <a:endParaRPr lang="ru-RU"/>
          </a:p>
        </p:txBody>
      </p:sp>
      <p:sp>
        <p:nvSpPr>
          <p:cNvPr id="2596871" name="Line 1031"/>
          <p:cNvSpPr>
            <a:spLocks noChangeShapeType="1"/>
          </p:cNvSpPr>
          <p:nvPr/>
        </p:nvSpPr>
        <p:spPr bwMode="auto">
          <a:xfrm>
            <a:off x="2659674" y="5518150"/>
            <a:ext cx="0" cy="215900"/>
          </a:xfrm>
          <a:prstGeom prst="line">
            <a:avLst/>
          </a:prstGeom>
          <a:noFill/>
          <a:ln w="38100">
            <a:solidFill>
              <a:srgbClr val="333399"/>
            </a:solidFill>
            <a:round/>
            <a:headEnd/>
            <a:tailEnd/>
          </a:ln>
          <a:effectLst/>
        </p:spPr>
        <p:txBody>
          <a:bodyPr/>
          <a:lstStyle/>
          <a:p>
            <a:endParaRPr lang="ru-RU"/>
          </a:p>
        </p:txBody>
      </p:sp>
      <p:sp>
        <p:nvSpPr>
          <p:cNvPr id="2596872" name="Line 1032"/>
          <p:cNvSpPr>
            <a:spLocks noChangeShapeType="1"/>
          </p:cNvSpPr>
          <p:nvPr/>
        </p:nvSpPr>
        <p:spPr bwMode="auto">
          <a:xfrm>
            <a:off x="5317881" y="5518150"/>
            <a:ext cx="0" cy="215900"/>
          </a:xfrm>
          <a:prstGeom prst="line">
            <a:avLst/>
          </a:prstGeom>
          <a:noFill/>
          <a:ln w="38100">
            <a:solidFill>
              <a:srgbClr val="333399"/>
            </a:solidFill>
            <a:round/>
            <a:headEnd/>
            <a:tailEnd/>
          </a:ln>
          <a:effectLst/>
        </p:spPr>
        <p:txBody>
          <a:bodyPr/>
          <a:lstStyle/>
          <a:p>
            <a:endParaRPr lang="ru-RU"/>
          </a:p>
        </p:txBody>
      </p:sp>
      <p:sp>
        <p:nvSpPr>
          <p:cNvPr id="2596873" name="AutoShape 1033"/>
          <p:cNvSpPr>
            <a:spLocks/>
          </p:cNvSpPr>
          <p:nvPr/>
        </p:nvSpPr>
        <p:spPr bwMode="auto">
          <a:xfrm rot="5400000">
            <a:off x="3844315" y="3901709"/>
            <a:ext cx="288925" cy="2658208"/>
          </a:xfrm>
          <a:prstGeom prst="leftBrace">
            <a:avLst>
              <a:gd name="adj1" fmla="val 83059"/>
              <a:gd name="adj2" fmla="val 50000"/>
            </a:avLst>
          </a:prstGeom>
          <a:noFill/>
          <a:ln w="38100">
            <a:solidFill>
              <a:srgbClr val="333399"/>
            </a:solidFill>
            <a:round/>
            <a:headEnd/>
            <a:tailEnd/>
          </a:ln>
          <a:effectLst/>
        </p:spPr>
        <p:txBody>
          <a:bodyPr wrap="none" anchor="ctr"/>
          <a:lstStyle/>
          <a:p>
            <a:endParaRPr lang="ru-RU"/>
          </a:p>
        </p:txBody>
      </p:sp>
      <p:sp>
        <p:nvSpPr>
          <p:cNvPr id="2596874" name="Text Box 1034"/>
          <p:cNvSpPr txBox="1">
            <a:spLocks noChangeArrowheads="1"/>
          </p:cNvSpPr>
          <p:nvPr/>
        </p:nvSpPr>
        <p:spPr bwMode="auto">
          <a:xfrm>
            <a:off x="2924908" y="4445000"/>
            <a:ext cx="2292615" cy="646331"/>
          </a:xfrm>
          <a:prstGeom prst="rect">
            <a:avLst/>
          </a:prstGeom>
          <a:noFill/>
          <a:ln w="9525">
            <a:noFill/>
            <a:miter lim="800000"/>
            <a:headEnd/>
            <a:tailEnd/>
          </a:ln>
          <a:effectLst/>
        </p:spPr>
        <p:txBody>
          <a:bodyPr wrap="none">
            <a:spAutoFit/>
          </a:bodyPr>
          <a:lstStyle/>
          <a:p>
            <a:pPr algn="ctr"/>
            <a:r>
              <a:rPr lang="ru-RU" sz="1800" b="1">
                <a:solidFill>
                  <a:schemeClr val="tx1"/>
                </a:solidFill>
              </a:rPr>
              <a:t>Область принятия </a:t>
            </a:r>
          </a:p>
          <a:p>
            <a:pPr algn="ctr"/>
            <a:r>
              <a:rPr lang="ru-RU" sz="1800" b="1">
                <a:solidFill>
                  <a:schemeClr val="tx1"/>
                </a:solidFill>
              </a:rPr>
              <a:t>гипотезы</a:t>
            </a:r>
          </a:p>
        </p:txBody>
      </p:sp>
      <p:sp>
        <p:nvSpPr>
          <p:cNvPr id="2596875" name="Rectangle 1035"/>
          <p:cNvSpPr>
            <a:spLocks noChangeArrowheads="1"/>
          </p:cNvSpPr>
          <p:nvPr/>
        </p:nvSpPr>
        <p:spPr bwMode="auto">
          <a:xfrm>
            <a:off x="1861039" y="5373688"/>
            <a:ext cx="798635" cy="215900"/>
          </a:xfrm>
          <a:prstGeom prst="rect">
            <a:avLst/>
          </a:prstGeom>
          <a:solidFill>
            <a:srgbClr val="FF0000"/>
          </a:solidFill>
          <a:ln w="9525">
            <a:noFill/>
            <a:miter lim="800000"/>
            <a:headEnd/>
            <a:tailEnd/>
          </a:ln>
          <a:effectLst/>
        </p:spPr>
        <p:txBody>
          <a:bodyPr wrap="none" anchor="ctr"/>
          <a:lstStyle/>
          <a:p>
            <a:endParaRPr lang="ru-RU"/>
          </a:p>
        </p:txBody>
      </p:sp>
      <p:sp>
        <p:nvSpPr>
          <p:cNvPr id="2596876" name="Text Box 1036"/>
          <p:cNvSpPr txBox="1">
            <a:spLocks noChangeArrowheads="1"/>
          </p:cNvSpPr>
          <p:nvPr/>
        </p:nvSpPr>
        <p:spPr bwMode="auto">
          <a:xfrm>
            <a:off x="5265128" y="4437063"/>
            <a:ext cx="1714500" cy="641350"/>
          </a:xfrm>
          <a:prstGeom prst="rect">
            <a:avLst/>
          </a:prstGeom>
          <a:noFill/>
          <a:ln w="9525">
            <a:noFill/>
            <a:miter lim="800000"/>
            <a:headEnd/>
            <a:tailEnd/>
          </a:ln>
          <a:effectLst/>
        </p:spPr>
        <p:txBody>
          <a:bodyPr>
            <a:spAutoFit/>
          </a:bodyPr>
          <a:lstStyle/>
          <a:p>
            <a:r>
              <a:rPr lang="ru-RU" sz="1800" b="1">
                <a:solidFill>
                  <a:schemeClr val="tx1"/>
                </a:solidFill>
              </a:rPr>
              <a:t>Критическая область</a:t>
            </a:r>
          </a:p>
        </p:txBody>
      </p:sp>
      <p:sp>
        <p:nvSpPr>
          <p:cNvPr id="2596877" name="Text Box 1037"/>
          <p:cNvSpPr txBox="1">
            <a:spLocks noChangeArrowheads="1"/>
          </p:cNvSpPr>
          <p:nvPr/>
        </p:nvSpPr>
        <p:spPr bwMode="auto">
          <a:xfrm>
            <a:off x="1011116" y="4437063"/>
            <a:ext cx="1714500" cy="641350"/>
          </a:xfrm>
          <a:prstGeom prst="rect">
            <a:avLst/>
          </a:prstGeom>
          <a:noFill/>
          <a:ln w="9525">
            <a:noFill/>
            <a:miter lim="800000"/>
            <a:headEnd/>
            <a:tailEnd/>
          </a:ln>
          <a:effectLst/>
        </p:spPr>
        <p:txBody>
          <a:bodyPr>
            <a:spAutoFit/>
          </a:bodyPr>
          <a:lstStyle/>
          <a:p>
            <a:pPr algn="r"/>
            <a:r>
              <a:rPr lang="ru-RU" sz="1800" b="1">
                <a:solidFill>
                  <a:schemeClr val="tx1"/>
                </a:solidFill>
              </a:rPr>
              <a:t>Критическая область</a:t>
            </a:r>
          </a:p>
        </p:txBody>
      </p:sp>
      <p:sp>
        <p:nvSpPr>
          <p:cNvPr id="2596878" name="Text Box 1038"/>
          <p:cNvSpPr txBox="1">
            <a:spLocks noChangeArrowheads="1"/>
          </p:cNvSpPr>
          <p:nvPr/>
        </p:nvSpPr>
        <p:spPr bwMode="auto">
          <a:xfrm>
            <a:off x="6513636" y="5157789"/>
            <a:ext cx="1714500" cy="915987"/>
          </a:xfrm>
          <a:prstGeom prst="rect">
            <a:avLst/>
          </a:prstGeom>
          <a:noFill/>
          <a:ln w="9525">
            <a:noFill/>
            <a:miter lim="800000"/>
            <a:headEnd/>
            <a:tailEnd/>
          </a:ln>
          <a:effectLst/>
        </p:spPr>
        <p:txBody>
          <a:bodyPr>
            <a:spAutoFit/>
          </a:bodyPr>
          <a:lstStyle/>
          <a:p>
            <a:r>
              <a:rPr lang="ru-RU" sz="1800" b="1">
                <a:solidFill>
                  <a:schemeClr val="tx1"/>
                </a:solidFill>
              </a:rPr>
              <a:t>Возможные значения статистики</a:t>
            </a:r>
          </a:p>
        </p:txBody>
      </p:sp>
      <p:sp>
        <p:nvSpPr>
          <p:cNvPr id="2596879" name="AutoShape 1039"/>
          <p:cNvSpPr>
            <a:spLocks noChangeArrowheads="1"/>
          </p:cNvSpPr>
          <p:nvPr/>
        </p:nvSpPr>
        <p:spPr bwMode="auto">
          <a:xfrm>
            <a:off x="2592266" y="5518151"/>
            <a:ext cx="133350" cy="144463"/>
          </a:xfrm>
          <a:prstGeom prst="octagon">
            <a:avLst>
              <a:gd name="adj" fmla="val 29287"/>
            </a:avLst>
          </a:prstGeom>
          <a:solidFill>
            <a:schemeClr val="tx1"/>
          </a:solidFill>
          <a:ln w="9525">
            <a:solidFill>
              <a:schemeClr val="tx1"/>
            </a:solidFill>
            <a:miter lim="800000"/>
            <a:headEnd/>
            <a:tailEnd/>
          </a:ln>
          <a:effectLst/>
        </p:spPr>
        <p:txBody>
          <a:bodyPr wrap="none" anchor="ctr"/>
          <a:lstStyle/>
          <a:p>
            <a:endParaRPr lang="ru-RU"/>
          </a:p>
        </p:txBody>
      </p:sp>
      <p:sp>
        <p:nvSpPr>
          <p:cNvPr id="2596880" name="AutoShape 1040"/>
          <p:cNvSpPr>
            <a:spLocks noChangeArrowheads="1"/>
          </p:cNvSpPr>
          <p:nvPr/>
        </p:nvSpPr>
        <p:spPr bwMode="auto">
          <a:xfrm>
            <a:off x="5250473" y="5518151"/>
            <a:ext cx="133350" cy="144463"/>
          </a:xfrm>
          <a:prstGeom prst="octagon">
            <a:avLst>
              <a:gd name="adj" fmla="val 29287"/>
            </a:avLst>
          </a:prstGeom>
          <a:solidFill>
            <a:schemeClr val="tx1"/>
          </a:solidFill>
          <a:ln w="9525">
            <a:solidFill>
              <a:schemeClr val="tx1"/>
            </a:solidFill>
            <a:miter lim="800000"/>
            <a:headEnd/>
            <a:tailEnd/>
          </a:ln>
          <a:effectLst/>
        </p:spPr>
        <p:txBody>
          <a:bodyPr wrap="none" anchor="ctr"/>
          <a:lstStyle/>
          <a:p>
            <a:endParaRPr lang="ru-RU"/>
          </a:p>
        </p:txBody>
      </p:sp>
      <p:sp>
        <p:nvSpPr>
          <p:cNvPr id="2596881" name="Text Box 1041"/>
          <p:cNvSpPr txBox="1">
            <a:spLocks noChangeArrowheads="1"/>
          </p:cNvSpPr>
          <p:nvPr/>
        </p:nvSpPr>
        <p:spPr bwMode="auto">
          <a:xfrm>
            <a:off x="2976197" y="5667375"/>
            <a:ext cx="1714500" cy="641350"/>
          </a:xfrm>
          <a:prstGeom prst="rect">
            <a:avLst/>
          </a:prstGeom>
          <a:noFill/>
          <a:ln w="9525">
            <a:noFill/>
            <a:miter lim="800000"/>
            <a:headEnd/>
            <a:tailEnd/>
          </a:ln>
          <a:effectLst/>
        </p:spPr>
        <p:txBody>
          <a:bodyPr>
            <a:spAutoFit/>
          </a:bodyPr>
          <a:lstStyle/>
          <a:p>
            <a:pPr algn="ctr"/>
            <a:r>
              <a:rPr lang="ru-RU" sz="1800" b="1">
                <a:solidFill>
                  <a:schemeClr val="tx1"/>
                </a:solidFill>
              </a:rPr>
              <a:t>Критические значения</a:t>
            </a:r>
          </a:p>
        </p:txBody>
      </p:sp>
      <p:sp>
        <p:nvSpPr>
          <p:cNvPr id="2596882" name="Line 1042"/>
          <p:cNvSpPr>
            <a:spLocks noChangeShapeType="1"/>
          </p:cNvSpPr>
          <p:nvPr/>
        </p:nvSpPr>
        <p:spPr bwMode="auto">
          <a:xfrm flipH="1" flipV="1">
            <a:off x="2710961" y="5661026"/>
            <a:ext cx="398585" cy="288925"/>
          </a:xfrm>
          <a:prstGeom prst="line">
            <a:avLst/>
          </a:prstGeom>
          <a:noFill/>
          <a:ln w="38100">
            <a:solidFill>
              <a:srgbClr val="333399"/>
            </a:solidFill>
            <a:round/>
            <a:headEnd/>
            <a:tailEnd type="triangle" w="lg" len="lg"/>
          </a:ln>
          <a:effectLst/>
        </p:spPr>
        <p:txBody>
          <a:bodyPr/>
          <a:lstStyle/>
          <a:p>
            <a:endParaRPr lang="ru-RU"/>
          </a:p>
        </p:txBody>
      </p:sp>
      <p:sp>
        <p:nvSpPr>
          <p:cNvPr id="2596883" name="Line 1043"/>
          <p:cNvSpPr>
            <a:spLocks noChangeShapeType="1"/>
          </p:cNvSpPr>
          <p:nvPr/>
        </p:nvSpPr>
        <p:spPr bwMode="auto">
          <a:xfrm flipV="1">
            <a:off x="4705351" y="5661026"/>
            <a:ext cx="531934" cy="288925"/>
          </a:xfrm>
          <a:prstGeom prst="line">
            <a:avLst/>
          </a:prstGeom>
          <a:noFill/>
          <a:ln w="38100">
            <a:solidFill>
              <a:srgbClr val="333399"/>
            </a:solidFill>
            <a:round/>
            <a:headEnd/>
            <a:tailEnd type="triangle" w="lg" len="lg"/>
          </a:ln>
          <a:effectLst/>
        </p:spPr>
        <p:txBody>
          <a:bodyPr/>
          <a:lstStyle/>
          <a:p>
            <a:endParaRPr lang="ru-RU"/>
          </a:p>
        </p:txBody>
      </p:sp>
      <p:sp>
        <p:nvSpPr>
          <p:cNvPr id="20" name="Номер слайда 19"/>
          <p:cNvSpPr>
            <a:spLocks noGrp="1"/>
          </p:cNvSpPr>
          <p:nvPr>
            <p:ph type="sldNum" sz="quarter" idx="12"/>
          </p:nvPr>
        </p:nvSpPr>
        <p:spPr/>
        <p:txBody>
          <a:bodyPr/>
          <a:lstStyle/>
          <a:p>
            <a:fld id="{0CC3DD56-44D6-4410-A1D4-F947CD7B8BFD}" type="slidenum">
              <a:rPr lang="ru-RU" smtClean="0"/>
              <a:pPr/>
              <a:t>12</a:t>
            </a:fld>
            <a:endParaRPr lang="ru-RU"/>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Двусторонняя и односторонние критические области</a:t>
            </a:r>
          </a:p>
        </p:txBody>
      </p:sp>
      <p:sp>
        <p:nvSpPr>
          <p:cNvPr id="3" name="Содержимое 2"/>
          <p:cNvSpPr>
            <a:spLocks noGrp="1"/>
          </p:cNvSpPr>
          <p:nvPr>
            <p:ph idx="1"/>
          </p:nvPr>
        </p:nvSpPr>
        <p:spPr/>
        <p:txBody>
          <a:bodyPr>
            <a:normAutofit fontScale="77500" lnSpcReduction="20000"/>
          </a:bodyPr>
          <a:lstStyle/>
          <a:p>
            <a:pPr marL="0" indent="0">
              <a:buFont typeface="Arial" charset="0"/>
              <a:buNone/>
            </a:pPr>
            <a:r>
              <a:rPr lang="ru-RU" dirty="0"/>
              <a:t>В зависимости от альтернативной гипотезы </a:t>
            </a:r>
            <a:r>
              <a:rPr lang="ru-RU" b="1" dirty="0"/>
              <a:t>Н₁ </a:t>
            </a:r>
            <a:r>
              <a:rPr lang="ru-RU" dirty="0"/>
              <a:t>критическая область может быть:</a:t>
            </a:r>
          </a:p>
          <a:p>
            <a:pPr marL="0" indent="0">
              <a:buFont typeface="Arial" charset="0"/>
              <a:buNone/>
            </a:pPr>
            <a:r>
              <a:rPr lang="ru-RU" dirty="0"/>
              <a:t>1) </a:t>
            </a:r>
            <a:r>
              <a:rPr lang="ru-RU" b="1" dirty="0"/>
              <a:t>правосторонней</a:t>
            </a:r>
            <a:r>
              <a:rPr lang="en-US" b="1" dirty="0"/>
              <a:t>;</a:t>
            </a:r>
            <a:endParaRPr lang="ru-RU" dirty="0"/>
          </a:p>
          <a:p>
            <a:pPr marL="0" indent="0">
              <a:buFont typeface="Arial" charset="0"/>
              <a:buNone/>
            </a:pPr>
            <a:r>
              <a:rPr lang="ru-RU" dirty="0"/>
              <a:t>2) </a:t>
            </a:r>
            <a:r>
              <a:rPr lang="ru-RU" b="1" dirty="0"/>
              <a:t>левосторонней</a:t>
            </a:r>
            <a:r>
              <a:rPr lang="en-US" b="1" dirty="0"/>
              <a:t>;</a:t>
            </a:r>
            <a:endParaRPr lang="ru-RU" dirty="0"/>
          </a:p>
          <a:p>
            <a:pPr marL="0" indent="0">
              <a:buFont typeface="Arial" charset="0"/>
              <a:buNone/>
            </a:pPr>
            <a:r>
              <a:rPr lang="ru-RU" dirty="0"/>
              <a:t>3) </a:t>
            </a:r>
            <a:r>
              <a:rPr lang="ru-RU" b="1" dirty="0"/>
              <a:t>двусторонней.</a:t>
            </a:r>
            <a:endParaRPr lang="en-US" b="1" dirty="0"/>
          </a:p>
          <a:p>
            <a:pPr marL="0" indent="0">
              <a:buFont typeface="Arial" charset="0"/>
              <a:buNone/>
            </a:pPr>
            <a:r>
              <a:rPr lang="ru-RU" b="1" i="1" dirty="0">
                <a:solidFill>
                  <a:srgbClr val="C00000"/>
                </a:solidFill>
                <a:cs typeface="Times New Roman" pitchFamily="18" charset="0"/>
              </a:rPr>
              <a:t>Односторонний критерий </a:t>
            </a:r>
            <a:r>
              <a:rPr lang="ru-RU" dirty="0">
                <a:cs typeface="Times New Roman" pitchFamily="18" charset="0"/>
              </a:rPr>
              <a:t>используется в тех случаях, когда необходимо знать, является ли параметр генеральной совокупности </a:t>
            </a:r>
            <a:r>
              <a:rPr lang="ru-RU" dirty="0">
                <a:solidFill>
                  <a:srgbClr val="FF0000"/>
                </a:solidFill>
                <a:cs typeface="Times New Roman" pitchFamily="18" charset="0"/>
              </a:rPr>
              <a:t>&gt;</a:t>
            </a:r>
            <a:r>
              <a:rPr lang="ru-RU" dirty="0">
                <a:cs typeface="Times New Roman" pitchFamily="18" charset="0"/>
              </a:rPr>
              <a:t> (</a:t>
            </a:r>
            <a:r>
              <a:rPr lang="ru-RU" u="sng" dirty="0">
                <a:cs typeface="Times New Roman" pitchFamily="18" charset="0"/>
              </a:rPr>
              <a:t>правосторонний критерий</a:t>
            </a:r>
            <a:r>
              <a:rPr lang="ru-RU" dirty="0">
                <a:cs typeface="Times New Roman" pitchFamily="18" charset="0"/>
              </a:rPr>
              <a:t>) или </a:t>
            </a:r>
            <a:r>
              <a:rPr lang="ru-RU" b="1" dirty="0">
                <a:solidFill>
                  <a:srgbClr val="FF0000"/>
                </a:solidFill>
                <a:cs typeface="Times New Roman" pitchFamily="18" charset="0"/>
              </a:rPr>
              <a:t>&lt;</a:t>
            </a:r>
            <a:r>
              <a:rPr lang="ru-RU" dirty="0">
                <a:solidFill>
                  <a:srgbClr val="FF0000"/>
                </a:solidFill>
                <a:cs typeface="Times New Roman" pitchFamily="18" charset="0"/>
              </a:rPr>
              <a:t> </a:t>
            </a:r>
            <a:r>
              <a:rPr lang="ru-RU" dirty="0">
                <a:cs typeface="Times New Roman" pitchFamily="18" charset="0"/>
              </a:rPr>
              <a:t>(</a:t>
            </a:r>
            <a:r>
              <a:rPr lang="ru-RU" u="sng" dirty="0">
                <a:cs typeface="Times New Roman" pitchFamily="18" charset="0"/>
              </a:rPr>
              <a:t>левосторонний критерий</a:t>
            </a:r>
            <a:r>
              <a:rPr lang="ru-RU" dirty="0">
                <a:cs typeface="Times New Roman" pitchFamily="18" charset="0"/>
              </a:rPr>
              <a:t>) предполагаемого значения.</a:t>
            </a:r>
            <a:endParaRPr lang="en-US" dirty="0">
              <a:cs typeface="Times New Roman" pitchFamily="18" charset="0"/>
            </a:endParaRPr>
          </a:p>
          <a:p>
            <a:pPr marL="0" indent="0">
              <a:buFont typeface="Arial" charset="0"/>
              <a:buNone/>
            </a:pPr>
            <a:r>
              <a:rPr lang="ru-RU" b="1" i="1" dirty="0">
                <a:solidFill>
                  <a:srgbClr val="C00000"/>
                </a:solidFill>
                <a:cs typeface="Times New Roman" pitchFamily="18" charset="0"/>
              </a:rPr>
              <a:t>Двусторонний критерий </a:t>
            </a:r>
            <a:r>
              <a:rPr lang="ru-RU" dirty="0">
                <a:cs typeface="Times New Roman" pitchFamily="18" charset="0"/>
              </a:rPr>
              <a:t>используется в тех случаях, когда интересует, отличаются ли реальные значения параметра от предполагаемого значения.</a:t>
            </a:r>
            <a:endParaRPr lang="en-US" dirty="0">
              <a:cs typeface="Times New Roman" pitchFamily="18" charset="0"/>
            </a:endParaRPr>
          </a:p>
        </p:txBody>
      </p:sp>
      <p:sp>
        <p:nvSpPr>
          <p:cNvPr id="4" name="Номер слайда 3"/>
          <p:cNvSpPr>
            <a:spLocks noGrp="1"/>
          </p:cNvSpPr>
          <p:nvPr>
            <p:ph type="sldNum" sz="quarter" idx="12"/>
          </p:nvPr>
        </p:nvSpPr>
        <p:spPr/>
        <p:txBody>
          <a:bodyPr/>
          <a:lstStyle/>
          <a:p>
            <a:fld id="{0CC3DD56-44D6-4410-A1D4-F947CD7B8BFD}" type="slidenum">
              <a:rPr lang="ru-RU" smtClean="0"/>
              <a:pPr/>
              <a:t>13</a:t>
            </a:fld>
            <a:endParaRPr lang="ru-RU"/>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Левосторонняя критическая область</a:t>
            </a:r>
          </a:p>
        </p:txBody>
      </p:sp>
      <p:sp>
        <p:nvSpPr>
          <p:cNvPr id="4" name="Номер слайда 3"/>
          <p:cNvSpPr>
            <a:spLocks noGrp="1"/>
          </p:cNvSpPr>
          <p:nvPr>
            <p:ph type="sldNum" sz="quarter" idx="12"/>
          </p:nvPr>
        </p:nvSpPr>
        <p:spPr/>
        <p:txBody>
          <a:bodyPr/>
          <a:lstStyle/>
          <a:p>
            <a:fld id="{0CC3DD56-44D6-4410-A1D4-F947CD7B8BFD}" type="slidenum">
              <a:rPr lang="ru-RU" smtClean="0"/>
              <a:pPr/>
              <a:t>14</a:t>
            </a:fld>
            <a:endParaRPr lang="ru-RU"/>
          </a:p>
        </p:txBody>
      </p:sp>
      <p:pic>
        <p:nvPicPr>
          <p:cNvPr id="529412" name="Picture 4"/>
          <p:cNvPicPr>
            <a:picLocks noGrp="1" noChangeAspect="1" noChangeArrowheads="1"/>
          </p:cNvPicPr>
          <p:nvPr>
            <p:ph idx="1"/>
          </p:nvPr>
        </p:nvPicPr>
        <p:blipFill>
          <a:blip r:embed="rId2"/>
          <a:srcRect/>
          <a:stretch>
            <a:fillRect/>
          </a:stretch>
        </p:blipFill>
        <p:spPr bwMode="auto">
          <a:xfrm>
            <a:off x="1631950" y="2369344"/>
            <a:ext cx="5880100" cy="307975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Правосторонняя критическая область</a:t>
            </a:r>
          </a:p>
        </p:txBody>
      </p:sp>
      <p:sp>
        <p:nvSpPr>
          <p:cNvPr id="4" name="Номер слайда 3"/>
          <p:cNvSpPr>
            <a:spLocks noGrp="1"/>
          </p:cNvSpPr>
          <p:nvPr>
            <p:ph type="sldNum" sz="quarter" idx="12"/>
          </p:nvPr>
        </p:nvSpPr>
        <p:spPr/>
        <p:txBody>
          <a:bodyPr/>
          <a:lstStyle/>
          <a:p>
            <a:fld id="{0CC3DD56-44D6-4410-A1D4-F947CD7B8BFD}" type="slidenum">
              <a:rPr lang="ru-RU" smtClean="0"/>
              <a:pPr/>
              <a:t>15</a:t>
            </a:fld>
            <a:endParaRPr lang="ru-RU"/>
          </a:p>
        </p:txBody>
      </p:sp>
      <p:pic>
        <p:nvPicPr>
          <p:cNvPr id="530434" name="Picture 2"/>
          <p:cNvPicPr>
            <a:picLocks noGrp="1" noChangeAspect="1" noChangeArrowheads="1"/>
          </p:cNvPicPr>
          <p:nvPr>
            <p:ph idx="1"/>
          </p:nvPr>
        </p:nvPicPr>
        <p:blipFill>
          <a:blip r:embed="rId2"/>
          <a:srcRect/>
          <a:stretch>
            <a:fillRect/>
          </a:stretch>
        </p:blipFill>
        <p:spPr bwMode="auto">
          <a:xfrm>
            <a:off x="1612900" y="2324894"/>
            <a:ext cx="5918200" cy="3168650"/>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Двусторонняя критическая область</a:t>
            </a:r>
          </a:p>
        </p:txBody>
      </p:sp>
      <p:sp>
        <p:nvSpPr>
          <p:cNvPr id="4" name="Номер слайда 3"/>
          <p:cNvSpPr>
            <a:spLocks noGrp="1"/>
          </p:cNvSpPr>
          <p:nvPr>
            <p:ph type="sldNum" sz="quarter" idx="12"/>
          </p:nvPr>
        </p:nvSpPr>
        <p:spPr/>
        <p:txBody>
          <a:bodyPr/>
          <a:lstStyle/>
          <a:p>
            <a:fld id="{0CC3DD56-44D6-4410-A1D4-F947CD7B8BFD}" type="slidenum">
              <a:rPr lang="ru-RU" smtClean="0"/>
              <a:pPr/>
              <a:t>16</a:t>
            </a:fld>
            <a:endParaRPr lang="ru-RU"/>
          </a:p>
        </p:txBody>
      </p:sp>
      <p:pic>
        <p:nvPicPr>
          <p:cNvPr id="531458" name="Picture 2"/>
          <p:cNvPicPr>
            <a:picLocks noGrp="1" noChangeAspect="1" noChangeArrowheads="1"/>
          </p:cNvPicPr>
          <p:nvPr>
            <p:ph idx="1"/>
          </p:nvPr>
        </p:nvPicPr>
        <p:blipFill>
          <a:blip r:embed="rId2"/>
          <a:srcRect/>
          <a:stretch>
            <a:fillRect/>
          </a:stretch>
        </p:blipFill>
        <p:spPr bwMode="auto">
          <a:xfrm>
            <a:off x="1606550" y="2331244"/>
            <a:ext cx="5930900" cy="315595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62" name="Rectangle 2"/>
          <p:cNvSpPr>
            <a:spLocks noGrp="1" noChangeArrowheads="1"/>
          </p:cNvSpPr>
          <p:nvPr>
            <p:ph type="title"/>
          </p:nvPr>
        </p:nvSpPr>
        <p:spPr/>
        <p:txBody>
          <a:bodyPr/>
          <a:lstStyle/>
          <a:p>
            <a:r>
              <a:rPr lang="ru-RU"/>
              <a:t>Получение вывода</a:t>
            </a:r>
          </a:p>
        </p:txBody>
      </p:sp>
      <p:sp>
        <p:nvSpPr>
          <p:cNvPr id="2600963" name="Rectangle 3"/>
          <p:cNvSpPr>
            <a:spLocks noGrp="1" noChangeArrowheads="1"/>
          </p:cNvSpPr>
          <p:nvPr>
            <p:ph type="body" idx="1"/>
          </p:nvPr>
        </p:nvSpPr>
        <p:spPr/>
        <p:txBody>
          <a:bodyPr>
            <a:normAutofit fontScale="70000" lnSpcReduction="20000"/>
          </a:bodyPr>
          <a:lstStyle/>
          <a:p>
            <a:r>
              <a:rPr lang="ru-RU" dirty="0"/>
              <a:t>После построения критической области вычисляется значение статистики по выборке. Затем сравнивается полученное значение статистики с критической областью.</a:t>
            </a:r>
          </a:p>
          <a:p>
            <a:endParaRPr lang="ru-RU" b="1" dirty="0"/>
          </a:p>
          <a:p>
            <a:pPr algn="ctr"/>
            <a:endParaRPr lang="ru-RU" b="1" dirty="0"/>
          </a:p>
          <a:p>
            <a:pPr algn="ctr"/>
            <a:r>
              <a:rPr lang="ru-RU" b="1" dirty="0"/>
              <a:t>Если значение статистики попало в область принятия гипотезы, </a:t>
            </a:r>
          </a:p>
          <a:p>
            <a:pPr algn="ctr">
              <a:buNone/>
            </a:pPr>
            <a:r>
              <a:rPr lang="ru-RU" b="1" dirty="0"/>
              <a:t>то гипотеза </a:t>
            </a:r>
            <a:r>
              <a:rPr lang="en-US" b="1" dirty="0"/>
              <a:t>H</a:t>
            </a:r>
            <a:r>
              <a:rPr lang="en-US" b="1" baseline="-25000" dirty="0"/>
              <a:t>0</a:t>
            </a:r>
            <a:r>
              <a:rPr lang="ru-RU" b="1" dirty="0"/>
              <a:t> принимается на заданном уровне значимости </a:t>
            </a:r>
            <a:endParaRPr lang="ru-RU" b="1" i="1" dirty="0"/>
          </a:p>
          <a:p>
            <a:pPr algn="ctr"/>
            <a:endParaRPr lang="ru-RU" b="1" dirty="0"/>
          </a:p>
          <a:p>
            <a:pPr algn="ctr"/>
            <a:r>
              <a:rPr lang="ru-RU" b="1" dirty="0"/>
              <a:t>Если значение статистики попало в критическую область, </a:t>
            </a:r>
          </a:p>
          <a:p>
            <a:pPr algn="ctr">
              <a:buNone/>
            </a:pPr>
            <a:r>
              <a:rPr lang="ru-RU" b="1" dirty="0"/>
              <a:t>то гипотеза </a:t>
            </a:r>
            <a:r>
              <a:rPr lang="en-US" b="1" dirty="0"/>
              <a:t>H</a:t>
            </a:r>
            <a:r>
              <a:rPr lang="en-US" b="1" baseline="-25000" dirty="0"/>
              <a:t>0</a:t>
            </a:r>
            <a:r>
              <a:rPr lang="ru-RU" b="1" dirty="0"/>
              <a:t> отклоняется </a:t>
            </a:r>
          </a:p>
          <a:p>
            <a:pPr algn="ctr">
              <a:buNone/>
            </a:pPr>
            <a:r>
              <a:rPr lang="ru-RU" b="1" dirty="0"/>
              <a:t>и принимается альтернативная гипотеза </a:t>
            </a:r>
            <a:r>
              <a:rPr lang="en-US" b="1" dirty="0"/>
              <a:t>H</a:t>
            </a:r>
            <a:r>
              <a:rPr lang="ru-RU" b="1" baseline="-25000" dirty="0"/>
              <a:t>1 </a:t>
            </a:r>
            <a:r>
              <a:rPr lang="ru-RU" b="1" dirty="0"/>
              <a:t> на заданном уровне значимости </a:t>
            </a:r>
            <a:r>
              <a:rPr lang="el-GR" b="1" dirty="0">
                <a:latin typeface="Cambria"/>
                <a:ea typeface="Cambria"/>
              </a:rPr>
              <a:t>α</a:t>
            </a:r>
            <a:endParaRPr lang="ru-RU" b="1" dirty="0"/>
          </a:p>
          <a:p>
            <a:endParaRPr lang="ru-RU" b="1" dirty="0"/>
          </a:p>
        </p:txBody>
      </p:sp>
      <p:sp>
        <p:nvSpPr>
          <p:cNvPr id="4" name="Номер слайда 3"/>
          <p:cNvSpPr>
            <a:spLocks noGrp="1"/>
          </p:cNvSpPr>
          <p:nvPr>
            <p:ph type="sldNum" sz="quarter" idx="12"/>
          </p:nvPr>
        </p:nvSpPr>
        <p:spPr/>
        <p:txBody>
          <a:bodyPr/>
          <a:lstStyle/>
          <a:p>
            <a:fld id="{0CC3DD56-44D6-4410-A1D4-F947CD7B8BFD}" type="slidenum">
              <a:rPr lang="ru-RU" smtClean="0"/>
              <a:pPr/>
              <a:t>17</a:t>
            </a:fld>
            <a:endParaRPr lang="ru-RU"/>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Давайте проверим, что вы запомнили.</a:t>
            </a:r>
          </a:p>
        </p:txBody>
      </p:sp>
      <p:sp>
        <p:nvSpPr>
          <p:cNvPr id="3" name="Содержимое 2"/>
          <p:cNvSpPr>
            <a:spLocks noGrp="1"/>
          </p:cNvSpPr>
          <p:nvPr>
            <p:ph idx="1"/>
          </p:nvPr>
        </p:nvSpPr>
        <p:spPr/>
        <p:txBody>
          <a:bodyPr>
            <a:normAutofit fontScale="55000" lnSpcReduction="20000"/>
          </a:bodyPr>
          <a:lstStyle/>
          <a:p>
            <a:pPr marL="0" indent="0">
              <a:buFont typeface="Arial" charset="0"/>
              <a:buNone/>
            </a:pPr>
            <a:r>
              <a:rPr lang="ru-RU" i="1" dirty="0"/>
              <a:t>1. Если основная гипотеза имеет вид </a:t>
            </a:r>
            <a:r>
              <a:rPr lang="ru-RU" b="1" i="1" dirty="0"/>
              <a:t>Н</a:t>
            </a:r>
            <a:r>
              <a:rPr lang="en-US" b="1" i="1" dirty="0"/>
              <a:t>ₒ</a:t>
            </a:r>
            <a:r>
              <a:rPr lang="ru-RU" b="1" i="1" dirty="0"/>
              <a:t>:</a:t>
            </a:r>
            <a:r>
              <a:rPr lang="ru-RU" i="1" dirty="0"/>
              <a:t> р=0,7 , то конкурирующими могут быть гипотезы …</a:t>
            </a:r>
          </a:p>
          <a:p>
            <a:pPr marL="0" indent="0">
              <a:buFont typeface="Arial" charset="0"/>
              <a:buNone/>
            </a:pPr>
            <a:r>
              <a:rPr lang="ru-RU" dirty="0"/>
              <a:t>а) </a:t>
            </a:r>
            <a:r>
              <a:rPr lang="ru-RU" b="1" dirty="0"/>
              <a:t>Н₁:</a:t>
            </a:r>
            <a:r>
              <a:rPr lang="ru-RU" dirty="0"/>
              <a:t> </a:t>
            </a:r>
            <a:r>
              <a:rPr lang="ru-RU" dirty="0" err="1"/>
              <a:t>р</a:t>
            </a:r>
            <a:r>
              <a:rPr lang="en-US" dirty="0"/>
              <a:t>&gt;</a:t>
            </a:r>
            <a:r>
              <a:rPr lang="ru-RU" dirty="0"/>
              <a:t>0,7	б) </a:t>
            </a:r>
            <a:r>
              <a:rPr lang="ru-RU" b="1" dirty="0"/>
              <a:t>Н₁:</a:t>
            </a:r>
            <a:r>
              <a:rPr lang="ru-RU" dirty="0"/>
              <a:t> </a:t>
            </a:r>
            <a:r>
              <a:rPr lang="ru-RU" dirty="0" err="1"/>
              <a:t>р</a:t>
            </a:r>
            <a:r>
              <a:rPr lang="en-US" dirty="0"/>
              <a:t>&lt;</a:t>
            </a:r>
            <a:r>
              <a:rPr lang="ru-RU" dirty="0"/>
              <a:t>0,7	в) </a:t>
            </a:r>
            <a:r>
              <a:rPr lang="ru-RU" b="1" dirty="0"/>
              <a:t>Н₁:</a:t>
            </a:r>
            <a:r>
              <a:rPr lang="ru-RU" dirty="0"/>
              <a:t> </a:t>
            </a:r>
            <a:r>
              <a:rPr lang="ru-RU" dirty="0" err="1"/>
              <a:t>р</a:t>
            </a:r>
            <a:r>
              <a:rPr lang="en-US" dirty="0"/>
              <a:t>≠</a:t>
            </a:r>
            <a:r>
              <a:rPr lang="ru-RU" dirty="0"/>
              <a:t>0,7</a:t>
            </a:r>
          </a:p>
          <a:p>
            <a:pPr marL="0" indent="0">
              <a:buFont typeface="Arial" charset="0"/>
              <a:buNone/>
            </a:pPr>
            <a:r>
              <a:rPr lang="ru-RU" dirty="0"/>
              <a:t>г) </a:t>
            </a:r>
            <a:r>
              <a:rPr lang="ru-RU" b="1" dirty="0"/>
              <a:t>Н₁:</a:t>
            </a:r>
            <a:r>
              <a:rPr lang="ru-RU" dirty="0"/>
              <a:t> </a:t>
            </a:r>
            <a:r>
              <a:rPr lang="ru-RU" dirty="0" err="1"/>
              <a:t>р</a:t>
            </a:r>
            <a:r>
              <a:rPr lang="en-US" dirty="0"/>
              <a:t>≤</a:t>
            </a:r>
            <a:r>
              <a:rPr lang="ru-RU" dirty="0"/>
              <a:t>0,7	</a:t>
            </a:r>
            <a:r>
              <a:rPr lang="ru-RU" dirty="0" err="1"/>
              <a:t>д</a:t>
            </a:r>
            <a:r>
              <a:rPr lang="ru-RU" dirty="0"/>
              <a:t>) </a:t>
            </a:r>
            <a:r>
              <a:rPr lang="ru-RU" b="1" dirty="0"/>
              <a:t>Н₁:</a:t>
            </a:r>
            <a:r>
              <a:rPr lang="ru-RU" dirty="0"/>
              <a:t> </a:t>
            </a:r>
            <a:r>
              <a:rPr lang="ru-RU" dirty="0" err="1"/>
              <a:t>р</a:t>
            </a:r>
            <a:r>
              <a:rPr lang="en-US" dirty="0"/>
              <a:t>≥</a:t>
            </a:r>
            <a:r>
              <a:rPr lang="ru-RU" dirty="0"/>
              <a:t>0,7	е) </a:t>
            </a:r>
            <a:r>
              <a:rPr lang="ru-RU" b="1" dirty="0"/>
              <a:t>Н₁:</a:t>
            </a:r>
            <a:r>
              <a:rPr lang="ru-RU" dirty="0"/>
              <a:t> </a:t>
            </a:r>
            <a:r>
              <a:rPr lang="ru-RU" dirty="0" err="1"/>
              <a:t>р</a:t>
            </a:r>
            <a:r>
              <a:rPr lang="en-US" dirty="0"/>
              <a:t>&lt;</a:t>
            </a:r>
            <a:r>
              <a:rPr lang="ru-RU" dirty="0"/>
              <a:t>0,8</a:t>
            </a:r>
            <a:endParaRPr lang="en-US" dirty="0"/>
          </a:p>
          <a:p>
            <a:pPr marL="0" indent="0">
              <a:buFont typeface="Arial" charset="0"/>
              <a:buNone/>
            </a:pPr>
            <a:r>
              <a:rPr lang="ru-RU" i="1" dirty="0"/>
              <a:t>2. Гипотеза </a:t>
            </a:r>
            <a:r>
              <a:rPr lang="ru-RU" b="1" i="1" dirty="0"/>
              <a:t>Н:</a:t>
            </a:r>
            <a:r>
              <a:rPr lang="ru-RU" i="1" dirty="0"/>
              <a:t> а</a:t>
            </a:r>
            <a:r>
              <a:rPr lang="en-US" i="1" dirty="0"/>
              <a:t>&lt;</a:t>
            </a:r>
            <a:r>
              <a:rPr lang="ru-RU" i="1" dirty="0"/>
              <a:t>7 является	3. Гипотеза </a:t>
            </a:r>
            <a:r>
              <a:rPr lang="ru-RU" b="1" i="1" dirty="0"/>
              <a:t>Н:</a:t>
            </a:r>
            <a:r>
              <a:rPr lang="ru-RU" i="1" dirty="0"/>
              <a:t> </a:t>
            </a:r>
            <a:r>
              <a:rPr lang="el-GR" i="1" dirty="0"/>
              <a:t>σ</a:t>
            </a:r>
            <a:r>
              <a:rPr lang="ru-RU" i="1" dirty="0"/>
              <a:t>=12 является</a:t>
            </a:r>
          </a:p>
          <a:p>
            <a:pPr marL="0" indent="0">
              <a:buFont typeface="Arial" charset="0"/>
              <a:buNone/>
            </a:pPr>
            <a:r>
              <a:rPr lang="ru-RU" dirty="0"/>
              <a:t>а) простой			</a:t>
            </a:r>
          </a:p>
          <a:p>
            <a:pPr marL="0" indent="0">
              <a:buFont typeface="Arial" charset="0"/>
              <a:buNone/>
            </a:pPr>
            <a:r>
              <a:rPr lang="ru-RU" dirty="0"/>
              <a:t>                                                                         а) простой</a:t>
            </a:r>
          </a:p>
          <a:p>
            <a:pPr marL="0" indent="0">
              <a:buFont typeface="Arial" charset="0"/>
              <a:buNone/>
            </a:pPr>
            <a:endParaRPr lang="ru-RU" dirty="0"/>
          </a:p>
          <a:p>
            <a:pPr marL="0" indent="0">
              <a:buFont typeface="Arial" charset="0"/>
              <a:buNone/>
            </a:pPr>
            <a:r>
              <a:rPr lang="ru-RU" dirty="0"/>
              <a:t>б) сложной			</a:t>
            </a:r>
          </a:p>
          <a:p>
            <a:pPr marL="0" indent="0">
              <a:buFont typeface="Arial" charset="0"/>
              <a:buNone/>
            </a:pPr>
            <a:r>
              <a:rPr lang="ru-RU" dirty="0"/>
              <a:t>                                                                        б) сложной</a:t>
            </a:r>
            <a:endParaRPr lang="en-US" dirty="0"/>
          </a:p>
          <a:p>
            <a:pPr marL="0" indent="0">
              <a:buFont typeface="Arial" charset="0"/>
              <a:buNone/>
            </a:pPr>
            <a:r>
              <a:rPr lang="ru-RU" i="1" dirty="0"/>
              <a:t>3. Ошибкой первого рода называется вероятность …</a:t>
            </a:r>
          </a:p>
          <a:p>
            <a:pPr marL="0" indent="0">
              <a:buFont typeface="Arial" charset="0"/>
              <a:buNone/>
            </a:pPr>
            <a:r>
              <a:rPr lang="ru-RU" dirty="0"/>
              <a:t>А) отвергнуть верную альтернативную гипотезу</a:t>
            </a:r>
          </a:p>
          <a:p>
            <a:pPr marL="0" indent="0">
              <a:buFont typeface="Arial" charset="0"/>
              <a:buNone/>
            </a:pPr>
            <a:r>
              <a:rPr lang="ru-RU" dirty="0"/>
              <a:t>Б) отвергнуть верную основную гипотезу</a:t>
            </a:r>
          </a:p>
          <a:p>
            <a:pPr marL="0" indent="0">
              <a:buFont typeface="Arial" charset="0"/>
              <a:buNone/>
            </a:pPr>
            <a:r>
              <a:rPr lang="ru-RU" dirty="0"/>
              <a:t>В) принять ложную основную гипотезу</a:t>
            </a:r>
          </a:p>
          <a:p>
            <a:pPr marL="0" indent="0">
              <a:buFont typeface="Arial" charset="0"/>
              <a:buNone/>
            </a:pPr>
            <a:r>
              <a:rPr lang="ru-RU" dirty="0"/>
              <a:t>Г) принять ложную альтернативную гипотезу</a:t>
            </a:r>
          </a:p>
          <a:p>
            <a:pPr marL="0" indent="0">
              <a:buFont typeface="Arial" charset="0"/>
              <a:buNone/>
            </a:pPr>
            <a:r>
              <a:rPr lang="ru-RU" i="1" dirty="0"/>
              <a:t>4. Ошибкой второго рода называется вероятность …</a:t>
            </a:r>
          </a:p>
          <a:p>
            <a:pPr marL="0" indent="0">
              <a:buFont typeface="Arial" charset="0"/>
              <a:buNone/>
            </a:pPr>
            <a:r>
              <a:rPr lang="ru-RU" dirty="0"/>
              <a:t>А) отвергнуть верную альтернативную гипотезу</a:t>
            </a:r>
          </a:p>
          <a:p>
            <a:pPr marL="0" indent="0">
              <a:buFont typeface="Arial" charset="0"/>
              <a:buNone/>
            </a:pPr>
            <a:r>
              <a:rPr lang="ru-RU" dirty="0"/>
              <a:t>Б) отвергнуть верную основную гипотезу</a:t>
            </a:r>
          </a:p>
          <a:p>
            <a:pPr marL="0" indent="0">
              <a:buFont typeface="Arial" charset="0"/>
              <a:buNone/>
            </a:pPr>
            <a:r>
              <a:rPr lang="ru-RU" dirty="0"/>
              <a:t>В) принять ложную основную гипотезу</a:t>
            </a:r>
          </a:p>
          <a:p>
            <a:pPr marL="0" indent="0">
              <a:buFont typeface="Arial" charset="0"/>
              <a:buNone/>
            </a:pPr>
            <a:r>
              <a:rPr lang="ru-RU" dirty="0"/>
              <a:t>Г) принять ложную альтернативную гипотезу </a:t>
            </a:r>
          </a:p>
          <a:p>
            <a:endParaRPr lang="ru-RU" dirty="0"/>
          </a:p>
        </p:txBody>
      </p:sp>
      <p:sp>
        <p:nvSpPr>
          <p:cNvPr id="4" name="Номер слайда 3"/>
          <p:cNvSpPr>
            <a:spLocks noGrp="1"/>
          </p:cNvSpPr>
          <p:nvPr>
            <p:ph type="sldNum" sz="quarter" idx="12"/>
          </p:nvPr>
        </p:nvSpPr>
        <p:spPr/>
        <p:txBody>
          <a:bodyPr/>
          <a:lstStyle/>
          <a:p>
            <a:fld id="{0CC3DD56-44D6-4410-A1D4-F947CD7B8BFD}" type="slidenum">
              <a:rPr lang="ru-RU" smtClean="0"/>
              <a:pPr/>
              <a:t>18</a:t>
            </a:fld>
            <a:endParaRPr lang="ru-R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3">
                                            <p:txEl>
                                              <p:pRg st="1" end="1"/>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6" presetClass="emph" presetSubtype="0" fill="hold" nodeType="clickEffect">
                                  <p:stCondLst>
                                    <p:cond delay="0"/>
                                  </p:stCondLst>
                                  <p:childTnLst>
                                    <p:animScale>
                                      <p:cBhvr>
                                        <p:cTn id="10" dur="2000" fill="hold"/>
                                        <p:tgtEl>
                                          <p:spTgt spid="3">
                                            <p:txEl>
                                              <p:pRg st="7" end="7"/>
                                            </p:txEl>
                                          </p:spTgt>
                                        </p:tgtEl>
                                      </p:cBhvr>
                                      <p:by x="150000" y="150000"/>
                                    </p:animScale>
                                  </p:childTnLst>
                                </p:cTn>
                              </p:par>
                            </p:childTnLst>
                          </p:cTn>
                        </p:par>
                      </p:childTnLst>
                    </p:cTn>
                  </p:par>
                  <p:par>
                    <p:cTn id="11" fill="hold">
                      <p:stCondLst>
                        <p:cond delay="indefinite"/>
                      </p:stCondLst>
                      <p:childTnLst>
                        <p:par>
                          <p:cTn id="12" fill="hold">
                            <p:stCondLst>
                              <p:cond delay="0"/>
                            </p:stCondLst>
                            <p:childTnLst>
                              <p:par>
                                <p:cTn id="13" presetID="6" presetClass="emph" presetSubtype="0" fill="hold" nodeType="clickEffect">
                                  <p:stCondLst>
                                    <p:cond delay="0"/>
                                  </p:stCondLst>
                                  <p:childTnLst>
                                    <p:animScale>
                                      <p:cBhvr>
                                        <p:cTn id="14" dur="2000" fill="hold"/>
                                        <p:tgtEl>
                                          <p:spTgt spid="3">
                                            <p:txEl>
                                              <p:pRg st="5" end="5"/>
                                            </p:txEl>
                                          </p:spTgt>
                                        </p:tgtEl>
                                      </p:cBhvr>
                                      <p:by x="150000" y="150000"/>
                                    </p:animScale>
                                  </p:childTnLst>
                                </p:cTn>
                              </p:par>
                            </p:childTnLst>
                          </p:cTn>
                        </p:par>
                      </p:childTnLst>
                    </p:cTn>
                  </p:par>
                  <p:par>
                    <p:cTn id="15" fill="hold">
                      <p:stCondLst>
                        <p:cond delay="indefinite"/>
                      </p:stCondLst>
                      <p:childTnLst>
                        <p:par>
                          <p:cTn id="16" fill="hold">
                            <p:stCondLst>
                              <p:cond delay="0"/>
                            </p:stCondLst>
                            <p:childTnLst>
                              <p:par>
                                <p:cTn id="17" presetID="6" presetClass="emph" presetSubtype="0" fill="hold" nodeType="clickEffect">
                                  <p:stCondLst>
                                    <p:cond delay="0"/>
                                  </p:stCondLst>
                                  <p:childTnLst>
                                    <p:animScale>
                                      <p:cBhvr>
                                        <p:cTn id="18" dur="2000" fill="hold"/>
                                        <p:tgtEl>
                                          <p:spTgt spid="3">
                                            <p:txEl>
                                              <p:pRg st="11" end="11"/>
                                            </p:txEl>
                                          </p:spTgt>
                                        </p:tgtEl>
                                      </p:cBhvr>
                                      <p:by x="150000" y="150000"/>
                                    </p:animScale>
                                  </p:childTnLst>
                                </p:cTn>
                              </p:par>
                            </p:childTnLst>
                          </p:cTn>
                        </p:par>
                      </p:childTnLst>
                    </p:cTn>
                  </p:par>
                  <p:par>
                    <p:cTn id="19" fill="hold">
                      <p:stCondLst>
                        <p:cond delay="indefinite"/>
                      </p:stCondLst>
                      <p:childTnLst>
                        <p:par>
                          <p:cTn id="20" fill="hold">
                            <p:stCondLst>
                              <p:cond delay="0"/>
                            </p:stCondLst>
                            <p:childTnLst>
                              <p:par>
                                <p:cTn id="21" presetID="6" presetClass="emph" presetSubtype="0" fill="hold" nodeType="clickEffect">
                                  <p:stCondLst>
                                    <p:cond delay="0"/>
                                  </p:stCondLst>
                                  <p:childTnLst>
                                    <p:animScale>
                                      <p:cBhvr>
                                        <p:cTn id="22" dur="2000" fill="hold"/>
                                        <p:tgtEl>
                                          <p:spTgt spid="3">
                                            <p:txEl>
                                              <p:pRg st="17" end="17"/>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76" y="1284048"/>
            <a:ext cx="7772400" cy="3216522"/>
          </a:xfrm>
        </p:spPr>
        <p:txBody>
          <a:bodyPr>
            <a:normAutofit fontScale="90000"/>
          </a:bodyPr>
          <a:lstStyle/>
          <a:p>
            <a:pPr algn="l"/>
            <a:r>
              <a:rPr lang="ru-RU" sz="5400" dirty="0"/>
              <a:t>Гипотезы о значениях числовых характеристик генеральной совокупности</a:t>
            </a:r>
            <a:br>
              <a:rPr lang="ru-RU" sz="5400" dirty="0"/>
            </a:br>
            <a:endParaRPr lang="ru-RU" dirty="0"/>
          </a:p>
        </p:txBody>
      </p:sp>
      <p:sp>
        <p:nvSpPr>
          <p:cNvPr id="3" name="Текст 2"/>
          <p:cNvSpPr>
            <a:spLocks noGrp="1"/>
          </p:cNvSpPr>
          <p:nvPr>
            <p:ph type="body" idx="1"/>
          </p:nvPr>
        </p:nvSpPr>
        <p:spPr>
          <a:xfrm>
            <a:off x="722313" y="4562494"/>
            <a:ext cx="7772400" cy="1509712"/>
          </a:xfrm>
        </p:spPr>
        <p:txBody>
          <a:bodyPr/>
          <a:lstStyle/>
          <a:p>
            <a:pPr algn="l"/>
            <a:r>
              <a:rPr lang="ru-RU" sz="2800" b="1" dirty="0"/>
              <a:t>!!!!!</a:t>
            </a:r>
          </a:p>
          <a:p>
            <a:pPr algn="l"/>
            <a:r>
              <a:rPr lang="ru-RU" sz="2800" b="1" dirty="0"/>
              <a:t>Пусть случайная величина Х</a:t>
            </a:r>
            <a:r>
              <a:rPr lang="el-GR" sz="2800" b="1" dirty="0"/>
              <a:t>ϵ</a:t>
            </a:r>
            <a:r>
              <a:rPr lang="en-US" sz="2800" b="1" dirty="0"/>
              <a:t>N(</a:t>
            </a:r>
            <a:r>
              <a:rPr lang="en-US" sz="2800" b="1" i="1" dirty="0">
                <a:latin typeface="Cambria" pitchFamily="18" charset="0"/>
                <a:ea typeface="Cambria" pitchFamily="18" charset="0"/>
              </a:rPr>
              <a:t>a</a:t>
            </a:r>
            <a:r>
              <a:rPr lang="en-US" sz="2800" b="1" dirty="0"/>
              <a:t>,</a:t>
            </a:r>
            <a:r>
              <a:rPr lang="el-GR" sz="2800" b="1" dirty="0"/>
              <a:t>σ</a:t>
            </a:r>
            <a:r>
              <a:rPr lang="ru-RU" sz="2800" b="1" baseline="30000" dirty="0"/>
              <a:t>2</a:t>
            </a:r>
            <a:r>
              <a:rPr lang="en-US" sz="2800" b="1" dirty="0"/>
              <a:t>) </a:t>
            </a:r>
            <a:r>
              <a:rPr lang="ru-RU" sz="2800" b="1" dirty="0"/>
              <a:t>и имеется выборка ее значений</a:t>
            </a:r>
            <a:r>
              <a:rPr lang="en-US" sz="2800" b="1" dirty="0"/>
              <a:t> </a:t>
            </a:r>
            <a:r>
              <a:rPr lang="ru-RU" sz="2800" dirty="0"/>
              <a:t>.</a:t>
            </a:r>
          </a:p>
        </p:txBody>
      </p:sp>
      <p:sp>
        <p:nvSpPr>
          <p:cNvPr id="4" name="Номер слайда 3"/>
          <p:cNvSpPr>
            <a:spLocks noGrp="1"/>
          </p:cNvSpPr>
          <p:nvPr>
            <p:ph type="sldNum" sz="quarter" idx="11"/>
          </p:nvPr>
        </p:nvSpPr>
        <p:spPr/>
        <p:txBody>
          <a:bodyPr/>
          <a:lstStyle/>
          <a:p>
            <a:fld id="{0CC3DD56-44D6-4410-A1D4-F947CD7B8BFD}" type="slidenum">
              <a:rPr lang="ru-RU" smtClean="0"/>
              <a:pPr/>
              <a:t>19</a:t>
            </a:fld>
            <a:endParaRPr lang="ru-RU"/>
          </a:p>
        </p:txBody>
      </p:sp>
      <p:graphicFrame>
        <p:nvGraphicFramePr>
          <p:cNvPr id="528386" name="Объект 4"/>
          <p:cNvGraphicFramePr>
            <a:graphicFrameLocks noChangeAspect="1"/>
          </p:cNvGraphicFramePr>
          <p:nvPr/>
        </p:nvGraphicFramePr>
        <p:xfrm>
          <a:off x="6000760" y="5429264"/>
          <a:ext cx="2357454" cy="449264"/>
        </p:xfrm>
        <a:graphic>
          <a:graphicData uri="http://schemas.openxmlformats.org/presentationml/2006/ole">
            <mc:AlternateContent xmlns:mc="http://schemas.openxmlformats.org/markup-compatibility/2006">
              <mc:Choice xmlns:v="urn:schemas-microsoft-com:vml" Requires="v">
                <p:oleObj name="Формула" r:id="rId2" imgW="1054100" imgH="279400" progId="Equation.3">
                  <p:embed/>
                </p:oleObj>
              </mc:Choice>
              <mc:Fallback>
                <p:oleObj name="Формула" r:id="rId2" imgW="1054100" imgH="279400" progId="Equation.3">
                  <p:embed/>
                  <p:pic>
                    <p:nvPicPr>
                      <p:cNvPr id="528386" name="Объект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0760" y="5429264"/>
                        <a:ext cx="2357454" cy="449264"/>
                      </a:xfrm>
                      <a:prstGeom prst="rect">
                        <a:avLst/>
                      </a:prstGeom>
                      <a:solidFill>
                        <a:schemeClr val="tx1"/>
                      </a:solidFill>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3600" b="1" dirty="0">
                <a:solidFill>
                  <a:schemeClr val="accent2"/>
                </a:solidFill>
              </a:rPr>
              <a:t>Гипотеза о численной величине генерального среднего </a:t>
            </a:r>
            <a:r>
              <a:rPr lang="ru-RU" sz="3600" b="1" i="1" dirty="0">
                <a:solidFill>
                  <a:schemeClr val="accent2"/>
                </a:solidFill>
              </a:rPr>
              <a:t>а</a:t>
            </a:r>
            <a:r>
              <a:rPr lang="ru-RU" sz="3600" b="1" dirty="0">
                <a:solidFill>
                  <a:schemeClr val="accent2"/>
                </a:solidFill>
              </a:rPr>
              <a:t>.</a:t>
            </a:r>
            <a:endParaRPr lang="ru-RU" sz="3600" dirty="0"/>
          </a:p>
        </p:txBody>
      </p:sp>
      <p:sp>
        <p:nvSpPr>
          <p:cNvPr id="3" name="Номер слайда 2"/>
          <p:cNvSpPr>
            <a:spLocks noGrp="1"/>
          </p:cNvSpPr>
          <p:nvPr>
            <p:ph type="sldNum" sz="quarter" idx="12"/>
          </p:nvPr>
        </p:nvSpPr>
        <p:spPr/>
        <p:txBody>
          <a:bodyPr/>
          <a:lstStyle/>
          <a:p>
            <a:fld id="{0CC3DD56-44D6-4410-A1D4-F947CD7B8BFD}" type="slidenum">
              <a:rPr lang="ru-RU" smtClean="0"/>
              <a:pPr/>
              <a:t>20</a:t>
            </a:fld>
            <a:endParaRPr lang="ru-RU"/>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Заголовок 1"/>
          <p:cNvSpPr>
            <a:spLocks noGrp="1"/>
          </p:cNvSpPr>
          <p:nvPr>
            <p:ph type="title"/>
          </p:nvPr>
        </p:nvSpPr>
        <p:spPr>
          <a:xfrm>
            <a:off x="142844" y="115888"/>
            <a:ext cx="9001156" cy="1384286"/>
          </a:xfrm>
        </p:spPr>
        <p:txBody>
          <a:bodyPr>
            <a:normAutofit/>
          </a:bodyPr>
          <a:lstStyle/>
          <a:p>
            <a:pPr algn="l"/>
            <a:r>
              <a:rPr lang="ru-RU" sz="2800" b="1" dirty="0"/>
              <a:t>Н</a:t>
            </a:r>
            <a:r>
              <a:rPr lang="en-US" sz="2800" b="1" dirty="0"/>
              <a:t>ₒ</a:t>
            </a:r>
            <a:r>
              <a:rPr lang="ru-RU" sz="2800" b="1" dirty="0"/>
              <a:t>:</a:t>
            </a:r>
            <a:r>
              <a:rPr lang="ru-RU" sz="2800" dirty="0"/>
              <a:t> </a:t>
            </a:r>
            <a:r>
              <a:rPr lang="ru-RU" sz="2800" b="1" i="1" dirty="0" err="1"/>
              <a:t>а</a:t>
            </a:r>
            <a:r>
              <a:rPr lang="ru-RU" sz="2800" b="1" dirty="0" err="1"/>
              <a:t>=</a:t>
            </a:r>
            <a:r>
              <a:rPr lang="ru-RU" sz="2800" b="1" i="1" dirty="0" err="1"/>
              <a:t>а</a:t>
            </a:r>
            <a:r>
              <a:rPr lang="en-US" sz="2800" b="1" dirty="0"/>
              <a:t>ₒ</a:t>
            </a:r>
            <a:r>
              <a:rPr lang="ru-RU" sz="2800" b="1" dirty="0"/>
              <a:t>, </a:t>
            </a:r>
            <a:r>
              <a:rPr lang="ru-RU" sz="2800" dirty="0"/>
              <a:t>где </a:t>
            </a:r>
            <a:r>
              <a:rPr lang="ru-RU" sz="2800" i="1" dirty="0"/>
              <a:t>а</a:t>
            </a:r>
            <a:r>
              <a:rPr lang="en-US" sz="2800" dirty="0"/>
              <a:t>ₒ</a:t>
            </a:r>
            <a:r>
              <a:rPr lang="ru-RU" sz="2800" dirty="0"/>
              <a:t> - некоторое число</a:t>
            </a:r>
            <a:br>
              <a:rPr lang="ru-RU" sz="2800" dirty="0"/>
            </a:br>
            <a:r>
              <a:rPr lang="ru-RU" sz="2800" b="1" dirty="0" err="1"/>
              <a:t>Н₁:</a:t>
            </a:r>
            <a:r>
              <a:rPr lang="ru-RU" sz="2800" b="1" i="1" dirty="0" err="1"/>
              <a:t>а</a:t>
            </a:r>
            <a:r>
              <a:rPr lang="ru-RU" sz="2800" b="1" dirty="0" err="1"/>
              <a:t>≠</a:t>
            </a:r>
            <a:r>
              <a:rPr lang="ru-RU" sz="2800" b="1" i="1" dirty="0" err="1"/>
              <a:t>а</a:t>
            </a:r>
            <a:r>
              <a:rPr lang="en-US" sz="2800" b="1" dirty="0"/>
              <a:t>ₒ</a:t>
            </a:r>
            <a:r>
              <a:rPr lang="ru-RU" sz="2800" b="1" dirty="0"/>
              <a:t>. </a:t>
            </a:r>
            <a:br>
              <a:rPr lang="ru-RU" sz="2800" b="1" dirty="0"/>
            </a:br>
            <a:r>
              <a:rPr lang="ru-RU" sz="2800" dirty="0"/>
              <a:t>Проверим гипотезу </a:t>
            </a:r>
            <a:r>
              <a:rPr lang="ru-RU" sz="2800" b="1" dirty="0"/>
              <a:t>Н</a:t>
            </a:r>
            <a:r>
              <a:rPr lang="en-US" sz="2800" b="1" dirty="0"/>
              <a:t>ₒ</a:t>
            </a:r>
            <a:r>
              <a:rPr lang="ru-RU" sz="2800" dirty="0"/>
              <a:t> на уровне доверия </a:t>
            </a:r>
            <a:r>
              <a:rPr lang="el-GR" sz="2800" b="1" dirty="0"/>
              <a:t>γ</a:t>
            </a:r>
            <a:r>
              <a:rPr lang="ru-RU" sz="2800" dirty="0"/>
              <a:t>. </a:t>
            </a:r>
          </a:p>
        </p:txBody>
      </p:sp>
      <p:sp>
        <p:nvSpPr>
          <p:cNvPr id="12291" name="Объект 2"/>
          <p:cNvSpPr>
            <a:spLocks noGrp="1"/>
          </p:cNvSpPr>
          <p:nvPr>
            <p:ph idx="1"/>
          </p:nvPr>
        </p:nvSpPr>
        <p:spPr>
          <a:xfrm>
            <a:off x="179388" y="1746273"/>
            <a:ext cx="8785225" cy="4968875"/>
          </a:xfrm>
        </p:spPr>
        <p:txBody>
          <a:bodyPr>
            <a:normAutofit/>
          </a:bodyPr>
          <a:lstStyle/>
          <a:p>
            <a:pPr marL="0" indent="0">
              <a:buFont typeface="Arial" charset="0"/>
              <a:buNone/>
            </a:pPr>
            <a:r>
              <a:rPr lang="ru-RU" sz="2400" dirty="0"/>
              <a:t>Возможны два случая:</a:t>
            </a:r>
          </a:p>
          <a:p>
            <a:pPr marL="0" indent="0">
              <a:buFont typeface="Arial" charset="0"/>
              <a:buNone/>
            </a:pPr>
            <a:r>
              <a:rPr lang="ru-RU" sz="2400" dirty="0"/>
              <a:t>А) </a:t>
            </a:r>
            <a:r>
              <a:rPr lang="ru-RU" sz="2400" b="1" i="1" dirty="0"/>
              <a:t>генеральная дисперсия </a:t>
            </a:r>
            <a:r>
              <a:rPr lang="el-GR" sz="2400" b="1" i="1" dirty="0"/>
              <a:t>σ²</a:t>
            </a:r>
            <a:r>
              <a:rPr lang="ru-RU" sz="2400" b="1" i="1" dirty="0"/>
              <a:t> известна.</a:t>
            </a:r>
          </a:p>
          <a:p>
            <a:pPr marL="0" indent="0">
              <a:buFont typeface="Arial" charset="0"/>
              <a:buNone/>
            </a:pPr>
            <a:r>
              <a:rPr lang="ru-RU" sz="2400" dirty="0"/>
              <a:t>В этом случае случайная величина (</a:t>
            </a:r>
            <a:r>
              <a:rPr lang="ru-RU" sz="2400" b="1" dirty="0"/>
              <a:t>статистика</a:t>
            </a:r>
            <a:r>
              <a:rPr lang="ru-RU" sz="2400" dirty="0"/>
              <a:t>)                            имеет нормальное стандартное распределение </a:t>
            </a:r>
            <a:r>
              <a:rPr lang="en-US" sz="2400" dirty="0"/>
              <a:t>N(0,1),</a:t>
            </a:r>
            <a:r>
              <a:rPr lang="ru-RU" sz="2400" dirty="0"/>
              <a:t> если верна гипотеза </a:t>
            </a:r>
            <a:r>
              <a:rPr lang="ru-RU" sz="2400" b="1" dirty="0"/>
              <a:t>Н</a:t>
            </a:r>
            <a:r>
              <a:rPr lang="en-US" sz="2400" b="1" dirty="0"/>
              <a:t>ₒ</a:t>
            </a:r>
            <a:r>
              <a:rPr lang="ru-RU" sz="2400" b="1" dirty="0"/>
              <a:t>:</a:t>
            </a:r>
            <a:r>
              <a:rPr lang="ru-RU" sz="2400" dirty="0"/>
              <a:t> </a:t>
            </a:r>
            <a:r>
              <a:rPr lang="ru-RU" sz="2400" b="1" i="1" dirty="0" err="1"/>
              <a:t>а</a:t>
            </a:r>
            <a:r>
              <a:rPr lang="ru-RU" sz="2400" b="1" dirty="0" err="1"/>
              <a:t>=</a:t>
            </a:r>
            <a:r>
              <a:rPr lang="ru-RU" sz="2400" b="1" i="1" dirty="0" err="1"/>
              <a:t>а</a:t>
            </a:r>
            <a:r>
              <a:rPr lang="en-US" sz="2400" b="1" dirty="0"/>
              <a:t>ₒ</a:t>
            </a:r>
            <a:r>
              <a:rPr lang="ru-RU" sz="2400" b="1" dirty="0"/>
              <a:t>.</a:t>
            </a:r>
            <a:endParaRPr lang="ru-RU" sz="2400" dirty="0"/>
          </a:p>
          <a:p>
            <a:pPr marL="0" indent="0">
              <a:buFont typeface="Arial" charset="0"/>
              <a:buNone/>
            </a:pPr>
            <a:endParaRPr lang="ru-RU" sz="2400" dirty="0"/>
          </a:p>
          <a:p>
            <a:pPr marL="0" indent="0">
              <a:buFont typeface="Arial" charset="0"/>
              <a:buNone/>
            </a:pPr>
            <a:r>
              <a:rPr lang="ru-RU" sz="2400" dirty="0"/>
              <a:t>Для </a:t>
            </a:r>
            <a:r>
              <a:rPr lang="ru-RU" sz="2400" i="1" dirty="0"/>
              <a:t>двусторонней</a:t>
            </a:r>
            <a:r>
              <a:rPr lang="ru-RU" sz="2400" dirty="0"/>
              <a:t> альтернативной гипотезы </a:t>
            </a:r>
            <a:r>
              <a:rPr lang="ru-RU" sz="2400" b="1" dirty="0"/>
              <a:t>Н₁: </a:t>
            </a:r>
            <a:r>
              <a:rPr lang="ru-RU" sz="2400" b="1" i="1" dirty="0" err="1"/>
              <a:t>а</a:t>
            </a:r>
            <a:r>
              <a:rPr lang="ru-RU" sz="2400" b="1" dirty="0" err="1"/>
              <a:t>≠</a:t>
            </a:r>
            <a:r>
              <a:rPr lang="ru-RU" sz="2400" b="1" i="1" dirty="0" err="1"/>
              <a:t>а</a:t>
            </a:r>
            <a:r>
              <a:rPr lang="en-US" sz="2400" b="1" dirty="0"/>
              <a:t>ₒ</a:t>
            </a:r>
            <a:r>
              <a:rPr lang="ru-RU" sz="2400" b="1" dirty="0"/>
              <a:t> </a:t>
            </a:r>
            <a:r>
              <a:rPr lang="ru-RU" sz="2400" dirty="0"/>
              <a:t>при заданном уровне доверия</a:t>
            </a:r>
            <a:r>
              <a:rPr lang="el-GR" sz="2400" b="1" dirty="0"/>
              <a:t> γ</a:t>
            </a:r>
            <a:r>
              <a:rPr lang="ru-RU" sz="2400" dirty="0"/>
              <a:t> находим по таблицам функции Лапласа  такое       , чтобы                       .</a:t>
            </a:r>
          </a:p>
          <a:p>
            <a:pPr marL="0" indent="0">
              <a:buFont typeface="Arial" charset="0"/>
              <a:buNone/>
            </a:pPr>
            <a:r>
              <a:rPr lang="ru-RU" sz="2400" dirty="0"/>
              <a:t>Если статистика             , то гипотеза </a:t>
            </a:r>
            <a:r>
              <a:rPr lang="ru-RU" sz="2400" b="1" dirty="0"/>
              <a:t>Н</a:t>
            </a:r>
            <a:r>
              <a:rPr lang="en-US" sz="2400" b="1" dirty="0"/>
              <a:t>ₒ</a:t>
            </a:r>
            <a:r>
              <a:rPr lang="ru-RU" sz="2400" dirty="0"/>
              <a:t> принимается, иначе принимается </a:t>
            </a:r>
            <a:r>
              <a:rPr lang="ru-RU" sz="2400" b="1" dirty="0"/>
              <a:t>Н₁.</a:t>
            </a:r>
            <a:endParaRPr lang="ru-RU" sz="2400" dirty="0"/>
          </a:p>
        </p:txBody>
      </p:sp>
      <p:sp>
        <p:nvSpPr>
          <p:cNvPr id="12292" name="Rectangle 2"/>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sp>
        <p:nvSpPr>
          <p:cNvPr id="12294" name="Rectangle 5"/>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graphicFrame>
        <p:nvGraphicFramePr>
          <p:cNvPr id="12295" name="Объект 6"/>
          <p:cNvGraphicFramePr>
            <a:graphicFrameLocks noChangeAspect="1"/>
          </p:cNvGraphicFramePr>
          <p:nvPr/>
        </p:nvGraphicFramePr>
        <p:xfrm>
          <a:off x="7072330" y="2382834"/>
          <a:ext cx="1033463" cy="474662"/>
        </p:xfrm>
        <a:graphic>
          <a:graphicData uri="http://schemas.openxmlformats.org/presentationml/2006/ole">
            <mc:AlternateContent xmlns:mc="http://schemas.openxmlformats.org/markup-compatibility/2006">
              <mc:Choice xmlns:v="urn:schemas-microsoft-com:vml" Requires="v">
                <p:oleObj name="Формула" r:id="rId2" imgW="939600" imgH="431640" progId="Equation.3">
                  <p:embed/>
                </p:oleObj>
              </mc:Choice>
              <mc:Fallback>
                <p:oleObj name="Формула" r:id="rId2" imgW="939600" imgH="431640" progId="Equation.3">
                  <p:embed/>
                  <p:pic>
                    <p:nvPicPr>
                      <p:cNvPr id="12295" name="Объект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2330" y="2382834"/>
                        <a:ext cx="1033463" cy="474662"/>
                      </a:xfrm>
                      <a:prstGeom prst="rect">
                        <a:avLst/>
                      </a:prstGeom>
                      <a:solidFill>
                        <a:schemeClr val="tx1"/>
                      </a:solidFill>
                    </p:spPr>
                  </p:pic>
                </p:oleObj>
              </mc:Fallback>
            </mc:AlternateContent>
          </a:graphicData>
        </a:graphic>
      </p:graphicFrame>
      <p:sp>
        <p:nvSpPr>
          <p:cNvPr id="12296" name="Rectangle 7"/>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graphicFrame>
        <p:nvGraphicFramePr>
          <p:cNvPr id="12297" name="Объект 8"/>
          <p:cNvGraphicFramePr>
            <a:graphicFrameLocks noChangeAspect="1"/>
          </p:cNvGraphicFramePr>
          <p:nvPr/>
        </p:nvGraphicFramePr>
        <p:xfrm>
          <a:off x="2428860" y="4786322"/>
          <a:ext cx="257175" cy="304800"/>
        </p:xfrm>
        <a:graphic>
          <a:graphicData uri="http://schemas.openxmlformats.org/presentationml/2006/ole">
            <mc:AlternateContent xmlns:mc="http://schemas.openxmlformats.org/markup-compatibility/2006">
              <mc:Choice xmlns:v="urn:schemas-microsoft-com:vml" Requires="v">
                <p:oleObj name="Формула" r:id="rId4" imgW="253780" imgH="304536" progId="Equation.3">
                  <p:embed/>
                </p:oleObj>
              </mc:Choice>
              <mc:Fallback>
                <p:oleObj name="Формула" r:id="rId4" imgW="253780" imgH="304536" progId="Equation.3">
                  <p:embed/>
                  <p:pic>
                    <p:nvPicPr>
                      <p:cNvPr id="12297" name="Объект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8860" y="4786322"/>
                        <a:ext cx="257175" cy="304800"/>
                      </a:xfrm>
                      <a:prstGeom prst="rect">
                        <a:avLst/>
                      </a:prstGeom>
                      <a:solidFill>
                        <a:schemeClr val="tx1"/>
                      </a:solidFill>
                    </p:spPr>
                  </p:pic>
                </p:oleObj>
              </mc:Fallback>
            </mc:AlternateContent>
          </a:graphicData>
        </a:graphic>
      </p:graphicFrame>
      <p:sp>
        <p:nvSpPr>
          <p:cNvPr id="12298" name="Rectangle 9"/>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graphicFrame>
        <p:nvGraphicFramePr>
          <p:cNvPr id="12299" name="Объект 10"/>
          <p:cNvGraphicFramePr>
            <a:graphicFrameLocks noChangeAspect="1"/>
          </p:cNvGraphicFramePr>
          <p:nvPr/>
        </p:nvGraphicFramePr>
        <p:xfrm>
          <a:off x="3929058" y="4786322"/>
          <a:ext cx="1325563" cy="349250"/>
        </p:xfrm>
        <a:graphic>
          <a:graphicData uri="http://schemas.openxmlformats.org/presentationml/2006/ole">
            <mc:AlternateContent xmlns:mc="http://schemas.openxmlformats.org/markup-compatibility/2006">
              <mc:Choice xmlns:v="urn:schemas-microsoft-com:vml" Requires="v">
                <p:oleObj name="Формула" r:id="rId6" imgW="1205977" imgH="317362" progId="Equation.3">
                  <p:embed/>
                </p:oleObj>
              </mc:Choice>
              <mc:Fallback>
                <p:oleObj name="Формула" r:id="rId6" imgW="1205977" imgH="317362" progId="Equation.3">
                  <p:embed/>
                  <p:pic>
                    <p:nvPicPr>
                      <p:cNvPr id="12299" name="Объект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9058" y="4786322"/>
                        <a:ext cx="1325563" cy="349250"/>
                      </a:xfrm>
                      <a:prstGeom prst="rect">
                        <a:avLst/>
                      </a:prstGeom>
                      <a:solidFill>
                        <a:schemeClr val="tx1"/>
                      </a:solidFill>
                    </p:spPr>
                  </p:pic>
                </p:oleObj>
              </mc:Fallback>
            </mc:AlternateContent>
          </a:graphicData>
        </a:graphic>
      </p:graphicFrame>
      <p:sp>
        <p:nvSpPr>
          <p:cNvPr id="12300" name="Rectangle 15"/>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sp>
        <p:nvSpPr>
          <p:cNvPr id="12302" name="Rectangle 17"/>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sp>
        <p:nvSpPr>
          <p:cNvPr id="12305" name="Rectangle 21"/>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graphicFrame>
        <p:nvGraphicFramePr>
          <p:cNvPr id="12306" name="Объект 17"/>
          <p:cNvGraphicFramePr>
            <a:graphicFrameLocks noChangeAspect="1"/>
          </p:cNvGraphicFramePr>
          <p:nvPr/>
        </p:nvGraphicFramePr>
        <p:xfrm>
          <a:off x="2643174" y="5214950"/>
          <a:ext cx="641350" cy="347662"/>
        </p:xfrm>
        <a:graphic>
          <a:graphicData uri="http://schemas.openxmlformats.org/presentationml/2006/ole">
            <mc:AlternateContent xmlns:mc="http://schemas.openxmlformats.org/markup-compatibility/2006">
              <mc:Choice xmlns:v="urn:schemas-microsoft-com:vml" Requires="v">
                <p:oleObj name="Формула" r:id="rId8" imgW="583693" imgH="317225" progId="Equation.3">
                  <p:embed/>
                </p:oleObj>
              </mc:Choice>
              <mc:Fallback>
                <p:oleObj name="Формула" r:id="rId8" imgW="583693" imgH="317225" progId="Equation.3">
                  <p:embed/>
                  <p:pic>
                    <p:nvPicPr>
                      <p:cNvPr id="12306" name="Объект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43174" y="5214950"/>
                        <a:ext cx="641350" cy="347662"/>
                      </a:xfrm>
                      <a:prstGeom prst="rect">
                        <a:avLst/>
                      </a:prstGeom>
                      <a:solidFill>
                        <a:schemeClr val="tx1"/>
                      </a:solidFill>
                    </p:spPr>
                  </p:pic>
                </p:oleObj>
              </mc:Fallback>
            </mc:AlternateContent>
          </a:graphicData>
        </a:graphic>
      </p:graphicFrame>
      <p:sp>
        <p:nvSpPr>
          <p:cNvPr id="19" name="Номер слайда 18"/>
          <p:cNvSpPr>
            <a:spLocks noGrp="1"/>
          </p:cNvSpPr>
          <p:nvPr>
            <p:ph type="sldNum" sz="quarter" idx="12"/>
          </p:nvPr>
        </p:nvSpPr>
        <p:spPr/>
        <p:txBody>
          <a:bodyPr/>
          <a:lstStyle/>
          <a:p>
            <a:fld id="{0CC3DD56-44D6-4410-A1D4-F947CD7B8BFD}" type="slidenum">
              <a:rPr lang="ru-RU" smtClean="0"/>
              <a:pPr/>
              <a:t>21</a:t>
            </a:fld>
            <a:endParaRPr lang="ru-RU"/>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l"/>
            <a:r>
              <a:rPr lang="ru-RU" sz="2800" b="1" dirty="0"/>
              <a:t>Н</a:t>
            </a:r>
            <a:r>
              <a:rPr lang="en-US" sz="2800" b="1" dirty="0"/>
              <a:t>ₒ</a:t>
            </a:r>
            <a:r>
              <a:rPr lang="ru-RU" sz="2800" b="1" dirty="0"/>
              <a:t>:</a:t>
            </a:r>
            <a:r>
              <a:rPr lang="ru-RU" sz="2800" dirty="0"/>
              <a:t> </a:t>
            </a:r>
            <a:r>
              <a:rPr lang="ru-RU" sz="2800" b="1" i="1" dirty="0" err="1"/>
              <a:t>а</a:t>
            </a:r>
            <a:r>
              <a:rPr lang="ru-RU" sz="2800" b="1" dirty="0" err="1"/>
              <a:t>=</a:t>
            </a:r>
            <a:r>
              <a:rPr lang="ru-RU" sz="2800" b="1" i="1" dirty="0" err="1"/>
              <a:t>а</a:t>
            </a:r>
            <a:r>
              <a:rPr lang="en-US" sz="2800" b="1" dirty="0"/>
              <a:t>ₒ</a:t>
            </a:r>
            <a:r>
              <a:rPr lang="ru-RU" sz="2800" b="1" dirty="0"/>
              <a:t>, </a:t>
            </a:r>
            <a:r>
              <a:rPr lang="ru-RU" sz="2800" dirty="0"/>
              <a:t>где </a:t>
            </a:r>
            <a:r>
              <a:rPr lang="ru-RU" sz="2800" i="1" dirty="0"/>
              <a:t>а</a:t>
            </a:r>
            <a:r>
              <a:rPr lang="en-US" sz="2800" dirty="0"/>
              <a:t>ₒ</a:t>
            </a:r>
            <a:r>
              <a:rPr lang="ru-RU" sz="2800" dirty="0"/>
              <a:t> - некоторое число</a:t>
            </a:r>
            <a:br>
              <a:rPr lang="ru-RU" sz="2800" dirty="0"/>
            </a:br>
            <a:r>
              <a:rPr lang="ru-RU" sz="2800" b="1" dirty="0" err="1"/>
              <a:t>Н₁:</a:t>
            </a:r>
            <a:r>
              <a:rPr lang="ru-RU" sz="2800" b="1" i="1" dirty="0" err="1"/>
              <a:t>а</a:t>
            </a:r>
            <a:r>
              <a:rPr lang="ru-RU" sz="2800" b="1" dirty="0" err="1"/>
              <a:t>≠</a:t>
            </a:r>
            <a:r>
              <a:rPr lang="ru-RU" sz="2800" b="1" i="1" dirty="0" err="1"/>
              <a:t>а</a:t>
            </a:r>
            <a:r>
              <a:rPr lang="en-US" sz="2800" b="1" dirty="0"/>
              <a:t>ₒ</a:t>
            </a:r>
            <a:r>
              <a:rPr lang="ru-RU" sz="2800" b="1" dirty="0"/>
              <a:t>.</a:t>
            </a:r>
            <a:endParaRPr lang="ru-RU" sz="2800" dirty="0"/>
          </a:p>
        </p:txBody>
      </p:sp>
      <p:sp>
        <p:nvSpPr>
          <p:cNvPr id="3" name="Содержимое 2"/>
          <p:cNvSpPr>
            <a:spLocks noGrp="1"/>
          </p:cNvSpPr>
          <p:nvPr>
            <p:ph idx="1"/>
          </p:nvPr>
        </p:nvSpPr>
        <p:spPr/>
        <p:txBody>
          <a:bodyPr>
            <a:normAutofit fontScale="77500" lnSpcReduction="20000"/>
          </a:bodyPr>
          <a:lstStyle/>
          <a:p>
            <a:pPr marL="0" indent="0">
              <a:buFont typeface="Arial" charset="0"/>
              <a:buNone/>
            </a:pPr>
            <a:r>
              <a:rPr lang="ru-RU" dirty="0"/>
              <a:t>Б) </a:t>
            </a:r>
            <a:r>
              <a:rPr lang="ru-RU" b="1" i="1" dirty="0"/>
              <a:t>Дисперсия </a:t>
            </a:r>
            <a:r>
              <a:rPr lang="el-GR" b="1" i="1" dirty="0"/>
              <a:t>σ²</a:t>
            </a:r>
            <a:r>
              <a:rPr lang="ru-RU" b="1" i="1" dirty="0"/>
              <a:t> неизвестна</a:t>
            </a:r>
            <a:r>
              <a:rPr lang="ru-RU" dirty="0"/>
              <a:t>.</a:t>
            </a:r>
          </a:p>
          <a:p>
            <a:pPr marL="0" indent="0">
              <a:buFont typeface="Arial" charset="0"/>
              <a:buNone/>
            </a:pPr>
            <a:r>
              <a:rPr lang="ru-RU" dirty="0"/>
              <a:t>В этом случае </a:t>
            </a:r>
            <a:r>
              <a:rPr lang="ru-RU" b="1" dirty="0"/>
              <a:t>статистика </a:t>
            </a:r>
            <a:r>
              <a:rPr lang="ru-RU" dirty="0"/>
              <a:t> </a:t>
            </a:r>
          </a:p>
          <a:p>
            <a:pPr marL="0" indent="0">
              <a:buFont typeface="Arial" charset="0"/>
              <a:buNone/>
            </a:pPr>
            <a:r>
              <a:rPr lang="ru-RU" dirty="0"/>
              <a:t>                                                                                 </a:t>
            </a:r>
          </a:p>
          <a:p>
            <a:pPr marL="0" indent="0">
              <a:buFont typeface="Arial" charset="0"/>
              <a:buNone/>
            </a:pPr>
            <a:endParaRPr lang="ru-RU" dirty="0"/>
          </a:p>
          <a:p>
            <a:pPr marL="0" indent="0">
              <a:buFont typeface="Arial" charset="0"/>
              <a:buNone/>
            </a:pPr>
            <a:r>
              <a:rPr lang="ru-RU" dirty="0"/>
              <a:t>где                                 - исправленная выборочная дисперсия.</a:t>
            </a:r>
          </a:p>
          <a:p>
            <a:pPr marL="0" indent="0">
              <a:buNone/>
            </a:pPr>
            <a:r>
              <a:rPr lang="ru-RU" dirty="0"/>
              <a:t>Статистика </a:t>
            </a:r>
            <a:r>
              <a:rPr lang="en-US" dirty="0"/>
              <a:t>t </a:t>
            </a:r>
            <a:r>
              <a:rPr lang="ru-RU" dirty="0"/>
              <a:t>в этом случае имеет распределение Стьюдента  с (</a:t>
            </a:r>
            <a:r>
              <a:rPr lang="en-US" dirty="0"/>
              <a:t>n-1</a:t>
            </a:r>
            <a:r>
              <a:rPr lang="ru-RU" dirty="0"/>
              <a:t>) степенью свободы, если гипотеза </a:t>
            </a:r>
            <a:r>
              <a:rPr lang="ru-RU" b="1" dirty="0"/>
              <a:t>Н</a:t>
            </a:r>
            <a:r>
              <a:rPr lang="en-US" b="1" dirty="0"/>
              <a:t>ₒ</a:t>
            </a:r>
            <a:r>
              <a:rPr lang="ru-RU" b="1" dirty="0"/>
              <a:t> </a:t>
            </a:r>
            <a:r>
              <a:rPr lang="ru-RU" dirty="0"/>
              <a:t>верна.</a:t>
            </a:r>
          </a:p>
          <a:p>
            <a:pPr marL="0" indent="0">
              <a:buFont typeface="Arial" charset="0"/>
              <a:buNone/>
            </a:pPr>
            <a:r>
              <a:rPr lang="ru-RU" dirty="0"/>
              <a:t>Для </a:t>
            </a:r>
            <a:r>
              <a:rPr lang="ru-RU" i="1" dirty="0"/>
              <a:t>двусторонней</a:t>
            </a:r>
            <a:r>
              <a:rPr lang="ru-RU" dirty="0"/>
              <a:t> альтернативной гипотезы </a:t>
            </a:r>
          </a:p>
          <a:p>
            <a:pPr marL="0" indent="0">
              <a:buFont typeface="Arial" charset="0"/>
              <a:buNone/>
            </a:pPr>
            <a:r>
              <a:rPr lang="ru-RU" b="1" dirty="0"/>
              <a:t>Н₁: </a:t>
            </a:r>
            <a:r>
              <a:rPr lang="ru-RU" b="1" i="1" dirty="0" err="1"/>
              <a:t>а</a:t>
            </a:r>
            <a:r>
              <a:rPr lang="ru-RU" b="1" dirty="0" err="1"/>
              <a:t>≠</a:t>
            </a:r>
            <a:r>
              <a:rPr lang="ru-RU" b="1" i="1" dirty="0" err="1"/>
              <a:t>а</a:t>
            </a:r>
            <a:r>
              <a:rPr lang="en-US" b="1" dirty="0"/>
              <a:t>ₒ</a:t>
            </a:r>
            <a:r>
              <a:rPr lang="ru-RU" b="1" dirty="0"/>
              <a:t> </a:t>
            </a:r>
            <a:r>
              <a:rPr lang="ru-RU" dirty="0"/>
              <a:t>при заданном уровне доверия</a:t>
            </a:r>
            <a:r>
              <a:rPr lang="el-GR" b="1" dirty="0"/>
              <a:t> γ</a:t>
            </a:r>
            <a:r>
              <a:rPr lang="ru-RU" dirty="0"/>
              <a:t> и степени свободы (</a:t>
            </a:r>
            <a:r>
              <a:rPr lang="en-US" dirty="0"/>
              <a:t>n-</a:t>
            </a:r>
            <a:r>
              <a:rPr lang="ru-RU" dirty="0"/>
              <a:t>1) по таблицам распределения Стьюдента определяется критическое значение при условии </a:t>
            </a:r>
          </a:p>
        </p:txBody>
      </p:sp>
      <p:sp>
        <p:nvSpPr>
          <p:cNvPr id="4" name="Номер слайда 3"/>
          <p:cNvSpPr>
            <a:spLocks noGrp="1"/>
          </p:cNvSpPr>
          <p:nvPr>
            <p:ph type="sldNum" sz="quarter" idx="12"/>
          </p:nvPr>
        </p:nvSpPr>
        <p:spPr/>
        <p:txBody>
          <a:bodyPr/>
          <a:lstStyle/>
          <a:p>
            <a:fld id="{0CC3DD56-44D6-4410-A1D4-F947CD7B8BFD}" type="slidenum">
              <a:rPr lang="ru-RU" smtClean="0"/>
              <a:pPr/>
              <a:t>22</a:t>
            </a:fld>
            <a:endParaRPr lang="ru-RU"/>
          </a:p>
        </p:txBody>
      </p:sp>
      <p:graphicFrame>
        <p:nvGraphicFramePr>
          <p:cNvPr id="532483" name="Объект 12"/>
          <p:cNvGraphicFramePr>
            <a:graphicFrameLocks noChangeAspect="1"/>
          </p:cNvGraphicFramePr>
          <p:nvPr/>
        </p:nvGraphicFramePr>
        <p:xfrm>
          <a:off x="4911725" y="2055813"/>
          <a:ext cx="1033463" cy="474662"/>
        </p:xfrm>
        <a:graphic>
          <a:graphicData uri="http://schemas.openxmlformats.org/presentationml/2006/ole">
            <mc:AlternateContent xmlns:mc="http://schemas.openxmlformats.org/markup-compatibility/2006">
              <mc:Choice xmlns:v="urn:schemas-microsoft-com:vml" Requires="v">
                <p:oleObj name="Формула" r:id="rId2" imgW="939600" imgH="431640" progId="Equation.3">
                  <p:embed/>
                </p:oleObj>
              </mc:Choice>
              <mc:Fallback>
                <p:oleObj name="Формула" r:id="rId2" imgW="939600" imgH="431640" progId="Equation.3">
                  <p:embed/>
                  <p:pic>
                    <p:nvPicPr>
                      <p:cNvPr id="532483" name="Объект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1725" y="2055813"/>
                        <a:ext cx="1033463" cy="474662"/>
                      </a:xfrm>
                      <a:prstGeom prst="rect">
                        <a:avLst/>
                      </a:prstGeom>
                      <a:solidFill>
                        <a:schemeClr val="tx1"/>
                      </a:solidFill>
                    </p:spPr>
                  </p:pic>
                </p:oleObj>
              </mc:Fallback>
            </mc:AlternateContent>
          </a:graphicData>
        </a:graphic>
      </p:graphicFrame>
      <p:graphicFrame>
        <p:nvGraphicFramePr>
          <p:cNvPr id="532484" name="Объект 14"/>
          <p:cNvGraphicFramePr>
            <a:graphicFrameLocks noChangeAspect="1"/>
          </p:cNvGraphicFramePr>
          <p:nvPr/>
        </p:nvGraphicFramePr>
        <p:xfrm>
          <a:off x="1357290" y="2643182"/>
          <a:ext cx="1997075" cy="642937"/>
        </p:xfrm>
        <a:graphic>
          <a:graphicData uri="http://schemas.openxmlformats.org/presentationml/2006/ole">
            <mc:AlternateContent xmlns:mc="http://schemas.openxmlformats.org/markup-compatibility/2006">
              <mc:Choice xmlns:v="urn:schemas-microsoft-com:vml" Requires="v">
                <p:oleObj name="Формула" r:id="rId4" imgW="1815312" imgH="583947" progId="Equation.3">
                  <p:embed/>
                </p:oleObj>
              </mc:Choice>
              <mc:Fallback>
                <p:oleObj name="Формула" r:id="rId4" imgW="1815312" imgH="583947" progId="Equation.3">
                  <p:embed/>
                  <p:pic>
                    <p:nvPicPr>
                      <p:cNvPr id="532484" name="Объект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7290" y="2643182"/>
                        <a:ext cx="1997075" cy="642937"/>
                      </a:xfrm>
                      <a:prstGeom prst="rect">
                        <a:avLst/>
                      </a:prstGeom>
                      <a:solidFill>
                        <a:schemeClr val="tx1"/>
                      </a:solidFill>
                    </p:spPr>
                  </p:pic>
                </p:oleObj>
              </mc:Fallback>
            </mc:AlternateContent>
          </a:graphicData>
        </a:graphic>
      </p:graphicFrame>
      <p:graphicFrame>
        <p:nvGraphicFramePr>
          <p:cNvPr id="532485" name="Объект 15"/>
          <p:cNvGraphicFramePr>
            <a:graphicFrameLocks noChangeAspect="1"/>
          </p:cNvGraphicFramePr>
          <p:nvPr/>
        </p:nvGraphicFramePr>
        <p:xfrm>
          <a:off x="1012825" y="5821363"/>
          <a:ext cx="1157288" cy="279400"/>
        </p:xfrm>
        <a:graphic>
          <a:graphicData uri="http://schemas.openxmlformats.org/presentationml/2006/ole">
            <mc:AlternateContent xmlns:mc="http://schemas.openxmlformats.org/markup-compatibility/2006">
              <mc:Choice xmlns:v="urn:schemas-microsoft-com:vml" Requires="v">
                <p:oleObj name="Формула" r:id="rId6" imgW="1054080" imgH="253800" progId="Equation.3">
                  <p:embed/>
                </p:oleObj>
              </mc:Choice>
              <mc:Fallback>
                <p:oleObj name="Формула" r:id="rId6" imgW="1054080" imgH="253800" progId="Equation.3">
                  <p:embed/>
                  <p:pic>
                    <p:nvPicPr>
                      <p:cNvPr id="532485" name="Объект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2825" y="5821363"/>
                        <a:ext cx="1157288" cy="279400"/>
                      </a:xfrm>
                      <a:prstGeom prst="rect">
                        <a:avLst/>
                      </a:prstGeom>
                      <a:solidFill>
                        <a:schemeClr val="tx1"/>
                      </a:solidFill>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4210" name="Rectangle 2"/>
          <p:cNvSpPr>
            <a:spLocks noGrp="1" noChangeArrowheads="1"/>
          </p:cNvSpPr>
          <p:nvPr>
            <p:ph type="title"/>
          </p:nvPr>
        </p:nvSpPr>
        <p:spPr/>
        <p:txBody>
          <a:bodyPr>
            <a:normAutofit fontScale="90000"/>
          </a:bodyPr>
          <a:lstStyle/>
          <a:p>
            <a:r>
              <a:rPr lang="ru-RU"/>
              <a:t>Последовательность действий</a:t>
            </a:r>
          </a:p>
        </p:txBody>
      </p:sp>
      <p:sp>
        <p:nvSpPr>
          <p:cNvPr id="2654211" name="Rectangle 3"/>
          <p:cNvSpPr>
            <a:spLocks noGrp="1" noChangeArrowheads="1"/>
          </p:cNvSpPr>
          <p:nvPr>
            <p:ph type="body" idx="1"/>
          </p:nvPr>
        </p:nvSpPr>
        <p:spPr/>
        <p:txBody>
          <a:bodyPr>
            <a:normAutofit fontScale="70000" lnSpcReduction="20000"/>
          </a:bodyPr>
          <a:lstStyle/>
          <a:p>
            <a:pPr marL="895350" indent="-895350">
              <a:lnSpc>
                <a:spcPct val="90000"/>
              </a:lnSpc>
              <a:buNone/>
            </a:pPr>
            <a:r>
              <a:rPr lang="ru-RU" b="1" dirty="0"/>
              <a:t>Шаг 1.</a:t>
            </a:r>
            <a:r>
              <a:rPr lang="ru-RU" dirty="0"/>
              <a:t> Сформулировать основную </a:t>
            </a:r>
            <a:r>
              <a:rPr lang="en-US" dirty="0"/>
              <a:t>H</a:t>
            </a:r>
            <a:r>
              <a:rPr lang="en-US" baseline="-25000" dirty="0"/>
              <a:t>0</a:t>
            </a:r>
            <a:r>
              <a:rPr lang="en-US" dirty="0"/>
              <a:t> </a:t>
            </a:r>
            <a:r>
              <a:rPr lang="ru-RU" dirty="0"/>
              <a:t>и альтернативную </a:t>
            </a:r>
            <a:r>
              <a:rPr lang="en-US" dirty="0"/>
              <a:t> </a:t>
            </a:r>
            <a:r>
              <a:rPr lang="ru-RU" dirty="0"/>
              <a:t>Н</a:t>
            </a:r>
            <a:r>
              <a:rPr lang="ru-RU" baseline="-25000" dirty="0"/>
              <a:t>1</a:t>
            </a:r>
            <a:r>
              <a:rPr lang="ru-RU" dirty="0"/>
              <a:t> гипотезы.</a:t>
            </a:r>
          </a:p>
          <a:p>
            <a:pPr marL="895350" indent="-895350">
              <a:lnSpc>
                <a:spcPct val="90000"/>
              </a:lnSpc>
            </a:pPr>
            <a:endParaRPr lang="ru-RU" b="1" dirty="0"/>
          </a:p>
          <a:p>
            <a:pPr marL="895350" indent="-895350">
              <a:lnSpc>
                <a:spcPct val="90000"/>
              </a:lnSpc>
              <a:buNone/>
            </a:pPr>
            <a:r>
              <a:rPr lang="ru-RU" b="1" dirty="0"/>
              <a:t>Шаг 2.</a:t>
            </a:r>
            <a:r>
              <a:rPr lang="ru-RU" dirty="0"/>
              <a:t> Задать уровень доверия </a:t>
            </a:r>
            <a:r>
              <a:rPr lang="el-GR" dirty="0"/>
              <a:t>ϒ</a:t>
            </a:r>
            <a:r>
              <a:rPr lang="ru-RU" dirty="0"/>
              <a:t> или уровень значимости </a:t>
            </a:r>
            <a:r>
              <a:rPr lang="ru-RU" dirty="0">
                <a:sym typeface="Symbol" pitchFamily="18" charset="2"/>
              </a:rPr>
              <a:t></a:t>
            </a:r>
            <a:r>
              <a:rPr lang="ru-RU" dirty="0"/>
              <a:t>.</a:t>
            </a:r>
          </a:p>
          <a:p>
            <a:pPr marL="895350" indent="-895350">
              <a:lnSpc>
                <a:spcPct val="90000"/>
              </a:lnSpc>
            </a:pPr>
            <a:endParaRPr lang="ru-RU" b="1" dirty="0"/>
          </a:p>
          <a:p>
            <a:pPr marL="895350" indent="-895350">
              <a:lnSpc>
                <a:spcPct val="90000"/>
              </a:lnSpc>
              <a:buNone/>
            </a:pPr>
            <a:r>
              <a:rPr lang="ru-RU" b="1" dirty="0"/>
              <a:t>Шаг 3.</a:t>
            </a:r>
            <a:r>
              <a:rPr lang="ru-RU" dirty="0"/>
              <a:t> По формуле сосчитать значение статистики </a:t>
            </a:r>
            <a:r>
              <a:rPr lang="en-US" dirty="0"/>
              <a:t>t</a:t>
            </a:r>
            <a:r>
              <a:rPr lang="ru-RU" dirty="0"/>
              <a:t>.</a:t>
            </a:r>
          </a:p>
          <a:p>
            <a:pPr marL="895350" indent="-895350">
              <a:lnSpc>
                <a:spcPct val="90000"/>
              </a:lnSpc>
            </a:pPr>
            <a:endParaRPr lang="ru-RU" b="1" dirty="0"/>
          </a:p>
          <a:p>
            <a:pPr marL="895350" indent="-895350">
              <a:lnSpc>
                <a:spcPct val="90000"/>
              </a:lnSpc>
              <a:buNone/>
            </a:pPr>
            <a:r>
              <a:rPr lang="ru-RU" b="1" dirty="0"/>
              <a:t>Шаг 4.</a:t>
            </a:r>
            <a:r>
              <a:rPr lang="ru-RU" dirty="0"/>
              <a:t> По таблице (зависит от </a:t>
            </a:r>
            <a:r>
              <a:rPr lang="en-US" dirty="0">
                <a:latin typeface="Calibri"/>
                <a:cs typeface="Calibri"/>
              </a:rPr>
              <a:t>σ)</a:t>
            </a:r>
            <a:r>
              <a:rPr lang="ru-RU" dirty="0"/>
              <a:t> найти критическое значение </a:t>
            </a:r>
            <a:r>
              <a:rPr lang="en-US" dirty="0"/>
              <a:t>t</a:t>
            </a:r>
            <a:r>
              <a:rPr lang="ru-RU" baseline="-25000" dirty="0" err="1"/>
              <a:t>кр</a:t>
            </a:r>
            <a:r>
              <a:rPr lang="ru-RU" baseline="-25000" dirty="0"/>
              <a:t> </a:t>
            </a:r>
            <a:r>
              <a:rPr lang="en-US" dirty="0"/>
              <a:t> </a:t>
            </a:r>
            <a:endParaRPr lang="ru-RU" dirty="0"/>
          </a:p>
          <a:p>
            <a:pPr marL="895350" indent="-895350">
              <a:lnSpc>
                <a:spcPct val="90000"/>
              </a:lnSpc>
            </a:pPr>
            <a:endParaRPr lang="ru-RU" b="1" dirty="0"/>
          </a:p>
          <a:p>
            <a:pPr marL="895350" indent="-895350">
              <a:lnSpc>
                <a:spcPct val="90000"/>
              </a:lnSpc>
              <a:buNone/>
            </a:pPr>
            <a:r>
              <a:rPr lang="ru-RU" b="1" dirty="0"/>
              <a:t>Шаг 5.</a:t>
            </a:r>
            <a:r>
              <a:rPr lang="ru-RU" dirty="0"/>
              <a:t> Сравнить полученное значение </a:t>
            </a:r>
            <a:r>
              <a:rPr lang="en-US" dirty="0"/>
              <a:t>t </a:t>
            </a:r>
            <a:r>
              <a:rPr lang="ru-RU" dirty="0"/>
              <a:t>с областью принятия  гипотезы. </a:t>
            </a:r>
          </a:p>
          <a:p>
            <a:pPr marL="895350" indent="-895350">
              <a:lnSpc>
                <a:spcPct val="90000"/>
              </a:lnSpc>
              <a:buNone/>
            </a:pPr>
            <a:r>
              <a:rPr lang="ru-RU" dirty="0"/>
              <a:t>Если значение статистики попало в допустимую область</a:t>
            </a:r>
            <a:r>
              <a:rPr lang="en-US" dirty="0"/>
              <a:t>             </a:t>
            </a:r>
            <a:r>
              <a:rPr lang="ru-RU" dirty="0"/>
              <a:t>– принять основную гипотезу, не попало – отклонить основную и принять альтернативную.</a:t>
            </a:r>
          </a:p>
          <a:p>
            <a:pPr marL="895350" indent="-895350">
              <a:lnSpc>
                <a:spcPct val="90000"/>
              </a:lnSpc>
            </a:pPr>
            <a:endParaRPr lang="ru-RU" b="1" dirty="0"/>
          </a:p>
          <a:p>
            <a:pPr marL="895350" indent="-895350">
              <a:lnSpc>
                <a:spcPct val="90000"/>
              </a:lnSpc>
              <a:buNone/>
            </a:pPr>
            <a:r>
              <a:rPr lang="ru-RU" b="1" dirty="0"/>
              <a:t>Шаг 6.</a:t>
            </a:r>
            <a:r>
              <a:rPr lang="ru-RU" dirty="0"/>
              <a:t> Написать ответ для заданного уровня доверия или уровня значимости.</a:t>
            </a:r>
          </a:p>
        </p:txBody>
      </p:sp>
      <p:sp>
        <p:nvSpPr>
          <p:cNvPr id="4" name="Номер слайда 3"/>
          <p:cNvSpPr>
            <a:spLocks noGrp="1"/>
          </p:cNvSpPr>
          <p:nvPr>
            <p:ph type="sldNum" sz="quarter" idx="12"/>
          </p:nvPr>
        </p:nvSpPr>
        <p:spPr/>
        <p:txBody>
          <a:bodyPr/>
          <a:lstStyle/>
          <a:p>
            <a:fld id="{0CC3DD56-44D6-4410-A1D4-F947CD7B8BFD}" type="slidenum">
              <a:rPr lang="ru-RU" smtClean="0"/>
              <a:pPr/>
              <a:t>23</a:t>
            </a:fld>
            <a:endParaRPr lang="ru-RU"/>
          </a:p>
        </p:txBody>
      </p:sp>
      <p:graphicFrame>
        <p:nvGraphicFramePr>
          <p:cNvPr id="534530" name="Объект 17"/>
          <p:cNvGraphicFramePr>
            <a:graphicFrameLocks noChangeAspect="1"/>
          </p:cNvGraphicFramePr>
          <p:nvPr/>
        </p:nvGraphicFramePr>
        <p:xfrm>
          <a:off x="7858148" y="4357694"/>
          <a:ext cx="641350" cy="347662"/>
        </p:xfrm>
        <a:graphic>
          <a:graphicData uri="http://schemas.openxmlformats.org/presentationml/2006/ole">
            <mc:AlternateContent xmlns:mc="http://schemas.openxmlformats.org/markup-compatibility/2006">
              <mc:Choice xmlns:v="urn:schemas-microsoft-com:vml" Requires="v">
                <p:oleObj name="Формула" r:id="rId2" imgW="583693" imgH="317225" progId="Equation.3">
                  <p:embed/>
                </p:oleObj>
              </mc:Choice>
              <mc:Fallback>
                <p:oleObj name="Формула" r:id="rId2" imgW="583693" imgH="317225" progId="Equation.3">
                  <p:embed/>
                  <p:pic>
                    <p:nvPicPr>
                      <p:cNvPr id="534530" name="Объект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48" y="4357694"/>
                        <a:ext cx="641350" cy="347662"/>
                      </a:xfrm>
                      <a:prstGeom prst="rect">
                        <a:avLst/>
                      </a:prstGeom>
                      <a:solidFill>
                        <a:schemeClr val="tx1"/>
                      </a:solidFill>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Заголовок 1"/>
          <p:cNvSpPr>
            <a:spLocks noGrp="1"/>
          </p:cNvSpPr>
          <p:nvPr>
            <p:ph type="title"/>
          </p:nvPr>
        </p:nvSpPr>
        <p:spPr>
          <a:xfrm>
            <a:off x="323850" y="115888"/>
            <a:ext cx="8229600" cy="346075"/>
          </a:xfrm>
        </p:spPr>
        <p:txBody>
          <a:bodyPr>
            <a:normAutofit fontScale="90000"/>
          </a:bodyPr>
          <a:lstStyle/>
          <a:p>
            <a:r>
              <a:rPr lang="ru-RU" sz="2400" b="1" dirty="0"/>
              <a:t>Пример 1.</a:t>
            </a:r>
          </a:p>
        </p:txBody>
      </p:sp>
      <p:sp>
        <p:nvSpPr>
          <p:cNvPr id="13315" name="Объект 2"/>
          <p:cNvSpPr>
            <a:spLocks noGrp="1"/>
          </p:cNvSpPr>
          <p:nvPr>
            <p:ph idx="1"/>
          </p:nvPr>
        </p:nvSpPr>
        <p:spPr>
          <a:xfrm>
            <a:off x="179388" y="476250"/>
            <a:ext cx="8713787" cy="5649913"/>
          </a:xfrm>
        </p:spPr>
        <p:txBody>
          <a:bodyPr/>
          <a:lstStyle/>
          <a:p>
            <a:pPr marL="0" indent="0" algn="just">
              <a:buFont typeface="Arial" charset="0"/>
              <a:buNone/>
            </a:pPr>
            <a:r>
              <a:rPr lang="ru-RU" sz="1800" dirty="0"/>
              <a:t>По результатам 9 замеров установлено, что выборочное среднее время изготовления детали равно 48 секунд. Предполагая, что время изготовления – нормально распределенная случайная величина с дисперсией 9 , рассмотреть на уровне 0,95 гипотезу </a:t>
            </a:r>
            <a:r>
              <a:rPr lang="ru-RU" sz="1800" b="1" dirty="0"/>
              <a:t>Н</a:t>
            </a:r>
            <a:r>
              <a:rPr lang="en-US" sz="1800" b="1" dirty="0"/>
              <a:t>ₒ</a:t>
            </a:r>
            <a:r>
              <a:rPr lang="ru-RU" sz="1800" b="1" dirty="0"/>
              <a:t>:</a:t>
            </a:r>
            <a:r>
              <a:rPr lang="ru-RU" sz="1800" dirty="0"/>
              <a:t> </a:t>
            </a:r>
            <a:r>
              <a:rPr lang="ru-RU" sz="1800" b="1" i="1" dirty="0"/>
              <a:t>а</a:t>
            </a:r>
            <a:r>
              <a:rPr lang="ru-RU" sz="1800" b="1" dirty="0"/>
              <a:t>=</a:t>
            </a:r>
            <a:r>
              <a:rPr lang="ru-RU" sz="1800" b="1" i="1" dirty="0"/>
              <a:t>49</a:t>
            </a:r>
            <a:r>
              <a:rPr lang="ru-RU" sz="1800" dirty="0"/>
              <a:t> против гипотезы </a:t>
            </a:r>
            <a:r>
              <a:rPr lang="ru-RU" sz="1800" b="1" dirty="0"/>
              <a:t>Н₁: </a:t>
            </a:r>
            <a:r>
              <a:rPr lang="ru-RU" sz="1800" b="1" i="1" dirty="0"/>
              <a:t>а</a:t>
            </a:r>
            <a:r>
              <a:rPr lang="ru-RU" sz="1800" b="1" dirty="0"/>
              <a:t>≠</a:t>
            </a:r>
            <a:r>
              <a:rPr lang="ru-RU" sz="1800" b="1" i="1" dirty="0"/>
              <a:t>49.</a:t>
            </a:r>
          </a:p>
          <a:p>
            <a:pPr marL="0" indent="0" algn="just">
              <a:buFont typeface="Arial" charset="0"/>
              <a:buNone/>
            </a:pPr>
            <a:r>
              <a:rPr lang="ru-RU" sz="1800" i="1" dirty="0"/>
              <a:t>Решение. </a:t>
            </a:r>
            <a:r>
              <a:rPr lang="ru-RU" sz="1800" dirty="0"/>
              <a:t>По условию задачи </a:t>
            </a:r>
            <a:r>
              <a:rPr lang="en-US" sz="1800" dirty="0"/>
              <a:t>n=9,            , </a:t>
            </a:r>
            <a:r>
              <a:rPr lang="el-GR" sz="1800" dirty="0"/>
              <a:t>σ²</a:t>
            </a:r>
            <a:r>
              <a:rPr lang="en-US" sz="1800" dirty="0"/>
              <a:t>=9, </a:t>
            </a:r>
            <a:r>
              <a:rPr lang="el-GR" sz="1800" dirty="0"/>
              <a:t>γ</a:t>
            </a:r>
            <a:r>
              <a:rPr lang="en-US" sz="1800" dirty="0"/>
              <a:t>=0,95. </a:t>
            </a:r>
            <a:endParaRPr lang="ru-RU" sz="1800" dirty="0"/>
          </a:p>
          <a:p>
            <a:pPr marL="0" indent="0" algn="just">
              <a:buFont typeface="Arial" charset="0"/>
              <a:buNone/>
            </a:pPr>
            <a:r>
              <a:rPr lang="ru-RU" sz="1800" dirty="0"/>
              <a:t>Вычислим статистику</a:t>
            </a:r>
          </a:p>
          <a:p>
            <a:pPr marL="0" indent="0" algn="just">
              <a:buFont typeface="Arial" charset="0"/>
              <a:buNone/>
            </a:pPr>
            <a:endParaRPr lang="ru-RU" sz="1800" dirty="0"/>
          </a:p>
          <a:p>
            <a:pPr marL="0" indent="0" algn="just">
              <a:buFont typeface="Arial" charset="0"/>
              <a:buNone/>
            </a:pPr>
            <a:endParaRPr lang="ru-RU" sz="1800" dirty="0"/>
          </a:p>
          <a:p>
            <a:pPr marL="0" indent="0" algn="just">
              <a:buFont typeface="Arial" charset="0"/>
              <a:buNone/>
            </a:pPr>
            <a:endParaRPr lang="ru-RU" sz="1800" dirty="0"/>
          </a:p>
          <a:p>
            <a:pPr marL="0" indent="0" algn="just">
              <a:buFont typeface="Arial" charset="0"/>
              <a:buNone/>
            </a:pPr>
            <a:r>
              <a:rPr lang="ru-RU" sz="1800" dirty="0"/>
              <a:t>По таблице распределения Лапласа из условия Ф(</a:t>
            </a:r>
            <a:r>
              <a:rPr lang="en-US" sz="1800" dirty="0"/>
              <a:t>t)=0,95 </a:t>
            </a:r>
            <a:r>
              <a:rPr lang="ru-RU" sz="1800" dirty="0"/>
              <a:t>найдем</a:t>
            </a:r>
          </a:p>
          <a:p>
            <a:pPr marL="0" indent="0" algn="just">
              <a:buFont typeface="Arial" charset="0"/>
              <a:buNone/>
            </a:pPr>
            <a:r>
              <a:rPr lang="ru-RU" sz="1800" dirty="0"/>
              <a:t>Так как                                , то гипотеза </a:t>
            </a:r>
            <a:r>
              <a:rPr lang="ru-RU" sz="1800" b="1" dirty="0"/>
              <a:t>Н</a:t>
            </a:r>
            <a:r>
              <a:rPr lang="en-US" sz="1800" b="1" dirty="0"/>
              <a:t>ₒ</a:t>
            </a:r>
            <a:r>
              <a:rPr lang="ru-RU" sz="1800" b="1" dirty="0"/>
              <a:t> принимается на уровне доверия 0,95.</a:t>
            </a:r>
            <a:endParaRPr lang="en-US" sz="1800" dirty="0"/>
          </a:p>
          <a:p>
            <a:pPr marL="0" indent="0" algn="just">
              <a:buFont typeface="Arial" charset="0"/>
              <a:buNone/>
            </a:pPr>
            <a:endParaRPr lang="ru-RU" sz="1800" dirty="0"/>
          </a:p>
        </p:txBody>
      </p:sp>
      <p:graphicFrame>
        <p:nvGraphicFramePr>
          <p:cNvPr id="13316" name="Объект 1"/>
          <p:cNvGraphicFramePr>
            <a:graphicFrameLocks noChangeAspect="1"/>
          </p:cNvGraphicFramePr>
          <p:nvPr/>
        </p:nvGraphicFramePr>
        <p:xfrm>
          <a:off x="3786182" y="1643050"/>
          <a:ext cx="615950" cy="223837"/>
        </p:xfrm>
        <a:graphic>
          <a:graphicData uri="http://schemas.openxmlformats.org/presentationml/2006/ole">
            <mc:AlternateContent xmlns:mc="http://schemas.openxmlformats.org/markup-compatibility/2006">
              <mc:Choice xmlns:v="urn:schemas-microsoft-com:vml" Requires="v">
                <p:oleObj name="Формула" r:id="rId2" imgW="558558" imgH="203112" progId="Equation.3">
                  <p:embed/>
                </p:oleObj>
              </mc:Choice>
              <mc:Fallback>
                <p:oleObj name="Формула" r:id="rId2" imgW="558558" imgH="203112" progId="Equation.3">
                  <p:embed/>
                  <p:pic>
                    <p:nvPicPr>
                      <p:cNvPr id="13316" name="Объект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6182" y="1643050"/>
                        <a:ext cx="615950" cy="223837"/>
                      </a:xfrm>
                      <a:prstGeom prst="rect">
                        <a:avLst/>
                      </a:prstGeom>
                      <a:solidFill>
                        <a:schemeClr val="tx1"/>
                      </a:solidFill>
                    </p:spPr>
                  </p:pic>
                </p:oleObj>
              </mc:Fallback>
            </mc:AlternateContent>
          </a:graphicData>
        </a:graphic>
      </p:graphicFrame>
      <p:sp>
        <p:nvSpPr>
          <p:cNvPr id="13317" name="Rectangle 6"/>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graphicFrame>
        <p:nvGraphicFramePr>
          <p:cNvPr id="13318" name="Объект 3"/>
          <p:cNvGraphicFramePr>
            <a:graphicFrameLocks noChangeAspect="1"/>
          </p:cNvGraphicFramePr>
          <p:nvPr/>
        </p:nvGraphicFramePr>
        <p:xfrm>
          <a:off x="3221038" y="2049463"/>
          <a:ext cx="2360612" cy="503237"/>
        </p:xfrm>
        <a:graphic>
          <a:graphicData uri="http://schemas.openxmlformats.org/presentationml/2006/ole">
            <mc:AlternateContent xmlns:mc="http://schemas.openxmlformats.org/markup-compatibility/2006">
              <mc:Choice xmlns:v="urn:schemas-microsoft-com:vml" Requires="v">
                <p:oleObj name="Формула" r:id="rId4" imgW="2145960" imgH="457200" progId="Equation.3">
                  <p:embed/>
                </p:oleObj>
              </mc:Choice>
              <mc:Fallback>
                <p:oleObj name="Формула" r:id="rId4" imgW="2145960" imgH="457200" progId="Equation.3">
                  <p:embed/>
                  <p:pic>
                    <p:nvPicPr>
                      <p:cNvPr id="13318" name="Объект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21038" y="2049463"/>
                        <a:ext cx="2360612" cy="503237"/>
                      </a:xfrm>
                      <a:prstGeom prst="rect">
                        <a:avLst/>
                      </a:prstGeom>
                      <a:solidFill>
                        <a:schemeClr val="tx1"/>
                      </a:solidFill>
                    </p:spPr>
                  </p:pic>
                </p:oleObj>
              </mc:Fallback>
            </mc:AlternateContent>
          </a:graphicData>
        </a:graphic>
      </p:graphicFrame>
      <p:sp>
        <p:nvSpPr>
          <p:cNvPr id="13319" name="Rectangle 10"/>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graphicFrame>
        <p:nvGraphicFramePr>
          <p:cNvPr id="13320" name="Объект 5"/>
          <p:cNvGraphicFramePr>
            <a:graphicFrameLocks noChangeAspect="1"/>
          </p:cNvGraphicFramePr>
          <p:nvPr/>
        </p:nvGraphicFramePr>
        <p:xfrm>
          <a:off x="7286644" y="2928934"/>
          <a:ext cx="865187" cy="334962"/>
        </p:xfrm>
        <a:graphic>
          <a:graphicData uri="http://schemas.openxmlformats.org/presentationml/2006/ole">
            <mc:AlternateContent xmlns:mc="http://schemas.openxmlformats.org/markup-compatibility/2006">
              <mc:Choice xmlns:v="urn:schemas-microsoft-com:vml" Requires="v">
                <p:oleObj name="Формула" r:id="rId6" imgW="787058" imgH="304668" progId="Equation.3">
                  <p:embed/>
                </p:oleObj>
              </mc:Choice>
              <mc:Fallback>
                <p:oleObj name="Формула" r:id="rId6" imgW="787058" imgH="304668" progId="Equation.3">
                  <p:embed/>
                  <p:pic>
                    <p:nvPicPr>
                      <p:cNvPr id="13320" name="Объект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86644" y="2928934"/>
                        <a:ext cx="865187" cy="334962"/>
                      </a:xfrm>
                      <a:prstGeom prst="rect">
                        <a:avLst/>
                      </a:prstGeom>
                      <a:solidFill>
                        <a:schemeClr val="tx1"/>
                      </a:solidFill>
                    </p:spPr>
                  </p:pic>
                </p:oleObj>
              </mc:Fallback>
            </mc:AlternateContent>
          </a:graphicData>
        </a:graphic>
      </p:graphicFrame>
      <p:sp>
        <p:nvSpPr>
          <p:cNvPr id="13321" name="Rectangle 12"/>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graphicFrame>
        <p:nvGraphicFramePr>
          <p:cNvPr id="13322" name="Объект 7"/>
          <p:cNvGraphicFramePr>
            <a:graphicFrameLocks noChangeAspect="1"/>
          </p:cNvGraphicFramePr>
          <p:nvPr/>
        </p:nvGraphicFramePr>
        <p:xfrm>
          <a:off x="1071538" y="3294064"/>
          <a:ext cx="1536700" cy="349250"/>
        </p:xfrm>
        <a:graphic>
          <a:graphicData uri="http://schemas.openxmlformats.org/presentationml/2006/ole">
            <mc:AlternateContent xmlns:mc="http://schemas.openxmlformats.org/markup-compatibility/2006">
              <mc:Choice xmlns:v="urn:schemas-microsoft-com:vml" Requires="v">
                <p:oleObj name="Формула" r:id="rId8" imgW="1396394" imgH="317362" progId="Equation.3">
                  <p:embed/>
                </p:oleObj>
              </mc:Choice>
              <mc:Fallback>
                <p:oleObj name="Формула" r:id="rId8" imgW="1396394" imgH="317362" progId="Equation.3">
                  <p:embed/>
                  <p:pic>
                    <p:nvPicPr>
                      <p:cNvPr id="13322" name="Объект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71538" y="3294064"/>
                        <a:ext cx="1536700" cy="349250"/>
                      </a:xfrm>
                      <a:prstGeom prst="rect">
                        <a:avLst/>
                      </a:prstGeom>
                      <a:solidFill>
                        <a:schemeClr val="tx1"/>
                      </a:solidFill>
                    </p:spPr>
                  </p:pic>
                </p:oleObj>
              </mc:Fallback>
            </mc:AlternateContent>
          </a:graphicData>
        </a:graphic>
      </p:graphicFrame>
      <p:graphicFrame>
        <p:nvGraphicFramePr>
          <p:cNvPr id="11" name="Таблица 10"/>
          <p:cNvGraphicFramePr>
            <a:graphicFrameLocks noGrp="1"/>
          </p:cNvGraphicFramePr>
          <p:nvPr/>
        </p:nvGraphicFramePr>
        <p:xfrm>
          <a:off x="214313" y="3790969"/>
          <a:ext cx="8715372" cy="2709865"/>
        </p:xfrm>
        <a:graphic>
          <a:graphicData uri="http://schemas.openxmlformats.org/drawingml/2006/table">
            <a:tbl>
              <a:tblPr firstRow="1" firstCol="1" lastRow="1" lastCol="1" bandRow="1" bandCol="1">
                <a:tableStyleId>{5C22544A-7EE6-4342-B048-85BDC9FD1C3A}</a:tableStyleId>
              </a:tblPr>
              <a:tblGrid>
                <a:gridCol w="1062984">
                  <a:extLst>
                    <a:ext uri="{9D8B030D-6E8A-4147-A177-3AD203B41FA5}">
                      <a16:colId xmlns:a16="http://schemas.microsoft.com/office/drawing/2014/main" val="20000"/>
                    </a:ext>
                  </a:extLst>
                </a:gridCol>
                <a:gridCol w="743453">
                  <a:extLst>
                    <a:ext uri="{9D8B030D-6E8A-4147-A177-3AD203B41FA5}">
                      <a16:colId xmlns:a16="http://schemas.microsoft.com/office/drawing/2014/main" val="20001"/>
                    </a:ext>
                  </a:extLst>
                </a:gridCol>
                <a:gridCol w="743453">
                  <a:extLst>
                    <a:ext uri="{9D8B030D-6E8A-4147-A177-3AD203B41FA5}">
                      <a16:colId xmlns:a16="http://schemas.microsoft.com/office/drawing/2014/main" val="20002"/>
                    </a:ext>
                  </a:extLst>
                </a:gridCol>
                <a:gridCol w="743453">
                  <a:extLst>
                    <a:ext uri="{9D8B030D-6E8A-4147-A177-3AD203B41FA5}">
                      <a16:colId xmlns:a16="http://schemas.microsoft.com/office/drawing/2014/main" val="20003"/>
                    </a:ext>
                  </a:extLst>
                </a:gridCol>
                <a:gridCol w="743453">
                  <a:extLst>
                    <a:ext uri="{9D8B030D-6E8A-4147-A177-3AD203B41FA5}">
                      <a16:colId xmlns:a16="http://schemas.microsoft.com/office/drawing/2014/main" val="20004"/>
                    </a:ext>
                  </a:extLst>
                </a:gridCol>
                <a:gridCol w="743453">
                  <a:extLst>
                    <a:ext uri="{9D8B030D-6E8A-4147-A177-3AD203B41FA5}">
                      <a16:colId xmlns:a16="http://schemas.microsoft.com/office/drawing/2014/main" val="20005"/>
                    </a:ext>
                  </a:extLst>
                </a:gridCol>
                <a:gridCol w="743453">
                  <a:extLst>
                    <a:ext uri="{9D8B030D-6E8A-4147-A177-3AD203B41FA5}">
                      <a16:colId xmlns:a16="http://schemas.microsoft.com/office/drawing/2014/main" val="20006"/>
                    </a:ext>
                  </a:extLst>
                </a:gridCol>
                <a:gridCol w="852382">
                  <a:extLst>
                    <a:ext uri="{9D8B030D-6E8A-4147-A177-3AD203B41FA5}">
                      <a16:colId xmlns:a16="http://schemas.microsoft.com/office/drawing/2014/main" val="20007"/>
                    </a:ext>
                  </a:extLst>
                </a:gridCol>
                <a:gridCol w="852382">
                  <a:extLst>
                    <a:ext uri="{9D8B030D-6E8A-4147-A177-3AD203B41FA5}">
                      <a16:colId xmlns:a16="http://schemas.microsoft.com/office/drawing/2014/main" val="20008"/>
                    </a:ext>
                  </a:extLst>
                </a:gridCol>
                <a:gridCol w="743453">
                  <a:extLst>
                    <a:ext uri="{9D8B030D-6E8A-4147-A177-3AD203B41FA5}">
                      <a16:colId xmlns:a16="http://schemas.microsoft.com/office/drawing/2014/main" val="20009"/>
                    </a:ext>
                  </a:extLst>
                </a:gridCol>
                <a:gridCol w="743453">
                  <a:extLst>
                    <a:ext uri="{9D8B030D-6E8A-4147-A177-3AD203B41FA5}">
                      <a16:colId xmlns:a16="http://schemas.microsoft.com/office/drawing/2014/main" val="20010"/>
                    </a:ext>
                  </a:extLst>
                </a:gridCol>
              </a:tblGrid>
              <a:tr h="432062">
                <a:tc rowSpan="2">
                  <a:txBody>
                    <a:bodyPr/>
                    <a:lstStyle/>
                    <a:p>
                      <a:pPr>
                        <a:spcAft>
                          <a:spcPts val="0"/>
                        </a:spcAft>
                      </a:pPr>
                      <a:r>
                        <a:rPr lang="ru-RU" sz="1600" dirty="0">
                          <a:effectLst/>
                        </a:rPr>
                        <a:t>Целые и десятые доли х</a:t>
                      </a:r>
                      <a:endParaRPr lang="ru-RU" sz="1600" dirty="0">
                        <a:effectLst/>
                        <a:latin typeface="Times New Roman"/>
                        <a:ea typeface="Times New Roman"/>
                      </a:endParaRPr>
                    </a:p>
                  </a:txBody>
                  <a:tcPr marL="25788" marR="25788" marT="0" marB="0"/>
                </a:tc>
                <a:tc gridSpan="10">
                  <a:txBody>
                    <a:bodyPr/>
                    <a:lstStyle/>
                    <a:p>
                      <a:pPr algn="ctr">
                        <a:spcAft>
                          <a:spcPts val="0"/>
                        </a:spcAft>
                      </a:pPr>
                      <a:r>
                        <a:rPr lang="ru-RU" sz="1800" dirty="0">
                          <a:effectLst/>
                        </a:rPr>
                        <a:t>Сотые доли х</a:t>
                      </a:r>
                      <a:endParaRPr lang="ru-RU" sz="1800" dirty="0">
                        <a:effectLst/>
                        <a:latin typeface="Times New Roman"/>
                        <a:ea typeface="Times New Roman"/>
                      </a:endParaRPr>
                    </a:p>
                  </a:txBody>
                  <a:tcPr marL="25788" marR="25788"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0"/>
                  </a:ext>
                </a:extLst>
              </a:tr>
              <a:tr h="327019">
                <a:tc vMerge="1">
                  <a:txBody>
                    <a:bodyPr/>
                    <a:lstStyle/>
                    <a:p>
                      <a:endParaRPr lang="ru-RU"/>
                    </a:p>
                  </a:txBody>
                  <a:tcPr/>
                </a:tc>
                <a:tc>
                  <a:txBody>
                    <a:bodyPr/>
                    <a:lstStyle/>
                    <a:p>
                      <a:pPr algn="ctr">
                        <a:spcAft>
                          <a:spcPts val="0"/>
                        </a:spcAft>
                      </a:pPr>
                      <a:r>
                        <a:rPr lang="ru-RU" sz="1600">
                          <a:effectLst/>
                        </a:rPr>
                        <a:t>0</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1</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2</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3</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4</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5</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6</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7</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8</a:t>
                      </a:r>
                      <a:endParaRPr lang="ru-RU" sz="1600">
                        <a:effectLst/>
                        <a:latin typeface="Times New Roman"/>
                        <a:ea typeface="Times New Roman"/>
                      </a:endParaRPr>
                    </a:p>
                  </a:txBody>
                  <a:tcPr marL="25788" marR="25788" marT="0" marB="0"/>
                </a:tc>
                <a:tc>
                  <a:txBody>
                    <a:bodyPr/>
                    <a:lstStyle/>
                    <a:p>
                      <a:pPr algn="ctr">
                        <a:spcAft>
                          <a:spcPts val="0"/>
                        </a:spcAft>
                      </a:pPr>
                      <a:r>
                        <a:rPr lang="ru-RU" sz="1600" dirty="0">
                          <a:effectLst/>
                        </a:rPr>
                        <a:t>9</a:t>
                      </a:r>
                      <a:endParaRPr lang="ru-RU" sz="1600" dirty="0">
                        <a:effectLst/>
                        <a:latin typeface="Times New Roman"/>
                        <a:ea typeface="Times New Roman"/>
                      </a:endParaRPr>
                    </a:p>
                  </a:txBody>
                  <a:tcPr marL="25788" marR="25788" marT="0" marB="0"/>
                </a:tc>
                <a:extLst>
                  <a:ext uri="{0D108BD9-81ED-4DB2-BD59-A6C34878D82A}">
                    <a16:rowId xmlns:a16="http://schemas.microsoft.com/office/drawing/2014/main" val="10001"/>
                  </a:ext>
                </a:extLst>
              </a:tr>
              <a:tr h="243848">
                <a:tc>
                  <a:txBody>
                    <a:bodyPr/>
                    <a:lstStyle/>
                    <a:p>
                      <a:pPr>
                        <a:spcAft>
                          <a:spcPts val="0"/>
                        </a:spcAft>
                      </a:pPr>
                      <a:r>
                        <a:rPr lang="ru-RU" sz="1600" dirty="0">
                          <a:effectLst/>
                        </a:rPr>
                        <a:t>1,3</a:t>
                      </a:r>
                      <a:endParaRPr lang="ru-RU" sz="1600" dirty="0">
                        <a:effectLst/>
                        <a:latin typeface="Times New Roman"/>
                        <a:ea typeface="Times New Roman"/>
                      </a:endParaRPr>
                    </a:p>
                  </a:txBody>
                  <a:tcPr marL="25788" marR="25788" marT="0" marB="0"/>
                </a:tc>
                <a:tc>
                  <a:txBody>
                    <a:bodyPr/>
                    <a:lstStyle/>
                    <a:p>
                      <a:pPr>
                        <a:spcAft>
                          <a:spcPts val="0"/>
                        </a:spcAft>
                      </a:pPr>
                      <a:r>
                        <a:rPr lang="ru-RU" sz="1600">
                          <a:effectLst/>
                        </a:rPr>
                        <a:t>0,8054</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0,8098</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0,8132</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0,8165</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0,8198</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0,8230</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0,8262</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0,8293</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0,8324</a:t>
                      </a:r>
                      <a:endParaRPr lang="ru-RU" sz="1600">
                        <a:effectLst/>
                        <a:latin typeface="Times New Roman"/>
                        <a:ea typeface="Times New Roman"/>
                      </a:endParaRPr>
                    </a:p>
                  </a:txBody>
                  <a:tcPr marL="25788" marR="25788" marT="0" marB="0"/>
                </a:tc>
                <a:tc>
                  <a:txBody>
                    <a:bodyPr/>
                    <a:lstStyle/>
                    <a:p>
                      <a:pPr algn="ctr">
                        <a:spcAft>
                          <a:spcPts val="0"/>
                        </a:spcAft>
                      </a:pPr>
                      <a:r>
                        <a:rPr lang="ru-RU" sz="1600" dirty="0">
                          <a:effectLst/>
                        </a:rPr>
                        <a:t>0,8355</a:t>
                      </a:r>
                      <a:endParaRPr lang="ru-RU" sz="1600" dirty="0">
                        <a:effectLst/>
                        <a:latin typeface="Times New Roman"/>
                        <a:ea typeface="Times New Roman"/>
                      </a:endParaRPr>
                    </a:p>
                  </a:txBody>
                  <a:tcPr marL="25788" marR="25788" marT="0" marB="0"/>
                </a:tc>
                <a:extLst>
                  <a:ext uri="{0D108BD9-81ED-4DB2-BD59-A6C34878D82A}">
                    <a16:rowId xmlns:a16="http://schemas.microsoft.com/office/drawing/2014/main" val="10002"/>
                  </a:ext>
                </a:extLst>
              </a:tr>
              <a:tr h="243848">
                <a:tc>
                  <a:txBody>
                    <a:bodyPr/>
                    <a:lstStyle/>
                    <a:p>
                      <a:pPr>
                        <a:spcAft>
                          <a:spcPts val="0"/>
                        </a:spcAft>
                      </a:pPr>
                      <a:r>
                        <a:rPr lang="ru-RU" sz="1600">
                          <a:effectLst/>
                        </a:rPr>
                        <a:t>1,4</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0,8385</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0,8415</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0,8444</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0,8473</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0,8501</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0,8529</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0,8557</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0,8584</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0,8611</a:t>
                      </a:r>
                      <a:endParaRPr lang="ru-RU" sz="1600">
                        <a:effectLst/>
                        <a:latin typeface="Times New Roman"/>
                        <a:ea typeface="Times New Roman"/>
                      </a:endParaRPr>
                    </a:p>
                  </a:txBody>
                  <a:tcPr marL="25788" marR="25788" marT="0" marB="0"/>
                </a:tc>
                <a:tc>
                  <a:txBody>
                    <a:bodyPr/>
                    <a:lstStyle/>
                    <a:p>
                      <a:pPr algn="ctr">
                        <a:spcAft>
                          <a:spcPts val="0"/>
                        </a:spcAft>
                      </a:pPr>
                      <a:r>
                        <a:rPr lang="ru-RU" sz="1600" dirty="0">
                          <a:effectLst/>
                        </a:rPr>
                        <a:t>0,8638</a:t>
                      </a:r>
                      <a:endParaRPr lang="ru-RU" sz="1600" dirty="0">
                        <a:effectLst/>
                        <a:latin typeface="Times New Roman"/>
                        <a:ea typeface="Times New Roman"/>
                      </a:endParaRPr>
                    </a:p>
                  </a:txBody>
                  <a:tcPr marL="25788" marR="25788" marT="0" marB="0"/>
                </a:tc>
                <a:extLst>
                  <a:ext uri="{0D108BD9-81ED-4DB2-BD59-A6C34878D82A}">
                    <a16:rowId xmlns:a16="http://schemas.microsoft.com/office/drawing/2014/main" val="10003"/>
                  </a:ext>
                </a:extLst>
              </a:tr>
              <a:tr h="243848">
                <a:tc>
                  <a:txBody>
                    <a:bodyPr/>
                    <a:lstStyle/>
                    <a:p>
                      <a:pPr>
                        <a:spcAft>
                          <a:spcPts val="0"/>
                        </a:spcAft>
                      </a:pPr>
                      <a:r>
                        <a:rPr lang="ru-RU" sz="1600">
                          <a:effectLst/>
                        </a:rPr>
                        <a:t>1,5</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0,8664</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0,8690</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0,8715</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0,8740</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0,8764</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0,8789</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0,8812</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0,8836</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0,8859</a:t>
                      </a:r>
                      <a:endParaRPr lang="ru-RU" sz="1600">
                        <a:effectLst/>
                        <a:latin typeface="Times New Roman"/>
                        <a:ea typeface="Times New Roman"/>
                      </a:endParaRPr>
                    </a:p>
                  </a:txBody>
                  <a:tcPr marL="25788" marR="25788" marT="0" marB="0"/>
                </a:tc>
                <a:tc>
                  <a:txBody>
                    <a:bodyPr/>
                    <a:lstStyle/>
                    <a:p>
                      <a:pPr algn="ctr">
                        <a:spcAft>
                          <a:spcPts val="0"/>
                        </a:spcAft>
                      </a:pPr>
                      <a:r>
                        <a:rPr lang="ru-RU" sz="1600" dirty="0">
                          <a:effectLst/>
                        </a:rPr>
                        <a:t>0,8882</a:t>
                      </a:r>
                      <a:endParaRPr lang="ru-RU" sz="1600" dirty="0">
                        <a:effectLst/>
                        <a:latin typeface="Times New Roman"/>
                        <a:ea typeface="Times New Roman"/>
                      </a:endParaRPr>
                    </a:p>
                  </a:txBody>
                  <a:tcPr marL="25788" marR="25788" marT="0" marB="0"/>
                </a:tc>
                <a:extLst>
                  <a:ext uri="{0D108BD9-81ED-4DB2-BD59-A6C34878D82A}">
                    <a16:rowId xmlns:a16="http://schemas.microsoft.com/office/drawing/2014/main" val="10004"/>
                  </a:ext>
                </a:extLst>
              </a:tr>
              <a:tr h="243848">
                <a:tc>
                  <a:txBody>
                    <a:bodyPr/>
                    <a:lstStyle/>
                    <a:p>
                      <a:pPr>
                        <a:spcAft>
                          <a:spcPts val="0"/>
                        </a:spcAft>
                      </a:pPr>
                      <a:r>
                        <a:rPr lang="ru-RU" sz="1600">
                          <a:effectLst/>
                        </a:rPr>
                        <a:t>1,6</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0,8904</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0,8926</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0,8948</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0,8969</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0,8990</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0,9011</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0,9031</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0,9051</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0,9070</a:t>
                      </a:r>
                      <a:endParaRPr lang="ru-RU" sz="1600">
                        <a:effectLst/>
                        <a:latin typeface="Times New Roman"/>
                        <a:ea typeface="Times New Roman"/>
                      </a:endParaRPr>
                    </a:p>
                  </a:txBody>
                  <a:tcPr marL="25788" marR="25788" marT="0" marB="0"/>
                </a:tc>
                <a:tc>
                  <a:txBody>
                    <a:bodyPr/>
                    <a:lstStyle/>
                    <a:p>
                      <a:pPr algn="ctr">
                        <a:spcAft>
                          <a:spcPts val="0"/>
                        </a:spcAft>
                      </a:pPr>
                      <a:r>
                        <a:rPr lang="ru-RU" sz="1600" dirty="0">
                          <a:effectLst/>
                        </a:rPr>
                        <a:t>0,9090</a:t>
                      </a:r>
                      <a:endParaRPr lang="ru-RU" sz="1600" dirty="0">
                        <a:effectLst/>
                        <a:latin typeface="Times New Roman"/>
                        <a:ea typeface="Times New Roman"/>
                      </a:endParaRPr>
                    </a:p>
                  </a:txBody>
                  <a:tcPr marL="25788" marR="25788" marT="0" marB="0"/>
                </a:tc>
                <a:extLst>
                  <a:ext uri="{0D108BD9-81ED-4DB2-BD59-A6C34878D82A}">
                    <a16:rowId xmlns:a16="http://schemas.microsoft.com/office/drawing/2014/main" val="10005"/>
                  </a:ext>
                </a:extLst>
              </a:tr>
              <a:tr h="243848">
                <a:tc>
                  <a:txBody>
                    <a:bodyPr/>
                    <a:lstStyle/>
                    <a:p>
                      <a:pPr>
                        <a:spcAft>
                          <a:spcPts val="0"/>
                        </a:spcAft>
                      </a:pPr>
                      <a:r>
                        <a:rPr lang="ru-RU" sz="1600" dirty="0">
                          <a:effectLst/>
                        </a:rPr>
                        <a:t>1,7</a:t>
                      </a:r>
                      <a:endParaRPr lang="ru-RU" sz="1600" dirty="0">
                        <a:effectLst/>
                        <a:latin typeface="Times New Roman"/>
                        <a:ea typeface="Times New Roman"/>
                      </a:endParaRPr>
                    </a:p>
                  </a:txBody>
                  <a:tcPr marL="25788" marR="25788" marT="0" marB="0"/>
                </a:tc>
                <a:tc>
                  <a:txBody>
                    <a:bodyPr/>
                    <a:lstStyle/>
                    <a:p>
                      <a:pPr algn="ctr">
                        <a:spcAft>
                          <a:spcPts val="0"/>
                        </a:spcAft>
                      </a:pPr>
                      <a:r>
                        <a:rPr lang="ru-RU" sz="1600">
                          <a:effectLst/>
                        </a:rPr>
                        <a:t>0,9109</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0,9127</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0,9146</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0,9164</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0,9181</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0,9199</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0,9216</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0,9233</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0,9249</a:t>
                      </a:r>
                      <a:endParaRPr lang="ru-RU" sz="1600">
                        <a:effectLst/>
                        <a:latin typeface="Times New Roman"/>
                        <a:ea typeface="Times New Roman"/>
                      </a:endParaRPr>
                    </a:p>
                  </a:txBody>
                  <a:tcPr marL="25788" marR="25788" marT="0" marB="0"/>
                </a:tc>
                <a:tc>
                  <a:txBody>
                    <a:bodyPr/>
                    <a:lstStyle/>
                    <a:p>
                      <a:pPr algn="ctr">
                        <a:spcAft>
                          <a:spcPts val="0"/>
                        </a:spcAft>
                      </a:pPr>
                      <a:r>
                        <a:rPr lang="ru-RU" sz="1600" dirty="0">
                          <a:effectLst/>
                        </a:rPr>
                        <a:t>0,9265</a:t>
                      </a:r>
                      <a:endParaRPr lang="ru-RU" sz="1600" dirty="0">
                        <a:effectLst/>
                        <a:latin typeface="Times New Roman"/>
                        <a:ea typeface="Times New Roman"/>
                      </a:endParaRPr>
                    </a:p>
                  </a:txBody>
                  <a:tcPr marL="25788" marR="25788" marT="0" marB="0"/>
                </a:tc>
                <a:extLst>
                  <a:ext uri="{0D108BD9-81ED-4DB2-BD59-A6C34878D82A}">
                    <a16:rowId xmlns:a16="http://schemas.microsoft.com/office/drawing/2014/main" val="10006"/>
                  </a:ext>
                </a:extLst>
              </a:tr>
              <a:tr h="243848">
                <a:tc>
                  <a:txBody>
                    <a:bodyPr/>
                    <a:lstStyle/>
                    <a:p>
                      <a:pPr>
                        <a:spcAft>
                          <a:spcPts val="0"/>
                        </a:spcAft>
                      </a:pPr>
                      <a:r>
                        <a:rPr lang="ru-RU" sz="1600">
                          <a:effectLst/>
                        </a:rPr>
                        <a:t>1,8</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0,9281</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0,9297</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0,9312</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0,9327</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0,9342</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0,9357</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0,9371</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0,9385</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0,9392</a:t>
                      </a:r>
                      <a:endParaRPr lang="ru-RU" sz="1600">
                        <a:effectLst/>
                        <a:latin typeface="Times New Roman"/>
                        <a:ea typeface="Times New Roman"/>
                      </a:endParaRPr>
                    </a:p>
                  </a:txBody>
                  <a:tcPr marL="25788" marR="25788" marT="0" marB="0"/>
                </a:tc>
                <a:tc>
                  <a:txBody>
                    <a:bodyPr/>
                    <a:lstStyle/>
                    <a:p>
                      <a:pPr algn="ctr">
                        <a:spcAft>
                          <a:spcPts val="0"/>
                        </a:spcAft>
                      </a:pPr>
                      <a:r>
                        <a:rPr lang="ru-RU" sz="1600" dirty="0">
                          <a:effectLst/>
                        </a:rPr>
                        <a:t>0,9412</a:t>
                      </a:r>
                      <a:endParaRPr lang="ru-RU" sz="1600" dirty="0">
                        <a:effectLst/>
                        <a:latin typeface="Times New Roman"/>
                        <a:ea typeface="Times New Roman"/>
                      </a:endParaRPr>
                    </a:p>
                  </a:txBody>
                  <a:tcPr marL="25788" marR="25788" marT="0" marB="0"/>
                </a:tc>
                <a:extLst>
                  <a:ext uri="{0D108BD9-81ED-4DB2-BD59-A6C34878D82A}">
                    <a16:rowId xmlns:a16="http://schemas.microsoft.com/office/drawing/2014/main" val="10007"/>
                  </a:ext>
                </a:extLst>
              </a:tr>
              <a:tr h="243848">
                <a:tc>
                  <a:txBody>
                    <a:bodyPr/>
                    <a:lstStyle/>
                    <a:p>
                      <a:pPr>
                        <a:spcAft>
                          <a:spcPts val="0"/>
                        </a:spcAft>
                      </a:pPr>
                      <a:r>
                        <a:rPr lang="ru-RU" sz="1600">
                          <a:effectLst/>
                        </a:rPr>
                        <a:t>1,9</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0,9426</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0,9439</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0,9451</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0,9464</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0,9476</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0,9488</a:t>
                      </a:r>
                      <a:endParaRPr lang="ru-RU" sz="1600">
                        <a:effectLst/>
                        <a:latin typeface="Times New Roman"/>
                        <a:ea typeface="Times New Roman"/>
                      </a:endParaRPr>
                    </a:p>
                  </a:txBody>
                  <a:tcPr marL="25788" marR="25788" marT="0" marB="0"/>
                </a:tc>
                <a:tc>
                  <a:txBody>
                    <a:bodyPr/>
                    <a:lstStyle/>
                    <a:p>
                      <a:pPr algn="ctr">
                        <a:spcAft>
                          <a:spcPts val="0"/>
                        </a:spcAft>
                      </a:pPr>
                      <a:r>
                        <a:rPr lang="ru-RU" sz="1600" dirty="0">
                          <a:solidFill>
                            <a:srgbClr val="FF0000"/>
                          </a:solidFill>
                          <a:effectLst/>
                        </a:rPr>
                        <a:t>0,9500</a:t>
                      </a:r>
                      <a:endParaRPr lang="ru-RU" sz="1600" dirty="0">
                        <a:solidFill>
                          <a:srgbClr val="FF0000"/>
                        </a:solidFill>
                        <a:effectLst/>
                        <a:latin typeface="Times New Roman"/>
                        <a:ea typeface="Times New Roman"/>
                      </a:endParaRPr>
                    </a:p>
                  </a:txBody>
                  <a:tcPr marL="25788" marR="25788" marT="0" marB="0"/>
                </a:tc>
                <a:tc>
                  <a:txBody>
                    <a:bodyPr/>
                    <a:lstStyle/>
                    <a:p>
                      <a:pPr algn="ctr">
                        <a:spcAft>
                          <a:spcPts val="0"/>
                        </a:spcAft>
                      </a:pPr>
                      <a:r>
                        <a:rPr lang="ru-RU" sz="1600">
                          <a:effectLst/>
                        </a:rPr>
                        <a:t>0,9512</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0,9523</a:t>
                      </a:r>
                      <a:endParaRPr lang="ru-RU" sz="1600">
                        <a:effectLst/>
                        <a:latin typeface="Times New Roman"/>
                        <a:ea typeface="Times New Roman"/>
                      </a:endParaRPr>
                    </a:p>
                  </a:txBody>
                  <a:tcPr marL="25788" marR="25788" marT="0" marB="0"/>
                </a:tc>
                <a:tc>
                  <a:txBody>
                    <a:bodyPr/>
                    <a:lstStyle/>
                    <a:p>
                      <a:pPr algn="ctr">
                        <a:spcAft>
                          <a:spcPts val="0"/>
                        </a:spcAft>
                      </a:pPr>
                      <a:r>
                        <a:rPr lang="ru-RU" sz="1600" dirty="0">
                          <a:effectLst/>
                        </a:rPr>
                        <a:t>0,9533</a:t>
                      </a:r>
                      <a:endParaRPr lang="ru-RU" sz="1600" dirty="0">
                        <a:effectLst/>
                        <a:latin typeface="Times New Roman"/>
                        <a:ea typeface="Times New Roman"/>
                      </a:endParaRPr>
                    </a:p>
                  </a:txBody>
                  <a:tcPr marL="25788" marR="25788" marT="0" marB="0"/>
                </a:tc>
                <a:extLst>
                  <a:ext uri="{0D108BD9-81ED-4DB2-BD59-A6C34878D82A}">
                    <a16:rowId xmlns:a16="http://schemas.microsoft.com/office/drawing/2014/main" val="10008"/>
                  </a:ext>
                </a:extLst>
              </a:tr>
              <a:tr h="243848">
                <a:tc>
                  <a:txBody>
                    <a:bodyPr/>
                    <a:lstStyle/>
                    <a:p>
                      <a:pPr>
                        <a:spcAft>
                          <a:spcPts val="0"/>
                        </a:spcAft>
                      </a:pPr>
                      <a:r>
                        <a:rPr lang="ru-RU" sz="1600">
                          <a:effectLst/>
                        </a:rPr>
                        <a:t>2,0</a:t>
                      </a:r>
                      <a:endParaRPr lang="ru-RU" sz="1600">
                        <a:effectLst/>
                        <a:latin typeface="Times New Roman"/>
                        <a:ea typeface="Times New Roman"/>
                      </a:endParaRPr>
                    </a:p>
                  </a:txBody>
                  <a:tcPr marL="25788" marR="25788" marT="0" marB="0"/>
                </a:tc>
                <a:tc>
                  <a:txBody>
                    <a:bodyPr/>
                    <a:lstStyle/>
                    <a:p>
                      <a:pPr algn="ctr">
                        <a:spcAft>
                          <a:spcPts val="0"/>
                        </a:spcAft>
                      </a:pPr>
                      <a:r>
                        <a:rPr lang="ru-RU" sz="1600" dirty="0">
                          <a:effectLst/>
                        </a:rPr>
                        <a:t>0,9545</a:t>
                      </a:r>
                      <a:endParaRPr lang="ru-RU" sz="1600" dirty="0">
                        <a:effectLst/>
                        <a:latin typeface="Times New Roman"/>
                        <a:ea typeface="Times New Roman"/>
                      </a:endParaRPr>
                    </a:p>
                  </a:txBody>
                  <a:tcPr marL="25788" marR="25788" marT="0" marB="0"/>
                </a:tc>
                <a:tc>
                  <a:txBody>
                    <a:bodyPr/>
                    <a:lstStyle/>
                    <a:p>
                      <a:pPr algn="ctr">
                        <a:spcAft>
                          <a:spcPts val="0"/>
                        </a:spcAft>
                      </a:pPr>
                      <a:r>
                        <a:rPr lang="ru-RU" sz="1600">
                          <a:effectLst/>
                        </a:rPr>
                        <a:t>0,9556</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0,9566</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0,9576</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0,9586</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0,9596</a:t>
                      </a:r>
                      <a:endParaRPr lang="ru-RU" sz="1600">
                        <a:effectLst/>
                        <a:latin typeface="Times New Roman"/>
                        <a:ea typeface="Times New Roman"/>
                      </a:endParaRPr>
                    </a:p>
                  </a:txBody>
                  <a:tcPr marL="25788" marR="25788" marT="0" marB="0"/>
                </a:tc>
                <a:tc>
                  <a:txBody>
                    <a:bodyPr/>
                    <a:lstStyle/>
                    <a:p>
                      <a:pPr algn="ctr">
                        <a:spcAft>
                          <a:spcPts val="0"/>
                        </a:spcAft>
                      </a:pPr>
                      <a:r>
                        <a:rPr lang="ru-RU" sz="1600" dirty="0">
                          <a:effectLst/>
                        </a:rPr>
                        <a:t>0,9606</a:t>
                      </a:r>
                      <a:endParaRPr lang="ru-RU" sz="1600" dirty="0">
                        <a:effectLst/>
                        <a:latin typeface="Times New Roman"/>
                        <a:ea typeface="Times New Roman"/>
                      </a:endParaRPr>
                    </a:p>
                  </a:txBody>
                  <a:tcPr marL="25788" marR="25788" marT="0" marB="0"/>
                </a:tc>
                <a:tc>
                  <a:txBody>
                    <a:bodyPr/>
                    <a:lstStyle/>
                    <a:p>
                      <a:pPr algn="ctr">
                        <a:spcAft>
                          <a:spcPts val="0"/>
                        </a:spcAft>
                      </a:pPr>
                      <a:r>
                        <a:rPr lang="ru-RU" sz="1600">
                          <a:effectLst/>
                        </a:rPr>
                        <a:t>0,9916</a:t>
                      </a:r>
                      <a:endParaRPr lang="ru-RU" sz="1600">
                        <a:effectLst/>
                        <a:latin typeface="Times New Roman"/>
                        <a:ea typeface="Times New Roman"/>
                      </a:endParaRPr>
                    </a:p>
                  </a:txBody>
                  <a:tcPr marL="25788" marR="25788" marT="0" marB="0"/>
                </a:tc>
                <a:tc>
                  <a:txBody>
                    <a:bodyPr/>
                    <a:lstStyle/>
                    <a:p>
                      <a:pPr algn="ctr">
                        <a:spcAft>
                          <a:spcPts val="0"/>
                        </a:spcAft>
                      </a:pPr>
                      <a:r>
                        <a:rPr lang="ru-RU" sz="1600">
                          <a:effectLst/>
                        </a:rPr>
                        <a:t>0,9925</a:t>
                      </a:r>
                      <a:endParaRPr lang="ru-RU" sz="1600">
                        <a:effectLst/>
                        <a:latin typeface="Times New Roman"/>
                        <a:ea typeface="Times New Roman"/>
                      </a:endParaRPr>
                    </a:p>
                  </a:txBody>
                  <a:tcPr marL="25788" marR="25788" marT="0" marB="0"/>
                </a:tc>
                <a:tc>
                  <a:txBody>
                    <a:bodyPr/>
                    <a:lstStyle/>
                    <a:p>
                      <a:pPr algn="ctr">
                        <a:spcAft>
                          <a:spcPts val="0"/>
                        </a:spcAft>
                      </a:pPr>
                      <a:r>
                        <a:rPr lang="ru-RU" sz="1600" dirty="0">
                          <a:effectLst/>
                        </a:rPr>
                        <a:t>0,9634</a:t>
                      </a:r>
                      <a:endParaRPr lang="ru-RU" sz="1600" dirty="0">
                        <a:effectLst/>
                        <a:latin typeface="Times New Roman"/>
                        <a:ea typeface="Times New Roman"/>
                      </a:endParaRPr>
                    </a:p>
                  </a:txBody>
                  <a:tcPr marL="25788" marR="25788" marT="0" marB="0"/>
                </a:tc>
                <a:extLst>
                  <a:ext uri="{0D108BD9-81ED-4DB2-BD59-A6C34878D82A}">
                    <a16:rowId xmlns:a16="http://schemas.microsoft.com/office/drawing/2014/main" val="10009"/>
                  </a:ext>
                </a:extLst>
              </a:tr>
            </a:tbl>
          </a:graphicData>
        </a:graphic>
      </p:graphicFrame>
      <p:sp>
        <p:nvSpPr>
          <p:cNvPr id="12" name="Номер слайда 11"/>
          <p:cNvSpPr>
            <a:spLocks noGrp="1"/>
          </p:cNvSpPr>
          <p:nvPr>
            <p:ph type="sldNum" sz="quarter" idx="12"/>
          </p:nvPr>
        </p:nvSpPr>
        <p:spPr/>
        <p:txBody>
          <a:bodyPr/>
          <a:lstStyle/>
          <a:p>
            <a:fld id="{0CC3DD56-44D6-4410-A1D4-F947CD7B8BFD}" type="slidenum">
              <a:rPr lang="ru-RU" smtClean="0"/>
              <a:pPr/>
              <a:t>24</a:t>
            </a:fld>
            <a:endParaRPr lang="ru-RU"/>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3600" b="1" dirty="0">
                <a:solidFill>
                  <a:schemeClr val="accent2"/>
                </a:solidFill>
              </a:rPr>
              <a:t>Гипотеза о числовом значении генеральной дисперсии </a:t>
            </a:r>
            <a:r>
              <a:rPr lang="el-GR" sz="3600" b="1" dirty="0">
                <a:solidFill>
                  <a:schemeClr val="accent2"/>
                </a:solidFill>
                <a:latin typeface="Calibri"/>
                <a:cs typeface="Calibri"/>
              </a:rPr>
              <a:t>σ</a:t>
            </a:r>
            <a:r>
              <a:rPr lang="ru-RU" sz="3600" b="1" baseline="30000" dirty="0">
                <a:solidFill>
                  <a:schemeClr val="accent2"/>
                </a:solidFill>
                <a:latin typeface="Calibri"/>
                <a:cs typeface="Calibri"/>
              </a:rPr>
              <a:t>2</a:t>
            </a:r>
            <a:r>
              <a:rPr lang="ru-RU" sz="3600" b="1" dirty="0">
                <a:solidFill>
                  <a:schemeClr val="accent2"/>
                </a:solidFill>
              </a:rPr>
              <a:t>.</a:t>
            </a:r>
            <a:endParaRPr lang="ru-RU" sz="3600" dirty="0">
              <a:solidFill>
                <a:schemeClr val="accent2"/>
              </a:solidFill>
            </a:endParaRPr>
          </a:p>
        </p:txBody>
      </p:sp>
      <p:sp>
        <p:nvSpPr>
          <p:cNvPr id="3" name="Номер слайда 2"/>
          <p:cNvSpPr>
            <a:spLocks noGrp="1"/>
          </p:cNvSpPr>
          <p:nvPr>
            <p:ph type="sldNum" sz="quarter" idx="12"/>
          </p:nvPr>
        </p:nvSpPr>
        <p:spPr/>
        <p:txBody>
          <a:bodyPr/>
          <a:lstStyle/>
          <a:p>
            <a:fld id="{0CC3DD56-44D6-4410-A1D4-F947CD7B8BFD}" type="slidenum">
              <a:rPr lang="ru-RU" smtClean="0"/>
              <a:pPr/>
              <a:t>25</a:t>
            </a:fld>
            <a:endParaRPr lang="ru-RU"/>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Заголовок 1"/>
          <p:cNvSpPr>
            <a:spLocks noGrp="1"/>
          </p:cNvSpPr>
          <p:nvPr>
            <p:ph type="title"/>
          </p:nvPr>
        </p:nvSpPr>
        <p:spPr>
          <a:xfrm>
            <a:off x="457200" y="274638"/>
            <a:ext cx="8229600" cy="1011222"/>
          </a:xfrm>
        </p:spPr>
        <p:txBody>
          <a:bodyPr>
            <a:normAutofit fontScale="90000"/>
          </a:bodyPr>
          <a:lstStyle/>
          <a:p>
            <a:pPr algn="l"/>
            <a:r>
              <a:rPr lang="ru-RU" sz="2800" b="1" dirty="0"/>
              <a:t>Н</a:t>
            </a:r>
            <a:r>
              <a:rPr lang="en-US" sz="2800" b="1" dirty="0"/>
              <a:t>ₒ</a:t>
            </a:r>
            <a:r>
              <a:rPr lang="ru-RU" sz="2800" b="1" dirty="0"/>
              <a:t>:</a:t>
            </a:r>
            <a:r>
              <a:rPr lang="ru-RU" sz="2800" dirty="0"/>
              <a:t> </a:t>
            </a:r>
            <a:r>
              <a:rPr lang="ru-RU" sz="2800" b="1" i="1" dirty="0"/>
              <a:t>σ²</a:t>
            </a:r>
            <a:r>
              <a:rPr lang="ru-RU" sz="2800" b="1" dirty="0"/>
              <a:t>=</a:t>
            </a:r>
            <a:r>
              <a:rPr lang="el-GR" sz="2800" b="1" i="1" dirty="0"/>
              <a:t>σ</a:t>
            </a:r>
            <a:r>
              <a:rPr lang="en-US" sz="2800" b="1" dirty="0"/>
              <a:t>ₒ²</a:t>
            </a:r>
            <a:r>
              <a:rPr lang="ru-RU" sz="2800" b="1" dirty="0"/>
              <a:t>, </a:t>
            </a:r>
            <a:r>
              <a:rPr lang="ru-RU" sz="2800" dirty="0"/>
              <a:t>где </a:t>
            </a:r>
            <a:r>
              <a:rPr lang="el-GR" sz="2800" i="1" dirty="0"/>
              <a:t>σ</a:t>
            </a:r>
            <a:r>
              <a:rPr lang="en-US" sz="2800" dirty="0"/>
              <a:t>ₒ</a:t>
            </a:r>
            <a:r>
              <a:rPr lang="ru-RU" sz="2800" dirty="0"/>
              <a:t> - некоторое число</a:t>
            </a:r>
            <a:br>
              <a:rPr lang="ru-RU" sz="2800" dirty="0"/>
            </a:br>
            <a:r>
              <a:rPr lang="ru-RU" sz="2800" b="1" dirty="0"/>
              <a:t>Н₁:</a:t>
            </a:r>
            <a:r>
              <a:rPr lang="ru-RU" sz="2800" b="1" i="1" dirty="0"/>
              <a:t> σ²≠</a:t>
            </a:r>
            <a:r>
              <a:rPr lang="el-GR" sz="2800" b="1" i="1" dirty="0"/>
              <a:t>σ</a:t>
            </a:r>
            <a:r>
              <a:rPr lang="en-US" sz="2800" b="1" dirty="0"/>
              <a:t>ₒ²</a:t>
            </a:r>
            <a:r>
              <a:rPr lang="ru-RU" sz="2800" b="1" dirty="0"/>
              <a:t>. </a:t>
            </a:r>
            <a:br>
              <a:rPr lang="ru-RU" sz="2800" b="1" dirty="0"/>
            </a:br>
            <a:r>
              <a:rPr lang="ru-RU" sz="2800" dirty="0"/>
              <a:t>Проверим гипотезу </a:t>
            </a:r>
            <a:r>
              <a:rPr lang="ru-RU" sz="2800" b="1" dirty="0"/>
              <a:t>Н</a:t>
            </a:r>
            <a:r>
              <a:rPr lang="en-US" sz="2800" b="1" dirty="0"/>
              <a:t>ₒ</a:t>
            </a:r>
            <a:r>
              <a:rPr lang="ru-RU" sz="2800" dirty="0"/>
              <a:t> на уровне доверия </a:t>
            </a:r>
            <a:r>
              <a:rPr lang="el-GR" sz="2800" b="1" dirty="0"/>
              <a:t>γ</a:t>
            </a:r>
            <a:r>
              <a:rPr lang="ru-RU" sz="2800" dirty="0"/>
              <a:t>. </a:t>
            </a:r>
          </a:p>
        </p:txBody>
      </p:sp>
      <p:sp>
        <p:nvSpPr>
          <p:cNvPr id="14339" name="Объект 2"/>
          <p:cNvSpPr>
            <a:spLocks noGrp="1"/>
          </p:cNvSpPr>
          <p:nvPr>
            <p:ph idx="1"/>
          </p:nvPr>
        </p:nvSpPr>
        <p:spPr>
          <a:xfrm>
            <a:off x="457200" y="1500174"/>
            <a:ext cx="8229600" cy="5000625"/>
          </a:xfrm>
        </p:spPr>
        <p:txBody>
          <a:bodyPr>
            <a:normAutofit lnSpcReduction="10000"/>
          </a:bodyPr>
          <a:lstStyle/>
          <a:p>
            <a:pPr marL="0" indent="0">
              <a:buFont typeface="Arial" charset="0"/>
              <a:buNone/>
            </a:pPr>
            <a:endParaRPr lang="ru-RU" sz="1800" dirty="0"/>
          </a:p>
          <a:p>
            <a:pPr marL="0" indent="0">
              <a:buFont typeface="Arial" charset="0"/>
              <a:buNone/>
            </a:pPr>
            <a:r>
              <a:rPr lang="ru-RU" sz="1800" dirty="0"/>
              <a:t>Рассмотрим статистику                         , которая имеет распределение            , </a:t>
            </a:r>
          </a:p>
          <a:p>
            <a:pPr marL="0" indent="0">
              <a:buFont typeface="Arial" charset="0"/>
              <a:buNone/>
            </a:pPr>
            <a:endParaRPr lang="ru-RU" sz="1800" dirty="0"/>
          </a:p>
          <a:p>
            <a:pPr marL="0" indent="0">
              <a:buFont typeface="Arial" charset="0"/>
              <a:buNone/>
            </a:pPr>
            <a:endParaRPr lang="ru-RU" sz="1800" dirty="0"/>
          </a:p>
          <a:p>
            <a:pPr marL="0" indent="0">
              <a:buFont typeface="Arial" charset="0"/>
              <a:buNone/>
            </a:pPr>
            <a:r>
              <a:rPr lang="ru-RU" sz="1800" dirty="0"/>
              <a:t>если гипотеза </a:t>
            </a:r>
            <a:r>
              <a:rPr lang="ru-RU" sz="1800" b="1" dirty="0"/>
              <a:t>Н</a:t>
            </a:r>
            <a:r>
              <a:rPr lang="en-US" sz="1800" b="1" dirty="0"/>
              <a:t>ₒ</a:t>
            </a:r>
            <a:r>
              <a:rPr lang="ru-RU" sz="1800" b="1" dirty="0"/>
              <a:t> </a:t>
            </a:r>
            <a:r>
              <a:rPr lang="ru-RU" sz="1800" dirty="0"/>
              <a:t>верна.</a:t>
            </a:r>
          </a:p>
          <a:p>
            <a:pPr marL="0" indent="0">
              <a:buFont typeface="Arial" charset="0"/>
              <a:buNone/>
            </a:pPr>
            <a:endParaRPr lang="ru-RU" sz="1800" dirty="0"/>
          </a:p>
          <a:p>
            <a:pPr marL="0" indent="0">
              <a:buFont typeface="Arial" charset="0"/>
              <a:buNone/>
            </a:pPr>
            <a:endParaRPr lang="ru-RU" sz="1800" dirty="0"/>
          </a:p>
          <a:p>
            <a:pPr marL="0" indent="0">
              <a:buFont typeface="Arial" charset="0"/>
              <a:buNone/>
            </a:pPr>
            <a:r>
              <a:rPr lang="ru-RU" sz="1800" dirty="0"/>
              <a:t>Для заданного уровня доверия </a:t>
            </a:r>
            <a:r>
              <a:rPr lang="el-GR" sz="1800" b="1" dirty="0"/>
              <a:t>γ</a:t>
            </a:r>
            <a:r>
              <a:rPr lang="ru-RU" sz="1800" dirty="0"/>
              <a:t> и числу (</a:t>
            </a:r>
            <a:r>
              <a:rPr lang="en-US" sz="1800" dirty="0"/>
              <a:t>n-1)</a:t>
            </a:r>
            <a:r>
              <a:rPr lang="ru-RU" sz="1800" dirty="0"/>
              <a:t> по таблицам </a:t>
            </a:r>
            <a:r>
              <a:rPr lang="ru-RU" sz="1800" dirty="0" err="1"/>
              <a:t>Хи-квадрат</a:t>
            </a:r>
            <a:r>
              <a:rPr lang="ru-RU" sz="1800" dirty="0"/>
              <a:t> распределения выбираем такие </a:t>
            </a:r>
            <a:r>
              <a:rPr lang="en-US" sz="1800" dirty="0"/>
              <a:t>U</a:t>
            </a:r>
            <a:r>
              <a:rPr lang="ru-RU" sz="1800" dirty="0"/>
              <a:t> и </a:t>
            </a:r>
            <a:r>
              <a:rPr lang="en-US" sz="1800" dirty="0"/>
              <a:t>V,</a:t>
            </a:r>
            <a:r>
              <a:rPr lang="ru-RU" sz="1800" dirty="0"/>
              <a:t> чтобы                                 . </a:t>
            </a:r>
            <a:endParaRPr lang="en-US" sz="1800" dirty="0"/>
          </a:p>
          <a:p>
            <a:pPr marL="0" indent="0">
              <a:buFont typeface="Arial" charset="0"/>
              <a:buNone/>
            </a:pPr>
            <a:endParaRPr lang="en-US" sz="1800" dirty="0"/>
          </a:p>
          <a:p>
            <a:pPr marL="0" indent="0">
              <a:buFont typeface="Arial" charset="0"/>
              <a:buNone/>
            </a:pPr>
            <a:endParaRPr lang="en-US" sz="1800" dirty="0"/>
          </a:p>
          <a:p>
            <a:pPr marL="0" indent="0">
              <a:buFont typeface="Arial" charset="0"/>
              <a:buNone/>
            </a:pPr>
            <a:endParaRPr lang="en-US" sz="1800" dirty="0"/>
          </a:p>
          <a:p>
            <a:pPr marL="0" indent="0">
              <a:buFont typeface="Arial" charset="0"/>
              <a:buNone/>
            </a:pPr>
            <a:r>
              <a:rPr lang="ru-RU" sz="1800" dirty="0"/>
              <a:t>Если статистика                    , то  гипотеза </a:t>
            </a:r>
            <a:r>
              <a:rPr lang="ru-RU" sz="1800" b="1" dirty="0"/>
              <a:t>Н</a:t>
            </a:r>
            <a:r>
              <a:rPr lang="en-US" sz="1800" b="1" dirty="0"/>
              <a:t>ₒ</a:t>
            </a:r>
            <a:r>
              <a:rPr lang="ru-RU" sz="1800" b="1" dirty="0"/>
              <a:t> </a:t>
            </a:r>
            <a:r>
              <a:rPr lang="ru-RU" sz="1800" dirty="0"/>
              <a:t>принимается.</a:t>
            </a:r>
          </a:p>
          <a:p>
            <a:pPr marL="0" indent="0">
              <a:buFont typeface="Arial" charset="0"/>
              <a:buNone/>
            </a:pPr>
            <a:endParaRPr lang="ru-RU" sz="1800" dirty="0"/>
          </a:p>
          <a:p>
            <a:pPr marL="0" indent="0">
              <a:buFont typeface="Arial" charset="0"/>
              <a:buNone/>
            </a:pPr>
            <a:r>
              <a:rPr lang="ru-RU" sz="1800" dirty="0"/>
              <a:t>Для </a:t>
            </a:r>
            <a:r>
              <a:rPr lang="ru-RU" sz="1800" i="1" dirty="0"/>
              <a:t>правосторонней</a:t>
            </a:r>
            <a:r>
              <a:rPr lang="ru-RU" sz="1800" dirty="0"/>
              <a:t> альтернативной гипотезы </a:t>
            </a:r>
            <a:r>
              <a:rPr lang="ru-RU" sz="1800" b="1" dirty="0"/>
              <a:t>Н₁: </a:t>
            </a:r>
            <a:r>
              <a:rPr lang="ru-RU" sz="1800" b="1" i="1" dirty="0"/>
              <a:t>σ²</a:t>
            </a:r>
            <a:r>
              <a:rPr lang="en-US" sz="1800" b="1" i="1" dirty="0"/>
              <a:t>&gt;</a:t>
            </a:r>
            <a:r>
              <a:rPr lang="el-GR" sz="1800" b="1" i="1" dirty="0"/>
              <a:t>σ</a:t>
            </a:r>
            <a:r>
              <a:rPr lang="en-US" sz="1800" b="1" dirty="0"/>
              <a:t>ₒ² </a:t>
            </a:r>
            <a:r>
              <a:rPr lang="ru-RU" sz="1800" b="1" dirty="0"/>
              <a:t> </a:t>
            </a:r>
            <a:r>
              <a:rPr lang="en-US" sz="1800" b="1" dirty="0"/>
              <a:t> </a:t>
            </a:r>
            <a:r>
              <a:rPr lang="ru-RU" sz="1800" dirty="0"/>
              <a:t>определяется только величина  </a:t>
            </a:r>
            <a:r>
              <a:rPr lang="en-US" sz="1800" dirty="0"/>
              <a:t>V </a:t>
            </a:r>
            <a:r>
              <a:rPr lang="ru-RU" sz="1800" dirty="0"/>
              <a:t>при </a:t>
            </a:r>
            <a:r>
              <a:rPr lang="el-GR" sz="1800" dirty="0"/>
              <a:t>α</a:t>
            </a:r>
            <a:r>
              <a:rPr lang="ru-RU" sz="1800" dirty="0"/>
              <a:t>;</a:t>
            </a:r>
            <a:r>
              <a:rPr lang="en-US" sz="1800" dirty="0"/>
              <a:t> </a:t>
            </a:r>
            <a:r>
              <a:rPr lang="ru-RU" sz="1800" dirty="0"/>
              <a:t>если </a:t>
            </a:r>
            <a:r>
              <a:rPr lang="en-US" sz="1800" dirty="0"/>
              <a:t>t&lt;V</a:t>
            </a:r>
            <a:r>
              <a:rPr lang="ru-RU" sz="1800" dirty="0"/>
              <a:t>, то  гипотеза </a:t>
            </a:r>
            <a:r>
              <a:rPr lang="ru-RU" sz="1800" b="1" dirty="0"/>
              <a:t>Н</a:t>
            </a:r>
            <a:r>
              <a:rPr lang="en-US" sz="1800" b="1" dirty="0"/>
              <a:t>ₒ</a:t>
            </a:r>
            <a:r>
              <a:rPr lang="ru-RU" sz="1800" b="1" dirty="0"/>
              <a:t> </a:t>
            </a:r>
            <a:r>
              <a:rPr lang="ru-RU" sz="1800" dirty="0"/>
              <a:t>принимается.</a:t>
            </a:r>
          </a:p>
          <a:p>
            <a:pPr marL="0" indent="0">
              <a:buFont typeface="Arial" charset="0"/>
              <a:buNone/>
            </a:pPr>
            <a:r>
              <a:rPr lang="ru-RU" sz="1800" dirty="0"/>
              <a:t>Для </a:t>
            </a:r>
            <a:r>
              <a:rPr lang="ru-RU" sz="1800" i="1" dirty="0"/>
              <a:t>левосторонней</a:t>
            </a:r>
            <a:r>
              <a:rPr lang="ru-RU" sz="1800" dirty="0"/>
              <a:t> альтернативной гипотезы </a:t>
            </a:r>
            <a:r>
              <a:rPr lang="ru-RU" sz="1800" b="1" dirty="0"/>
              <a:t>Н₁: </a:t>
            </a:r>
            <a:r>
              <a:rPr lang="ru-RU" sz="1800" b="1" i="1" dirty="0"/>
              <a:t>σ²</a:t>
            </a:r>
            <a:r>
              <a:rPr lang="en-US" sz="1800" b="1" i="1" dirty="0"/>
              <a:t>&lt;</a:t>
            </a:r>
            <a:r>
              <a:rPr lang="el-GR" sz="1800" b="1" i="1" dirty="0"/>
              <a:t>σ</a:t>
            </a:r>
            <a:r>
              <a:rPr lang="en-US" sz="1800" b="1" dirty="0"/>
              <a:t>ₒ²  </a:t>
            </a:r>
            <a:r>
              <a:rPr lang="ru-RU" sz="1800" dirty="0"/>
              <a:t>определяется только величина  </a:t>
            </a:r>
            <a:r>
              <a:rPr lang="en-US" sz="1800" dirty="0"/>
              <a:t>U </a:t>
            </a:r>
            <a:r>
              <a:rPr lang="ru-RU" sz="1800" dirty="0"/>
              <a:t>при </a:t>
            </a:r>
            <a:r>
              <a:rPr lang="en-US" sz="1800" dirty="0"/>
              <a:t>1-</a:t>
            </a:r>
            <a:r>
              <a:rPr lang="el-GR" sz="1800" dirty="0"/>
              <a:t>α</a:t>
            </a:r>
            <a:r>
              <a:rPr lang="en-US" sz="1800" dirty="0"/>
              <a:t>; </a:t>
            </a:r>
            <a:r>
              <a:rPr lang="ru-RU" sz="1800" dirty="0"/>
              <a:t>если </a:t>
            </a:r>
            <a:r>
              <a:rPr lang="en-US" sz="1800" dirty="0"/>
              <a:t>t&gt;U</a:t>
            </a:r>
            <a:r>
              <a:rPr lang="ru-RU" sz="1800" dirty="0"/>
              <a:t>, то  гипотеза </a:t>
            </a:r>
            <a:r>
              <a:rPr lang="ru-RU" sz="1800" b="1" dirty="0"/>
              <a:t>Н</a:t>
            </a:r>
            <a:r>
              <a:rPr lang="en-US" sz="1800" b="1" dirty="0"/>
              <a:t>ₒ</a:t>
            </a:r>
            <a:r>
              <a:rPr lang="ru-RU" sz="1800" b="1" dirty="0"/>
              <a:t> </a:t>
            </a:r>
            <a:r>
              <a:rPr lang="ru-RU" sz="1800" dirty="0"/>
              <a:t>принимается.</a:t>
            </a:r>
          </a:p>
          <a:p>
            <a:pPr marL="0" indent="0">
              <a:buFont typeface="Arial" charset="0"/>
              <a:buNone/>
            </a:pPr>
            <a:endParaRPr lang="ru-RU" sz="1800" dirty="0"/>
          </a:p>
          <a:p>
            <a:pPr marL="0" indent="0">
              <a:buFont typeface="Arial" charset="0"/>
              <a:buNone/>
            </a:pPr>
            <a:endParaRPr lang="ru-RU" sz="1800" dirty="0"/>
          </a:p>
          <a:p>
            <a:pPr marL="0" indent="0">
              <a:buFont typeface="Arial" charset="0"/>
              <a:buNone/>
            </a:pPr>
            <a:endParaRPr lang="ru-RU" sz="1800" dirty="0"/>
          </a:p>
          <a:p>
            <a:pPr marL="0" indent="0">
              <a:buFont typeface="Arial" charset="0"/>
              <a:buNone/>
            </a:pPr>
            <a:endParaRPr lang="ru-RU" sz="1800" dirty="0"/>
          </a:p>
        </p:txBody>
      </p:sp>
      <p:sp>
        <p:nvSpPr>
          <p:cNvPr id="14340" name="Rectangle 2"/>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graphicFrame>
        <p:nvGraphicFramePr>
          <p:cNvPr id="14341" name="Объект 4"/>
          <p:cNvGraphicFramePr>
            <a:graphicFrameLocks noChangeAspect="1"/>
          </p:cNvGraphicFramePr>
          <p:nvPr/>
        </p:nvGraphicFramePr>
        <p:xfrm>
          <a:off x="3071802" y="1643050"/>
          <a:ext cx="1187450" cy="671512"/>
        </p:xfrm>
        <a:graphic>
          <a:graphicData uri="http://schemas.openxmlformats.org/presentationml/2006/ole">
            <mc:AlternateContent xmlns:mc="http://schemas.openxmlformats.org/markup-compatibility/2006">
              <mc:Choice xmlns:v="urn:schemas-microsoft-com:vml" Requires="v">
                <p:oleObj name="Формула" r:id="rId2" imgW="1079500" imgH="609600" progId="Equation.3">
                  <p:embed/>
                </p:oleObj>
              </mc:Choice>
              <mc:Fallback>
                <p:oleObj name="Формула" r:id="rId2" imgW="1079500" imgH="609600" progId="Equation.3">
                  <p:embed/>
                  <p:pic>
                    <p:nvPicPr>
                      <p:cNvPr id="14341" name="Объект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1802" y="1643050"/>
                        <a:ext cx="1187450" cy="671512"/>
                      </a:xfrm>
                      <a:prstGeom prst="rect">
                        <a:avLst/>
                      </a:prstGeom>
                      <a:solidFill>
                        <a:schemeClr val="tx1"/>
                      </a:solidFill>
                    </p:spPr>
                  </p:pic>
                </p:oleObj>
              </mc:Fallback>
            </mc:AlternateContent>
          </a:graphicData>
        </a:graphic>
      </p:graphicFrame>
      <p:sp>
        <p:nvSpPr>
          <p:cNvPr id="14342" name="Rectangle 4"/>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graphicFrame>
        <p:nvGraphicFramePr>
          <p:cNvPr id="14343" name="Объект 6"/>
          <p:cNvGraphicFramePr>
            <a:graphicFrameLocks noChangeAspect="1"/>
          </p:cNvGraphicFramePr>
          <p:nvPr/>
        </p:nvGraphicFramePr>
        <p:xfrm>
          <a:off x="7572396" y="1714488"/>
          <a:ext cx="431800" cy="349250"/>
        </p:xfrm>
        <a:graphic>
          <a:graphicData uri="http://schemas.openxmlformats.org/presentationml/2006/ole">
            <mc:AlternateContent xmlns:mc="http://schemas.openxmlformats.org/markup-compatibility/2006">
              <mc:Choice xmlns:v="urn:schemas-microsoft-com:vml" Requires="v">
                <p:oleObj name="Формула" r:id="rId4" imgW="393359" imgH="317225" progId="Equation.3">
                  <p:embed/>
                </p:oleObj>
              </mc:Choice>
              <mc:Fallback>
                <p:oleObj name="Формула" r:id="rId4" imgW="393359" imgH="317225" progId="Equation.3">
                  <p:embed/>
                  <p:pic>
                    <p:nvPicPr>
                      <p:cNvPr id="14343" name="Объект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72396" y="1714488"/>
                        <a:ext cx="431800" cy="349250"/>
                      </a:xfrm>
                      <a:prstGeom prst="rect">
                        <a:avLst/>
                      </a:prstGeom>
                      <a:solidFill>
                        <a:schemeClr val="tx1"/>
                      </a:solidFill>
                    </p:spPr>
                  </p:pic>
                </p:oleObj>
              </mc:Fallback>
            </mc:AlternateContent>
          </a:graphicData>
        </a:graphic>
      </p:graphicFrame>
      <p:sp>
        <p:nvSpPr>
          <p:cNvPr id="14344" name="Rectangle 6"/>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graphicFrame>
        <p:nvGraphicFramePr>
          <p:cNvPr id="14345" name="Объект 8"/>
          <p:cNvGraphicFramePr>
            <a:graphicFrameLocks noChangeAspect="1"/>
          </p:cNvGraphicFramePr>
          <p:nvPr/>
        </p:nvGraphicFramePr>
        <p:xfrm>
          <a:off x="5429256" y="3571876"/>
          <a:ext cx="1912938" cy="895350"/>
        </p:xfrm>
        <a:graphic>
          <a:graphicData uri="http://schemas.openxmlformats.org/presentationml/2006/ole">
            <mc:AlternateContent xmlns:mc="http://schemas.openxmlformats.org/markup-compatibility/2006">
              <mc:Choice xmlns:v="urn:schemas-microsoft-com:vml" Requires="v">
                <p:oleObj name="Формула" r:id="rId6" imgW="1739880" imgH="812520" progId="Equation.3">
                  <p:embed/>
                </p:oleObj>
              </mc:Choice>
              <mc:Fallback>
                <p:oleObj name="Формула" r:id="rId6" imgW="1739880" imgH="812520" progId="Equation.3">
                  <p:embed/>
                  <p:pic>
                    <p:nvPicPr>
                      <p:cNvPr id="14345" name="Объект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29256" y="3571876"/>
                        <a:ext cx="1912938" cy="895350"/>
                      </a:xfrm>
                      <a:prstGeom prst="rect">
                        <a:avLst/>
                      </a:prstGeom>
                      <a:solidFill>
                        <a:schemeClr val="tx1"/>
                      </a:solidFill>
                    </p:spPr>
                  </p:pic>
                </p:oleObj>
              </mc:Fallback>
            </mc:AlternateContent>
          </a:graphicData>
        </a:graphic>
      </p:graphicFrame>
      <p:sp>
        <p:nvSpPr>
          <p:cNvPr id="14346" name="Rectangle 8"/>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graphicFrame>
        <p:nvGraphicFramePr>
          <p:cNvPr id="14347" name="Объект 10"/>
          <p:cNvGraphicFramePr>
            <a:graphicFrameLocks noChangeAspect="1"/>
          </p:cNvGraphicFramePr>
          <p:nvPr/>
        </p:nvGraphicFramePr>
        <p:xfrm>
          <a:off x="2285984" y="4500570"/>
          <a:ext cx="908050" cy="223838"/>
        </p:xfrm>
        <a:graphic>
          <a:graphicData uri="http://schemas.openxmlformats.org/presentationml/2006/ole">
            <mc:AlternateContent xmlns:mc="http://schemas.openxmlformats.org/markup-compatibility/2006">
              <mc:Choice xmlns:v="urn:schemas-microsoft-com:vml" Requires="v">
                <p:oleObj name="Формула" r:id="rId8" imgW="825500" imgH="203200" progId="Equation.3">
                  <p:embed/>
                </p:oleObj>
              </mc:Choice>
              <mc:Fallback>
                <p:oleObj name="Формула" r:id="rId8" imgW="825500" imgH="203200" progId="Equation.3">
                  <p:embed/>
                  <p:pic>
                    <p:nvPicPr>
                      <p:cNvPr id="14347" name="Объект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5984" y="4500570"/>
                        <a:ext cx="908050" cy="223838"/>
                      </a:xfrm>
                      <a:prstGeom prst="rect">
                        <a:avLst/>
                      </a:prstGeom>
                      <a:solidFill>
                        <a:schemeClr val="tx1"/>
                      </a:solidFill>
                    </p:spPr>
                  </p:pic>
                </p:oleObj>
              </mc:Fallback>
            </mc:AlternateContent>
          </a:graphicData>
        </a:graphic>
      </p:graphicFrame>
      <p:sp>
        <p:nvSpPr>
          <p:cNvPr id="12" name="Номер слайда 11"/>
          <p:cNvSpPr>
            <a:spLocks noGrp="1"/>
          </p:cNvSpPr>
          <p:nvPr>
            <p:ph type="sldNum" sz="quarter" idx="12"/>
          </p:nvPr>
        </p:nvSpPr>
        <p:spPr/>
        <p:txBody>
          <a:bodyPr/>
          <a:lstStyle/>
          <a:p>
            <a:fld id="{0CC3DD56-44D6-4410-A1D4-F947CD7B8BFD}" type="slidenum">
              <a:rPr lang="ru-RU" smtClean="0"/>
              <a:pPr/>
              <a:t>26</a:t>
            </a:fld>
            <a:endParaRPr lang="ru-RU"/>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4210" name="Rectangle 2"/>
          <p:cNvSpPr>
            <a:spLocks noGrp="1" noChangeArrowheads="1"/>
          </p:cNvSpPr>
          <p:nvPr>
            <p:ph type="title"/>
          </p:nvPr>
        </p:nvSpPr>
        <p:spPr/>
        <p:txBody>
          <a:bodyPr>
            <a:normAutofit fontScale="90000"/>
          </a:bodyPr>
          <a:lstStyle/>
          <a:p>
            <a:r>
              <a:rPr lang="ru-RU"/>
              <a:t>Последовательность действий</a:t>
            </a:r>
          </a:p>
        </p:txBody>
      </p:sp>
      <p:sp>
        <p:nvSpPr>
          <p:cNvPr id="2654211" name="Rectangle 3"/>
          <p:cNvSpPr>
            <a:spLocks noGrp="1" noChangeArrowheads="1"/>
          </p:cNvSpPr>
          <p:nvPr>
            <p:ph type="body" idx="1"/>
          </p:nvPr>
        </p:nvSpPr>
        <p:spPr/>
        <p:txBody>
          <a:bodyPr>
            <a:normAutofit fontScale="62500" lnSpcReduction="20000"/>
          </a:bodyPr>
          <a:lstStyle/>
          <a:p>
            <a:pPr marL="895350" indent="-895350">
              <a:lnSpc>
                <a:spcPct val="90000"/>
              </a:lnSpc>
              <a:buNone/>
            </a:pPr>
            <a:r>
              <a:rPr lang="ru-RU" b="1" dirty="0"/>
              <a:t>Шаг 1.</a:t>
            </a:r>
            <a:r>
              <a:rPr lang="ru-RU" dirty="0"/>
              <a:t> Сформулировать основную </a:t>
            </a:r>
            <a:r>
              <a:rPr lang="en-US" dirty="0"/>
              <a:t>H</a:t>
            </a:r>
            <a:r>
              <a:rPr lang="en-US" baseline="-25000" dirty="0"/>
              <a:t>0</a:t>
            </a:r>
            <a:r>
              <a:rPr lang="en-US" dirty="0"/>
              <a:t> </a:t>
            </a:r>
            <a:r>
              <a:rPr lang="ru-RU" dirty="0"/>
              <a:t>и альтернативную </a:t>
            </a:r>
            <a:r>
              <a:rPr lang="en-US" dirty="0"/>
              <a:t> </a:t>
            </a:r>
            <a:r>
              <a:rPr lang="ru-RU" dirty="0"/>
              <a:t>Н</a:t>
            </a:r>
            <a:r>
              <a:rPr lang="ru-RU" baseline="-25000" dirty="0"/>
              <a:t>1</a:t>
            </a:r>
            <a:r>
              <a:rPr lang="ru-RU" dirty="0"/>
              <a:t> гипотезы.</a:t>
            </a:r>
          </a:p>
          <a:p>
            <a:pPr marL="895350" indent="-895350">
              <a:lnSpc>
                <a:spcPct val="90000"/>
              </a:lnSpc>
            </a:pPr>
            <a:endParaRPr lang="ru-RU" b="1" dirty="0"/>
          </a:p>
          <a:p>
            <a:pPr marL="895350" indent="-895350">
              <a:lnSpc>
                <a:spcPct val="90000"/>
              </a:lnSpc>
              <a:buNone/>
            </a:pPr>
            <a:r>
              <a:rPr lang="ru-RU" b="1" dirty="0"/>
              <a:t>Шаг 2.</a:t>
            </a:r>
            <a:r>
              <a:rPr lang="ru-RU" dirty="0"/>
              <a:t> Задать уровень доверия </a:t>
            </a:r>
            <a:r>
              <a:rPr lang="el-GR" dirty="0"/>
              <a:t>ϒ</a:t>
            </a:r>
            <a:r>
              <a:rPr lang="ru-RU" dirty="0"/>
              <a:t> или уровень значимости </a:t>
            </a:r>
            <a:r>
              <a:rPr lang="ru-RU" dirty="0">
                <a:sym typeface="Symbol" pitchFamily="18" charset="2"/>
              </a:rPr>
              <a:t></a:t>
            </a:r>
            <a:r>
              <a:rPr lang="ru-RU" dirty="0"/>
              <a:t>.</a:t>
            </a:r>
          </a:p>
          <a:p>
            <a:pPr marL="895350" indent="-895350">
              <a:lnSpc>
                <a:spcPct val="90000"/>
              </a:lnSpc>
            </a:pPr>
            <a:endParaRPr lang="ru-RU" b="1" dirty="0"/>
          </a:p>
          <a:p>
            <a:pPr marL="895350" indent="-895350">
              <a:lnSpc>
                <a:spcPct val="90000"/>
              </a:lnSpc>
              <a:buNone/>
            </a:pPr>
            <a:r>
              <a:rPr lang="ru-RU" b="1" dirty="0"/>
              <a:t>Шаг 3.</a:t>
            </a:r>
            <a:r>
              <a:rPr lang="ru-RU" dirty="0"/>
              <a:t> По формуле сосчитать значение статистики </a:t>
            </a:r>
            <a:r>
              <a:rPr lang="en-US" dirty="0"/>
              <a:t>t</a:t>
            </a:r>
            <a:r>
              <a:rPr lang="ru-RU" dirty="0"/>
              <a:t>.</a:t>
            </a:r>
          </a:p>
          <a:p>
            <a:pPr marL="895350" indent="-895350">
              <a:lnSpc>
                <a:spcPct val="90000"/>
              </a:lnSpc>
            </a:pPr>
            <a:endParaRPr lang="ru-RU" b="1" dirty="0"/>
          </a:p>
          <a:p>
            <a:pPr marL="895350" indent="-895350">
              <a:lnSpc>
                <a:spcPct val="90000"/>
              </a:lnSpc>
              <a:buNone/>
            </a:pPr>
            <a:r>
              <a:rPr lang="ru-RU" b="1" dirty="0"/>
              <a:t>Шаг 4.</a:t>
            </a:r>
            <a:r>
              <a:rPr lang="ru-RU" dirty="0"/>
              <a:t> По таблице </a:t>
            </a:r>
            <a:r>
              <a:rPr lang="ru-RU" dirty="0" err="1"/>
              <a:t>Хи-квадрат</a:t>
            </a:r>
            <a:r>
              <a:rPr lang="ru-RU" dirty="0"/>
              <a:t> распределения найти критические значения </a:t>
            </a:r>
            <a:r>
              <a:rPr lang="en-US" dirty="0"/>
              <a:t>U </a:t>
            </a:r>
            <a:r>
              <a:rPr lang="ru-RU" dirty="0"/>
              <a:t>и </a:t>
            </a:r>
            <a:r>
              <a:rPr lang="en-US" dirty="0"/>
              <a:t>V.</a:t>
            </a:r>
            <a:r>
              <a:rPr lang="ru-RU" baseline="-25000" dirty="0"/>
              <a:t> </a:t>
            </a:r>
            <a:r>
              <a:rPr lang="en-US" dirty="0"/>
              <a:t> </a:t>
            </a:r>
            <a:r>
              <a:rPr lang="ru-RU" dirty="0"/>
              <a:t>(Правило: </a:t>
            </a:r>
            <a:r>
              <a:rPr lang="en-US" dirty="0"/>
              <a:t>U=min(U,V), V=max(U,V</a:t>
            </a:r>
            <a:r>
              <a:rPr lang="ru-RU" dirty="0"/>
              <a:t>)</a:t>
            </a:r>
            <a:r>
              <a:rPr lang="en-US" dirty="0"/>
              <a:t>)</a:t>
            </a:r>
            <a:endParaRPr lang="ru-RU" dirty="0"/>
          </a:p>
          <a:p>
            <a:pPr marL="895350" indent="-895350">
              <a:lnSpc>
                <a:spcPct val="90000"/>
              </a:lnSpc>
            </a:pPr>
            <a:endParaRPr lang="ru-RU" b="1" dirty="0"/>
          </a:p>
          <a:p>
            <a:pPr marL="895350" indent="-895350">
              <a:lnSpc>
                <a:spcPct val="90000"/>
              </a:lnSpc>
              <a:buNone/>
            </a:pPr>
            <a:r>
              <a:rPr lang="ru-RU" b="1" dirty="0"/>
              <a:t>Шаг 5.</a:t>
            </a:r>
            <a:r>
              <a:rPr lang="ru-RU" dirty="0"/>
              <a:t> Сравнить полученное значение </a:t>
            </a:r>
            <a:r>
              <a:rPr lang="en-US" dirty="0"/>
              <a:t>t </a:t>
            </a:r>
            <a:r>
              <a:rPr lang="ru-RU" dirty="0"/>
              <a:t>с областью принятия  гипотезы</a:t>
            </a:r>
            <a:r>
              <a:rPr lang="en-US" dirty="0"/>
              <a:t> </a:t>
            </a:r>
            <a:r>
              <a:rPr lang="ru-RU" dirty="0"/>
              <a:t>.</a:t>
            </a:r>
          </a:p>
          <a:p>
            <a:pPr marL="895350" indent="-895350">
              <a:lnSpc>
                <a:spcPct val="90000"/>
              </a:lnSpc>
              <a:buNone/>
            </a:pPr>
            <a:r>
              <a:rPr lang="ru-RU" dirty="0"/>
              <a:t>Если значение статистики попало в допустимую область</a:t>
            </a:r>
            <a:r>
              <a:rPr lang="en-US" dirty="0"/>
              <a:t> U&lt;t&lt;V </a:t>
            </a:r>
            <a:r>
              <a:rPr lang="ru-RU" dirty="0"/>
              <a:t>– принять основную гипотезу, не попало – отклонить основную и принять альтернативную.</a:t>
            </a:r>
          </a:p>
          <a:p>
            <a:pPr marL="895350" indent="-895350">
              <a:lnSpc>
                <a:spcPct val="90000"/>
              </a:lnSpc>
            </a:pPr>
            <a:endParaRPr lang="ru-RU" b="1" dirty="0"/>
          </a:p>
          <a:p>
            <a:pPr marL="895350" indent="-895350">
              <a:lnSpc>
                <a:spcPct val="90000"/>
              </a:lnSpc>
              <a:buNone/>
            </a:pPr>
            <a:r>
              <a:rPr lang="ru-RU" b="1" dirty="0"/>
              <a:t>Шаг 6.</a:t>
            </a:r>
            <a:r>
              <a:rPr lang="ru-RU" dirty="0"/>
              <a:t> Написать ответ для заданного уровня доверия или уровня значимости.</a:t>
            </a:r>
          </a:p>
        </p:txBody>
      </p:sp>
      <p:sp>
        <p:nvSpPr>
          <p:cNvPr id="4" name="Номер слайда 3"/>
          <p:cNvSpPr>
            <a:spLocks noGrp="1"/>
          </p:cNvSpPr>
          <p:nvPr>
            <p:ph type="sldNum" sz="quarter" idx="12"/>
          </p:nvPr>
        </p:nvSpPr>
        <p:spPr/>
        <p:txBody>
          <a:bodyPr/>
          <a:lstStyle/>
          <a:p>
            <a:fld id="{0CC3DD56-44D6-4410-A1D4-F947CD7B8BFD}" type="slidenum">
              <a:rPr lang="ru-RU" smtClean="0"/>
              <a:pPr/>
              <a:t>27</a:t>
            </a:fld>
            <a:endParaRPr lang="ru-RU"/>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Заголовок 1"/>
          <p:cNvSpPr>
            <a:spLocks noGrp="1"/>
          </p:cNvSpPr>
          <p:nvPr>
            <p:ph type="title"/>
          </p:nvPr>
        </p:nvSpPr>
        <p:spPr>
          <a:xfrm>
            <a:off x="457200" y="115888"/>
            <a:ext cx="8229600" cy="288925"/>
          </a:xfrm>
        </p:spPr>
        <p:txBody>
          <a:bodyPr>
            <a:normAutofit fontScale="90000"/>
          </a:bodyPr>
          <a:lstStyle/>
          <a:p>
            <a:r>
              <a:rPr lang="ru-RU" sz="2400" b="1"/>
              <a:t>Пример 2.</a:t>
            </a:r>
          </a:p>
        </p:txBody>
      </p:sp>
      <p:sp>
        <p:nvSpPr>
          <p:cNvPr id="15363" name="Объект 2"/>
          <p:cNvSpPr>
            <a:spLocks noGrp="1"/>
          </p:cNvSpPr>
          <p:nvPr>
            <p:ph idx="1"/>
          </p:nvPr>
        </p:nvSpPr>
        <p:spPr>
          <a:xfrm>
            <a:off x="179388" y="476250"/>
            <a:ext cx="8785225" cy="5649913"/>
          </a:xfrm>
        </p:spPr>
        <p:txBody>
          <a:bodyPr/>
          <a:lstStyle/>
          <a:p>
            <a:pPr marL="0" indent="0">
              <a:buFont typeface="Arial" charset="0"/>
              <a:buNone/>
            </a:pPr>
            <a:r>
              <a:rPr lang="ru-RU" sz="1800" dirty="0"/>
              <a:t>Из нормальной генеральной совокупности извлечена выборка объема </a:t>
            </a:r>
            <a:r>
              <a:rPr lang="en-US" sz="1800" dirty="0"/>
              <a:t>n=25 </a:t>
            </a:r>
            <a:r>
              <a:rPr lang="ru-RU" sz="1800" dirty="0"/>
              <a:t>и по ней найдена исправленная выборочная дисперсия               . При уровне значимости  0,02 проверить гипотезы </a:t>
            </a:r>
            <a:r>
              <a:rPr lang="ru-RU" sz="1800" b="1" dirty="0"/>
              <a:t>Н</a:t>
            </a:r>
            <a:r>
              <a:rPr lang="en-US" sz="1800" b="1" dirty="0"/>
              <a:t>ₒ</a:t>
            </a:r>
            <a:r>
              <a:rPr lang="ru-RU" sz="1800" b="1" dirty="0"/>
              <a:t>:</a:t>
            </a:r>
            <a:r>
              <a:rPr lang="ru-RU" sz="1800" dirty="0"/>
              <a:t> </a:t>
            </a:r>
            <a:r>
              <a:rPr lang="ru-RU" sz="1800" b="1" i="1" dirty="0"/>
              <a:t>σ²</a:t>
            </a:r>
            <a:r>
              <a:rPr lang="ru-RU" sz="1800" b="1" dirty="0"/>
              <a:t>=15</a:t>
            </a:r>
            <a:r>
              <a:rPr lang="ru-RU" sz="1800" dirty="0"/>
              <a:t> против гипотезы </a:t>
            </a:r>
            <a:r>
              <a:rPr lang="ru-RU" sz="1800" b="1" dirty="0"/>
              <a:t>Н₁:</a:t>
            </a:r>
            <a:r>
              <a:rPr lang="ru-RU" sz="1800" dirty="0"/>
              <a:t> </a:t>
            </a:r>
            <a:r>
              <a:rPr lang="ru-RU" sz="1800" b="1" i="1" dirty="0"/>
              <a:t>σ²≠</a:t>
            </a:r>
            <a:r>
              <a:rPr lang="en-US" sz="1800" b="1" dirty="0"/>
              <a:t>15</a:t>
            </a:r>
            <a:r>
              <a:rPr lang="ru-RU" sz="1800" b="1" dirty="0"/>
              <a:t>.</a:t>
            </a:r>
          </a:p>
          <a:p>
            <a:pPr marL="0" indent="0">
              <a:buFont typeface="Arial" charset="0"/>
              <a:buNone/>
            </a:pPr>
            <a:endParaRPr lang="ru-RU" sz="1800" b="1" dirty="0"/>
          </a:p>
          <a:p>
            <a:pPr marL="0" indent="0">
              <a:buFont typeface="Arial" charset="0"/>
              <a:buNone/>
            </a:pPr>
            <a:r>
              <a:rPr lang="ru-RU" sz="1800" b="1" dirty="0"/>
              <a:t>Решение:</a:t>
            </a:r>
            <a:endParaRPr lang="ru-RU" sz="1800" dirty="0"/>
          </a:p>
          <a:p>
            <a:pPr marL="0" indent="0">
              <a:buNone/>
            </a:pPr>
            <a:r>
              <a:rPr lang="ru-RU" sz="1800" dirty="0"/>
              <a:t>Вычислим статистику </a:t>
            </a:r>
            <a:r>
              <a:rPr lang="en-US" sz="1800" dirty="0"/>
              <a:t>t</a:t>
            </a:r>
            <a:r>
              <a:rPr lang="ru-RU" sz="1800" dirty="0"/>
              <a:t> по формуле:</a:t>
            </a:r>
          </a:p>
          <a:p>
            <a:pPr marL="0" indent="0">
              <a:buFont typeface="Arial" charset="0"/>
              <a:buNone/>
            </a:pPr>
            <a:r>
              <a:rPr lang="ru-RU" sz="1800" dirty="0"/>
              <a:t>По таблице распределения </a:t>
            </a:r>
            <a:r>
              <a:rPr lang="ru-RU" sz="1800" dirty="0" err="1"/>
              <a:t>Хи-квадрат</a:t>
            </a:r>
            <a:r>
              <a:rPr lang="ru-RU" sz="1800" dirty="0"/>
              <a:t>  для </a:t>
            </a:r>
            <a:r>
              <a:rPr lang="el-GR" sz="1800" dirty="0"/>
              <a:t>α</a:t>
            </a:r>
            <a:r>
              <a:rPr lang="ru-RU" sz="1800" dirty="0"/>
              <a:t>/2</a:t>
            </a:r>
            <a:r>
              <a:rPr lang="en-US" sz="1800" dirty="0"/>
              <a:t>=0,</a:t>
            </a:r>
            <a:r>
              <a:rPr lang="ru-RU" sz="1800" dirty="0"/>
              <a:t>01 и 1-</a:t>
            </a:r>
            <a:r>
              <a:rPr lang="el-GR" sz="1800" dirty="0">
                <a:latin typeface="Cambria"/>
                <a:ea typeface="Cambria"/>
              </a:rPr>
              <a:t>α</a:t>
            </a:r>
            <a:r>
              <a:rPr lang="ru-RU" sz="1800" dirty="0">
                <a:latin typeface="Cambria"/>
                <a:ea typeface="Cambria"/>
              </a:rPr>
              <a:t>/2=0,99 </a:t>
            </a:r>
            <a:r>
              <a:rPr lang="ru-RU" sz="1800" dirty="0"/>
              <a:t> и степени свободы </a:t>
            </a:r>
            <a:r>
              <a:rPr lang="en-US" sz="1800" dirty="0"/>
              <a:t>n-</a:t>
            </a:r>
            <a:r>
              <a:rPr lang="ru-RU" sz="1800" dirty="0"/>
              <a:t>1</a:t>
            </a:r>
            <a:r>
              <a:rPr lang="en-US" sz="1800" dirty="0"/>
              <a:t>=24,</a:t>
            </a:r>
            <a:r>
              <a:rPr lang="ru-RU" sz="1800" dirty="0"/>
              <a:t> получим </a:t>
            </a:r>
            <a:r>
              <a:rPr lang="en-US" sz="1800" dirty="0"/>
              <a:t> U=</a:t>
            </a:r>
            <a:r>
              <a:rPr lang="ru-RU" sz="1800" dirty="0"/>
              <a:t>10,9 и </a:t>
            </a:r>
            <a:r>
              <a:rPr lang="en-US" sz="1800" dirty="0"/>
              <a:t>V=43. </a:t>
            </a:r>
            <a:endParaRPr lang="ru-RU" sz="1800" dirty="0"/>
          </a:p>
          <a:p>
            <a:pPr marL="0" indent="0">
              <a:buFont typeface="Arial" charset="0"/>
              <a:buNone/>
            </a:pPr>
            <a:endParaRPr lang="ru-RU" sz="1800" dirty="0"/>
          </a:p>
          <a:p>
            <a:pPr marL="0" indent="0">
              <a:buFont typeface="Arial" charset="0"/>
              <a:buNone/>
            </a:pPr>
            <a:r>
              <a:rPr lang="ru-RU" sz="1800" dirty="0"/>
              <a:t>Так как (</a:t>
            </a:r>
            <a:r>
              <a:rPr lang="en-US" sz="1800" dirty="0"/>
              <a:t>U=</a:t>
            </a:r>
            <a:r>
              <a:rPr lang="ru-RU" sz="1800" dirty="0"/>
              <a:t>10,9)</a:t>
            </a:r>
            <a:r>
              <a:rPr lang="en-US" sz="1800" dirty="0"/>
              <a:t>&lt;</a:t>
            </a:r>
            <a:r>
              <a:rPr lang="ru-RU" sz="1800" dirty="0"/>
              <a:t>(</a:t>
            </a:r>
            <a:r>
              <a:rPr lang="en-US" sz="1800" dirty="0"/>
              <a:t>t=</a:t>
            </a:r>
            <a:r>
              <a:rPr lang="ru-RU" sz="1800" dirty="0"/>
              <a:t>25,92)</a:t>
            </a:r>
            <a:r>
              <a:rPr lang="en-US" sz="1800" dirty="0"/>
              <a:t>&lt;</a:t>
            </a:r>
            <a:r>
              <a:rPr lang="ru-RU" sz="1800" dirty="0"/>
              <a:t>(</a:t>
            </a:r>
            <a:r>
              <a:rPr lang="en-US" sz="1800" dirty="0"/>
              <a:t>V=43</a:t>
            </a:r>
            <a:r>
              <a:rPr lang="ru-RU" sz="1800" dirty="0"/>
              <a:t>),  то гипотеза </a:t>
            </a:r>
            <a:r>
              <a:rPr lang="ru-RU" sz="1800" b="1" dirty="0"/>
              <a:t>Н</a:t>
            </a:r>
            <a:r>
              <a:rPr lang="en-US" sz="1800" b="1" dirty="0"/>
              <a:t>ₒ</a:t>
            </a:r>
            <a:r>
              <a:rPr lang="ru-RU" sz="1800" b="1" dirty="0"/>
              <a:t> :</a:t>
            </a:r>
            <a:r>
              <a:rPr lang="ru-RU" sz="1800" dirty="0"/>
              <a:t> </a:t>
            </a:r>
            <a:r>
              <a:rPr lang="ru-RU" sz="1800" b="1" i="1" dirty="0"/>
              <a:t>σ²</a:t>
            </a:r>
            <a:r>
              <a:rPr lang="ru-RU" sz="1800" b="1" dirty="0"/>
              <a:t>=15</a:t>
            </a:r>
            <a:r>
              <a:rPr lang="ru-RU" sz="1800" dirty="0"/>
              <a:t> </a:t>
            </a:r>
            <a:r>
              <a:rPr lang="ru-RU" sz="1800" b="1" dirty="0"/>
              <a:t>принимается  на уровне значимости 0,02</a:t>
            </a:r>
            <a:r>
              <a:rPr lang="ru-RU" sz="1800" dirty="0"/>
              <a:t>. </a:t>
            </a:r>
          </a:p>
        </p:txBody>
      </p:sp>
      <p:sp>
        <p:nvSpPr>
          <p:cNvPr id="15364" name="Rectangle 5"/>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graphicFrame>
        <p:nvGraphicFramePr>
          <p:cNvPr id="15365" name="Объект 2"/>
          <p:cNvGraphicFramePr>
            <a:graphicFrameLocks noChangeAspect="1"/>
          </p:cNvGraphicFramePr>
          <p:nvPr/>
        </p:nvGraphicFramePr>
        <p:xfrm>
          <a:off x="5572132" y="785794"/>
          <a:ext cx="671512" cy="293687"/>
        </p:xfrm>
        <a:graphic>
          <a:graphicData uri="http://schemas.openxmlformats.org/presentationml/2006/ole">
            <mc:AlternateContent xmlns:mc="http://schemas.openxmlformats.org/markup-compatibility/2006">
              <mc:Choice xmlns:v="urn:schemas-microsoft-com:vml" Requires="v">
                <p:oleObj name="Формула" r:id="rId2" imgW="609480" imgH="266400" progId="Equation.3">
                  <p:embed/>
                </p:oleObj>
              </mc:Choice>
              <mc:Fallback>
                <p:oleObj name="Формула" r:id="rId2" imgW="609480" imgH="266400" progId="Equation.3">
                  <p:embed/>
                  <p:pic>
                    <p:nvPicPr>
                      <p:cNvPr id="15365" name="Объект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132" y="785794"/>
                        <a:ext cx="671512" cy="293687"/>
                      </a:xfrm>
                      <a:prstGeom prst="rect">
                        <a:avLst/>
                      </a:prstGeom>
                      <a:solidFill>
                        <a:schemeClr val="tx1"/>
                      </a:solidFill>
                    </p:spPr>
                  </p:pic>
                </p:oleObj>
              </mc:Fallback>
            </mc:AlternateContent>
          </a:graphicData>
        </a:graphic>
      </p:graphicFrame>
      <p:sp>
        <p:nvSpPr>
          <p:cNvPr id="15367" name="Rectangle 9"/>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sp>
        <p:nvSpPr>
          <p:cNvPr id="15369" name="Rectangle 14"/>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graphicFrame>
        <p:nvGraphicFramePr>
          <p:cNvPr id="15370" name="Объект 7"/>
          <p:cNvGraphicFramePr>
            <a:graphicFrameLocks noChangeAspect="1"/>
          </p:cNvGraphicFramePr>
          <p:nvPr/>
        </p:nvGraphicFramePr>
        <p:xfrm>
          <a:off x="4422775" y="1641475"/>
          <a:ext cx="2457450" cy="531813"/>
        </p:xfrm>
        <a:graphic>
          <a:graphicData uri="http://schemas.openxmlformats.org/presentationml/2006/ole">
            <mc:AlternateContent xmlns:mc="http://schemas.openxmlformats.org/markup-compatibility/2006">
              <mc:Choice xmlns:v="urn:schemas-microsoft-com:vml" Requires="v">
                <p:oleObj name="Формула" r:id="rId4" imgW="2234880" imgH="482400" progId="Equation.3">
                  <p:embed/>
                </p:oleObj>
              </mc:Choice>
              <mc:Fallback>
                <p:oleObj name="Формула" r:id="rId4" imgW="2234880" imgH="482400" progId="Equation.3">
                  <p:embed/>
                  <p:pic>
                    <p:nvPicPr>
                      <p:cNvPr id="15370" name="Объект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2775" y="1641475"/>
                        <a:ext cx="2457450" cy="531813"/>
                      </a:xfrm>
                      <a:prstGeom prst="rect">
                        <a:avLst/>
                      </a:prstGeom>
                      <a:solidFill>
                        <a:schemeClr val="tx1"/>
                      </a:solidFill>
                    </p:spPr>
                  </p:pic>
                </p:oleObj>
              </mc:Fallback>
            </mc:AlternateContent>
          </a:graphicData>
        </a:graphic>
      </p:graphicFrame>
      <p:graphicFrame>
        <p:nvGraphicFramePr>
          <p:cNvPr id="9" name="Таблица 8"/>
          <p:cNvGraphicFramePr>
            <a:graphicFrameLocks noGrp="1"/>
          </p:cNvGraphicFramePr>
          <p:nvPr/>
        </p:nvGraphicFramePr>
        <p:xfrm>
          <a:off x="287338" y="4149725"/>
          <a:ext cx="8569324" cy="2194560"/>
        </p:xfrm>
        <a:graphic>
          <a:graphicData uri="http://schemas.openxmlformats.org/drawingml/2006/table">
            <a:tbl>
              <a:tblPr firstRow="1" firstCol="1" lastRow="1" lastCol="1" bandRow="1" bandCol="1">
                <a:tableStyleId>{5C22544A-7EE6-4342-B048-85BDC9FD1C3A}</a:tableStyleId>
              </a:tblPr>
              <a:tblGrid>
                <a:gridCol w="1006327">
                  <a:extLst>
                    <a:ext uri="{9D8B030D-6E8A-4147-A177-3AD203B41FA5}">
                      <a16:colId xmlns:a16="http://schemas.microsoft.com/office/drawing/2014/main" val="20000"/>
                    </a:ext>
                  </a:extLst>
                </a:gridCol>
                <a:gridCol w="581769">
                  <a:extLst>
                    <a:ext uri="{9D8B030D-6E8A-4147-A177-3AD203B41FA5}">
                      <a16:colId xmlns:a16="http://schemas.microsoft.com/office/drawing/2014/main" val="20001"/>
                    </a:ext>
                  </a:extLst>
                </a:gridCol>
                <a:gridCol w="581769">
                  <a:extLst>
                    <a:ext uri="{9D8B030D-6E8A-4147-A177-3AD203B41FA5}">
                      <a16:colId xmlns:a16="http://schemas.microsoft.com/office/drawing/2014/main" val="20002"/>
                    </a:ext>
                  </a:extLst>
                </a:gridCol>
                <a:gridCol w="581769">
                  <a:extLst>
                    <a:ext uri="{9D8B030D-6E8A-4147-A177-3AD203B41FA5}">
                      <a16:colId xmlns:a16="http://schemas.microsoft.com/office/drawing/2014/main" val="20003"/>
                    </a:ext>
                  </a:extLst>
                </a:gridCol>
                <a:gridCol w="581769">
                  <a:extLst>
                    <a:ext uri="{9D8B030D-6E8A-4147-A177-3AD203B41FA5}">
                      <a16:colId xmlns:a16="http://schemas.microsoft.com/office/drawing/2014/main" val="20004"/>
                    </a:ext>
                  </a:extLst>
                </a:gridCol>
                <a:gridCol w="581769">
                  <a:extLst>
                    <a:ext uri="{9D8B030D-6E8A-4147-A177-3AD203B41FA5}">
                      <a16:colId xmlns:a16="http://schemas.microsoft.com/office/drawing/2014/main" val="20005"/>
                    </a:ext>
                  </a:extLst>
                </a:gridCol>
                <a:gridCol w="581769">
                  <a:extLst>
                    <a:ext uri="{9D8B030D-6E8A-4147-A177-3AD203B41FA5}">
                      <a16:colId xmlns:a16="http://schemas.microsoft.com/office/drawing/2014/main" val="20006"/>
                    </a:ext>
                  </a:extLst>
                </a:gridCol>
                <a:gridCol w="581769">
                  <a:extLst>
                    <a:ext uri="{9D8B030D-6E8A-4147-A177-3AD203B41FA5}">
                      <a16:colId xmlns:a16="http://schemas.microsoft.com/office/drawing/2014/main" val="20007"/>
                    </a:ext>
                  </a:extLst>
                </a:gridCol>
                <a:gridCol w="581769">
                  <a:extLst>
                    <a:ext uri="{9D8B030D-6E8A-4147-A177-3AD203B41FA5}">
                      <a16:colId xmlns:a16="http://schemas.microsoft.com/office/drawing/2014/main" val="20008"/>
                    </a:ext>
                  </a:extLst>
                </a:gridCol>
                <a:gridCol w="581769">
                  <a:extLst>
                    <a:ext uri="{9D8B030D-6E8A-4147-A177-3AD203B41FA5}">
                      <a16:colId xmlns:a16="http://schemas.microsoft.com/office/drawing/2014/main" val="20009"/>
                    </a:ext>
                  </a:extLst>
                </a:gridCol>
                <a:gridCol w="581769">
                  <a:extLst>
                    <a:ext uri="{9D8B030D-6E8A-4147-A177-3AD203B41FA5}">
                      <a16:colId xmlns:a16="http://schemas.microsoft.com/office/drawing/2014/main" val="20010"/>
                    </a:ext>
                  </a:extLst>
                </a:gridCol>
                <a:gridCol w="581769">
                  <a:extLst>
                    <a:ext uri="{9D8B030D-6E8A-4147-A177-3AD203B41FA5}">
                      <a16:colId xmlns:a16="http://schemas.microsoft.com/office/drawing/2014/main" val="20011"/>
                    </a:ext>
                  </a:extLst>
                </a:gridCol>
                <a:gridCol w="581769">
                  <a:extLst>
                    <a:ext uri="{9D8B030D-6E8A-4147-A177-3AD203B41FA5}">
                      <a16:colId xmlns:a16="http://schemas.microsoft.com/office/drawing/2014/main" val="20012"/>
                    </a:ext>
                  </a:extLst>
                </a:gridCol>
                <a:gridCol w="581769">
                  <a:extLst>
                    <a:ext uri="{9D8B030D-6E8A-4147-A177-3AD203B41FA5}">
                      <a16:colId xmlns:a16="http://schemas.microsoft.com/office/drawing/2014/main" val="20013"/>
                    </a:ext>
                  </a:extLst>
                </a:gridCol>
              </a:tblGrid>
              <a:tr h="370007">
                <a:tc rowSpan="2">
                  <a:txBody>
                    <a:bodyPr/>
                    <a:lstStyle/>
                    <a:p>
                      <a:pPr>
                        <a:spcAft>
                          <a:spcPts val="0"/>
                        </a:spcAft>
                      </a:pPr>
                      <a:r>
                        <a:rPr lang="ru-RU" sz="1800" dirty="0">
                          <a:effectLst/>
                        </a:rPr>
                        <a:t>Число степеней свободы</a:t>
                      </a:r>
                      <a:endParaRPr lang="ru-RU" sz="1800" dirty="0">
                        <a:effectLst/>
                        <a:latin typeface="Times New Roman"/>
                        <a:ea typeface="Times New Roman"/>
                      </a:endParaRPr>
                    </a:p>
                  </a:txBody>
                  <a:tcPr marL="26451" marR="26451" marT="0" marB="0"/>
                </a:tc>
                <a:tc gridSpan="13">
                  <a:txBody>
                    <a:bodyPr/>
                    <a:lstStyle/>
                    <a:p>
                      <a:pPr algn="ctr">
                        <a:spcAft>
                          <a:spcPts val="0"/>
                        </a:spcAft>
                      </a:pPr>
                      <a:r>
                        <a:rPr lang="ru-RU" sz="1800" dirty="0">
                          <a:effectLst/>
                        </a:rPr>
                        <a:t>Вероятность  </a:t>
                      </a:r>
                      <a:r>
                        <a:rPr lang="el-GR" sz="1800" dirty="0">
                          <a:effectLst/>
                        </a:rPr>
                        <a:t>α</a:t>
                      </a:r>
                      <a:endParaRPr lang="ru-RU" sz="1800" dirty="0">
                        <a:effectLst/>
                        <a:latin typeface="Times New Roman"/>
                        <a:ea typeface="Times New Roman"/>
                      </a:endParaRPr>
                    </a:p>
                  </a:txBody>
                  <a:tcPr marL="26451" marR="26451"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0"/>
                  </a:ext>
                </a:extLst>
              </a:tr>
              <a:tr h="452545">
                <a:tc vMerge="1">
                  <a:txBody>
                    <a:bodyPr/>
                    <a:lstStyle/>
                    <a:p>
                      <a:endParaRPr lang="ru-RU"/>
                    </a:p>
                  </a:txBody>
                  <a:tcPr/>
                </a:tc>
                <a:tc>
                  <a:txBody>
                    <a:bodyPr/>
                    <a:lstStyle/>
                    <a:p>
                      <a:pPr>
                        <a:spcAft>
                          <a:spcPts val="0"/>
                        </a:spcAft>
                      </a:pPr>
                      <a:r>
                        <a:rPr lang="ru-RU" sz="1800">
                          <a:effectLst/>
                        </a:rPr>
                        <a:t>0,99</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0,98</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0,95</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0,90</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0,80</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0,70</a:t>
                      </a:r>
                      <a:endParaRPr lang="ru-RU" sz="1800">
                        <a:effectLst/>
                        <a:latin typeface="Times New Roman"/>
                        <a:ea typeface="Times New Roman"/>
                      </a:endParaRPr>
                    </a:p>
                  </a:txBody>
                  <a:tcPr marL="26451" marR="26451" marT="0" marB="0"/>
                </a:tc>
                <a:tc>
                  <a:txBody>
                    <a:bodyPr/>
                    <a:lstStyle/>
                    <a:p>
                      <a:pPr>
                        <a:spcAft>
                          <a:spcPts val="0"/>
                        </a:spcAft>
                      </a:pPr>
                      <a:r>
                        <a:rPr lang="ru-RU" sz="1800" dirty="0">
                          <a:effectLst/>
                        </a:rPr>
                        <a:t>0,50</a:t>
                      </a:r>
                      <a:endParaRPr lang="ru-RU" sz="1800" dirty="0">
                        <a:effectLst/>
                        <a:latin typeface="Times New Roman"/>
                        <a:ea typeface="Times New Roman"/>
                      </a:endParaRPr>
                    </a:p>
                  </a:txBody>
                  <a:tcPr marL="26451" marR="26451" marT="0" marB="0"/>
                </a:tc>
                <a:tc>
                  <a:txBody>
                    <a:bodyPr/>
                    <a:lstStyle/>
                    <a:p>
                      <a:pPr>
                        <a:spcAft>
                          <a:spcPts val="0"/>
                        </a:spcAft>
                      </a:pPr>
                      <a:r>
                        <a:rPr lang="ru-RU" sz="1800">
                          <a:effectLst/>
                        </a:rPr>
                        <a:t>0,30</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0,20</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0,10</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0,05</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0,02</a:t>
                      </a:r>
                      <a:endParaRPr lang="ru-RU" sz="1800">
                        <a:effectLst/>
                        <a:latin typeface="Times New Roman"/>
                        <a:ea typeface="Times New Roman"/>
                      </a:endParaRPr>
                    </a:p>
                  </a:txBody>
                  <a:tcPr marL="26451" marR="26451" marT="0" marB="0"/>
                </a:tc>
                <a:tc>
                  <a:txBody>
                    <a:bodyPr/>
                    <a:lstStyle/>
                    <a:p>
                      <a:pPr>
                        <a:spcAft>
                          <a:spcPts val="0"/>
                        </a:spcAft>
                      </a:pPr>
                      <a:r>
                        <a:rPr lang="ru-RU" sz="1800" dirty="0">
                          <a:effectLst/>
                        </a:rPr>
                        <a:t>0,01</a:t>
                      </a:r>
                      <a:endParaRPr lang="ru-RU" sz="1800" dirty="0">
                        <a:effectLst/>
                        <a:latin typeface="Times New Roman"/>
                        <a:ea typeface="Times New Roman"/>
                      </a:endParaRPr>
                    </a:p>
                  </a:txBody>
                  <a:tcPr marL="26451" marR="26451" marT="0" marB="0"/>
                </a:tc>
                <a:extLst>
                  <a:ext uri="{0D108BD9-81ED-4DB2-BD59-A6C34878D82A}">
                    <a16:rowId xmlns:a16="http://schemas.microsoft.com/office/drawing/2014/main" val="10001"/>
                  </a:ext>
                </a:extLst>
              </a:tr>
              <a:tr h="274184">
                <a:tc>
                  <a:txBody>
                    <a:bodyPr/>
                    <a:lstStyle/>
                    <a:p>
                      <a:pPr>
                        <a:spcAft>
                          <a:spcPts val="0"/>
                        </a:spcAft>
                      </a:pPr>
                      <a:r>
                        <a:rPr lang="ru-RU" sz="1800" dirty="0">
                          <a:effectLst/>
                        </a:rPr>
                        <a:t>22</a:t>
                      </a:r>
                      <a:endParaRPr lang="ru-RU" sz="1800" dirty="0">
                        <a:effectLst/>
                        <a:latin typeface="Times New Roman"/>
                        <a:ea typeface="Times New Roman"/>
                      </a:endParaRPr>
                    </a:p>
                  </a:txBody>
                  <a:tcPr marL="26451" marR="26451" marT="0" marB="0"/>
                </a:tc>
                <a:tc>
                  <a:txBody>
                    <a:bodyPr/>
                    <a:lstStyle/>
                    <a:p>
                      <a:pPr>
                        <a:spcAft>
                          <a:spcPts val="0"/>
                        </a:spcAft>
                      </a:pPr>
                      <a:r>
                        <a:rPr lang="ru-RU" sz="1800">
                          <a:effectLst/>
                        </a:rPr>
                        <a:t>9,54</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10,6</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12,3</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14,0</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16,3</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18,1</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21,3</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24,9</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27,3</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30,8</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33,9</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37,7</a:t>
                      </a:r>
                      <a:endParaRPr lang="ru-RU" sz="1800">
                        <a:effectLst/>
                        <a:latin typeface="Times New Roman"/>
                        <a:ea typeface="Times New Roman"/>
                      </a:endParaRPr>
                    </a:p>
                  </a:txBody>
                  <a:tcPr marL="26451" marR="26451" marT="0" marB="0"/>
                </a:tc>
                <a:tc>
                  <a:txBody>
                    <a:bodyPr/>
                    <a:lstStyle/>
                    <a:p>
                      <a:pPr>
                        <a:spcAft>
                          <a:spcPts val="0"/>
                        </a:spcAft>
                      </a:pPr>
                      <a:r>
                        <a:rPr lang="ru-RU" sz="1800" dirty="0">
                          <a:effectLst/>
                        </a:rPr>
                        <a:t>40,3</a:t>
                      </a:r>
                      <a:endParaRPr lang="ru-RU" sz="1800" dirty="0">
                        <a:effectLst/>
                        <a:latin typeface="Times New Roman"/>
                        <a:ea typeface="Times New Roman"/>
                      </a:endParaRPr>
                    </a:p>
                  </a:txBody>
                  <a:tcPr marL="26451" marR="26451" marT="0" marB="0"/>
                </a:tc>
                <a:extLst>
                  <a:ext uri="{0D108BD9-81ED-4DB2-BD59-A6C34878D82A}">
                    <a16:rowId xmlns:a16="http://schemas.microsoft.com/office/drawing/2014/main" val="10002"/>
                  </a:ext>
                </a:extLst>
              </a:tr>
              <a:tr h="274184">
                <a:tc>
                  <a:txBody>
                    <a:bodyPr/>
                    <a:lstStyle/>
                    <a:p>
                      <a:pPr>
                        <a:spcAft>
                          <a:spcPts val="0"/>
                        </a:spcAft>
                      </a:pPr>
                      <a:r>
                        <a:rPr lang="ru-RU" sz="1800">
                          <a:effectLst/>
                        </a:rPr>
                        <a:t>23</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10,2</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11,3</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13,1</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14,8</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17,2</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19,0</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22,3</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26,0</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28,4</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32,0</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35,2</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39,0</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41,6</a:t>
                      </a:r>
                      <a:endParaRPr lang="ru-RU" sz="1800">
                        <a:effectLst/>
                        <a:latin typeface="Times New Roman"/>
                        <a:ea typeface="Times New Roman"/>
                      </a:endParaRPr>
                    </a:p>
                  </a:txBody>
                  <a:tcPr marL="26451" marR="26451" marT="0" marB="0"/>
                </a:tc>
                <a:extLst>
                  <a:ext uri="{0D108BD9-81ED-4DB2-BD59-A6C34878D82A}">
                    <a16:rowId xmlns:a16="http://schemas.microsoft.com/office/drawing/2014/main" val="10003"/>
                  </a:ext>
                </a:extLst>
              </a:tr>
              <a:tr h="274184">
                <a:tc>
                  <a:txBody>
                    <a:bodyPr/>
                    <a:lstStyle/>
                    <a:p>
                      <a:pPr>
                        <a:spcAft>
                          <a:spcPts val="0"/>
                        </a:spcAft>
                      </a:pPr>
                      <a:r>
                        <a:rPr lang="ru-RU" sz="1800">
                          <a:effectLst/>
                        </a:rPr>
                        <a:t>24</a:t>
                      </a:r>
                      <a:endParaRPr lang="ru-RU" sz="1800">
                        <a:effectLst/>
                        <a:latin typeface="Times New Roman"/>
                        <a:ea typeface="Times New Roman"/>
                      </a:endParaRPr>
                    </a:p>
                  </a:txBody>
                  <a:tcPr marL="26451" marR="26451" marT="0" marB="0"/>
                </a:tc>
                <a:tc>
                  <a:txBody>
                    <a:bodyPr/>
                    <a:lstStyle/>
                    <a:p>
                      <a:pPr>
                        <a:spcAft>
                          <a:spcPts val="0"/>
                        </a:spcAft>
                      </a:pPr>
                      <a:r>
                        <a:rPr lang="ru-RU" sz="1800" dirty="0">
                          <a:solidFill>
                            <a:srgbClr val="FF0000"/>
                          </a:solidFill>
                          <a:effectLst/>
                        </a:rPr>
                        <a:t>10,9</a:t>
                      </a:r>
                      <a:endParaRPr lang="ru-RU" sz="1800" dirty="0">
                        <a:solidFill>
                          <a:srgbClr val="FF0000"/>
                        </a:solidFill>
                        <a:effectLst/>
                        <a:latin typeface="Times New Roman"/>
                        <a:ea typeface="Times New Roman"/>
                      </a:endParaRPr>
                    </a:p>
                  </a:txBody>
                  <a:tcPr marL="26451" marR="26451" marT="0" marB="0"/>
                </a:tc>
                <a:tc>
                  <a:txBody>
                    <a:bodyPr/>
                    <a:lstStyle/>
                    <a:p>
                      <a:pPr>
                        <a:spcAft>
                          <a:spcPts val="0"/>
                        </a:spcAft>
                      </a:pPr>
                      <a:r>
                        <a:rPr lang="ru-RU" sz="1800">
                          <a:effectLst/>
                        </a:rPr>
                        <a:t>12,0</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13,8</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15,7</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18,1</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19,9</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23,3</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27,1</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29,6</a:t>
                      </a:r>
                      <a:endParaRPr lang="ru-RU" sz="1800">
                        <a:effectLst/>
                        <a:latin typeface="Times New Roman"/>
                        <a:ea typeface="Times New Roman"/>
                      </a:endParaRPr>
                    </a:p>
                  </a:txBody>
                  <a:tcPr marL="26451" marR="26451" marT="0" marB="0"/>
                </a:tc>
                <a:tc>
                  <a:txBody>
                    <a:bodyPr/>
                    <a:lstStyle/>
                    <a:p>
                      <a:pPr>
                        <a:spcAft>
                          <a:spcPts val="0"/>
                        </a:spcAft>
                      </a:pPr>
                      <a:r>
                        <a:rPr lang="ru-RU" sz="1800" dirty="0">
                          <a:solidFill>
                            <a:schemeClr val="bg1"/>
                          </a:solidFill>
                          <a:effectLst/>
                        </a:rPr>
                        <a:t>33,2</a:t>
                      </a:r>
                      <a:endParaRPr lang="ru-RU" sz="1800" dirty="0">
                        <a:solidFill>
                          <a:schemeClr val="bg1"/>
                        </a:solidFill>
                        <a:effectLst/>
                        <a:latin typeface="Times New Roman"/>
                        <a:ea typeface="Times New Roman"/>
                      </a:endParaRPr>
                    </a:p>
                  </a:txBody>
                  <a:tcPr marL="26451" marR="26451" marT="0" marB="0"/>
                </a:tc>
                <a:tc>
                  <a:txBody>
                    <a:bodyPr/>
                    <a:lstStyle/>
                    <a:p>
                      <a:pPr>
                        <a:spcAft>
                          <a:spcPts val="0"/>
                        </a:spcAft>
                      </a:pPr>
                      <a:r>
                        <a:rPr lang="ru-RU" sz="1800">
                          <a:effectLst/>
                        </a:rPr>
                        <a:t>36,4</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40,3</a:t>
                      </a:r>
                      <a:endParaRPr lang="ru-RU" sz="1800">
                        <a:effectLst/>
                        <a:latin typeface="Times New Roman"/>
                        <a:ea typeface="Times New Roman"/>
                      </a:endParaRPr>
                    </a:p>
                  </a:txBody>
                  <a:tcPr marL="26451" marR="26451" marT="0" marB="0"/>
                </a:tc>
                <a:tc>
                  <a:txBody>
                    <a:bodyPr/>
                    <a:lstStyle/>
                    <a:p>
                      <a:pPr>
                        <a:spcAft>
                          <a:spcPts val="0"/>
                        </a:spcAft>
                      </a:pPr>
                      <a:r>
                        <a:rPr lang="ru-RU" sz="1800" dirty="0">
                          <a:solidFill>
                            <a:srgbClr val="FF0000"/>
                          </a:solidFill>
                          <a:effectLst/>
                        </a:rPr>
                        <a:t>43,0</a:t>
                      </a:r>
                      <a:endParaRPr lang="ru-RU" sz="1800" dirty="0">
                        <a:solidFill>
                          <a:srgbClr val="FF0000"/>
                        </a:solidFill>
                        <a:effectLst/>
                        <a:latin typeface="Times New Roman"/>
                        <a:ea typeface="Times New Roman"/>
                      </a:endParaRPr>
                    </a:p>
                  </a:txBody>
                  <a:tcPr marL="26451" marR="26451" marT="0" marB="0"/>
                </a:tc>
                <a:extLst>
                  <a:ext uri="{0D108BD9-81ED-4DB2-BD59-A6C34878D82A}">
                    <a16:rowId xmlns:a16="http://schemas.microsoft.com/office/drawing/2014/main" val="10004"/>
                  </a:ext>
                </a:extLst>
              </a:tr>
              <a:tr h="274184">
                <a:tc>
                  <a:txBody>
                    <a:bodyPr/>
                    <a:lstStyle/>
                    <a:p>
                      <a:pPr>
                        <a:spcAft>
                          <a:spcPts val="0"/>
                        </a:spcAft>
                      </a:pPr>
                      <a:r>
                        <a:rPr lang="ru-RU" sz="1800">
                          <a:effectLst/>
                        </a:rPr>
                        <a:t>25</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11,5</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12,7</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14,6</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16,5</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18,9</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20,9</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24,3</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28,2</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30,7</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34,4</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37,7</a:t>
                      </a:r>
                      <a:endParaRPr lang="ru-RU" sz="1800">
                        <a:effectLst/>
                        <a:latin typeface="Times New Roman"/>
                        <a:ea typeface="Times New Roman"/>
                      </a:endParaRPr>
                    </a:p>
                  </a:txBody>
                  <a:tcPr marL="26451" marR="26451" marT="0" marB="0"/>
                </a:tc>
                <a:tc>
                  <a:txBody>
                    <a:bodyPr/>
                    <a:lstStyle/>
                    <a:p>
                      <a:pPr>
                        <a:spcAft>
                          <a:spcPts val="0"/>
                        </a:spcAft>
                      </a:pPr>
                      <a:r>
                        <a:rPr lang="ru-RU" sz="1800">
                          <a:effectLst/>
                        </a:rPr>
                        <a:t>41,7</a:t>
                      </a:r>
                      <a:endParaRPr lang="ru-RU" sz="1800">
                        <a:effectLst/>
                        <a:latin typeface="Times New Roman"/>
                        <a:ea typeface="Times New Roman"/>
                      </a:endParaRPr>
                    </a:p>
                  </a:txBody>
                  <a:tcPr marL="26451" marR="26451" marT="0" marB="0"/>
                </a:tc>
                <a:tc>
                  <a:txBody>
                    <a:bodyPr/>
                    <a:lstStyle/>
                    <a:p>
                      <a:pPr>
                        <a:spcAft>
                          <a:spcPts val="0"/>
                        </a:spcAft>
                      </a:pPr>
                      <a:r>
                        <a:rPr lang="ru-RU" sz="1800" dirty="0">
                          <a:effectLst/>
                        </a:rPr>
                        <a:t>44,3</a:t>
                      </a:r>
                      <a:endParaRPr lang="ru-RU" sz="1800" dirty="0">
                        <a:effectLst/>
                        <a:latin typeface="Times New Roman"/>
                        <a:ea typeface="Times New Roman"/>
                      </a:endParaRPr>
                    </a:p>
                  </a:txBody>
                  <a:tcPr marL="26451" marR="26451" marT="0" marB="0"/>
                </a:tc>
                <a:extLst>
                  <a:ext uri="{0D108BD9-81ED-4DB2-BD59-A6C34878D82A}">
                    <a16:rowId xmlns:a16="http://schemas.microsoft.com/office/drawing/2014/main" val="10005"/>
                  </a:ext>
                </a:extLst>
              </a:tr>
            </a:tbl>
          </a:graphicData>
        </a:graphic>
      </p:graphicFrame>
      <p:sp>
        <p:nvSpPr>
          <p:cNvPr id="13" name="Номер слайда 12"/>
          <p:cNvSpPr>
            <a:spLocks noGrp="1"/>
          </p:cNvSpPr>
          <p:nvPr>
            <p:ph type="sldNum" sz="quarter" idx="12"/>
          </p:nvPr>
        </p:nvSpPr>
        <p:spPr/>
        <p:txBody>
          <a:bodyPr/>
          <a:lstStyle/>
          <a:p>
            <a:fld id="{0CC3DD56-44D6-4410-A1D4-F947CD7B8BFD}" type="slidenum">
              <a:rPr lang="ru-RU" smtClean="0"/>
              <a:pPr/>
              <a:t>28</a:t>
            </a:fld>
            <a:endParaRPr lang="ru-RU"/>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Autofit/>
          </a:bodyPr>
          <a:lstStyle/>
          <a:p>
            <a:r>
              <a:rPr lang="ru-RU" sz="3600" b="1" dirty="0">
                <a:solidFill>
                  <a:schemeClr val="accent2"/>
                </a:solidFill>
              </a:rPr>
              <a:t>Гипотеза о числовом значении доли признака </a:t>
            </a:r>
            <a:r>
              <a:rPr lang="en-US" sz="3600" b="1" dirty="0">
                <a:solidFill>
                  <a:schemeClr val="accent2"/>
                </a:solidFill>
              </a:rPr>
              <a:t>p</a:t>
            </a:r>
            <a:r>
              <a:rPr lang="ru-RU" sz="3600" b="1" dirty="0">
                <a:solidFill>
                  <a:schemeClr val="accent2"/>
                </a:solidFill>
              </a:rPr>
              <a:t>.</a:t>
            </a:r>
            <a:endParaRPr lang="ru-RU" sz="3600" dirty="0">
              <a:solidFill>
                <a:schemeClr val="accent2"/>
              </a:solidFill>
            </a:endParaRPr>
          </a:p>
        </p:txBody>
      </p:sp>
      <p:sp>
        <p:nvSpPr>
          <p:cNvPr id="3" name="Номер слайда 2"/>
          <p:cNvSpPr>
            <a:spLocks noGrp="1"/>
          </p:cNvSpPr>
          <p:nvPr>
            <p:ph type="sldNum" sz="quarter" idx="12"/>
          </p:nvPr>
        </p:nvSpPr>
        <p:spPr/>
        <p:txBody>
          <a:bodyPr/>
          <a:lstStyle/>
          <a:p>
            <a:fld id="{0CC3DD56-44D6-4410-A1D4-F947CD7B8BFD}" type="slidenum">
              <a:rPr lang="ru-RU" smtClean="0"/>
              <a:pPr/>
              <a:t>29</a:t>
            </a:fld>
            <a:endParaRPr lang="ru-RU"/>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Заголовок 1"/>
          <p:cNvSpPr>
            <a:spLocks noGrp="1"/>
          </p:cNvSpPr>
          <p:nvPr>
            <p:ph type="title"/>
          </p:nvPr>
        </p:nvSpPr>
        <p:spPr>
          <a:xfrm>
            <a:off x="457200" y="650861"/>
            <a:ext cx="8229600" cy="706437"/>
          </a:xfrm>
        </p:spPr>
        <p:txBody>
          <a:bodyPr>
            <a:noAutofit/>
          </a:bodyPr>
          <a:lstStyle/>
          <a:p>
            <a:pPr algn="l"/>
            <a:r>
              <a:rPr lang="ru-RU" sz="2200" b="1" dirty="0"/>
              <a:t>Н</a:t>
            </a:r>
            <a:r>
              <a:rPr lang="en-US" sz="2200" b="1" dirty="0"/>
              <a:t>ₒ</a:t>
            </a:r>
            <a:r>
              <a:rPr lang="ru-RU" sz="2200" b="1" dirty="0"/>
              <a:t>:</a:t>
            </a:r>
            <a:r>
              <a:rPr lang="ru-RU" sz="2200" dirty="0"/>
              <a:t> </a:t>
            </a:r>
            <a:r>
              <a:rPr lang="ru-RU" sz="2200" b="1" i="1" dirty="0" err="1"/>
              <a:t>р</a:t>
            </a:r>
            <a:r>
              <a:rPr lang="ru-RU" sz="2200" b="1" dirty="0" err="1"/>
              <a:t>=</a:t>
            </a:r>
            <a:r>
              <a:rPr lang="ru-RU" sz="2200" b="1" i="1" dirty="0" err="1"/>
              <a:t>р</a:t>
            </a:r>
            <a:r>
              <a:rPr lang="en-US" sz="2200" b="1" dirty="0"/>
              <a:t>ₒ</a:t>
            </a:r>
            <a:r>
              <a:rPr lang="ru-RU" sz="2200" b="1" dirty="0"/>
              <a:t>, </a:t>
            </a:r>
            <a:r>
              <a:rPr lang="ru-RU" sz="2200" dirty="0"/>
              <a:t>где </a:t>
            </a:r>
            <a:r>
              <a:rPr lang="ru-RU" sz="2200" dirty="0" err="1"/>
              <a:t>р</a:t>
            </a:r>
            <a:r>
              <a:rPr lang="en-US" sz="2200" dirty="0"/>
              <a:t>ₒ</a:t>
            </a:r>
            <a:r>
              <a:rPr lang="ru-RU" sz="2200" dirty="0"/>
              <a:t> - некоторое число,</a:t>
            </a:r>
            <a:br>
              <a:rPr lang="ru-RU" sz="2200" dirty="0"/>
            </a:br>
            <a:r>
              <a:rPr lang="ru-RU" sz="2200" b="1" dirty="0"/>
              <a:t>Н₁ :</a:t>
            </a:r>
            <a:r>
              <a:rPr lang="ru-RU" sz="2200" dirty="0"/>
              <a:t> </a:t>
            </a:r>
            <a:r>
              <a:rPr lang="ru-RU" sz="2200" b="1" i="1" dirty="0" err="1"/>
              <a:t>р≠р</a:t>
            </a:r>
            <a:r>
              <a:rPr lang="en-US" sz="2200" b="1" dirty="0"/>
              <a:t>ₒ</a:t>
            </a:r>
            <a:r>
              <a:rPr lang="ru-RU" sz="2200" b="1" dirty="0"/>
              <a:t> . </a:t>
            </a:r>
            <a:br>
              <a:rPr lang="ru-RU" sz="2200" b="1" dirty="0"/>
            </a:br>
            <a:r>
              <a:rPr lang="ru-RU" sz="2200" dirty="0"/>
              <a:t>Проверим гипотезу </a:t>
            </a:r>
            <a:r>
              <a:rPr lang="ru-RU" sz="2200" b="1" dirty="0"/>
              <a:t>Н</a:t>
            </a:r>
            <a:r>
              <a:rPr lang="en-US" sz="2200" b="1" dirty="0"/>
              <a:t>ₒ</a:t>
            </a:r>
            <a:r>
              <a:rPr lang="ru-RU" sz="2200" dirty="0"/>
              <a:t> на уровне доверия </a:t>
            </a:r>
            <a:r>
              <a:rPr lang="el-GR" sz="2200" b="1" dirty="0"/>
              <a:t>γ</a:t>
            </a:r>
            <a:r>
              <a:rPr lang="ru-RU" sz="2200" dirty="0"/>
              <a:t>.</a:t>
            </a:r>
          </a:p>
        </p:txBody>
      </p:sp>
      <p:sp>
        <p:nvSpPr>
          <p:cNvPr id="16387" name="Объект 2"/>
          <p:cNvSpPr>
            <a:spLocks noGrp="1"/>
          </p:cNvSpPr>
          <p:nvPr>
            <p:ph idx="1"/>
          </p:nvPr>
        </p:nvSpPr>
        <p:spPr>
          <a:xfrm>
            <a:off x="250825" y="1571612"/>
            <a:ext cx="8785225" cy="6000792"/>
          </a:xfrm>
        </p:spPr>
        <p:txBody>
          <a:bodyPr/>
          <a:lstStyle/>
          <a:p>
            <a:pPr marL="0" indent="0">
              <a:buFont typeface="Arial" charset="0"/>
              <a:buNone/>
            </a:pPr>
            <a:endParaRPr lang="ru-RU" sz="1800" dirty="0"/>
          </a:p>
          <a:p>
            <a:pPr marL="0" indent="0">
              <a:buFont typeface="Arial" charset="0"/>
              <a:buNone/>
            </a:pPr>
            <a:endParaRPr lang="ru-RU" sz="1000" dirty="0"/>
          </a:p>
          <a:p>
            <a:pPr marL="0" indent="0">
              <a:buFont typeface="Arial" charset="0"/>
              <a:buNone/>
            </a:pPr>
            <a:r>
              <a:rPr lang="ru-RU" sz="1800" dirty="0"/>
              <a:t>Рассмотрим статистику                               ,</a:t>
            </a:r>
            <a:endParaRPr lang="en-US" sz="1800" dirty="0"/>
          </a:p>
          <a:p>
            <a:pPr marL="0" indent="0">
              <a:buFont typeface="Arial" charset="0"/>
              <a:buNone/>
            </a:pPr>
            <a:endParaRPr lang="en-US" sz="1800" dirty="0"/>
          </a:p>
          <a:p>
            <a:pPr marL="0" indent="0">
              <a:buFont typeface="Arial" charset="0"/>
              <a:buNone/>
            </a:pPr>
            <a:r>
              <a:rPr lang="ru-RU" sz="1800" dirty="0"/>
              <a:t> которая при больших </a:t>
            </a:r>
            <a:r>
              <a:rPr lang="en-US" sz="1800" dirty="0"/>
              <a:t>n</a:t>
            </a:r>
            <a:r>
              <a:rPr lang="ru-RU" sz="1800" dirty="0"/>
              <a:t> (</a:t>
            </a:r>
            <a:r>
              <a:rPr lang="en-US" sz="1800" dirty="0"/>
              <a:t>n&gt;30)</a:t>
            </a:r>
            <a:r>
              <a:rPr lang="ru-RU" sz="1800" dirty="0"/>
              <a:t> имеет распределение </a:t>
            </a:r>
            <a:r>
              <a:rPr lang="en-US" sz="1800" dirty="0"/>
              <a:t>N(0,1)</a:t>
            </a:r>
            <a:r>
              <a:rPr lang="ru-RU" sz="1800" dirty="0"/>
              <a:t>, если </a:t>
            </a:r>
            <a:r>
              <a:rPr lang="ru-RU" sz="1800" b="1" dirty="0"/>
              <a:t>Н</a:t>
            </a:r>
            <a:r>
              <a:rPr lang="en-US" sz="1800" b="1" dirty="0"/>
              <a:t>ₒ</a:t>
            </a:r>
            <a:r>
              <a:rPr lang="en-US" sz="1800" dirty="0"/>
              <a:t> </a:t>
            </a:r>
            <a:r>
              <a:rPr lang="ru-RU" sz="1800" dirty="0"/>
              <a:t>верна.</a:t>
            </a:r>
          </a:p>
          <a:p>
            <a:pPr marL="0" indent="0">
              <a:buFont typeface="Arial" charset="0"/>
              <a:buNone/>
            </a:pPr>
            <a:r>
              <a:rPr lang="ru-RU" sz="1800" dirty="0"/>
              <a:t>Здесь </a:t>
            </a:r>
            <a:r>
              <a:rPr lang="en-US" sz="1800" dirty="0"/>
              <a:t>w- </a:t>
            </a:r>
            <a:r>
              <a:rPr lang="ru-RU" sz="1800" dirty="0"/>
              <a:t>относительная частота события в выборке. </a:t>
            </a:r>
          </a:p>
          <a:p>
            <a:pPr marL="0" indent="0">
              <a:buFont typeface="Arial" charset="0"/>
              <a:buNone/>
            </a:pPr>
            <a:endParaRPr lang="en-US" sz="1800" dirty="0"/>
          </a:p>
          <a:p>
            <a:pPr marL="0" indent="0">
              <a:buFont typeface="Arial" charset="0"/>
              <a:buNone/>
            </a:pPr>
            <a:r>
              <a:rPr lang="ru-RU" sz="1800" dirty="0"/>
              <a:t>Для </a:t>
            </a:r>
            <a:r>
              <a:rPr lang="ru-RU" sz="1800" i="1" dirty="0"/>
              <a:t>двусторонней</a:t>
            </a:r>
            <a:r>
              <a:rPr lang="ru-RU" sz="1800" dirty="0"/>
              <a:t> альтернативной гипотезы </a:t>
            </a:r>
            <a:r>
              <a:rPr lang="ru-RU" sz="1800" b="1" dirty="0"/>
              <a:t>Н₁: </a:t>
            </a:r>
            <a:r>
              <a:rPr lang="ru-RU" sz="1800" b="1" i="1" dirty="0" err="1"/>
              <a:t>р</a:t>
            </a:r>
            <a:r>
              <a:rPr lang="ru-RU" sz="1800" b="1" dirty="0" err="1"/>
              <a:t>≠</a:t>
            </a:r>
            <a:r>
              <a:rPr lang="ru-RU" sz="1800" b="1" i="1" dirty="0" err="1"/>
              <a:t>р</a:t>
            </a:r>
            <a:r>
              <a:rPr lang="en-US" sz="1800" b="1" dirty="0"/>
              <a:t>ₒ</a:t>
            </a:r>
            <a:r>
              <a:rPr lang="ru-RU" sz="1800" b="1" dirty="0"/>
              <a:t> </a:t>
            </a:r>
            <a:r>
              <a:rPr lang="ru-RU" sz="1800" dirty="0"/>
              <a:t>при заданном уровне доверия </a:t>
            </a:r>
            <a:r>
              <a:rPr lang="el-GR" sz="1800" b="1" dirty="0"/>
              <a:t>γ</a:t>
            </a:r>
            <a:r>
              <a:rPr lang="ru-RU" sz="1800" dirty="0"/>
              <a:t> по таблице значений функции Лапласа Ф(</a:t>
            </a:r>
            <a:r>
              <a:rPr lang="en-US" sz="1800" dirty="0"/>
              <a:t>t</a:t>
            </a:r>
            <a:r>
              <a:rPr lang="ru-RU" sz="1800" dirty="0"/>
              <a:t>) находим критическое значение так, чтобы                    </a:t>
            </a:r>
          </a:p>
          <a:p>
            <a:pPr marL="0" indent="0">
              <a:buFont typeface="Arial" charset="0"/>
              <a:buNone/>
            </a:pPr>
            <a:r>
              <a:rPr lang="ru-RU" sz="1800" dirty="0"/>
              <a:t>                   </a:t>
            </a:r>
          </a:p>
          <a:p>
            <a:pPr marL="0" indent="0">
              <a:buFont typeface="Arial" charset="0"/>
              <a:buNone/>
            </a:pPr>
            <a:r>
              <a:rPr lang="ru-RU" sz="1800" dirty="0"/>
              <a:t>Если статистика                , то гипотеза </a:t>
            </a:r>
            <a:r>
              <a:rPr lang="ru-RU" sz="1800" b="1" dirty="0"/>
              <a:t>Н</a:t>
            </a:r>
            <a:r>
              <a:rPr lang="en-US" sz="1800" b="1" dirty="0"/>
              <a:t>ₒ</a:t>
            </a:r>
            <a:r>
              <a:rPr lang="ru-RU" sz="1800" dirty="0"/>
              <a:t>  принимается, иначе принимается </a:t>
            </a:r>
            <a:r>
              <a:rPr lang="ru-RU" sz="1800" b="1" dirty="0"/>
              <a:t>Н₁.</a:t>
            </a:r>
          </a:p>
          <a:p>
            <a:pPr marL="0" indent="0">
              <a:buFont typeface="Arial" charset="0"/>
              <a:buNone/>
            </a:pPr>
            <a:endParaRPr lang="ru-RU" sz="1800" b="1" dirty="0"/>
          </a:p>
          <a:p>
            <a:pPr marL="0" indent="0">
              <a:buNone/>
            </a:pPr>
            <a:r>
              <a:rPr lang="ru-RU" sz="1800" dirty="0"/>
              <a:t>Для </a:t>
            </a:r>
            <a:r>
              <a:rPr lang="ru-RU" sz="1800" i="1" dirty="0"/>
              <a:t>односторонних</a:t>
            </a:r>
            <a:r>
              <a:rPr lang="ru-RU" sz="1800" dirty="0"/>
              <a:t> альтернативных гипотез (</a:t>
            </a:r>
            <a:r>
              <a:rPr lang="ru-RU" sz="1800" b="1" dirty="0"/>
              <a:t>Н₁: </a:t>
            </a:r>
            <a:r>
              <a:rPr lang="ru-RU" sz="1800" b="1" i="1" dirty="0" err="1"/>
              <a:t>р</a:t>
            </a:r>
            <a:r>
              <a:rPr lang="en-US" sz="1800" b="1" dirty="0"/>
              <a:t>&gt;</a:t>
            </a:r>
            <a:r>
              <a:rPr lang="ru-RU" sz="1800" b="1" i="1" dirty="0" err="1"/>
              <a:t>р</a:t>
            </a:r>
            <a:r>
              <a:rPr lang="en-US" sz="1800" b="1" dirty="0"/>
              <a:t>ₒ</a:t>
            </a:r>
            <a:r>
              <a:rPr lang="ru-RU" sz="1800" b="1" dirty="0"/>
              <a:t> </a:t>
            </a:r>
            <a:r>
              <a:rPr lang="ru-RU" sz="1800" dirty="0"/>
              <a:t> или </a:t>
            </a:r>
            <a:r>
              <a:rPr lang="ru-RU" sz="1800" b="1" dirty="0"/>
              <a:t>Н₁: </a:t>
            </a:r>
            <a:r>
              <a:rPr lang="ru-RU" sz="1800" b="1" i="1" dirty="0" err="1"/>
              <a:t>р</a:t>
            </a:r>
            <a:r>
              <a:rPr lang="en-US" sz="1800" b="1" dirty="0"/>
              <a:t>&lt;pₒ</a:t>
            </a:r>
            <a:r>
              <a:rPr lang="ru-RU" sz="1800" dirty="0"/>
              <a:t>)</a:t>
            </a:r>
            <a:r>
              <a:rPr lang="ru-RU" sz="1800" b="1" dirty="0"/>
              <a:t> </a:t>
            </a:r>
            <a:r>
              <a:rPr lang="ru-RU" sz="1800" dirty="0"/>
              <a:t>для определения критического значения вместо </a:t>
            </a:r>
            <a:r>
              <a:rPr lang="el-GR" sz="1800" dirty="0"/>
              <a:t>γ</a:t>
            </a:r>
            <a:r>
              <a:rPr lang="ru-RU" sz="1800" dirty="0"/>
              <a:t>=1-</a:t>
            </a:r>
            <a:r>
              <a:rPr lang="el-GR" sz="1800" dirty="0"/>
              <a:t>α</a:t>
            </a:r>
            <a:r>
              <a:rPr lang="ru-RU" sz="1800" dirty="0"/>
              <a:t> используется величина 1-2</a:t>
            </a:r>
            <a:r>
              <a:rPr lang="el-GR" sz="1800" dirty="0"/>
              <a:t>α</a:t>
            </a:r>
            <a:r>
              <a:rPr lang="ru-RU" sz="1800" dirty="0"/>
              <a:t>.</a:t>
            </a:r>
          </a:p>
          <a:p>
            <a:pPr marL="0" indent="0">
              <a:buFont typeface="Arial" charset="0"/>
              <a:buNone/>
            </a:pPr>
            <a:endParaRPr lang="ru-RU" sz="1800" dirty="0"/>
          </a:p>
          <a:p>
            <a:pPr marL="0" indent="0">
              <a:buFont typeface="Arial" charset="0"/>
              <a:buNone/>
            </a:pPr>
            <a:endParaRPr lang="ru-RU" sz="1800" dirty="0"/>
          </a:p>
          <a:p>
            <a:pPr marL="0" indent="0">
              <a:buFont typeface="Arial" charset="0"/>
              <a:buNone/>
            </a:pPr>
            <a:endParaRPr lang="ru-RU" sz="1800" dirty="0"/>
          </a:p>
        </p:txBody>
      </p:sp>
      <p:sp>
        <p:nvSpPr>
          <p:cNvPr id="16388" name="Rectangle 2"/>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graphicFrame>
        <p:nvGraphicFramePr>
          <p:cNvPr id="16389" name="Объект 4"/>
          <p:cNvGraphicFramePr>
            <a:graphicFrameLocks noChangeAspect="1"/>
          </p:cNvGraphicFramePr>
          <p:nvPr/>
        </p:nvGraphicFramePr>
        <p:xfrm>
          <a:off x="3033712" y="1843081"/>
          <a:ext cx="1466850" cy="657225"/>
        </p:xfrm>
        <a:graphic>
          <a:graphicData uri="http://schemas.openxmlformats.org/presentationml/2006/ole">
            <mc:AlternateContent xmlns:mc="http://schemas.openxmlformats.org/markup-compatibility/2006">
              <mc:Choice xmlns:v="urn:schemas-microsoft-com:vml" Requires="v">
                <p:oleObj name="Формула" r:id="rId2" imgW="1333500" imgH="596900" progId="Equation.3">
                  <p:embed/>
                </p:oleObj>
              </mc:Choice>
              <mc:Fallback>
                <p:oleObj name="Формула" r:id="rId2" imgW="1333500" imgH="596900" progId="Equation.3">
                  <p:embed/>
                  <p:pic>
                    <p:nvPicPr>
                      <p:cNvPr id="16389" name="Объект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3712" y="1843081"/>
                        <a:ext cx="1466850" cy="657225"/>
                      </a:xfrm>
                      <a:prstGeom prst="rect">
                        <a:avLst/>
                      </a:prstGeom>
                      <a:solidFill>
                        <a:schemeClr val="tx1"/>
                      </a:solidFill>
                    </p:spPr>
                  </p:pic>
                </p:oleObj>
              </mc:Fallback>
            </mc:AlternateContent>
          </a:graphicData>
        </a:graphic>
      </p:graphicFrame>
      <p:sp>
        <p:nvSpPr>
          <p:cNvPr id="16390" name="Rectangle 8"/>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graphicFrame>
        <p:nvGraphicFramePr>
          <p:cNvPr id="16391" name="Объект 2"/>
          <p:cNvGraphicFramePr>
            <a:graphicFrameLocks noChangeAspect="1"/>
          </p:cNvGraphicFramePr>
          <p:nvPr/>
        </p:nvGraphicFramePr>
        <p:xfrm>
          <a:off x="2643174" y="3736980"/>
          <a:ext cx="977900" cy="334962"/>
        </p:xfrm>
        <a:graphic>
          <a:graphicData uri="http://schemas.openxmlformats.org/presentationml/2006/ole">
            <mc:AlternateContent xmlns:mc="http://schemas.openxmlformats.org/markup-compatibility/2006">
              <mc:Choice xmlns:v="urn:schemas-microsoft-com:vml" Requires="v">
                <p:oleObj name="Формула" r:id="rId4" imgW="888614" imgH="304668" progId="Equation.3">
                  <p:embed/>
                </p:oleObj>
              </mc:Choice>
              <mc:Fallback>
                <p:oleObj name="Формула" r:id="rId4" imgW="888614" imgH="304668" progId="Equation.3">
                  <p:embed/>
                  <p:pic>
                    <p:nvPicPr>
                      <p:cNvPr id="16391" name="Объект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3174" y="3736980"/>
                        <a:ext cx="977900" cy="334962"/>
                      </a:xfrm>
                      <a:prstGeom prst="rect">
                        <a:avLst/>
                      </a:prstGeom>
                      <a:solidFill>
                        <a:schemeClr val="tx1"/>
                      </a:solidFill>
                    </p:spPr>
                  </p:pic>
                </p:oleObj>
              </mc:Fallback>
            </mc:AlternateContent>
          </a:graphicData>
        </a:graphic>
      </p:graphicFrame>
      <p:graphicFrame>
        <p:nvGraphicFramePr>
          <p:cNvPr id="16392" name="Объект 3"/>
          <p:cNvGraphicFramePr>
            <a:graphicFrameLocks noChangeAspect="1"/>
          </p:cNvGraphicFramePr>
          <p:nvPr/>
        </p:nvGraphicFramePr>
        <p:xfrm>
          <a:off x="2143108" y="4429132"/>
          <a:ext cx="641350" cy="347663"/>
        </p:xfrm>
        <a:graphic>
          <a:graphicData uri="http://schemas.openxmlformats.org/presentationml/2006/ole">
            <mc:AlternateContent xmlns:mc="http://schemas.openxmlformats.org/markup-compatibility/2006">
              <mc:Choice xmlns:v="urn:schemas-microsoft-com:vml" Requires="v">
                <p:oleObj name="Формула" r:id="rId6" imgW="583693" imgH="317225" progId="Equation.3">
                  <p:embed/>
                </p:oleObj>
              </mc:Choice>
              <mc:Fallback>
                <p:oleObj name="Формула" r:id="rId6" imgW="583693" imgH="317225" progId="Equation.3">
                  <p:embed/>
                  <p:pic>
                    <p:nvPicPr>
                      <p:cNvPr id="16392" name="Объект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43108" y="4429132"/>
                        <a:ext cx="641350" cy="347663"/>
                      </a:xfrm>
                      <a:prstGeom prst="rect">
                        <a:avLst/>
                      </a:prstGeom>
                      <a:solidFill>
                        <a:schemeClr val="tx1"/>
                      </a:solidFill>
                    </p:spPr>
                  </p:pic>
                </p:oleObj>
              </mc:Fallback>
            </mc:AlternateContent>
          </a:graphicData>
        </a:graphic>
      </p:graphicFrame>
      <p:sp>
        <p:nvSpPr>
          <p:cNvPr id="9" name="Номер слайда 8"/>
          <p:cNvSpPr>
            <a:spLocks noGrp="1"/>
          </p:cNvSpPr>
          <p:nvPr>
            <p:ph type="sldNum" sz="quarter" idx="12"/>
          </p:nvPr>
        </p:nvSpPr>
        <p:spPr/>
        <p:txBody>
          <a:bodyPr/>
          <a:lstStyle/>
          <a:p>
            <a:fld id="{0CC3DD56-44D6-4410-A1D4-F947CD7B8BFD}" type="slidenum">
              <a:rPr lang="ru-RU" smtClean="0"/>
              <a:pPr/>
              <a:t>30</a:t>
            </a:fld>
            <a:endParaRPr lang="ru-RU"/>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Заголовок 1"/>
          <p:cNvSpPr>
            <a:spLocks noGrp="1"/>
          </p:cNvSpPr>
          <p:nvPr>
            <p:ph type="title"/>
          </p:nvPr>
        </p:nvSpPr>
        <p:spPr>
          <a:xfrm>
            <a:off x="457200" y="115888"/>
            <a:ext cx="8229600" cy="288925"/>
          </a:xfrm>
        </p:spPr>
        <p:txBody>
          <a:bodyPr>
            <a:normAutofit fontScale="90000"/>
          </a:bodyPr>
          <a:lstStyle/>
          <a:p>
            <a:r>
              <a:rPr lang="ru-RU" sz="2400" b="1"/>
              <a:t>Пример 3.</a:t>
            </a:r>
          </a:p>
        </p:txBody>
      </p:sp>
      <p:sp>
        <p:nvSpPr>
          <p:cNvPr id="17411" name="Объект 2"/>
          <p:cNvSpPr>
            <a:spLocks noGrp="1"/>
          </p:cNvSpPr>
          <p:nvPr>
            <p:ph idx="1"/>
          </p:nvPr>
        </p:nvSpPr>
        <p:spPr>
          <a:xfrm>
            <a:off x="179388" y="476250"/>
            <a:ext cx="8785225" cy="3744913"/>
          </a:xfrm>
        </p:spPr>
        <p:txBody>
          <a:bodyPr>
            <a:normAutofit fontScale="85000" lnSpcReduction="20000"/>
          </a:bodyPr>
          <a:lstStyle/>
          <a:p>
            <a:pPr marL="0" indent="0" algn="just">
              <a:buFont typeface="Arial" charset="0"/>
              <a:buNone/>
            </a:pPr>
            <a:r>
              <a:rPr lang="ru-RU" sz="1800" dirty="0"/>
              <a:t>Партия изделий принимается в том случае, если вероятность того, что изделие окажется соответствующим стандарту, будет не менее 0,95. Среди случайно отобранных 100 изделий оказалось 98 соответствующих стандарту. Можно ли на уровне значимости 0,1 принять всю партию?</a:t>
            </a:r>
          </a:p>
          <a:p>
            <a:pPr marL="0" indent="0">
              <a:buFont typeface="Arial" charset="0"/>
              <a:buNone/>
            </a:pPr>
            <a:endParaRPr lang="ru-RU" sz="1800" i="1" dirty="0"/>
          </a:p>
          <a:p>
            <a:pPr marL="0" indent="0">
              <a:buFont typeface="Arial" charset="0"/>
              <a:buNone/>
            </a:pPr>
            <a:r>
              <a:rPr lang="ru-RU" sz="1800" i="1" dirty="0"/>
              <a:t>Решение. </a:t>
            </a:r>
            <a:r>
              <a:rPr lang="ru-RU" sz="1800" dirty="0"/>
              <a:t>По условию задачи </a:t>
            </a:r>
            <a:r>
              <a:rPr lang="en-US" sz="1800" dirty="0"/>
              <a:t>m=98, n=100, </a:t>
            </a:r>
            <a:r>
              <a:rPr lang="el-GR" sz="1800" dirty="0"/>
              <a:t>α</a:t>
            </a:r>
            <a:r>
              <a:rPr lang="en-US" sz="1800" dirty="0"/>
              <a:t>=0,1, pₒ=0,95. </a:t>
            </a:r>
            <a:r>
              <a:rPr lang="ru-RU" sz="1800" dirty="0"/>
              <a:t>Необходимо проверить гипотезу </a:t>
            </a:r>
            <a:r>
              <a:rPr lang="ru-RU" sz="1800" b="1" dirty="0"/>
              <a:t>Н</a:t>
            </a:r>
            <a:r>
              <a:rPr lang="en-US" sz="1800" b="1" dirty="0"/>
              <a:t>ₒ</a:t>
            </a:r>
            <a:r>
              <a:rPr lang="ru-RU" sz="1800" b="1" dirty="0"/>
              <a:t>:</a:t>
            </a:r>
            <a:r>
              <a:rPr lang="ru-RU" sz="1800" dirty="0"/>
              <a:t> </a:t>
            </a:r>
            <a:r>
              <a:rPr lang="ru-RU" sz="1800" b="1" i="1" dirty="0" err="1"/>
              <a:t>р</a:t>
            </a:r>
            <a:r>
              <a:rPr lang="ru-RU" sz="1800" b="1" i="1" dirty="0"/>
              <a:t>≥</a:t>
            </a:r>
            <a:r>
              <a:rPr lang="en-US" sz="1800" b="1" i="1" dirty="0"/>
              <a:t>0,95</a:t>
            </a:r>
            <a:r>
              <a:rPr lang="ru-RU" sz="1800" dirty="0"/>
              <a:t> против гипотезы </a:t>
            </a:r>
            <a:r>
              <a:rPr lang="ru-RU" sz="1800" b="1" dirty="0"/>
              <a:t>Н₁: </a:t>
            </a:r>
            <a:r>
              <a:rPr lang="ru-RU" sz="1800" b="1" i="1" dirty="0" err="1"/>
              <a:t>р</a:t>
            </a:r>
            <a:r>
              <a:rPr lang="en-US" sz="1800" b="1" i="1" dirty="0"/>
              <a:t>&lt;</a:t>
            </a:r>
            <a:r>
              <a:rPr lang="en-US" sz="1800" b="1" dirty="0"/>
              <a:t>0,95.  </a:t>
            </a:r>
            <a:r>
              <a:rPr lang="ru-RU" sz="1800" dirty="0"/>
              <a:t>Так как </a:t>
            </a:r>
            <a:r>
              <a:rPr lang="en-US" sz="1800" dirty="0"/>
              <a:t>H</a:t>
            </a:r>
            <a:r>
              <a:rPr lang="ru-RU" sz="1800" baseline="-25000" dirty="0"/>
              <a:t>1 </a:t>
            </a:r>
            <a:r>
              <a:rPr lang="ru-RU" sz="1800" dirty="0"/>
              <a:t>конкурирующая гипотеза – левосторонняя, то и критическая область левосторонняя. </a:t>
            </a:r>
            <a:endParaRPr lang="en-US" sz="1800" baseline="-25000" dirty="0"/>
          </a:p>
          <a:p>
            <a:pPr marL="0" indent="0">
              <a:buFont typeface="Arial" charset="0"/>
              <a:buNone/>
            </a:pPr>
            <a:r>
              <a:rPr lang="ru-RU" sz="1800" dirty="0"/>
              <a:t>Вычислим статистику </a:t>
            </a:r>
            <a:r>
              <a:rPr lang="en-US" sz="1800" dirty="0"/>
              <a:t>t:</a:t>
            </a:r>
          </a:p>
          <a:p>
            <a:pPr marL="0" indent="0">
              <a:buFont typeface="Arial" charset="0"/>
              <a:buNone/>
            </a:pPr>
            <a:endParaRPr lang="en-US" sz="1800" dirty="0"/>
          </a:p>
          <a:p>
            <a:pPr marL="0" indent="0">
              <a:buFont typeface="Arial" charset="0"/>
              <a:buNone/>
            </a:pPr>
            <a:endParaRPr lang="en-US" sz="1800" dirty="0"/>
          </a:p>
          <a:p>
            <a:pPr marL="0" indent="0">
              <a:buFont typeface="Arial" charset="0"/>
              <a:buNone/>
            </a:pPr>
            <a:endParaRPr lang="ru-RU" sz="1800" dirty="0"/>
          </a:p>
          <a:p>
            <a:pPr marL="0" indent="0">
              <a:buFont typeface="Arial" charset="0"/>
              <a:buNone/>
            </a:pPr>
            <a:endParaRPr lang="ru-RU" sz="1800" dirty="0"/>
          </a:p>
          <a:p>
            <a:pPr marL="0" indent="0">
              <a:buFont typeface="Arial" charset="0"/>
              <a:buNone/>
            </a:pPr>
            <a:endParaRPr lang="ru-RU" sz="1800" dirty="0"/>
          </a:p>
          <a:p>
            <a:pPr marL="0" indent="0">
              <a:buFont typeface="Arial" charset="0"/>
              <a:buNone/>
            </a:pPr>
            <a:endParaRPr lang="ru-RU" sz="1800" dirty="0"/>
          </a:p>
          <a:p>
            <a:pPr marL="0" indent="0">
              <a:buFont typeface="Arial" charset="0"/>
              <a:buNone/>
            </a:pPr>
            <a:r>
              <a:rPr lang="ru-RU" sz="1800" dirty="0"/>
              <a:t>Она имеет распределение </a:t>
            </a:r>
            <a:r>
              <a:rPr lang="en-US" sz="1800" dirty="0"/>
              <a:t>N(0,1) </a:t>
            </a:r>
            <a:r>
              <a:rPr lang="ru-RU" sz="1800" dirty="0"/>
              <a:t> при </a:t>
            </a:r>
            <a:r>
              <a:rPr lang="en-US" sz="1800" dirty="0"/>
              <a:t>n&gt;30, </a:t>
            </a:r>
            <a:r>
              <a:rPr lang="ru-RU" sz="1800" dirty="0"/>
              <a:t>если </a:t>
            </a:r>
            <a:r>
              <a:rPr lang="ru-RU" sz="1800" b="1" dirty="0"/>
              <a:t>Н</a:t>
            </a:r>
            <a:r>
              <a:rPr lang="en-US" sz="1800" b="1" dirty="0"/>
              <a:t>ₒ</a:t>
            </a:r>
            <a:r>
              <a:rPr lang="ru-RU" sz="1800" dirty="0"/>
              <a:t> верна. Критическое значение найдем по таблицам функции Лапласа для доверительной вероятности 1-2</a:t>
            </a:r>
            <a:r>
              <a:rPr lang="el-GR" sz="1800" dirty="0">
                <a:latin typeface="Cambria"/>
                <a:ea typeface="Cambria"/>
              </a:rPr>
              <a:t>α</a:t>
            </a:r>
            <a:r>
              <a:rPr lang="ru-RU" sz="1800" dirty="0">
                <a:latin typeface="Cambria"/>
                <a:ea typeface="Cambria"/>
              </a:rPr>
              <a:t>=</a:t>
            </a:r>
            <a:r>
              <a:rPr lang="ru-RU" sz="1800" dirty="0"/>
              <a:t>0,8:</a:t>
            </a:r>
          </a:p>
          <a:p>
            <a:pPr marL="0" indent="0">
              <a:buFont typeface="Arial" charset="0"/>
              <a:buNone/>
            </a:pPr>
            <a:r>
              <a:rPr lang="ru-RU" sz="1800" dirty="0"/>
              <a:t>Так как критическая область левосторонняя и  </a:t>
            </a:r>
            <a:r>
              <a:rPr lang="en-US" sz="1800" dirty="0"/>
              <a:t>t&gt;t</a:t>
            </a:r>
            <a:r>
              <a:rPr lang="ru-RU" sz="1800" baseline="-25000" dirty="0" err="1"/>
              <a:t>кр</a:t>
            </a:r>
            <a:r>
              <a:rPr lang="ru-RU" sz="1800" dirty="0"/>
              <a:t> , то гипотеза </a:t>
            </a:r>
            <a:r>
              <a:rPr lang="ru-RU" sz="1800" b="1" dirty="0"/>
              <a:t>Н</a:t>
            </a:r>
            <a:r>
              <a:rPr lang="en-US" sz="1800" b="1" dirty="0"/>
              <a:t>ₒ</a:t>
            </a:r>
            <a:r>
              <a:rPr lang="ru-RU" sz="1800" b="1" dirty="0"/>
              <a:t>  принимается на уровне значимости 0,1.</a:t>
            </a:r>
            <a:r>
              <a:rPr lang="ru-RU" sz="1800" dirty="0"/>
              <a:t> Следовательно,  вся партия </a:t>
            </a:r>
            <a:r>
              <a:rPr lang="ru-RU" sz="1800" b="1" dirty="0"/>
              <a:t>принимается.</a:t>
            </a:r>
            <a:r>
              <a:rPr lang="ru-RU" sz="1800" dirty="0"/>
              <a:t>.</a:t>
            </a:r>
          </a:p>
        </p:txBody>
      </p:sp>
      <p:sp>
        <p:nvSpPr>
          <p:cNvPr id="17412" name="Rectangle 5"/>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graphicFrame>
        <p:nvGraphicFramePr>
          <p:cNvPr id="17413" name="Объект 2"/>
          <p:cNvGraphicFramePr>
            <a:graphicFrameLocks noChangeAspect="1"/>
          </p:cNvGraphicFramePr>
          <p:nvPr/>
        </p:nvGraphicFramePr>
        <p:xfrm>
          <a:off x="428596" y="2214554"/>
          <a:ext cx="7124700" cy="922338"/>
        </p:xfrm>
        <a:graphic>
          <a:graphicData uri="http://schemas.openxmlformats.org/presentationml/2006/ole">
            <mc:AlternateContent xmlns:mc="http://schemas.openxmlformats.org/markup-compatibility/2006">
              <mc:Choice xmlns:v="urn:schemas-microsoft-com:vml" Requires="v">
                <p:oleObj name="Формула" r:id="rId2" imgW="6477000" imgH="838200" progId="Equation.3">
                  <p:embed/>
                </p:oleObj>
              </mc:Choice>
              <mc:Fallback>
                <p:oleObj name="Формула" r:id="rId2" imgW="6477000" imgH="838200" progId="Equation.3">
                  <p:embed/>
                  <p:pic>
                    <p:nvPicPr>
                      <p:cNvPr id="17413" name="Объект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596" y="2214554"/>
                        <a:ext cx="7124700" cy="922338"/>
                      </a:xfrm>
                      <a:prstGeom prst="rect">
                        <a:avLst/>
                      </a:prstGeom>
                      <a:solidFill>
                        <a:schemeClr val="tx1"/>
                      </a:solidFill>
                    </p:spPr>
                  </p:pic>
                </p:oleObj>
              </mc:Fallback>
            </mc:AlternateContent>
          </a:graphicData>
        </a:graphic>
      </p:graphicFrame>
      <p:sp>
        <p:nvSpPr>
          <p:cNvPr id="17414" name="Rectangle 7"/>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graphicFrame>
        <p:nvGraphicFramePr>
          <p:cNvPr id="17415" name="Объект 4"/>
          <p:cNvGraphicFramePr>
            <a:graphicFrameLocks noChangeAspect="1"/>
          </p:cNvGraphicFramePr>
          <p:nvPr/>
        </p:nvGraphicFramePr>
        <p:xfrm>
          <a:off x="6429388" y="3429000"/>
          <a:ext cx="655637" cy="265112"/>
        </p:xfrm>
        <a:graphic>
          <a:graphicData uri="http://schemas.openxmlformats.org/presentationml/2006/ole">
            <mc:AlternateContent xmlns:mc="http://schemas.openxmlformats.org/markup-compatibility/2006">
              <mc:Choice xmlns:v="urn:schemas-microsoft-com:vml" Requires="v">
                <p:oleObj name="Формула" r:id="rId4" imgW="596880" imgH="241200" progId="Equation.3">
                  <p:embed/>
                </p:oleObj>
              </mc:Choice>
              <mc:Fallback>
                <p:oleObj name="Формула" r:id="rId4" imgW="596880" imgH="241200" progId="Equation.3">
                  <p:embed/>
                  <p:pic>
                    <p:nvPicPr>
                      <p:cNvPr id="17415" name="Объект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29388" y="3429000"/>
                        <a:ext cx="655637" cy="265112"/>
                      </a:xfrm>
                      <a:prstGeom prst="rect">
                        <a:avLst/>
                      </a:prstGeom>
                      <a:solidFill>
                        <a:schemeClr val="tx1"/>
                      </a:solidFill>
                    </p:spPr>
                  </p:pic>
                </p:oleObj>
              </mc:Fallback>
            </mc:AlternateContent>
          </a:graphicData>
        </a:graphic>
      </p:graphicFrame>
      <p:sp>
        <p:nvSpPr>
          <p:cNvPr id="17416" name="Rectangle 9"/>
          <p:cNvSpPr>
            <a:spLocks noChangeArrowheads="1"/>
          </p:cNvSpPr>
          <p:nvPr/>
        </p:nvSpPr>
        <p:spPr bwMode="auto">
          <a:xfrm>
            <a:off x="0" y="0"/>
            <a:ext cx="9144000" cy="0"/>
          </a:xfrm>
          <a:prstGeom prst="rect">
            <a:avLst/>
          </a:prstGeom>
          <a:noFill/>
          <a:ln w="9525">
            <a:noFill/>
            <a:miter lim="800000"/>
            <a:headEnd/>
            <a:tailEnd/>
          </a:ln>
          <a:effectLst/>
        </p:spPr>
        <p:txBody>
          <a:bodyPr wrap="none" anchor="ctr">
            <a:spAutoFit/>
          </a:bodyPr>
          <a:lstStyle/>
          <a:p>
            <a:endParaRPr lang="ru-RU"/>
          </a:p>
        </p:txBody>
      </p:sp>
      <p:graphicFrame>
        <p:nvGraphicFramePr>
          <p:cNvPr id="14" name="Таблица 13"/>
          <p:cNvGraphicFramePr>
            <a:graphicFrameLocks noGrp="1"/>
          </p:cNvGraphicFramePr>
          <p:nvPr/>
        </p:nvGraphicFramePr>
        <p:xfrm>
          <a:off x="285720" y="4214818"/>
          <a:ext cx="8569326" cy="2193927"/>
        </p:xfrm>
        <a:graphic>
          <a:graphicData uri="http://schemas.openxmlformats.org/drawingml/2006/table">
            <a:tbl>
              <a:tblPr firstRow="1" firstCol="1" lastRow="1" lastCol="1" bandRow="1" bandCol="1">
                <a:tableStyleId>{5C22544A-7EE6-4342-B048-85BDC9FD1C3A}</a:tableStyleId>
              </a:tblPr>
              <a:tblGrid>
                <a:gridCol w="1045168">
                  <a:extLst>
                    <a:ext uri="{9D8B030D-6E8A-4147-A177-3AD203B41FA5}">
                      <a16:colId xmlns:a16="http://schemas.microsoft.com/office/drawing/2014/main" val="20000"/>
                    </a:ext>
                  </a:extLst>
                </a:gridCol>
                <a:gridCol w="730995">
                  <a:extLst>
                    <a:ext uri="{9D8B030D-6E8A-4147-A177-3AD203B41FA5}">
                      <a16:colId xmlns:a16="http://schemas.microsoft.com/office/drawing/2014/main" val="20001"/>
                    </a:ext>
                  </a:extLst>
                </a:gridCol>
                <a:gridCol w="730995">
                  <a:extLst>
                    <a:ext uri="{9D8B030D-6E8A-4147-A177-3AD203B41FA5}">
                      <a16:colId xmlns:a16="http://schemas.microsoft.com/office/drawing/2014/main" val="20002"/>
                    </a:ext>
                  </a:extLst>
                </a:gridCol>
                <a:gridCol w="730995">
                  <a:extLst>
                    <a:ext uri="{9D8B030D-6E8A-4147-A177-3AD203B41FA5}">
                      <a16:colId xmlns:a16="http://schemas.microsoft.com/office/drawing/2014/main" val="20003"/>
                    </a:ext>
                  </a:extLst>
                </a:gridCol>
                <a:gridCol w="730995">
                  <a:extLst>
                    <a:ext uri="{9D8B030D-6E8A-4147-A177-3AD203B41FA5}">
                      <a16:colId xmlns:a16="http://schemas.microsoft.com/office/drawing/2014/main" val="20004"/>
                    </a:ext>
                  </a:extLst>
                </a:gridCol>
                <a:gridCol w="730995">
                  <a:extLst>
                    <a:ext uri="{9D8B030D-6E8A-4147-A177-3AD203B41FA5}">
                      <a16:colId xmlns:a16="http://schemas.microsoft.com/office/drawing/2014/main" val="20005"/>
                    </a:ext>
                  </a:extLst>
                </a:gridCol>
                <a:gridCol w="730995">
                  <a:extLst>
                    <a:ext uri="{9D8B030D-6E8A-4147-A177-3AD203B41FA5}">
                      <a16:colId xmlns:a16="http://schemas.microsoft.com/office/drawing/2014/main" val="20006"/>
                    </a:ext>
                  </a:extLst>
                </a:gridCol>
                <a:gridCol w="838099">
                  <a:extLst>
                    <a:ext uri="{9D8B030D-6E8A-4147-A177-3AD203B41FA5}">
                      <a16:colId xmlns:a16="http://schemas.microsoft.com/office/drawing/2014/main" val="20007"/>
                    </a:ext>
                  </a:extLst>
                </a:gridCol>
                <a:gridCol w="838099">
                  <a:extLst>
                    <a:ext uri="{9D8B030D-6E8A-4147-A177-3AD203B41FA5}">
                      <a16:colId xmlns:a16="http://schemas.microsoft.com/office/drawing/2014/main" val="20008"/>
                    </a:ext>
                  </a:extLst>
                </a:gridCol>
                <a:gridCol w="730995">
                  <a:extLst>
                    <a:ext uri="{9D8B030D-6E8A-4147-A177-3AD203B41FA5}">
                      <a16:colId xmlns:a16="http://schemas.microsoft.com/office/drawing/2014/main" val="20009"/>
                    </a:ext>
                  </a:extLst>
                </a:gridCol>
                <a:gridCol w="730995">
                  <a:extLst>
                    <a:ext uri="{9D8B030D-6E8A-4147-A177-3AD203B41FA5}">
                      <a16:colId xmlns:a16="http://schemas.microsoft.com/office/drawing/2014/main" val="20010"/>
                    </a:ext>
                  </a:extLst>
                </a:gridCol>
              </a:tblGrid>
              <a:tr h="359936">
                <a:tc rowSpan="2">
                  <a:txBody>
                    <a:bodyPr/>
                    <a:lstStyle/>
                    <a:p>
                      <a:pPr>
                        <a:spcAft>
                          <a:spcPts val="0"/>
                        </a:spcAft>
                      </a:pPr>
                      <a:r>
                        <a:rPr lang="ru-RU" sz="1400" dirty="0">
                          <a:effectLst/>
                        </a:rPr>
                        <a:t>Целые и десятые доли х</a:t>
                      </a:r>
                      <a:endParaRPr lang="ru-RU" sz="1400" dirty="0">
                        <a:effectLst/>
                        <a:latin typeface="Times New Roman"/>
                        <a:ea typeface="Times New Roman"/>
                      </a:endParaRPr>
                    </a:p>
                  </a:txBody>
                  <a:tcPr marL="35484" marR="35484" marT="0" marB="0"/>
                </a:tc>
                <a:tc gridSpan="10">
                  <a:txBody>
                    <a:bodyPr/>
                    <a:lstStyle/>
                    <a:p>
                      <a:pPr algn="ctr">
                        <a:spcAft>
                          <a:spcPts val="0"/>
                        </a:spcAft>
                      </a:pPr>
                      <a:r>
                        <a:rPr lang="ru-RU" sz="1400" dirty="0">
                          <a:effectLst/>
                        </a:rPr>
                        <a:t>Сотые доли х</a:t>
                      </a:r>
                      <a:endParaRPr lang="ru-RU" sz="1400" dirty="0">
                        <a:effectLst/>
                        <a:latin typeface="Times New Roman"/>
                        <a:ea typeface="Times New Roman"/>
                      </a:endParaRPr>
                    </a:p>
                  </a:txBody>
                  <a:tcPr marL="35484" marR="35484"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0"/>
                  </a:ext>
                </a:extLst>
              </a:tr>
              <a:tr h="462786">
                <a:tc vMerge="1">
                  <a:txBody>
                    <a:bodyPr/>
                    <a:lstStyle/>
                    <a:p>
                      <a:endParaRPr lang="ru-RU"/>
                    </a:p>
                  </a:txBody>
                  <a:tcPr/>
                </a:tc>
                <a:tc>
                  <a:txBody>
                    <a:bodyPr/>
                    <a:lstStyle/>
                    <a:p>
                      <a:pPr algn="ctr">
                        <a:spcAft>
                          <a:spcPts val="0"/>
                        </a:spcAft>
                      </a:pPr>
                      <a:r>
                        <a:rPr lang="ru-RU" sz="1400" dirty="0">
                          <a:effectLst/>
                        </a:rPr>
                        <a:t>0</a:t>
                      </a:r>
                      <a:endParaRPr lang="ru-RU" sz="1400" dirty="0">
                        <a:effectLst/>
                        <a:latin typeface="Times New Roman"/>
                        <a:ea typeface="Times New Roman"/>
                      </a:endParaRPr>
                    </a:p>
                  </a:txBody>
                  <a:tcPr marL="35484" marR="35484" marT="0" marB="0"/>
                </a:tc>
                <a:tc>
                  <a:txBody>
                    <a:bodyPr/>
                    <a:lstStyle/>
                    <a:p>
                      <a:pPr algn="ctr">
                        <a:spcAft>
                          <a:spcPts val="0"/>
                        </a:spcAft>
                      </a:pPr>
                      <a:r>
                        <a:rPr lang="ru-RU" sz="1400" dirty="0">
                          <a:effectLst/>
                        </a:rPr>
                        <a:t>1</a:t>
                      </a:r>
                      <a:endParaRPr lang="ru-RU" sz="1400" dirty="0">
                        <a:effectLst/>
                        <a:latin typeface="Times New Roman"/>
                        <a:ea typeface="Times New Roman"/>
                      </a:endParaRPr>
                    </a:p>
                  </a:txBody>
                  <a:tcPr marL="35484" marR="35484" marT="0" marB="0"/>
                </a:tc>
                <a:tc>
                  <a:txBody>
                    <a:bodyPr/>
                    <a:lstStyle/>
                    <a:p>
                      <a:pPr algn="ctr">
                        <a:spcAft>
                          <a:spcPts val="0"/>
                        </a:spcAft>
                      </a:pPr>
                      <a:r>
                        <a:rPr lang="ru-RU" sz="1400" dirty="0">
                          <a:effectLst/>
                        </a:rPr>
                        <a:t>2</a:t>
                      </a:r>
                      <a:endParaRPr lang="ru-RU" sz="1400" dirty="0">
                        <a:effectLst/>
                        <a:latin typeface="Times New Roman"/>
                        <a:ea typeface="Times New Roman"/>
                      </a:endParaRPr>
                    </a:p>
                  </a:txBody>
                  <a:tcPr marL="35484" marR="35484" marT="0" marB="0"/>
                </a:tc>
                <a:tc>
                  <a:txBody>
                    <a:bodyPr/>
                    <a:lstStyle/>
                    <a:p>
                      <a:pPr algn="ctr">
                        <a:spcAft>
                          <a:spcPts val="0"/>
                        </a:spcAft>
                      </a:pPr>
                      <a:r>
                        <a:rPr lang="ru-RU" sz="1400" dirty="0">
                          <a:effectLst/>
                        </a:rPr>
                        <a:t>3</a:t>
                      </a:r>
                      <a:endParaRPr lang="ru-RU" sz="1400" dirty="0">
                        <a:effectLst/>
                        <a:latin typeface="Times New Roman"/>
                        <a:ea typeface="Times New Roman"/>
                      </a:endParaRPr>
                    </a:p>
                  </a:txBody>
                  <a:tcPr marL="35484" marR="35484" marT="0" marB="0"/>
                </a:tc>
                <a:tc>
                  <a:txBody>
                    <a:bodyPr/>
                    <a:lstStyle/>
                    <a:p>
                      <a:pPr algn="ctr">
                        <a:spcAft>
                          <a:spcPts val="0"/>
                        </a:spcAft>
                      </a:pPr>
                      <a:r>
                        <a:rPr lang="ru-RU" sz="1400">
                          <a:effectLst/>
                        </a:rPr>
                        <a:t>4</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5</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6</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7</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8</a:t>
                      </a:r>
                      <a:endParaRPr lang="ru-RU" sz="1400">
                        <a:effectLst/>
                        <a:latin typeface="Times New Roman"/>
                        <a:ea typeface="Times New Roman"/>
                      </a:endParaRPr>
                    </a:p>
                  </a:txBody>
                  <a:tcPr marL="35484" marR="35484" marT="0" marB="0"/>
                </a:tc>
                <a:tc>
                  <a:txBody>
                    <a:bodyPr/>
                    <a:lstStyle/>
                    <a:p>
                      <a:pPr algn="ctr">
                        <a:spcAft>
                          <a:spcPts val="0"/>
                        </a:spcAft>
                      </a:pPr>
                      <a:r>
                        <a:rPr lang="ru-RU" sz="1400" dirty="0">
                          <a:effectLst/>
                        </a:rPr>
                        <a:t>9</a:t>
                      </a:r>
                      <a:endParaRPr lang="ru-RU" sz="1400" dirty="0">
                        <a:effectLst/>
                        <a:latin typeface="Times New Roman"/>
                        <a:ea typeface="Times New Roman"/>
                      </a:endParaRPr>
                    </a:p>
                  </a:txBody>
                  <a:tcPr marL="35484" marR="35484" marT="0" marB="0"/>
                </a:tc>
                <a:extLst>
                  <a:ext uri="{0D108BD9-81ED-4DB2-BD59-A6C34878D82A}">
                    <a16:rowId xmlns:a16="http://schemas.microsoft.com/office/drawing/2014/main" val="10001"/>
                  </a:ext>
                </a:extLst>
              </a:tr>
              <a:tr h="274241">
                <a:tc>
                  <a:txBody>
                    <a:bodyPr/>
                    <a:lstStyle/>
                    <a:p>
                      <a:pPr>
                        <a:spcAft>
                          <a:spcPts val="0"/>
                        </a:spcAft>
                      </a:pPr>
                      <a:r>
                        <a:rPr lang="ru-RU" sz="1400" dirty="0">
                          <a:effectLst/>
                        </a:rPr>
                        <a:t>1,1</a:t>
                      </a:r>
                      <a:endParaRPr lang="ru-RU" sz="1400" dirty="0">
                        <a:effectLst/>
                        <a:latin typeface="Times New Roman"/>
                        <a:ea typeface="Times New Roman"/>
                      </a:endParaRPr>
                    </a:p>
                  </a:txBody>
                  <a:tcPr marL="35484" marR="35484" marT="0" marB="0"/>
                </a:tc>
                <a:tc>
                  <a:txBody>
                    <a:bodyPr/>
                    <a:lstStyle/>
                    <a:p>
                      <a:pPr algn="ctr">
                        <a:spcAft>
                          <a:spcPts val="0"/>
                        </a:spcAft>
                      </a:pPr>
                      <a:r>
                        <a:rPr lang="ru-RU" sz="1400">
                          <a:effectLst/>
                        </a:rPr>
                        <a:t>0,7287</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0,7330</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0,7373</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0,7415</a:t>
                      </a:r>
                      <a:endParaRPr lang="ru-RU" sz="1400">
                        <a:effectLst/>
                        <a:latin typeface="Times New Roman"/>
                        <a:ea typeface="Times New Roman"/>
                      </a:endParaRPr>
                    </a:p>
                  </a:txBody>
                  <a:tcPr marL="35484" marR="35484" marT="0" marB="0"/>
                </a:tc>
                <a:tc>
                  <a:txBody>
                    <a:bodyPr/>
                    <a:lstStyle/>
                    <a:p>
                      <a:pPr algn="ctr">
                        <a:spcAft>
                          <a:spcPts val="0"/>
                        </a:spcAft>
                      </a:pPr>
                      <a:r>
                        <a:rPr lang="ru-RU" sz="1400" dirty="0">
                          <a:effectLst/>
                        </a:rPr>
                        <a:t>0,7457</a:t>
                      </a:r>
                      <a:endParaRPr lang="ru-RU" sz="1400" dirty="0">
                        <a:effectLst/>
                        <a:latin typeface="Times New Roman"/>
                        <a:ea typeface="Times New Roman"/>
                      </a:endParaRPr>
                    </a:p>
                  </a:txBody>
                  <a:tcPr marL="35484" marR="35484" marT="0" marB="0"/>
                </a:tc>
                <a:tc>
                  <a:txBody>
                    <a:bodyPr/>
                    <a:lstStyle/>
                    <a:p>
                      <a:pPr algn="ctr">
                        <a:spcAft>
                          <a:spcPts val="0"/>
                        </a:spcAft>
                      </a:pPr>
                      <a:r>
                        <a:rPr lang="ru-RU" sz="1400" dirty="0">
                          <a:effectLst/>
                        </a:rPr>
                        <a:t>0,7499</a:t>
                      </a:r>
                      <a:endParaRPr lang="ru-RU" sz="1400" dirty="0">
                        <a:effectLst/>
                        <a:latin typeface="Times New Roman"/>
                        <a:ea typeface="Times New Roman"/>
                      </a:endParaRPr>
                    </a:p>
                  </a:txBody>
                  <a:tcPr marL="35484" marR="35484" marT="0" marB="0"/>
                </a:tc>
                <a:tc>
                  <a:txBody>
                    <a:bodyPr/>
                    <a:lstStyle/>
                    <a:p>
                      <a:pPr algn="ctr">
                        <a:spcAft>
                          <a:spcPts val="0"/>
                        </a:spcAft>
                      </a:pPr>
                      <a:r>
                        <a:rPr lang="ru-RU" sz="1400">
                          <a:effectLst/>
                        </a:rPr>
                        <a:t>0,7540</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0,7580</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0,7620</a:t>
                      </a:r>
                      <a:endParaRPr lang="ru-RU" sz="1400">
                        <a:effectLst/>
                        <a:latin typeface="Times New Roman"/>
                        <a:ea typeface="Times New Roman"/>
                      </a:endParaRPr>
                    </a:p>
                  </a:txBody>
                  <a:tcPr marL="35484" marR="35484" marT="0" marB="0"/>
                </a:tc>
                <a:tc>
                  <a:txBody>
                    <a:bodyPr/>
                    <a:lstStyle/>
                    <a:p>
                      <a:pPr algn="ctr">
                        <a:spcAft>
                          <a:spcPts val="0"/>
                        </a:spcAft>
                      </a:pPr>
                      <a:r>
                        <a:rPr lang="ru-RU" sz="1400" dirty="0">
                          <a:effectLst/>
                        </a:rPr>
                        <a:t>0,7660</a:t>
                      </a:r>
                      <a:endParaRPr lang="ru-RU" sz="1400" dirty="0">
                        <a:effectLst/>
                        <a:latin typeface="Times New Roman"/>
                        <a:ea typeface="Times New Roman"/>
                      </a:endParaRPr>
                    </a:p>
                  </a:txBody>
                  <a:tcPr marL="35484" marR="35484" marT="0" marB="0"/>
                </a:tc>
                <a:extLst>
                  <a:ext uri="{0D108BD9-81ED-4DB2-BD59-A6C34878D82A}">
                    <a16:rowId xmlns:a16="http://schemas.microsoft.com/office/drawing/2014/main" val="10002"/>
                  </a:ext>
                </a:extLst>
              </a:tr>
              <a:tr h="274241">
                <a:tc>
                  <a:txBody>
                    <a:bodyPr/>
                    <a:lstStyle/>
                    <a:p>
                      <a:pPr>
                        <a:spcAft>
                          <a:spcPts val="0"/>
                        </a:spcAft>
                      </a:pPr>
                      <a:r>
                        <a:rPr lang="ru-RU" sz="1400">
                          <a:effectLst/>
                        </a:rPr>
                        <a:t>1,2</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0,7699</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0,7737</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0,7775</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0,7813</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0,7850</a:t>
                      </a:r>
                      <a:endParaRPr lang="ru-RU" sz="1400">
                        <a:effectLst/>
                        <a:latin typeface="Times New Roman"/>
                        <a:ea typeface="Times New Roman"/>
                      </a:endParaRPr>
                    </a:p>
                  </a:txBody>
                  <a:tcPr marL="35484" marR="35484" marT="0" marB="0"/>
                </a:tc>
                <a:tc>
                  <a:txBody>
                    <a:bodyPr/>
                    <a:lstStyle/>
                    <a:p>
                      <a:pPr algn="ctr">
                        <a:spcAft>
                          <a:spcPts val="0"/>
                        </a:spcAft>
                      </a:pPr>
                      <a:r>
                        <a:rPr lang="ru-RU" sz="1400" dirty="0">
                          <a:effectLst/>
                        </a:rPr>
                        <a:t>0,7887</a:t>
                      </a:r>
                      <a:endParaRPr lang="ru-RU" sz="1400" dirty="0">
                        <a:effectLst/>
                        <a:latin typeface="Times New Roman"/>
                        <a:ea typeface="Times New Roman"/>
                      </a:endParaRPr>
                    </a:p>
                  </a:txBody>
                  <a:tcPr marL="35484" marR="35484" marT="0" marB="0"/>
                </a:tc>
                <a:tc>
                  <a:txBody>
                    <a:bodyPr/>
                    <a:lstStyle/>
                    <a:p>
                      <a:pPr algn="ctr">
                        <a:spcAft>
                          <a:spcPts val="0"/>
                        </a:spcAft>
                      </a:pPr>
                      <a:r>
                        <a:rPr lang="ru-RU" sz="1400" dirty="0">
                          <a:effectLst/>
                        </a:rPr>
                        <a:t>0,7923</a:t>
                      </a:r>
                      <a:endParaRPr lang="ru-RU" sz="1400" dirty="0">
                        <a:effectLst/>
                        <a:latin typeface="Times New Roman"/>
                        <a:ea typeface="Times New Roman"/>
                      </a:endParaRPr>
                    </a:p>
                  </a:txBody>
                  <a:tcPr marL="35484" marR="35484" marT="0" marB="0"/>
                </a:tc>
                <a:tc>
                  <a:txBody>
                    <a:bodyPr/>
                    <a:lstStyle/>
                    <a:p>
                      <a:pPr algn="ctr">
                        <a:spcAft>
                          <a:spcPts val="0"/>
                        </a:spcAft>
                      </a:pPr>
                      <a:r>
                        <a:rPr lang="ru-RU" sz="1400">
                          <a:effectLst/>
                        </a:rPr>
                        <a:t>0,7959</a:t>
                      </a:r>
                      <a:endParaRPr lang="ru-RU" sz="1400">
                        <a:effectLst/>
                        <a:latin typeface="Times New Roman"/>
                        <a:ea typeface="Times New Roman"/>
                      </a:endParaRPr>
                    </a:p>
                  </a:txBody>
                  <a:tcPr marL="35484" marR="35484" marT="0" marB="0"/>
                </a:tc>
                <a:tc>
                  <a:txBody>
                    <a:bodyPr/>
                    <a:lstStyle/>
                    <a:p>
                      <a:pPr algn="ctr">
                        <a:spcAft>
                          <a:spcPts val="0"/>
                        </a:spcAft>
                      </a:pPr>
                      <a:r>
                        <a:rPr lang="ru-RU" sz="1400" dirty="0">
                          <a:solidFill>
                            <a:srgbClr val="FF0000"/>
                          </a:solidFill>
                          <a:effectLst/>
                        </a:rPr>
                        <a:t>0,7984</a:t>
                      </a:r>
                      <a:endParaRPr lang="ru-RU" sz="1400" dirty="0">
                        <a:solidFill>
                          <a:srgbClr val="FF0000"/>
                        </a:solidFill>
                        <a:effectLst/>
                        <a:latin typeface="Times New Roman"/>
                        <a:ea typeface="Times New Roman"/>
                      </a:endParaRPr>
                    </a:p>
                  </a:txBody>
                  <a:tcPr marL="35484" marR="35484" marT="0" marB="0"/>
                </a:tc>
                <a:tc>
                  <a:txBody>
                    <a:bodyPr/>
                    <a:lstStyle/>
                    <a:p>
                      <a:pPr algn="ctr">
                        <a:spcAft>
                          <a:spcPts val="0"/>
                        </a:spcAft>
                      </a:pPr>
                      <a:r>
                        <a:rPr lang="ru-RU" sz="1400" dirty="0">
                          <a:effectLst/>
                        </a:rPr>
                        <a:t>0,8029</a:t>
                      </a:r>
                      <a:endParaRPr lang="ru-RU" sz="1400" dirty="0">
                        <a:effectLst/>
                        <a:latin typeface="Times New Roman"/>
                        <a:ea typeface="Times New Roman"/>
                      </a:endParaRPr>
                    </a:p>
                  </a:txBody>
                  <a:tcPr marL="35484" marR="35484" marT="0" marB="0"/>
                </a:tc>
                <a:extLst>
                  <a:ext uri="{0D108BD9-81ED-4DB2-BD59-A6C34878D82A}">
                    <a16:rowId xmlns:a16="http://schemas.microsoft.com/office/drawing/2014/main" val="10003"/>
                  </a:ext>
                </a:extLst>
              </a:tr>
              <a:tr h="274241">
                <a:tc>
                  <a:txBody>
                    <a:bodyPr/>
                    <a:lstStyle/>
                    <a:p>
                      <a:pPr>
                        <a:spcAft>
                          <a:spcPts val="0"/>
                        </a:spcAft>
                      </a:pPr>
                      <a:r>
                        <a:rPr lang="ru-RU" sz="1400">
                          <a:effectLst/>
                        </a:rPr>
                        <a:t>1,3</a:t>
                      </a:r>
                      <a:endParaRPr lang="ru-RU" sz="1400">
                        <a:effectLst/>
                        <a:latin typeface="Times New Roman"/>
                        <a:ea typeface="Times New Roman"/>
                      </a:endParaRPr>
                    </a:p>
                  </a:txBody>
                  <a:tcPr marL="35484" marR="35484" marT="0" marB="0"/>
                </a:tc>
                <a:tc>
                  <a:txBody>
                    <a:bodyPr/>
                    <a:lstStyle/>
                    <a:p>
                      <a:pPr>
                        <a:spcAft>
                          <a:spcPts val="0"/>
                        </a:spcAft>
                      </a:pPr>
                      <a:r>
                        <a:rPr lang="ru-RU" sz="1400">
                          <a:effectLst/>
                        </a:rPr>
                        <a:t>0,8054</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0,8098</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0,8132</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0,8165</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0,8198</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0,8230</a:t>
                      </a:r>
                      <a:endParaRPr lang="ru-RU" sz="1400">
                        <a:effectLst/>
                        <a:latin typeface="Times New Roman"/>
                        <a:ea typeface="Times New Roman"/>
                      </a:endParaRPr>
                    </a:p>
                  </a:txBody>
                  <a:tcPr marL="35484" marR="35484" marT="0" marB="0"/>
                </a:tc>
                <a:tc>
                  <a:txBody>
                    <a:bodyPr/>
                    <a:lstStyle/>
                    <a:p>
                      <a:pPr algn="ctr">
                        <a:spcAft>
                          <a:spcPts val="0"/>
                        </a:spcAft>
                      </a:pPr>
                      <a:r>
                        <a:rPr lang="ru-RU" sz="1400" dirty="0">
                          <a:effectLst/>
                        </a:rPr>
                        <a:t>0,8262</a:t>
                      </a:r>
                      <a:endParaRPr lang="ru-RU" sz="1400" dirty="0">
                        <a:effectLst/>
                        <a:latin typeface="Times New Roman"/>
                        <a:ea typeface="Times New Roman"/>
                      </a:endParaRPr>
                    </a:p>
                  </a:txBody>
                  <a:tcPr marL="35484" marR="35484" marT="0" marB="0"/>
                </a:tc>
                <a:tc>
                  <a:txBody>
                    <a:bodyPr/>
                    <a:lstStyle/>
                    <a:p>
                      <a:pPr algn="ctr">
                        <a:spcAft>
                          <a:spcPts val="0"/>
                        </a:spcAft>
                      </a:pPr>
                      <a:r>
                        <a:rPr lang="ru-RU" sz="1400">
                          <a:effectLst/>
                        </a:rPr>
                        <a:t>0,8293</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0,8324</a:t>
                      </a:r>
                      <a:endParaRPr lang="ru-RU" sz="1400">
                        <a:effectLst/>
                        <a:latin typeface="Times New Roman"/>
                        <a:ea typeface="Times New Roman"/>
                      </a:endParaRPr>
                    </a:p>
                  </a:txBody>
                  <a:tcPr marL="35484" marR="35484" marT="0" marB="0"/>
                </a:tc>
                <a:tc>
                  <a:txBody>
                    <a:bodyPr/>
                    <a:lstStyle/>
                    <a:p>
                      <a:pPr algn="ctr">
                        <a:spcAft>
                          <a:spcPts val="0"/>
                        </a:spcAft>
                      </a:pPr>
                      <a:r>
                        <a:rPr lang="ru-RU" sz="1400" dirty="0">
                          <a:effectLst/>
                        </a:rPr>
                        <a:t>0,8355</a:t>
                      </a:r>
                      <a:endParaRPr lang="ru-RU" sz="1400" dirty="0">
                        <a:effectLst/>
                        <a:latin typeface="Times New Roman"/>
                        <a:ea typeface="Times New Roman"/>
                      </a:endParaRPr>
                    </a:p>
                  </a:txBody>
                  <a:tcPr marL="35484" marR="35484" marT="0" marB="0"/>
                </a:tc>
                <a:extLst>
                  <a:ext uri="{0D108BD9-81ED-4DB2-BD59-A6C34878D82A}">
                    <a16:rowId xmlns:a16="http://schemas.microsoft.com/office/drawing/2014/main" val="10004"/>
                  </a:ext>
                </a:extLst>
              </a:tr>
              <a:tr h="274241">
                <a:tc>
                  <a:txBody>
                    <a:bodyPr/>
                    <a:lstStyle/>
                    <a:p>
                      <a:pPr>
                        <a:spcAft>
                          <a:spcPts val="0"/>
                        </a:spcAft>
                      </a:pPr>
                      <a:r>
                        <a:rPr lang="ru-RU" sz="1400">
                          <a:effectLst/>
                        </a:rPr>
                        <a:t>1,4</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0,8385</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0,8415</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0,8444</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0,8473</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0,8501</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0,8529</a:t>
                      </a:r>
                      <a:endParaRPr lang="ru-RU" sz="1400">
                        <a:effectLst/>
                        <a:latin typeface="Times New Roman"/>
                        <a:ea typeface="Times New Roman"/>
                      </a:endParaRPr>
                    </a:p>
                  </a:txBody>
                  <a:tcPr marL="35484" marR="35484" marT="0" marB="0"/>
                </a:tc>
                <a:tc>
                  <a:txBody>
                    <a:bodyPr/>
                    <a:lstStyle/>
                    <a:p>
                      <a:pPr algn="ctr">
                        <a:spcAft>
                          <a:spcPts val="0"/>
                        </a:spcAft>
                      </a:pPr>
                      <a:r>
                        <a:rPr lang="ru-RU" sz="1400" dirty="0">
                          <a:effectLst/>
                        </a:rPr>
                        <a:t>0,8557</a:t>
                      </a:r>
                      <a:endParaRPr lang="ru-RU" sz="1400" dirty="0">
                        <a:effectLst/>
                        <a:latin typeface="Times New Roman"/>
                        <a:ea typeface="Times New Roman"/>
                      </a:endParaRPr>
                    </a:p>
                  </a:txBody>
                  <a:tcPr marL="35484" marR="35484" marT="0" marB="0"/>
                </a:tc>
                <a:tc>
                  <a:txBody>
                    <a:bodyPr/>
                    <a:lstStyle/>
                    <a:p>
                      <a:pPr algn="ctr">
                        <a:spcAft>
                          <a:spcPts val="0"/>
                        </a:spcAft>
                      </a:pPr>
                      <a:r>
                        <a:rPr lang="ru-RU" sz="1400" dirty="0">
                          <a:effectLst/>
                        </a:rPr>
                        <a:t>0,8584</a:t>
                      </a:r>
                      <a:endParaRPr lang="ru-RU" sz="1400" dirty="0">
                        <a:effectLst/>
                        <a:latin typeface="Times New Roman"/>
                        <a:ea typeface="Times New Roman"/>
                      </a:endParaRPr>
                    </a:p>
                  </a:txBody>
                  <a:tcPr marL="35484" marR="35484" marT="0" marB="0"/>
                </a:tc>
                <a:tc>
                  <a:txBody>
                    <a:bodyPr/>
                    <a:lstStyle/>
                    <a:p>
                      <a:pPr algn="ctr">
                        <a:spcAft>
                          <a:spcPts val="0"/>
                        </a:spcAft>
                      </a:pPr>
                      <a:r>
                        <a:rPr lang="ru-RU" sz="1400">
                          <a:effectLst/>
                        </a:rPr>
                        <a:t>0,8611</a:t>
                      </a:r>
                      <a:endParaRPr lang="ru-RU" sz="1400">
                        <a:effectLst/>
                        <a:latin typeface="Times New Roman"/>
                        <a:ea typeface="Times New Roman"/>
                      </a:endParaRPr>
                    </a:p>
                  </a:txBody>
                  <a:tcPr marL="35484" marR="35484" marT="0" marB="0"/>
                </a:tc>
                <a:tc>
                  <a:txBody>
                    <a:bodyPr/>
                    <a:lstStyle/>
                    <a:p>
                      <a:pPr algn="ctr">
                        <a:spcAft>
                          <a:spcPts val="0"/>
                        </a:spcAft>
                      </a:pPr>
                      <a:r>
                        <a:rPr lang="ru-RU" sz="1400" dirty="0">
                          <a:effectLst/>
                        </a:rPr>
                        <a:t>0,8638</a:t>
                      </a:r>
                      <a:endParaRPr lang="ru-RU" sz="1400" dirty="0">
                        <a:effectLst/>
                        <a:latin typeface="Times New Roman"/>
                        <a:ea typeface="Times New Roman"/>
                      </a:endParaRPr>
                    </a:p>
                  </a:txBody>
                  <a:tcPr marL="35484" marR="35484" marT="0" marB="0"/>
                </a:tc>
                <a:extLst>
                  <a:ext uri="{0D108BD9-81ED-4DB2-BD59-A6C34878D82A}">
                    <a16:rowId xmlns:a16="http://schemas.microsoft.com/office/drawing/2014/main" val="10005"/>
                  </a:ext>
                </a:extLst>
              </a:tr>
              <a:tr h="274241">
                <a:tc>
                  <a:txBody>
                    <a:bodyPr/>
                    <a:lstStyle/>
                    <a:p>
                      <a:pPr>
                        <a:spcAft>
                          <a:spcPts val="0"/>
                        </a:spcAft>
                      </a:pPr>
                      <a:r>
                        <a:rPr lang="ru-RU" sz="1400" dirty="0">
                          <a:effectLst/>
                        </a:rPr>
                        <a:t>1,5</a:t>
                      </a:r>
                      <a:endParaRPr lang="ru-RU" sz="1400" dirty="0">
                        <a:effectLst/>
                        <a:latin typeface="Times New Roman"/>
                        <a:ea typeface="Times New Roman"/>
                      </a:endParaRPr>
                    </a:p>
                  </a:txBody>
                  <a:tcPr marL="35484" marR="35484" marT="0" marB="0"/>
                </a:tc>
                <a:tc>
                  <a:txBody>
                    <a:bodyPr/>
                    <a:lstStyle/>
                    <a:p>
                      <a:pPr algn="ctr">
                        <a:spcAft>
                          <a:spcPts val="0"/>
                        </a:spcAft>
                      </a:pPr>
                      <a:r>
                        <a:rPr lang="ru-RU" sz="1400">
                          <a:effectLst/>
                        </a:rPr>
                        <a:t>0,8664</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0,8690</a:t>
                      </a:r>
                      <a:endParaRPr lang="ru-RU" sz="1400">
                        <a:effectLst/>
                        <a:latin typeface="Times New Roman"/>
                        <a:ea typeface="Times New Roman"/>
                      </a:endParaRPr>
                    </a:p>
                  </a:txBody>
                  <a:tcPr marL="35484" marR="35484" marT="0" marB="0"/>
                </a:tc>
                <a:tc>
                  <a:txBody>
                    <a:bodyPr/>
                    <a:lstStyle/>
                    <a:p>
                      <a:pPr algn="ctr">
                        <a:spcAft>
                          <a:spcPts val="0"/>
                        </a:spcAft>
                      </a:pPr>
                      <a:r>
                        <a:rPr lang="ru-RU" sz="1400" dirty="0">
                          <a:effectLst/>
                        </a:rPr>
                        <a:t>0,8715</a:t>
                      </a:r>
                      <a:endParaRPr lang="ru-RU" sz="1400" dirty="0">
                        <a:effectLst/>
                        <a:latin typeface="Times New Roman"/>
                        <a:ea typeface="Times New Roman"/>
                      </a:endParaRPr>
                    </a:p>
                  </a:txBody>
                  <a:tcPr marL="35484" marR="35484" marT="0" marB="0"/>
                </a:tc>
                <a:tc>
                  <a:txBody>
                    <a:bodyPr/>
                    <a:lstStyle/>
                    <a:p>
                      <a:pPr algn="ctr">
                        <a:spcAft>
                          <a:spcPts val="0"/>
                        </a:spcAft>
                      </a:pPr>
                      <a:r>
                        <a:rPr lang="ru-RU" sz="1400">
                          <a:effectLst/>
                        </a:rPr>
                        <a:t>0,8740</a:t>
                      </a:r>
                      <a:endParaRPr lang="ru-RU" sz="1400">
                        <a:effectLst/>
                        <a:latin typeface="Times New Roman"/>
                        <a:ea typeface="Times New Roman"/>
                      </a:endParaRPr>
                    </a:p>
                  </a:txBody>
                  <a:tcPr marL="35484" marR="35484" marT="0" marB="0"/>
                </a:tc>
                <a:tc>
                  <a:txBody>
                    <a:bodyPr/>
                    <a:lstStyle/>
                    <a:p>
                      <a:pPr algn="ctr">
                        <a:spcAft>
                          <a:spcPts val="0"/>
                        </a:spcAft>
                      </a:pPr>
                      <a:r>
                        <a:rPr lang="ru-RU" sz="1400" dirty="0">
                          <a:effectLst/>
                        </a:rPr>
                        <a:t>0,8764</a:t>
                      </a:r>
                      <a:endParaRPr lang="ru-RU" sz="1400" dirty="0">
                        <a:effectLst/>
                        <a:latin typeface="Times New Roman"/>
                        <a:ea typeface="Times New Roman"/>
                      </a:endParaRPr>
                    </a:p>
                  </a:txBody>
                  <a:tcPr marL="35484" marR="35484" marT="0" marB="0"/>
                </a:tc>
                <a:tc>
                  <a:txBody>
                    <a:bodyPr/>
                    <a:lstStyle/>
                    <a:p>
                      <a:pPr algn="ctr">
                        <a:spcAft>
                          <a:spcPts val="0"/>
                        </a:spcAft>
                      </a:pPr>
                      <a:r>
                        <a:rPr lang="ru-RU" sz="1400">
                          <a:effectLst/>
                        </a:rPr>
                        <a:t>0,8789</a:t>
                      </a:r>
                      <a:endParaRPr lang="ru-RU" sz="1400">
                        <a:effectLst/>
                        <a:latin typeface="Times New Roman"/>
                        <a:ea typeface="Times New Roman"/>
                      </a:endParaRPr>
                    </a:p>
                  </a:txBody>
                  <a:tcPr marL="35484" marR="35484" marT="0" marB="0"/>
                </a:tc>
                <a:tc>
                  <a:txBody>
                    <a:bodyPr/>
                    <a:lstStyle/>
                    <a:p>
                      <a:pPr algn="ctr">
                        <a:spcAft>
                          <a:spcPts val="0"/>
                        </a:spcAft>
                      </a:pPr>
                      <a:r>
                        <a:rPr lang="ru-RU" sz="1400">
                          <a:effectLst/>
                        </a:rPr>
                        <a:t>0,8812</a:t>
                      </a:r>
                      <a:endParaRPr lang="ru-RU" sz="1400">
                        <a:effectLst/>
                        <a:latin typeface="Times New Roman"/>
                        <a:ea typeface="Times New Roman"/>
                      </a:endParaRPr>
                    </a:p>
                  </a:txBody>
                  <a:tcPr marL="35484" marR="35484" marT="0" marB="0"/>
                </a:tc>
                <a:tc>
                  <a:txBody>
                    <a:bodyPr/>
                    <a:lstStyle/>
                    <a:p>
                      <a:pPr algn="ctr">
                        <a:spcAft>
                          <a:spcPts val="0"/>
                        </a:spcAft>
                      </a:pPr>
                      <a:r>
                        <a:rPr lang="ru-RU" sz="1400" dirty="0">
                          <a:effectLst/>
                        </a:rPr>
                        <a:t>0,8836</a:t>
                      </a:r>
                      <a:endParaRPr lang="ru-RU" sz="1400" dirty="0">
                        <a:effectLst/>
                        <a:latin typeface="Times New Roman"/>
                        <a:ea typeface="Times New Roman"/>
                      </a:endParaRPr>
                    </a:p>
                  </a:txBody>
                  <a:tcPr marL="35484" marR="35484" marT="0" marB="0"/>
                </a:tc>
                <a:tc>
                  <a:txBody>
                    <a:bodyPr/>
                    <a:lstStyle/>
                    <a:p>
                      <a:pPr algn="ctr">
                        <a:spcAft>
                          <a:spcPts val="0"/>
                        </a:spcAft>
                      </a:pPr>
                      <a:r>
                        <a:rPr lang="ru-RU" sz="1400" dirty="0">
                          <a:effectLst/>
                        </a:rPr>
                        <a:t>0,8859</a:t>
                      </a:r>
                      <a:endParaRPr lang="ru-RU" sz="1400" dirty="0">
                        <a:effectLst/>
                        <a:latin typeface="Times New Roman"/>
                        <a:ea typeface="Times New Roman"/>
                      </a:endParaRPr>
                    </a:p>
                  </a:txBody>
                  <a:tcPr marL="35484" marR="35484" marT="0" marB="0"/>
                </a:tc>
                <a:tc>
                  <a:txBody>
                    <a:bodyPr/>
                    <a:lstStyle/>
                    <a:p>
                      <a:pPr algn="ctr">
                        <a:spcAft>
                          <a:spcPts val="0"/>
                        </a:spcAft>
                      </a:pPr>
                      <a:r>
                        <a:rPr lang="ru-RU" sz="1400" dirty="0">
                          <a:effectLst/>
                        </a:rPr>
                        <a:t>0,8882</a:t>
                      </a:r>
                      <a:endParaRPr lang="ru-RU" sz="1400" dirty="0">
                        <a:effectLst/>
                        <a:latin typeface="Times New Roman"/>
                        <a:ea typeface="Times New Roman"/>
                      </a:endParaRPr>
                    </a:p>
                  </a:txBody>
                  <a:tcPr marL="35484" marR="35484" marT="0" marB="0"/>
                </a:tc>
                <a:extLst>
                  <a:ext uri="{0D108BD9-81ED-4DB2-BD59-A6C34878D82A}">
                    <a16:rowId xmlns:a16="http://schemas.microsoft.com/office/drawing/2014/main" val="10006"/>
                  </a:ext>
                </a:extLst>
              </a:tr>
            </a:tbl>
          </a:graphicData>
        </a:graphic>
      </p:graphicFrame>
      <p:sp>
        <p:nvSpPr>
          <p:cNvPr id="15" name="Номер слайда 14"/>
          <p:cNvSpPr>
            <a:spLocks noGrp="1"/>
          </p:cNvSpPr>
          <p:nvPr>
            <p:ph type="sldNum" sz="quarter" idx="12"/>
          </p:nvPr>
        </p:nvSpPr>
        <p:spPr/>
        <p:txBody>
          <a:bodyPr/>
          <a:lstStyle/>
          <a:p>
            <a:fld id="{0CC3DD56-44D6-4410-A1D4-F947CD7B8BFD}" type="slidenum">
              <a:rPr lang="ru-RU" smtClean="0"/>
              <a:pPr/>
              <a:t>31</a:t>
            </a:fld>
            <a:endParaRPr lang="ru-RU"/>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Таблица значений функции Лапласа Ф(</a:t>
            </a:r>
            <a:r>
              <a:rPr lang="ru-RU" dirty="0" err="1"/>
              <a:t>х</a:t>
            </a:r>
            <a:r>
              <a:rPr lang="ru-RU" dirty="0"/>
              <a:t>)=</a:t>
            </a:r>
            <a:r>
              <a:rPr lang="en-US" dirty="0"/>
              <a:t>				             </a:t>
            </a:r>
            <a:r>
              <a:rPr lang="ru-RU" dirty="0"/>
              <a:t> </a:t>
            </a:r>
          </a:p>
        </p:txBody>
      </p:sp>
      <p:sp>
        <p:nvSpPr>
          <p:cNvPr id="4" name="Номер слайда 3"/>
          <p:cNvSpPr>
            <a:spLocks noGrp="1"/>
          </p:cNvSpPr>
          <p:nvPr>
            <p:ph type="sldNum" sz="quarter" idx="12"/>
          </p:nvPr>
        </p:nvSpPr>
        <p:spPr/>
        <p:txBody>
          <a:bodyPr/>
          <a:lstStyle/>
          <a:p>
            <a:fld id="{0CC3DD56-44D6-4410-A1D4-F947CD7B8BFD}" type="slidenum">
              <a:rPr lang="ru-RU" smtClean="0"/>
              <a:pPr/>
              <a:t>32</a:t>
            </a:fld>
            <a:endParaRPr lang="ru-RU"/>
          </a:p>
        </p:txBody>
      </p:sp>
      <p:sp>
        <p:nvSpPr>
          <p:cNvPr id="5" name="TextBox 4"/>
          <p:cNvSpPr txBox="1"/>
          <p:nvPr/>
        </p:nvSpPr>
        <p:spPr>
          <a:xfrm>
            <a:off x="857224" y="571480"/>
            <a:ext cx="6072230" cy="369332"/>
          </a:xfrm>
          <a:prstGeom prst="rect">
            <a:avLst/>
          </a:prstGeom>
          <a:noFill/>
        </p:spPr>
        <p:txBody>
          <a:bodyPr wrap="square" rtlCol="0">
            <a:spAutoFit/>
          </a:bodyPr>
          <a:lstStyle/>
          <a:p>
            <a:endParaRPr lang="ru-RU" dirty="0"/>
          </a:p>
        </p:txBody>
      </p:sp>
      <p:sp>
        <p:nvSpPr>
          <p:cNvPr id="6" name="TextBox 5"/>
          <p:cNvSpPr txBox="1"/>
          <p:nvPr/>
        </p:nvSpPr>
        <p:spPr>
          <a:xfrm>
            <a:off x="2428860" y="2428868"/>
            <a:ext cx="1785950" cy="369332"/>
          </a:xfrm>
          <a:prstGeom prst="rect">
            <a:avLst/>
          </a:prstGeom>
          <a:noFill/>
        </p:spPr>
        <p:txBody>
          <a:bodyPr wrap="square" rtlCol="0">
            <a:spAutoFit/>
          </a:bodyPr>
          <a:lstStyle/>
          <a:p>
            <a:endParaRPr lang="ru-RU" dirty="0"/>
          </a:p>
        </p:txBody>
      </p:sp>
      <p:graphicFrame>
        <p:nvGraphicFramePr>
          <p:cNvPr id="7" name="Таблица 6"/>
          <p:cNvGraphicFramePr>
            <a:graphicFrameLocks noGrp="1"/>
          </p:cNvGraphicFramePr>
          <p:nvPr/>
        </p:nvGraphicFramePr>
        <p:xfrm>
          <a:off x="250825" y="1909786"/>
          <a:ext cx="8712968" cy="4876800"/>
        </p:xfrm>
        <a:graphic>
          <a:graphicData uri="http://schemas.openxmlformats.org/drawingml/2006/table">
            <a:tbl>
              <a:tblPr firstRow="1" firstCol="1" lastRow="1" lastCol="1" bandRow="1" bandCol="1">
                <a:tableStyleId>{5C22544A-7EE6-4342-B048-85BDC9FD1C3A}</a:tableStyleId>
              </a:tblPr>
              <a:tblGrid>
                <a:gridCol w="1062690">
                  <a:extLst>
                    <a:ext uri="{9D8B030D-6E8A-4147-A177-3AD203B41FA5}">
                      <a16:colId xmlns:a16="http://schemas.microsoft.com/office/drawing/2014/main" val="20000"/>
                    </a:ext>
                  </a:extLst>
                </a:gridCol>
                <a:gridCol w="743248">
                  <a:extLst>
                    <a:ext uri="{9D8B030D-6E8A-4147-A177-3AD203B41FA5}">
                      <a16:colId xmlns:a16="http://schemas.microsoft.com/office/drawing/2014/main" val="20001"/>
                    </a:ext>
                  </a:extLst>
                </a:gridCol>
                <a:gridCol w="743248">
                  <a:extLst>
                    <a:ext uri="{9D8B030D-6E8A-4147-A177-3AD203B41FA5}">
                      <a16:colId xmlns:a16="http://schemas.microsoft.com/office/drawing/2014/main" val="20002"/>
                    </a:ext>
                  </a:extLst>
                </a:gridCol>
                <a:gridCol w="743248">
                  <a:extLst>
                    <a:ext uri="{9D8B030D-6E8A-4147-A177-3AD203B41FA5}">
                      <a16:colId xmlns:a16="http://schemas.microsoft.com/office/drawing/2014/main" val="20003"/>
                    </a:ext>
                  </a:extLst>
                </a:gridCol>
                <a:gridCol w="743248">
                  <a:extLst>
                    <a:ext uri="{9D8B030D-6E8A-4147-A177-3AD203B41FA5}">
                      <a16:colId xmlns:a16="http://schemas.microsoft.com/office/drawing/2014/main" val="20004"/>
                    </a:ext>
                  </a:extLst>
                </a:gridCol>
                <a:gridCol w="743248">
                  <a:extLst>
                    <a:ext uri="{9D8B030D-6E8A-4147-A177-3AD203B41FA5}">
                      <a16:colId xmlns:a16="http://schemas.microsoft.com/office/drawing/2014/main" val="20005"/>
                    </a:ext>
                  </a:extLst>
                </a:gridCol>
                <a:gridCol w="743248">
                  <a:extLst>
                    <a:ext uri="{9D8B030D-6E8A-4147-A177-3AD203B41FA5}">
                      <a16:colId xmlns:a16="http://schemas.microsoft.com/office/drawing/2014/main" val="20006"/>
                    </a:ext>
                  </a:extLst>
                </a:gridCol>
                <a:gridCol w="852147">
                  <a:extLst>
                    <a:ext uri="{9D8B030D-6E8A-4147-A177-3AD203B41FA5}">
                      <a16:colId xmlns:a16="http://schemas.microsoft.com/office/drawing/2014/main" val="20007"/>
                    </a:ext>
                  </a:extLst>
                </a:gridCol>
                <a:gridCol w="852147">
                  <a:extLst>
                    <a:ext uri="{9D8B030D-6E8A-4147-A177-3AD203B41FA5}">
                      <a16:colId xmlns:a16="http://schemas.microsoft.com/office/drawing/2014/main" val="20008"/>
                    </a:ext>
                  </a:extLst>
                </a:gridCol>
                <a:gridCol w="743248">
                  <a:extLst>
                    <a:ext uri="{9D8B030D-6E8A-4147-A177-3AD203B41FA5}">
                      <a16:colId xmlns:a16="http://schemas.microsoft.com/office/drawing/2014/main" val="20009"/>
                    </a:ext>
                  </a:extLst>
                </a:gridCol>
                <a:gridCol w="743248">
                  <a:extLst>
                    <a:ext uri="{9D8B030D-6E8A-4147-A177-3AD203B41FA5}">
                      <a16:colId xmlns:a16="http://schemas.microsoft.com/office/drawing/2014/main" val="20010"/>
                    </a:ext>
                  </a:extLst>
                </a:gridCol>
              </a:tblGrid>
              <a:tr h="96891">
                <a:tc rowSpan="2">
                  <a:txBody>
                    <a:bodyPr/>
                    <a:lstStyle/>
                    <a:p>
                      <a:pPr>
                        <a:spcAft>
                          <a:spcPts val="0"/>
                        </a:spcAft>
                      </a:pPr>
                      <a:r>
                        <a:rPr lang="ru-RU" sz="1600" dirty="0">
                          <a:effectLst/>
                        </a:rPr>
                        <a:t>Целые и десятые доли х</a:t>
                      </a:r>
                      <a:endParaRPr lang="ru-RU" sz="1600" dirty="0">
                        <a:effectLst/>
                        <a:latin typeface="Times New Roman"/>
                        <a:ea typeface="Times New Roman"/>
                      </a:endParaRPr>
                    </a:p>
                  </a:txBody>
                  <a:tcPr marL="25781" marR="25781" marT="0" marB="0"/>
                </a:tc>
                <a:tc gridSpan="10">
                  <a:txBody>
                    <a:bodyPr/>
                    <a:lstStyle/>
                    <a:p>
                      <a:pPr algn="ctr">
                        <a:spcAft>
                          <a:spcPts val="0"/>
                        </a:spcAft>
                      </a:pPr>
                      <a:r>
                        <a:rPr lang="ru-RU" sz="600">
                          <a:effectLst/>
                        </a:rPr>
                        <a:t>Сотые доли х</a:t>
                      </a:r>
                      <a:endParaRPr lang="ru-RU" sz="500">
                        <a:effectLst/>
                        <a:latin typeface="Times New Roman"/>
                        <a:ea typeface="Times New Roman"/>
                      </a:endParaRPr>
                    </a:p>
                  </a:txBody>
                  <a:tcPr marL="25781" marR="25781" marT="0" marB="0"/>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0"/>
                  </a:ext>
                </a:extLst>
              </a:tr>
              <a:tr h="327009">
                <a:tc vMerge="1">
                  <a:txBody>
                    <a:bodyPr/>
                    <a:lstStyle/>
                    <a:p>
                      <a:endParaRPr lang="ru-RU"/>
                    </a:p>
                  </a:txBody>
                  <a:tcPr/>
                </a:tc>
                <a:tc>
                  <a:txBody>
                    <a:bodyPr/>
                    <a:lstStyle/>
                    <a:p>
                      <a:pPr algn="ctr">
                        <a:spcAft>
                          <a:spcPts val="0"/>
                        </a:spcAft>
                      </a:pPr>
                      <a:r>
                        <a:rPr lang="ru-RU" sz="1600">
                          <a:effectLst/>
                        </a:rPr>
                        <a:t>0</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1</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2</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3</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4</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5</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7</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8</a:t>
                      </a:r>
                      <a:endParaRPr lang="ru-RU" sz="1600">
                        <a:effectLst/>
                        <a:latin typeface="Times New Roman"/>
                        <a:ea typeface="Times New Roman"/>
                      </a:endParaRPr>
                    </a:p>
                  </a:txBody>
                  <a:tcPr marL="25781" marR="25781" marT="0" marB="0"/>
                </a:tc>
                <a:tc>
                  <a:txBody>
                    <a:bodyPr/>
                    <a:lstStyle/>
                    <a:p>
                      <a:pPr algn="ctr">
                        <a:spcAft>
                          <a:spcPts val="0"/>
                        </a:spcAft>
                      </a:pPr>
                      <a:r>
                        <a:rPr lang="ru-RU" sz="1600" dirty="0">
                          <a:effectLst/>
                        </a:rPr>
                        <a:t>9</a:t>
                      </a:r>
                      <a:endParaRPr lang="ru-RU" sz="1600" dirty="0">
                        <a:effectLst/>
                        <a:latin typeface="Times New Roman"/>
                        <a:ea typeface="Times New Roman"/>
                      </a:endParaRPr>
                    </a:p>
                  </a:txBody>
                  <a:tcPr marL="25781" marR="25781" marT="0" marB="0"/>
                </a:tc>
                <a:extLst>
                  <a:ext uri="{0D108BD9-81ED-4DB2-BD59-A6C34878D82A}">
                    <a16:rowId xmlns:a16="http://schemas.microsoft.com/office/drawing/2014/main" val="10001"/>
                  </a:ext>
                </a:extLst>
              </a:tr>
              <a:tr h="161089">
                <a:tc>
                  <a:txBody>
                    <a:bodyPr/>
                    <a:lstStyle/>
                    <a:p>
                      <a:pPr>
                        <a:spcAft>
                          <a:spcPts val="0"/>
                        </a:spcAft>
                      </a:pPr>
                      <a:r>
                        <a:rPr lang="ru-RU" sz="1600" dirty="0">
                          <a:effectLst/>
                        </a:rPr>
                        <a:t>1,3</a:t>
                      </a:r>
                      <a:endParaRPr lang="ru-RU" sz="1600" dirty="0">
                        <a:effectLst/>
                        <a:latin typeface="Times New Roman"/>
                        <a:ea typeface="Times New Roman"/>
                      </a:endParaRPr>
                    </a:p>
                  </a:txBody>
                  <a:tcPr marL="25781" marR="25781" marT="0" marB="0"/>
                </a:tc>
                <a:tc>
                  <a:txBody>
                    <a:bodyPr/>
                    <a:lstStyle/>
                    <a:p>
                      <a:pPr>
                        <a:spcAft>
                          <a:spcPts val="0"/>
                        </a:spcAft>
                      </a:pPr>
                      <a:r>
                        <a:rPr lang="ru-RU" sz="1600">
                          <a:effectLst/>
                        </a:rPr>
                        <a:t>0,8054</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0,8098</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0,8132</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0,8165</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0,8198</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0,8230</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0,8262</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0,8293</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0,8324</a:t>
                      </a:r>
                      <a:endParaRPr lang="ru-RU" sz="1600">
                        <a:effectLst/>
                        <a:latin typeface="Times New Roman"/>
                        <a:ea typeface="Times New Roman"/>
                      </a:endParaRPr>
                    </a:p>
                  </a:txBody>
                  <a:tcPr marL="25781" marR="25781" marT="0" marB="0"/>
                </a:tc>
                <a:tc>
                  <a:txBody>
                    <a:bodyPr/>
                    <a:lstStyle/>
                    <a:p>
                      <a:pPr algn="ctr">
                        <a:spcAft>
                          <a:spcPts val="0"/>
                        </a:spcAft>
                      </a:pPr>
                      <a:r>
                        <a:rPr lang="ru-RU" sz="1600" dirty="0">
                          <a:effectLst/>
                        </a:rPr>
                        <a:t>0,8355</a:t>
                      </a:r>
                      <a:endParaRPr lang="ru-RU" sz="1600" dirty="0">
                        <a:effectLst/>
                        <a:latin typeface="Times New Roman"/>
                        <a:ea typeface="Times New Roman"/>
                      </a:endParaRPr>
                    </a:p>
                  </a:txBody>
                  <a:tcPr marL="25781" marR="25781" marT="0" marB="0"/>
                </a:tc>
                <a:extLst>
                  <a:ext uri="{0D108BD9-81ED-4DB2-BD59-A6C34878D82A}">
                    <a16:rowId xmlns:a16="http://schemas.microsoft.com/office/drawing/2014/main" val="10002"/>
                  </a:ext>
                </a:extLst>
              </a:tr>
              <a:tr h="161089">
                <a:tc>
                  <a:txBody>
                    <a:bodyPr/>
                    <a:lstStyle/>
                    <a:p>
                      <a:pPr>
                        <a:spcAft>
                          <a:spcPts val="0"/>
                        </a:spcAft>
                      </a:pPr>
                      <a:r>
                        <a:rPr lang="ru-RU" sz="1600">
                          <a:effectLst/>
                        </a:rPr>
                        <a:t>1,4</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0,8385</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0,8415</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0,8444</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0,8473</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0,8501</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0,8529</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0,8557</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0,8584</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0,8611</a:t>
                      </a:r>
                      <a:endParaRPr lang="ru-RU" sz="1600">
                        <a:effectLst/>
                        <a:latin typeface="Times New Roman"/>
                        <a:ea typeface="Times New Roman"/>
                      </a:endParaRPr>
                    </a:p>
                  </a:txBody>
                  <a:tcPr marL="25781" marR="25781" marT="0" marB="0"/>
                </a:tc>
                <a:tc>
                  <a:txBody>
                    <a:bodyPr/>
                    <a:lstStyle/>
                    <a:p>
                      <a:pPr algn="ctr">
                        <a:spcAft>
                          <a:spcPts val="0"/>
                        </a:spcAft>
                      </a:pPr>
                      <a:r>
                        <a:rPr lang="ru-RU" sz="1600" dirty="0">
                          <a:effectLst/>
                        </a:rPr>
                        <a:t>0,8638</a:t>
                      </a:r>
                      <a:endParaRPr lang="ru-RU" sz="1600" dirty="0">
                        <a:effectLst/>
                        <a:latin typeface="Times New Roman"/>
                        <a:ea typeface="Times New Roman"/>
                      </a:endParaRPr>
                    </a:p>
                  </a:txBody>
                  <a:tcPr marL="25781" marR="25781" marT="0" marB="0"/>
                </a:tc>
                <a:extLst>
                  <a:ext uri="{0D108BD9-81ED-4DB2-BD59-A6C34878D82A}">
                    <a16:rowId xmlns:a16="http://schemas.microsoft.com/office/drawing/2014/main" val="10003"/>
                  </a:ext>
                </a:extLst>
              </a:tr>
              <a:tr h="161089">
                <a:tc>
                  <a:txBody>
                    <a:bodyPr/>
                    <a:lstStyle/>
                    <a:p>
                      <a:pPr>
                        <a:spcAft>
                          <a:spcPts val="0"/>
                        </a:spcAft>
                      </a:pPr>
                      <a:r>
                        <a:rPr lang="ru-RU" sz="1600">
                          <a:effectLst/>
                        </a:rPr>
                        <a:t>1,5</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0,8664</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0,8690</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0,8715</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0,8740</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0,8764</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0,8789</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0,8812</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0,8836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0,8859</a:t>
                      </a:r>
                      <a:endParaRPr lang="ru-RU" sz="1600">
                        <a:effectLst/>
                        <a:latin typeface="Times New Roman"/>
                        <a:ea typeface="Times New Roman"/>
                      </a:endParaRPr>
                    </a:p>
                  </a:txBody>
                  <a:tcPr marL="25781" marR="25781" marT="0" marB="0"/>
                </a:tc>
                <a:tc>
                  <a:txBody>
                    <a:bodyPr/>
                    <a:lstStyle/>
                    <a:p>
                      <a:pPr algn="ctr">
                        <a:spcAft>
                          <a:spcPts val="0"/>
                        </a:spcAft>
                      </a:pPr>
                      <a:r>
                        <a:rPr lang="ru-RU" sz="1600" dirty="0">
                          <a:effectLst/>
                        </a:rPr>
                        <a:t>0,8882</a:t>
                      </a:r>
                      <a:endParaRPr lang="ru-RU" sz="1600" dirty="0">
                        <a:effectLst/>
                        <a:latin typeface="Times New Roman"/>
                        <a:ea typeface="Times New Roman"/>
                      </a:endParaRPr>
                    </a:p>
                  </a:txBody>
                  <a:tcPr marL="25781" marR="25781" marT="0" marB="0"/>
                </a:tc>
                <a:extLst>
                  <a:ext uri="{0D108BD9-81ED-4DB2-BD59-A6C34878D82A}">
                    <a16:rowId xmlns:a16="http://schemas.microsoft.com/office/drawing/2014/main" val="10004"/>
                  </a:ext>
                </a:extLst>
              </a:tr>
              <a:tr h="161089">
                <a:tc>
                  <a:txBody>
                    <a:bodyPr/>
                    <a:lstStyle/>
                    <a:p>
                      <a:pPr>
                        <a:spcAft>
                          <a:spcPts val="0"/>
                        </a:spcAft>
                      </a:pPr>
                      <a:r>
                        <a:rPr lang="ru-RU" sz="1600">
                          <a:effectLst/>
                        </a:rPr>
                        <a:t>1,6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0,8904</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0,8926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0,8948</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0,8969</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0,8990</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0,9011</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0,9031</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0,9051</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0,9070</a:t>
                      </a:r>
                      <a:endParaRPr lang="ru-RU" sz="1600">
                        <a:effectLst/>
                        <a:latin typeface="Times New Roman"/>
                        <a:ea typeface="Times New Roman"/>
                      </a:endParaRPr>
                    </a:p>
                  </a:txBody>
                  <a:tcPr marL="25781" marR="25781" marT="0" marB="0"/>
                </a:tc>
                <a:tc>
                  <a:txBody>
                    <a:bodyPr/>
                    <a:lstStyle/>
                    <a:p>
                      <a:pPr algn="ctr">
                        <a:spcAft>
                          <a:spcPts val="0"/>
                        </a:spcAft>
                      </a:pPr>
                      <a:r>
                        <a:rPr lang="ru-RU" sz="1600" dirty="0">
                          <a:effectLst/>
                        </a:rPr>
                        <a:t>0,9090</a:t>
                      </a:r>
                      <a:endParaRPr lang="ru-RU" sz="1600" dirty="0">
                        <a:effectLst/>
                        <a:latin typeface="Times New Roman"/>
                        <a:ea typeface="Times New Roman"/>
                      </a:endParaRPr>
                    </a:p>
                  </a:txBody>
                  <a:tcPr marL="25781" marR="25781" marT="0" marB="0"/>
                </a:tc>
                <a:extLst>
                  <a:ext uri="{0D108BD9-81ED-4DB2-BD59-A6C34878D82A}">
                    <a16:rowId xmlns:a16="http://schemas.microsoft.com/office/drawing/2014/main" val="10005"/>
                  </a:ext>
                </a:extLst>
              </a:tr>
              <a:tr h="161089">
                <a:tc>
                  <a:txBody>
                    <a:bodyPr/>
                    <a:lstStyle/>
                    <a:p>
                      <a:pPr>
                        <a:spcAft>
                          <a:spcPts val="0"/>
                        </a:spcAft>
                      </a:pPr>
                      <a:r>
                        <a:rPr lang="ru-RU" sz="1600" dirty="0">
                          <a:effectLst/>
                        </a:rPr>
                        <a:t>1,7</a:t>
                      </a:r>
                      <a:endParaRPr lang="ru-RU" sz="1600" dirty="0">
                        <a:effectLst/>
                        <a:latin typeface="Times New Roman"/>
                        <a:ea typeface="Times New Roman"/>
                      </a:endParaRPr>
                    </a:p>
                  </a:txBody>
                  <a:tcPr marL="25781" marR="25781" marT="0" marB="0"/>
                </a:tc>
                <a:tc>
                  <a:txBody>
                    <a:bodyPr/>
                    <a:lstStyle/>
                    <a:p>
                      <a:pPr algn="ctr">
                        <a:spcAft>
                          <a:spcPts val="0"/>
                        </a:spcAft>
                      </a:pPr>
                      <a:r>
                        <a:rPr lang="ru-RU" sz="1600">
                          <a:effectLst/>
                        </a:rPr>
                        <a:t>0,9109</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0,9127</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0,9146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0,9164</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0,9181</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0,9199</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0,9216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0,9233</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0,9249</a:t>
                      </a:r>
                      <a:endParaRPr lang="ru-RU" sz="1600">
                        <a:effectLst/>
                        <a:latin typeface="Times New Roman"/>
                        <a:ea typeface="Times New Roman"/>
                      </a:endParaRPr>
                    </a:p>
                  </a:txBody>
                  <a:tcPr marL="25781" marR="25781" marT="0" marB="0"/>
                </a:tc>
                <a:tc>
                  <a:txBody>
                    <a:bodyPr/>
                    <a:lstStyle/>
                    <a:p>
                      <a:pPr algn="ctr">
                        <a:spcAft>
                          <a:spcPts val="0"/>
                        </a:spcAft>
                      </a:pPr>
                      <a:r>
                        <a:rPr lang="ru-RU" sz="1600" dirty="0">
                          <a:effectLst/>
                        </a:rPr>
                        <a:t>0,9265</a:t>
                      </a:r>
                      <a:endParaRPr lang="ru-RU" sz="1600" dirty="0">
                        <a:effectLst/>
                        <a:latin typeface="Times New Roman"/>
                        <a:ea typeface="Times New Roman"/>
                      </a:endParaRPr>
                    </a:p>
                  </a:txBody>
                  <a:tcPr marL="25781" marR="25781" marT="0" marB="0"/>
                </a:tc>
                <a:extLst>
                  <a:ext uri="{0D108BD9-81ED-4DB2-BD59-A6C34878D82A}">
                    <a16:rowId xmlns:a16="http://schemas.microsoft.com/office/drawing/2014/main" val="10006"/>
                  </a:ext>
                </a:extLst>
              </a:tr>
              <a:tr h="161089">
                <a:tc>
                  <a:txBody>
                    <a:bodyPr/>
                    <a:lstStyle/>
                    <a:p>
                      <a:pPr>
                        <a:spcAft>
                          <a:spcPts val="0"/>
                        </a:spcAft>
                      </a:pPr>
                      <a:r>
                        <a:rPr lang="ru-RU" sz="1600">
                          <a:effectLst/>
                        </a:rPr>
                        <a:t>1,8</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0,9281</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0,9297</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0,9312</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0,9327</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0,9342</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0,9357</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0,9371</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0,9385</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0,9392</a:t>
                      </a:r>
                      <a:endParaRPr lang="ru-RU" sz="1600">
                        <a:effectLst/>
                        <a:latin typeface="Times New Roman"/>
                        <a:ea typeface="Times New Roman"/>
                      </a:endParaRPr>
                    </a:p>
                  </a:txBody>
                  <a:tcPr marL="25781" marR="25781" marT="0" marB="0"/>
                </a:tc>
                <a:tc>
                  <a:txBody>
                    <a:bodyPr/>
                    <a:lstStyle/>
                    <a:p>
                      <a:pPr algn="ctr">
                        <a:spcAft>
                          <a:spcPts val="0"/>
                        </a:spcAft>
                      </a:pPr>
                      <a:r>
                        <a:rPr lang="ru-RU" sz="1600" dirty="0">
                          <a:effectLst/>
                        </a:rPr>
                        <a:t>0,9412</a:t>
                      </a:r>
                      <a:endParaRPr lang="ru-RU" sz="1600" dirty="0">
                        <a:effectLst/>
                        <a:latin typeface="Times New Roman"/>
                        <a:ea typeface="Times New Roman"/>
                      </a:endParaRPr>
                    </a:p>
                  </a:txBody>
                  <a:tcPr marL="25781" marR="25781" marT="0" marB="0"/>
                </a:tc>
                <a:extLst>
                  <a:ext uri="{0D108BD9-81ED-4DB2-BD59-A6C34878D82A}">
                    <a16:rowId xmlns:a16="http://schemas.microsoft.com/office/drawing/2014/main" val="10007"/>
                  </a:ext>
                </a:extLst>
              </a:tr>
              <a:tr h="161089">
                <a:tc>
                  <a:txBody>
                    <a:bodyPr/>
                    <a:lstStyle/>
                    <a:p>
                      <a:pPr>
                        <a:spcAft>
                          <a:spcPts val="0"/>
                        </a:spcAft>
                      </a:pPr>
                      <a:r>
                        <a:rPr lang="ru-RU" sz="1600">
                          <a:effectLst/>
                        </a:rPr>
                        <a:t>1,9</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0,9426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0,9439</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0,9451</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0,9464</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0,9476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0,9488</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0,9500</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0,9512</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0,9523</a:t>
                      </a:r>
                      <a:endParaRPr lang="ru-RU" sz="1600">
                        <a:effectLst/>
                        <a:latin typeface="Times New Roman"/>
                        <a:ea typeface="Times New Roman"/>
                      </a:endParaRPr>
                    </a:p>
                  </a:txBody>
                  <a:tcPr marL="25781" marR="25781" marT="0" marB="0"/>
                </a:tc>
                <a:tc>
                  <a:txBody>
                    <a:bodyPr/>
                    <a:lstStyle/>
                    <a:p>
                      <a:pPr algn="ctr">
                        <a:spcAft>
                          <a:spcPts val="0"/>
                        </a:spcAft>
                      </a:pPr>
                      <a:r>
                        <a:rPr lang="ru-RU" sz="1600" dirty="0">
                          <a:effectLst/>
                        </a:rPr>
                        <a:t>0,9533</a:t>
                      </a:r>
                      <a:endParaRPr lang="ru-RU" sz="1600" dirty="0">
                        <a:effectLst/>
                        <a:latin typeface="Times New Roman"/>
                        <a:ea typeface="Times New Roman"/>
                      </a:endParaRPr>
                    </a:p>
                  </a:txBody>
                  <a:tcPr marL="25781" marR="25781" marT="0" marB="0"/>
                </a:tc>
                <a:extLst>
                  <a:ext uri="{0D108BD9-81ED-4DB2-BD59-A6C34878D82A}">
                    <a16:rowId xmlns:a16="http://schemas.microsoft.com/office/drawing/2014/main" val="10008"/>
                  </a:ext>
                </a:extLst>
              </a:tr>
              <a:tr h="161089">
                <a:tc>
                  <a:txBody>
                    <a:bodyPr/>
                    <a:lstStyle/>
                    <a:p>
                      <a:pPr>
                        <a:spcAft>
                          <a:spcPts val="0"/>
                        </a:spcAft>
                      </a:pPr>
                      <a:r>
                        <a:rPr lang="ru-RU" sz="1600">
                          <a:effectLst/>
                        </a:rPr>
                        <a:t>2,0</a:t>
                      </a:r>
                      <a:endParaRPr lang="ru-RU" sz="1600">
                        <a:effectLst/>
                        <a:latin typeface="Times New Roman"/>
                        <a:ea typeface="Times New Roman"/>
                      </a:endParaRPr>
                    </a:p>
                  </a:txBody>
                  <a:tcPr marL="25781" marR="25781" marT="0" marB="0"/>
                </a:tc>
                <a:tc>
                  <a:txBody>
                    <a:bodyPr/>
                    <a:lstStyle/>
                    <a:p>
                      <a:pPr algn="ctr">
                        <a:spcAft>
                          <a:spcPts val="0"/>
                        </a:spcAft>
                      </a:pPr>
                      <a:r>
                        <a:rPr lang="ru-RU" sz="1600" dirty="0">
                          <a:effectLst/>
                        </a:rPr>
                        <a:t>0,9545</a:t>
                      </a:r>
                      <a:endParaRPr lang="ru-RU" sz="1600" dirty="0">
                        <a:effectLst/>
                        <a:latin typeface="Times New Roman"/>
                        <a:ea typeface="Times New Roman"/>
                      </a:endParaRPr>
                    </a:p>
                  </a:txBody>
                  <a:tcPr marL="25781" marR="25781" marT="0" marB="0"/>
                </a:tc>
                <a:tc>
                  <a:txBody>
                    <a:bodyPr/>
                    <a:lstStyle/>
                    <a:p>
                      <a:pPr algn="ctr">
                        <a:spcAft>
                          <a:spcPts val="0"/>
                        </a:spcAft>
                      </a:pPr>
                      <a:r>
                        <a:rPr lang="ru-RU" sz="1600">
                          <a:effectLst/>
                        </a:rPr>
                        <a:t>0,9556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0,9566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0,9576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0,9586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0,9596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0,9606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0,9916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0,9925</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0,9634</a:t>
                      </a:r>
                      <a:endParaRPr lang="ru-RU" sz="1600">
                        <a:effectLst/>
                        <a:latin typeface="Times New Roman"/>
                        <a:ea typeface="Times New Roman"/>
                      </a:endParaRPr>
                    </a:p>
                  </a:txBody>
                  <a:tcPr marL="25781" marR="25781" marT="0" marB="0"/>
                </a:tc>
                <a:extLst>
                  <a:ext uri="{0D108BD9-81ED-4DB2-BD59-A6C34878D82A}">
                    <a16:rowId xmlns:a16="http://schemas.microsoft.com/office/drawing/2014/main" val="10009"/>
                  </a:ext>
                </a:extLst>
              </a:tr>
              <a:tr h="161089">
                <a:tc>
                  <a:txBody>
                    <a:bodyPr/>
                    <a:lstStyle/>
                    <a:p>
                      <a:pPr>
                        <a:spcAft>
                          <a:spcPts val="0"/>
                        </a:spcAft>
                      </a:pPr>
                      <a:r>
                        <a:rPr lang="ru-RU" sz="1600">
                          <a:effectLst/>
                        </a:rPr>
                        <a:t>2,1</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0,9643</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0,9651</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0,9660</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0,9668</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0,9676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0,9684</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0,9692</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0,9700</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0,9707</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0,9715</a:t>
                      </a:r>
                      <a:endParaRPr lang="ru-RU" sz="1600">
                        <a:effectLst/>
                        <a:latin typeface="Times New Roman"/>
                        <a:ea typeface="Times New Roman"/>
                      </a:endParaRPr>
                    </a:p>
                  </a:txBody>
                  <a:tcPr marL="25781" marR="25781" marT="0" marB="0"/>
                </a:tc>
                <a:extLst>
                  <a:ext uri="{0D108BD9-81ED-4DB2-BD59-A6C34878D82A}">
                    <a16:rowId xmlns:a16="http://schemas.microsoft.com/office/drawing/2014/main" val="10010"/>
                  </a:ext>
                </a:extLst>
              </a:tr>
              <a:tr h="161089">
                <a:tc>
                  <a:txBody>
                    <a:bodyPr/>
                    <a:lstStyle/>
                    <a:p>
                      <a:pPr>
                        <a:spcAft>
                          <a:spcPts val="0"/>
                        </a:spcAft>
                      </a:pPr>
                      <a:r>
                        <a:rPr lang="ru-RU" sz="1600">
                          <a:effectLst/>
                        </a:rPr>
                        <a:t>2,2</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0,9722</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0,9729</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0,9736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0,9743</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0,9749</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0,9756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0,9762</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0,9768</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0,9774</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0,9780</a:t>
                      </a:r>
                      <a:endParaRPr lang="ru-RU" sz="1600">
                        <a:effectLst/>
                        <a:latin typeface="Times New Roman"/>
                        <a:ea typeface="Times New Roman"/>
                      </a:endParaRPr>
                    </a:p>
                  </a:txBody>
                  <a:tcPr marL="25781" marR="25781" marT="0" marB="0"/>
                </a:tc>
                <a:extLst>
                  <a:ext uri="{0D108BD9-81ED-4DB2-BD59-A6C34878D82A}">
                    <a16:rowId xmlns:a16="http://schemas.microsoft.com/office/drawing/2014/main" val="10011"/>
                  </a:ext>
                </a:extLst>
              </a:tr>
              <a:tr h="161089">
                <a:tc>
                  <a:txBody>
                    <a:bodyPr/>
                    <a:lstStyle/>
                    <a:p>
                      <a:pPr>
                        <a:spcAft>
                          <a:spcPts val="0"/>
                        </a:spcAft>
                      </a:pPr>
                      <a:r>
                        <a:rPr lang="ru-RU" sz="1600">
                          <a:effectLst/>
                        </a:rPr>
                        <a:t>2,3</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0,9786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0,9791</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0,9797</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0,9802</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0,9807</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0,9812</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0,9817</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0,9822</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0,9827</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0,9832</a:t>
                      </a:r>
                      <a:endParaRPr lang="ru-RU" sz="1600">
                        <a:effectLst/>
                        <a:latin typeface="Times New Roman"/>
                        <a:ea typeface="Times New Roman"/>
                      </a:endParaRPr>
                    </a:p>
                  </a:txBody>
                  <a:tcPr marL="25781" marR="25781" marT="0" marB="0"/>
                </a:tc>
                <a:extLst>
                  <a:ext uri="{0D108BD9-81ED-4DB2-BD59-A6C34878D82A}">
                    <a16:rowId xmlns:a16="http://schemas.microsoft.com/office/drawing/2014/main" val="10012"/>
                  </a:ext>
                </a:extLst>
              </a:tr>
              <a:tr h="161089">
                <a:tc>
                  <a:txBody>
                    <a:bodyPr/>
                    <a:lstStyle/>
                    <a:p>
                      <a:pPr>
                        <a:spcAft>
                          <a:spcPts val="0"/>
                        </a:spcAft>
                      </a:pPr>
                      <a:r>
                        <a:rPr lang="ru-RU" sz="1600">
                          <a:effectLst/>
                        </a:rPr>
                        <a:t>2,4</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0,9836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0,9841</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0,9845</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0,9849</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0,9853</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0,9857</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0,9861</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0,9865</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0,9869</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0,9872</a:t>
                      </a:r>
                      <a:endParaRPr lang="ru-RU" sz="1600">
                        <a:effectLst/>
                        <a:latin typeface="Times New Roman"/>
                        <a:ea typeface="Times New Roman"/>
                      </a:endParaRPr>
                    </a:p>
                  </a:txBody>
                  <a:tcPr marL="25781" marR="25781" marT="0" marB="0"/>
                </a:tc>
                <a:extLst>
                  <a:ext uri="{0D108BD9-81ED-4DB2-BD59-A6C34878D82A}">
                    <a16:rowId xmlns:a16="http://schemas.microsoft.com/office/drawing/2014/main" val="10013"/>
                  </a:ext>
                </a:extLst>
              </a:tr>
              <a:tr h="161089">
                <a:tc>
                  <a:txBody>
                    <a:bodyPr/>
                    <a:lstStyle/>
                    <a:p>
                      <a:pPr>
                        <a:spcAft>
                          <a:spcPts val="0"/>
                        </a:spcAft>
                      </a:pPr>
                      <a:r>
                        <a:rPr lang="ru-RU" sz="1600">
                          <a:effectLst/>
                        </a:rPr>
                        <a:t>2,5</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0,9876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0,9879</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0,9883</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0,9886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0,9889</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0,9892</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0,9895</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0,9898</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0,9901</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0,9904</a:t>
                      </a:r>
                      <a:endParaRPr lang="ru-RU" sz="1600">
                        <a:effectLst/>
                        <a:latin typeface="Times New Roman"/>
                        <a:ea typeface="Times New Roman"/>
                      </a:endParaRPr>
                    </a:p>
                  </a:txBody>
                  <a:tcPr marL="25781" marR="25781" marT="0" marB="0"/>
                </a:tc>
                <a:extLst>
                  <a:ext uri="{0D108BD9-81ED-4DB2-BD59-A6C34878D82A}">
                    <a16:rowId xmlns:a16="http://schemas.microsoft.com/office/drawing/2014/main" val="10014"/>
                  </a:ext>
                </a:extLst>
              </a:tr>
              <a:tr h="161089">
                <a:tc>
                  <a:txBody>
                    <a:bodyPr/>
                    <a:lstStyle/>
                    <a:p>
                      <a:pPr>
                        <a:spcAft>
                          <a:spcPts val="0"/>
                        </a:spcAft>
                      </a:pPr>
                      <a:r>
                        <a:rPr lang="ru-RU" sz="1600">
                          <a:effectLst/>
                        </a:rPr>
                        <a:t>2,6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0,9907</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0,9910</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0,9912</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0,9915</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0,9917</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0,9920</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0,9922</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0,9924</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0,9926</a:t>
                      </a:r>
                      <a:endParaRPr lang="ru-RU" sz="1600">
                        <a:effectLst/>
                        <a:latin typeface="Times New Roman"/>
                        <a:ea typeface="Times New Roman"/>
                      </a:endParaRPr>
                    </a:p>
                  </a:txBody>
                  <a:tcPr marL="25781" marR="25781" marT="0" marB="0"/>
                </a:tc>
                <a:tc>
                  <a:txBody>
                    <a:bodyPr/>
                    <a:lstStyle/>
                    <a:p>
                      <a:pPr algn="ctr">
                        <a:spcAft>
                          <a:spcPts val="0"/>
                        </a:spcAft>
                      </a:pPr>
                      <a:r>
                        <a:rPr lang="ru-RU" sz="1600" dirty="0">
                          <a:effectLst/>
                        </a:rPr>
                        <a:t>0,9928</a:t>
                      </a:r>
                      <a:endParaRPr lang="ru-RU" sz="1600" dirty="0">
                        <a:effectLst/>
                        <a:latin typeface="Times New Roman"/>
                        <a:ea typeface="Times New Roman"/>
                      </a:endParaRPr>
                    </a:p>
                  </a:txBody>
                  <a:tcPr marL="25781" marR="25781" marT="0" marB="0"/>
                </a:tc>
                <a:extLst>
                  <a:ext uri="{0D108BD9-81ED-4DB2-BD59-A6C34878D82A}">
                    <a16:rowId xmlns:a16="http://schemas.microsoft.com/office/drawing/2014/main" val="10015"/>
                  </a:ext>
                </a:extLst>
              </a:tr>
              <a:tr h="161089">
                <a:tc>
                  <a:txBody>
                    <a:bodyPr/>
                    <a:lstStyle/>
                    <a:p>
                      <a:pPr>
                        <a:spcAft>
                          <a:spcPts val="0"/>
                        </a:spcAft>
                      </a:pPr>
                      <a:r>
                        <a:rPr lang="ru-RU" sz="1600">
                          <a:effectLst/>
                        </a:rPr>
                        <a:t>2,7</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0,9931</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0,9933</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0,9935</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0,9937</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0,9939</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0,9940</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0,9942</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0,9944</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0,9946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0,9947</a:t>
                      </a:r>
                      <a:endParaRPr lang="ru-RU" sz="1600">
                        <a:effectLst/>
                        <a:latin typeface="Times New Roman"/>
                        <a:ea typeface="Times New Roman"/>
                      </a:endParaRPr>
                    </a:p>
                  </a:txBody>
                  <a:tcPr marL="25781" marR="25781" marT="0" marB="0"/>
                </a:tc>
                <a:extLst>
                  <a:ext uri="{0D108BD9-81ED-4DB2-BD59-A6C34878D82A}">
                    <a16:rowId xmlns:a16="http://schemas.microsoft.com/office/drawing/2014/main" val="10016"/>
                  </a:ext>
                </a:extLst>
              </a:tr>
              <a:tr h="161089">
                <a:tc>
                  <a:txBody>
                    <a:bodyPr/>
                    <a:lstStyle/>
                    <a:p>
                      <a:pPr>
                        <a:spcAft>
                          <a:spcPts val="0"/>
                        </a:spcAft>
                      </a:pPr>
                      <a:r>
                        <a:rPr lang="ru-RU" sz="1600">
                          <a:effectLst/>
                        </a:rPr>
                        <a:t>2,8</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0,9949</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0,9951</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0,9952</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0,9953</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0,9955</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0,9956</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0,9958</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0,9959</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0,9960</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0,9961</a:t>
                      </a:r>
                      <a:endParaRPr lang="ru-RU" sz="1600">
                        <a:effectLst/>
                        <a:latin typeface="Times New Roman"/>
                        <a:ea typeface="Times New Roman"/>
                      </a:endParaRPr>
                    </a:p>
                  </a:txBody>
                  <a:tcPr marL="25781" marR="25781" marT="0" marB="0"/>
                </a:tc>
                <a:extLst>
                  <a:ext uri="{0D108BD9-81ED-4DB2-BD59-A6C34878D82A}">
                    <a16:rowId xmlns:a16="http://schemas.microsoft.com/office/drawing/2014/main" val="10017"/>
                  </a:ext>
                </a:extLst>
              </a:tr>
              <a:tr h="161089">
                <a:tc>
                  <a:txBody>
                    <a:bodyPr/>
                    <a:lstStyle/>
                    <a:p>
                      <a:pPr>
                        <a:spcAft>
                          <a:spcPts val="0"/>
                        </a:spcAft>
                      </a:pPr>
                      <a:r>
                        <a:rPr lang="ru-RU" sz="1600" dirty="0">
                          <a:effectLst/>
                        </a:rPr>
                        <a:t>2,9</a:t>
                      </a:r>
                      <a:endParaRPr lang="ru-RU" sz="1600" dirty="0">
                        <a:effectLst/>
                        <a:latin typeface="Times New Roman"/>
                        <a:ea typeface="Times New Roman"/>
                      </a:endParaRPr>
                    </a:p>
                  </a:txBody>
                  <a:tcPr marL="25781" marR="25781" marT="0" marB="0"/>
                </a:tc>
                <a:tc>
                  <a:txBody>
                    <a:bodyPr/>
                    <a:lstStyle/>
                    <a:p>
                      <a:pPr algn="ctr">
                        <a:spcAft>
                          <a:spcPts val="0"/>
                        </a:spcAft>
                      </a:pPr>
                      <a:r>
                        <a:rPr lang="ru-RU" sz="1600">
                          <a:effectLst/>
                        </a:rPr>
                        <a:t>0,9963</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0,9964</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0,9965</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0,9966</a:t>
                      </a:r>
                      <a:endParaRPr lang="ru-RU" sz="1600">
                        <a:effectLst/>
                        <a:latin typeface="Times New Roman"/>
                        <a:ea typeface="Times New Roman"/>
                      </a:endParaRPr>
                    </a:p>
                  </a:txBody>
                  <a:tcPr marL="25781" marR="25781" marT="0" marB="0"/>
                </a:tc>
                <a:tc>
                  <a:txBody>
                    <a:bodyPr/>
                    <a:lstStyle/>
                    <a:p>
                      <a:pPr algn="ctr">
                        <a:spcAft>
                          <a:spcPts val="0"/>
                        </a:spcAft>
                      </a:pPr>
                      <a:r>
                        <a:rPr lang="ru-RU" sz="1600" dirty="0">
                          <a:effectLst/>
                        </a:rPr>
                        <a:t>0,9967</a:t>
                      </a:r>
                      <a:endParaRPr lang="ru-RU" sz="1600" dirty="0">
                        <a:effectLst/>
                        <a:latin typeface="Times New Roman"/>
                        <a:ea typeface="Times New Roman"/>
                      </a:endParaRPr>
                    </a:p>
                  </a:txBody>
                  <a:tcPr marL="25781" marR="25781" marT="0" marB="0"/>
                </a:tc>
                <a:tc>
                  <a:txBody>
                    <a:bodyPr/>
                    <a:lstStyle/>
                    <a:p>
                      <a:pPr algn="ctr">
                        <a:spcAft>
                          <a:spcPts val="0"/>
                        </a:spcAft>
                      </a:pPr>
                      <a:r>
                        <a:rPr lang="ru-RU" sz="1600" dirty="0">
                          <a:effectLst/>
                        </a:rPr>
                        <a:t>0,9968</a:t>
                      </a:r>
                      <a:endParaRPr lang="ru-RU" sz="1600" dirty="0">
                        <a:effectLst/>
                        <a:latin typeface="Times New Roman"/>
                        <a:ea typeface="Times New Roman"/>
                      </a:endParaRPr>
                    </a:p>
                  </a:txBody>
                  <a:tcPr marL="25781" marR="25781" marT="0" marB="0"/>
                </a:tc>
                <a:tc>
                  <a:txBody>
                    <a:bodyPr/>
                    <a:lstStyle/>
                    <a:p>
                      <a:pPr algn="ctr">
                        <a:spcAft>
                          <a:spcPts val="0"/>
                        </a:spcAft>
                      </a:pPr>
                      <a:r>
                        <a:rPr lang="ru-RU" sz="1600">
                          <a:effectLst/>
                        </a:rPr>
                        <a:t>0,9969</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0,9970</a:t>
                      </a:r>
                      <a:endParaRPr lang="ru-RU" sz="1600">
                        <a:effectLst/>
                        <a:latin typeface="Times New Roman"/>
                        <a:ea typeface="Times New Roman"/>
                      </a:endParaRPr>
                    </a:p>
                  </a:txBody>
                  <a:tcPr marL="25781" marR="25781" marT="0" marB="0"/>
                </a:tc>
                <a:tc>
                  <a:txBody>
                    <a:bodyPr/>
                    <a:lstStyle/>
                    <a:p>
                      <a:pPr algn="ctr">
                        <a:spcAft>
                          <a:spcPts val="0"/>
                        </a:spcAft>
                      </a:pPr>
                      <a:r>
                        <a:rPr lang="ru-RU" sz="1600">
                          <a:effectLst/>
                        </a:rPr>
                        <a:t>0,9971</a:t>
                      </a:r>
                      <a:endParaRPr lang="ru-RU" sz="1600">
                        <a:effectLst/>
                        <a:latin typeface="Times New Roman"/>
                        <a:ea typeface="Times New Roman"/>
                      </a:endParaRPr>
                    </a:p>
                  </a:txBody>
                  <a:tcPr marL="25781" marR="25781" marT="0" marB="0"/>
                </a:tc>
                <a:tc>
                  <a:txBody>
                    <a:bodyPr/>
                    <a:lstStyle/>
                    <a:p>
                      <a:pPr algn="ctr">
                        <a:spcAft>
                          <a:spcPts val="0"/>
                        </a:spcAft>
                      </a:pPr>
                      <a:r>
                        <a:rPr lang="ru-RU" sz="1600" dirty="0">
                          <a:effectLst/>
                        </a:rPr>
                        <a:t>0,9972</a:t>
                      </a:r>
                      <a:endParaRPr lang="ru-RU" sz="1600" dirty="0">
                        <a:effectLst/>
                        <a:latin typeface="Times New Roman"/>
                        <a:ea typeface="Times New Roman"/>
                      </a:endParaRPr>
                    </a:p>
                  </a:txBody>
                  <a:tcPr marL="25781" marR="25781" marT="0" marB="0"/>
                </a:tc>
                <a:extLst>
                  <a:ext uri="{0D108BD9-81ED-4DB2-BD59-A6C34878D82A}">
                    <a16:rowId xmlns:a16="http://schemas.microsoft.com/office/drawing/2014/main" val="10018"/>
                  </a:ext>
                </a:extLst>
              </a:tr>
            </a:tbl>
          </a:graphicData>
        </a:graphic>
      </p:graphicFrame>
      <p:sp>
        <p:nvSpPr>
          <p:cNvPr id="9" name="Объект 8">
            <a:extLst>
              <a:ext uri="{FF2B5EF4-FFF2-40B4-BE49-F238E27FC236}">
                <a16:creationId xmlns:a16="http://schemas.microsoft.com/office/drawing/2014/main" id="{C2B7569F-3A86-A356-464D-720579552BF3}"/>
              </a:ext>
            </a:extLst>
          </p:cNvPr>
          <p:cNvSpPr>
            <a:spLocks noGrp="1"/>
          </p:cNvSpPr>
          <p:nvPr>
            <p:ph idx="1"/>
          </p:nvPr>
        </p:nvSpPr>
        <p:spPr/>
        <p:txBody>
          <a:bodyPr/>
          <a:lstStyle/>
          <a:p>
            <a:endParaRPr lang="ru-RU"/>
          </a:p>
        </p:txBody>
      </p:sp>
      <p:pic>
        <p:nvPicPr>
          <p:cNvPr id="11" name="Рисунок 10" descr="Изображение выглядит как Шрифт, снимок экрана, текст, рукописный текст&#10;&#10;Содержимое, созданное искусственным интеллектом, может быть неверным.">
            <a:extLst>
              <a:ext uri="{FF2B5EF4-FFF2-40B4-BE49-F238E27FC236}">
                <a16:creationId xmlns:a16="http://schemas.microsoft.com/office/drawing/2014/main" id="{31F3EBF2-8C55-EEBA-2185-2DF9635EA717}"/>
              </a:ext>
            </a:extLst>
          </p:cNvPr>
          <p:cNvPicPr>
            <a:picLocks noChangeAspect="1"/>
          </p:cNvPicPr>
          <p:nvPr/>
        </p:nvPicPr>
        <p:blipFill>
          <a:blip r:embed="rId2"/>
          <a:stretch>
            <a:fillRect/>
          </a:stretch>
        </p:blipFill>
        <p:spPr>
          <a:xfrm>
            <a:off x="5916530" y="693577"/>
            <a:ext cx="2825895" cy="113035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ru-RU" dirty="0"/>
              <a:t>Таблица значений распределения Стьюдента</a:t>
            </a:r>
          </a:p>
        </p:txBody>
      </p:sp>
      <p:graphicFrame>
        <p:nvGraphicFramePr>
          <p:cNvPr id="6" name="Содержимое 5"/>
          <p:cNvGraphicFramePr>
            <a:graphicFrameLocks noGrp="1"/>
          </p:cNvGraphicFramePr>
          <p:nvPr>
            <p:ph idx="1"/>
          </p:nvPr>
        </p:nvGraphicFramePr>
        <p:xfrm>
          <a:off x="642913" y="1375200"/>
          <a:ext cx="7572427" cy="6987017"/>
        </p:xfrm>
        <a:graphic>
          <a:graphicData uri="http://schemas.openxmlformats.org/drawingml/2006/table">
            <a:tbl>
              <a:tblPr/>
              <a:tblGrid>
                <a:gridCol w="1222327">
                  <a:extLst>
                    <a:ext uri="{9D8B030D-6E8A-4147-A177-3AD203B41FA5}">
                      <a16:colId xmlns:a16="http://schemas.microsoft.com/office/drawing/2014/main" val="20000"/>
                    </a:ext>
                  </a:extLst>
                </a:gridCol>
                <a:gridCol w="1058350">
                  <a:extLst>
                    <a:ext uri="{9D8B030D-6E8A-4147-A177-3AD203B41FA5}">
                      <a16:colId xmlns:a16="http://schemas.microsoft.com/office/drawing/2014/main" val="20001"/>
                    </a:ext>
                  </a:extLst>
                </a:gridCol>
                <a:gridCol w="1058350">
                  <a:extLst>
                    <a:ext uri="{9D8B030D-6E8A-4147-A177-3AD203B41FA5}">
                      <a16:colId xmlns:a16="http://schemas.microsoft.com/office/drawing/2014/main" val="20002"/>
                    </a:ext>
                  </a:extLst>
                </a:gridCol>
                <a:gridCol w="1058350">
                  <a:extLst>
                    <a:ext uri="{9D8B030D-6E8A-4147-A177-3AD203B41FA5}">
                      <a16:colId xmlns:a16="http://schemas.microsoft.com/office/drawing/2014/main" val="20003"/>
                    </a:ext>
                  </a:extLst>
                </a:gridCol>
                <a:gridCol w="1058350">
                  <a:extLst>
                    <a:ext uri="{9D8B030D-6E8A-4147-A177-3AD203B41FA5}">
                      <a16:colId xmlns:a16="http://schemas.microsoft.com/office/drawing/2014/main" val="20004"/>
                    </a:ext>
                  </a:extLst>
                </a:gridCol>
                <a:gridCol w="1058350">
                  <a:extLst>
                    <a:ext uri="{9D8B030D-6E8A-4147-A177-3AD203B41FA5}">
                      <a16:colId xmlns:a16="http://schemas.microsoft.com/office/drawing/2014/main" val="20005"/>
                    </a:ext>
                  </a:extLst>
                </a:gridCol>
                <a:gridCol w="1058350">
                  <a:extLst>
                    <a:ext uri="{9D8B030D-6E8A-4147-A177-3AD203B41FA5}">
                      <a16:colId xmlns:a16="http://schemas.microsoft.com/office/drawing/2014/main" val="20006"/>
                    </a:ext>
                  </a:extLst>
                </a:gridCol>
              </a:tblGrid>
              <a:tr h="207951">
                <a:tc rowSpan="2">
                  <a:txBody>
                    <a:bodyPr/>
                    <a:lstStyle/>
                    <a:p>
                      <a:r>
                        <a:rPr lang="ru-RU" sz="1200" b="1" dirty="0">
                          <a:solidFill>
                            <a:srgbClr val="FFFFFF"/>
                          </a:solidFill>
                        </a:rPr>
                        <a:t>Число степеней свободы  </a:t>
                      </a:r>
                      <a:r>
                        <a:rPr lang="en-US" sz="1200" b="1" dirty="0">
                          <a:solidFill>
                            <a:srgbClr val="FFFFFF"/>
                          </a:solidFill>
                        </a:rPr>
                        <a:t>k</a:t>
                      </a:r>
                    </a:p>
                  </a:txBody>
                  <a:tcPr marL="6398" marR="6398" marT="6398" marB="6398">
                    <a:lnL>
                      <a:noFill/>
                    </a:lnL>
                    <a:lnR>
                      <a:noFill/>
                    </a:lnR>
                    <a:lnT>
                      <a:noFill/>
                    </a:lnT>
                    <a:lnB>
                      <a:noFill/>
                    </a:lnB>
                  </a:tcPr>
                </a:tc>
                <a:tc gridSpan="6">
                  <a:txBody>
                    <a:bodyPr/>
                    <a:lstStyle/>
                    <a:p>
                      <a:pPr algn="ctr"/>
                      <a:r>
                        <a:rPr lang="ru-RU" sz="1100" dirty="0">
                          <a:solidFill>
                            <a:srgbClr val="FF0000"/>
                          </a:solidFill>
                        </a:rPr>
                        <a:t>Уровень</a:t>
                      </a:r>
                      <a:r>
                        <a:rPr lang="ru-RU" sz="1100" baseline="0" dirty="0">
                          <a:solidFill>
                            <a:srgbClr val="FF0000"/>
                          </a:solidFill>
                        </a:rPr>
                        <a:t> доверия</a:t>
                      </a:r>
                      <a:endParaRPr lang="ru-RU" sz="1100" dirty="0">
                        <a:solidFill>
                          <a:srgbClr val="FF0000"/>
                        </a:solidFill>
                      </a:endParaRPr>
                    </a:p>
                  </a:txBody>
                  <a:tcPr marL="6398" marR="6398" marT="6398" marB="6398">
                    <a:lnL>
                      <a:noFill/>
                    </a:lnL>
                    <a:lnR>
                      <a:noFill/>
                    </a:lnR>
                    <a:lnT>
                      <a:noFill/>
                    </a:lnT>
                    <a:lnB>
                      <a:noFill/>
                    </a:lnB>
                    <a:solidFill>
                      <a:srgbClr val="FFFF00"/>
                    </a:solidFill>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0"/>
                  </a:ext>
                </a:extLst>
              </a:tr>
              <a:tr h="321758">
                <a:tc vMerge="1">
                  <a:txBody>
                    <a:bodyPr/>
                    <a:lstStyle/>
                    <a:p>
                      <a:endParaRPr lang="ru-RU"/>
                    </a:p>
                  </a:txBody>
                  <a:tcPr/>
                </a:tc>
                <a:tc>
                  <a:txBody>
                    <a:bodyPr/>
                    <a:lstStyle/>
                    <a:p>
                      <a:r>
                        <a:rPr lang="ru-RU" sz="1200" b="1" dirty="0">
                          <a:solidFill>
                            <a:srgbClr val="FFFFFF"/>
                          </a:solidFill>
                        </a:rPr>
                        <a:t>0,9</a:t>
                      </a:r>
                    </a:p>
                  </a:txBody>
                  <a:tcPr marL="6398" marR="6398" marT="6398" marB="6398">
                    <a:lnL>
                      <a:noFill/>
                    </a:lnL>
                    <a:lnR>
                      <a:noFill/>
                    </a:lnR>
                    <a:lnT>
                      <a:noFill/>
                    </a:lnT>
                    <a:lnB>
                      <a:noFill/>
                    </a:lnB>
                  </a:tcPr>
                </a:tc>
                <a:tc>
                  <a:txBody>
                    <a:bodyPr/>
                    <a:lstStyle/>
                    <a:p>
                      <a:r>
                        <a:rPr lang="ru-RU" sz="1200" b="1" dirty="0">
                          <a:solidFill>
                            <a:srgbClr val="FFFFFF"/>
                          </a:solidFill>
                        </a:rPr>
                        <a:t>0,95</a:t>
                      </a:r>
                    </a:p>
                  </a:txBody>
                  <a:tcPr marL="6398" marR="6398" marT="6398" marB="6398">
                    <a:lnL>
                      <a:noFill/>
                    </a:lnL>
                    <a:lnR>
                      <a:noFill/>
                    </a:lnR>
                    <a:lnT>
                      <a:noFill/>
                    </a:lnT>
                    <a:lnB>
                      <a:noFill/>
                    </a:lnB>
                  </a:tcPr>
                </a:tc>
                <a:tc>
                  <a:txBody>
                    <a:bodyPr/>
                    <a:lstStyle/>
                    <a:p>
                      <a:r>
                        <a:rPr lang="ru-RU" sz="1200" b="1" dirty="0">
                          <a:solidFill>
                            <a:srgbClr val="FFFFFF"/>
                          </a:solidFill>
                        </a:rPr>
                        <a:t>0,98</a:t>
                      </a:r>
                    </a:p>
                  </a:txBody>
                  <a:tcPr marL="6398" marR="6398" marT="6398" marB="6398">
                    <a:lnL>
                      <a:noFill/>
                    </a:lnL>
                    <a:lnR>
                      <a:noFill/>
                    </a:lnR>
                    <a:lnT>
                      <a:noFill/>
                    </a:lnT>
                    <a:lnB>
                      <a:noFill/>
                    </a:lnB>
                  </a:tcPr>
                </a:tc>
                <a:tc>
                  <a:txBody>
                    <a:bodyPr/>
                    <a:lstStyle/>
                    <a:p>
                      <a:r>
                        <a:rPr lang="ru-RU" sz="1200" b="1" dirty="0">
                          <a:solidFill>
                            <a:srgbClr val="FFFFFF"/>
                          </a:solidFill>
                        </a:rPr>
                        <a:t>0,99</a:t>
                      </a:r>
                    </a:p>
                  </a:txBody>
                  <a:tcPr marL="6398" marR="6398" marT="6398" marB="6398">
                    <a:lnL>
                      <a:noFill/>
                    </a:lnL>
                    <a:lnR>
                      <a:noFill/>
                    </a:lnR>
                    <a:lnT>
                      <a:noFill/>
                    </a:lnT>
                    <a:lnB>
                      <a:noFill/>
                    </a:lnB>
                  </a:tcPr>
                </a:tc>
                <a:tc>
                  <a:txBody>
                    <a:bodyPr/>
                    <a:lstStyle/>
                    <a:p>
                      <a:r>
                        <a:rPr lang="ru-RU" sz="1200" b="1" dirty="0">
                          <a:solidFill>
                            <a:srgbClr val="FFFFFF"/>
                          </a:solidFill>
                        </a:rPr>
                        <a:t>0,998</a:t>
                      </a:r>
                    </a:p>
                  </a:txBody>
                  <a:tcPr marL="6398" marR="6398" marT="6398" marB="6398">
                    <a:lnL>
                      <a:noFill/>
                    </a:lnL>
                    <a:lnR>
                      <a:noFill/>
                    </a:lnR>
                    <a:lnT>
                      <a:noFill/>
                    </a:lnT>
                    <a:lnB>
                      <a:noFill/>
                    </a:lnB>
                  </a:tcPr>
                </a:tc>
                <a:tc>
                  <a:txBody>
                    <a:bodyPr/>
                    <a:lstStyle/>
                    <a:p>
                      <a:r>
                        <a:rPr lang="ru-RU" sz="1200" b="1" dirty="0">
                          <a:solidFill>
                            <a:srgbClr val="FFFFFF"/>
                          </a:solidFill>
                        </a:rPr>
                        <a:t>0,999</a:t>
                      </a:r>
                    </a:p>
                  </a:txBody>
                  <a:tcPr marL="6398" marR="6398" marT="6398" marB="6398">
                    <a:lnL>
                      <a:noFill/>
                    </a:lnL>
                    <a:lnR>
                      <a:noFill/>
                    </a:lnR>
                    <a:lnT>
                      <a:noFill/>
                    </a:lnT>
                    <a:lnB>
                      <a:noFill/>
                    </a:lnB>
                  </a:tcPr>
                </a:tc>
                <a:extLst>
                  <a:ext uri="{0D108BD9-81ED-4DB2-BD59-A6C34878D82A}">
                    <a16:rowId xmlns:a16="http://schemas.microsoft.com/office/drawing/2014/main" val="10001"/>
                  </a:ext>
                </a:extLst>
              </a:tr>
              <a:tr h="143600">
                <a:tc>
                  <a:txBody>
                    <a:bodyPr/>
                    <a:lstStyle/>
                    <a:p>
                      <a:r>
                        <a:rPr lang="ru-RU" sz="1200" b="1" dirty="0">
                          <a:solidFill>
                            <a:srgbClr val="FFFFFF"/>
                          </a:solidFill>
                        </a:rPr>
                        <a:t>1</a:t>
                      </a:r>
                    </a:p>
                  </a:txBody>
                  <a:tcPr marL="6398" marR="6398" marT="6398" marB="6398">
                    <a:lnL>
                      <a:noFill/>
                    </a:lnL>
                    <a:lnR>
                      <a:noFill/>
                    </a:lnR>
                    <a:lnT>
                      <a:noFill/>
                    </a:lnT>
                    <a:lnB>
                      <a:noFill/>
                    </a:lnB>
                  </a:tcPr>
                </a:tc>
                <a:tc>
                  <a:txBody>
                    <a:bodyPr/>
                    <a:lstStyle/>
                    <a:p>
                      <a:r>
                        <a:rPr lang="ru-RU" sz="1200"/>
                        <a:t>6,31</a:t>
                      </a:r>
                    </a:p>
                  </a:txBody>
                  <a:tcPr marL="6398" marR="6398" marT="6398" marB="6398" anchor="b">
                    <a:lnL>
                      <a:noFill/>
                    </a:lnL>
                    <a:lnR>
                      <a:noFill/>
                    </a:lnR>
                    <a:lnT>
                      <a:noFill/>
                    </a:lnT>
                    <a:lnB>
                      <a:noFill/>
                    </a:lnB>
                  </a:tcPr>
                </a:tc>
                <a:tc>
                  <a:txBody>
                    <a:bodyPr/>
                    <a:lstStyle/>
                    <a:p>
                      <a:r>
                        <a:rPr lang="ru-RU" sz="1200"/>
                        <a:t>12,70</a:t>
                      </a:r>
                    </a:p>
                  </a:txBody>
                  <a:tcPr marL="6398" marR="6398" marT="6398" marB="6398" anchor="b">
                    <a:lnL>
                      <a:noFill/>
                    </a:lnL>
                    <a:lnR>
                      <a:noFill/>
                    </a:lnR>
                    <a:lnT>
                      <a:noFill/>
                    </a:lnT>
                    <a:lnB>
                      <a:noFill/>
                    </a:lnB>
                  </a:tcPr>
                </a:tc>
                <a:tc>
                  <a:txBody>
                    <a:bodyPr/>
                    <a:lstStyle/>
                    <a:p>
                      <a:r>
                        <a:rPr lang="ru-RU" sz="1200" dirty="0"/>
                        <a:t>31,82</a:t>
                      </a:r>
                    </a:p>
                  </a:txBody>
                  <a:tcPr marL="6398" marR="6398" marT="6398" marB="6398" anchor="b">
                    <a:lnL>
                      <a:noFill/>
                    </a:lnL>
                    <a:lnR>
                      <a:noFill/>
                    </a:lnR>
                    <a:lnT>
                      <a:noFill/>
                    </a:lnT>
                    <a:lnB>
                      <a:noFill/>
                    </a:lnB>
                  </a:tcPr>
                </a:tc>
                <a:tc>
                  <a:txBody>
                    <a:bodyPr/>
                    <a:lstStyle/>
                    <a:p>
                      <a:r>
                        <a:rPr lang="ru-RU" sz="1200" dirty="0"/>
                        <a:t>63,70</a:t>
                      </a:r>
                    </a:p>
                  </a:txBody>
                  <a:tcPr marL="6398" marR="6398" marT="6398" marB="6398" anchor="b">
                    <a:lnL>
                      <a:noFill/>
                    </a:lnL>
                    <a:lnR>
                      <a:noFill/>
                    </a:lnR>
                    <a:lnT>
                      <a:noFill/>
                    </a:lnT>
                    <a:lnB>
                      <a:noFill/>
                    </a:lnB>
                  </a:tcPr>
                </a:tc>
                <a:tc>
                  <a:txBody>
                    <a:bodyPr/>
                    <a:lstStyle/>
                    <a:p>
                      <a:r>
                        <a:rPr lang="ru-RU" sz="1200"/>
                        <a:t>318,30</a:t>
                      </a:r>
                    </a:p>
                  </a:txBody>
                  <a:tcPr marL="6398" marR="6398" marT="6398" marB="6398" anchor="b">
                    <a:lnL>
                      <a:noFill/>
                    </a:lnL>
                    <a:lnR>
                      <a:noFill/>
                    </a:lnR>
                    <a:lnT>
                      <a:noFill/>
                    </a:lnT>
                    <a:lnB>
                      <a:noFill/>
                    </a:lnB>
                  </a:tcPr>
                </a:tc>
                <a:tc>
                  <a:txBody>
                    <a:bodyPr/>
                    <a:lstStyle/>
                    <a:p>
                      <a:r>
                        <a:rPr lang="ru-RU" sz="1200" dirty="0"/>
                        <a:t>637,00</a:t>
                      </a:r>
                    </a:p>
                  </a:txBody>
                  <a:tcPr marL="6398" marR="6398" marT="6398" marB="6398" anchor="b">
                    <a:lnL>
                      <a:noFill/>
                    </a:lnL>
                    <a:lnR>
                      <a:noFill/>
                    </a:lnR>
                    <a:lnT>
                      <a:noFill/>
                    </a:lnT>
                    <a:lnB>
                      <a:noFill/>
                    </a:lnB>
                  </a:tcPr>
                </a:tc>
                <a:extLst>
                  <a:ext uri="{0D108BD9-81ED-4DB2-BD59-A6C34878D82A}">
                    <a16:rowId xmlns:a16="http://schemas.microsoft.com/office/drawing/2014/main" val="10002"/>
                  </a:ext>
                </a:extLst>
              </a:tr>
              <a:tr h="143600">
                <a:tc>
                  <a:txBody>
                    <a:bodyPr/>
                    <a:lstStyle/>
                    <a:p>
                      <a:r>
                        <a:rPr lang="ru-RU" sz="1200" b="1" dirty="0">
                          <a:solidFill>
                            <a:srgbClr val="FFFFFF"/>
                          </a:solidFill>
                        </a:rPr>
                        <a:t>2</a:t>
                      </a:r>
                    </a:p>
                  </a:txBody>
                  <a:tcPr marL="6398" marR="6398" marT="6398" marB="6398">
                    <a:lnL>
                      <a:noFill/>
                    </a:lnL>
                    <a:lnR>
                      <a:noFill/>
                    </a:lnR>
                    <a:lnT>
                      <a:noFill/>
                    </a:lnT>
                    <a:lnB>
                      <a:noFill/>
                    </a:lnB>
                  </a:tcPr>
                </a:tc>
                <a:tc>
                  <a:txBody>
                    <a:bodyPr/>
                    <a:lstStyle/>
                    <a:p>
                      <a:r>
                        <a:rPr lang="ru-RU" sz="1200"/>
                        <a:t>2,92</a:t>
                      </a:r>
                    </a:p>
                  </a:txBody>
                  <a:tcPr marL="6398" marR="6398" marT="6398" marB="6398" anchor="b">
                    <a:lnL>
                      <a:noFill/>
                    </a:lnL>
                    <a:lnR>
                      <a:noFill/>
                    </a:lnR>
                    <a:lnT>
                      <a:noFill/>
                    </a:lnT>
                    <a:lnB>
                      <a:noFill/>
                    </a:lnB>
                  </a:tcPr>
                </a:tc>
                <a:tc>
                  <a:txBody>
                    <a:bodyPr/>
                    <a:lstStyle/>
                    <a:p>
                      <a:r>
                        <a:rPr lang="ru-RU" sz="1200"/>
                        <a:t>4,30</a:t>
                      </a:r>
                    </a:p>
                  </a:txBody>
                  <a:tcPr marL="6398" marR="6398" marT="6398" marB="6398" anchor="b">
                    <a:lnL>
                      <a:noFill/>
                    </a:lnL>
                    <a:lnR>
                      <a:noFill/>
                    </a:lnR>
                    <a:lnT>
                      <a:noFill/>
                    </a:lnT>
                    <a:lnB>
                      <a:noFill/>
                    </a:lnB>
                  </a:tcPr>
                </a:tc>
                <a:tc>
                  <a:txBody>
                    <a:bodyPr/>
                    <a:lstStyle/>
                    <a:p>
                      <a:r>
                        <a:rPr lang="ru-RU" sz="1200"/>
                        <a:t>6,97</a:t>
                      </a:r>
                    </a:p>
                  </a:txBody>
                  <a:tcPr marL="6398" marR="6398" marT="6398" marB="6398" anchor="b">
                    <a:lnL>
                      <a:noFill/>
                    </a:lnL>
                    <a:lnR>
                      <a:noFill/>
                    </a:lnR>
                    <a:lnT>
                      <a:noFill/>
                    </a:lnT>
                    <a:lnB>
                      <a:noFill/>
                    </a:lnB>
                  </a:tcPr>
                </a:tc>
                <a:tc>
                  <a:txBody>
                    <a:bodyPr/>
                    <a:lstStyle/>
                    <a:p>
                      <a:r>
                        <a:rPr lang="ru-RU" sz="1200" dirty="0"/>
                        <a:t>9,92</a:t>
                      </a:r>
                    </a:p>
                  </a:txBody>
                  <a:tcPr marL="6398" marR="6398" marT="6398" marB="6398" anchor="b">
                    <a:lnL>
                      <a:noFill/>
                    </a:lnL>
                    <a:lnR>
                      <a:noFill/>
                    </a:lnR>
                    <a:lnT>
                      <a:noFill/>
                    </a:lnT>
                    <a:lnB>
                      <a:noFill/>
                    </a:lnB>
                  </a:tcPr>
                </a:tc>
                <a:tc>
                  <a:txBody>
                    <a:bodyPr/>
                    <a:lstStyle/>
                    <a:p>
                      <a:r>
                        <a:rPr lang="ru-RU" sz="1200"/>
                        <a:t>22,33</a:t>
                      </a:r>
                    </a:p>
                  </a:txBody>
                  <a:tcPr marL="6398" marR="6398" marT="6398" marB="6398" anchor="b">
                    <a:lnL>
                      <a:noFill/>
                    </a:lnL>
                    <a:lnR>
                      <a:noFill/>
                    </a:lnR>
                    <a:lnT>
                      <a:noFill/>
                    </a:lnT>
                    <a:lnB>
                      <a:noFill/>
                    </a:lnB>
                  </a:tcPr>
                </a:tc>
                <a:tc>
                  <a:txBody>
                    <a:bodyPr/>
                    <a:lstStyle/>
                    <a:p>
                      <a:r>
                        <a:rPr lang="ru-RU" sz="1200" dirty="0"/>
                        <a:t>31,60</a:t>
                      </a:r>
                    </a:p>
                  </a:txBody>
                  <a:tcPr marL="6398" marR="6398" marT="6398" marB="6398" anchor="b">
                    <a:lnL>
                      <a:noFill/>
                    </a:lnL>
                    <a:lnR>
                      <a:noFill/>
                    </a:lnR>
                    <a:lnT>
                      <a:noFill/>
                    </a:lnT>
                    <a:lnB>
                      <a:noFill/>
                    </a:lnB>
                  </a:tcPr>
                </a:tc>
                <a:extLst>
                  <a:ext uri="{0D108BD9-81ED-4DB2-BD59-A6C34878D82A}">
                    <a16:rowId xmlns:a16="http://schemas.microsoft.com/office/drawing/2014/main" val="10003"/>
                  </a:ext>
                </a:extLst>
              </a:tr>
              <a:tr h="143600">
                <a:tc>
                  <a:txBody>
                    <a:bodyPr/>
                    <a:lstStyle/>
                    <a:p>
                      <a:r>
                        <a:rPr lang="ru-RU" sz="1200" b="1" dirty="0">
                          <a:solidFill>
                            <a:srgbClr val="FFFFFF"/>
                          </a:solidFill>
                        </a:rPr>
                        <a:t>3</a:t>
                      </a:r>
                    </a:p>
                  </a:txBody>
                  <a:tcPr marL="6398" marR="6398" marT="6398" marB="6398">
                    <a:lnL>
                      <a:noFill/>
                    </a:lnL>
                    <a:lnR>
                      <a:noFill/>
                    </a:lnR>
                    <a:lnT>
                      <a:noFill/>
                    </a:lnT>
                    <a:lnB>
                      <a:noFill/>
                    </a:lnB>
                  </a:tcPr>
                </a:tc>
                <a:tc>
                  <a:txBody>
                    <a:bodyPr/>
                    <a:lstStyle/>
                    <a:p>
                      <a:r>
                        <a:rPr lang="ru-RU" sz="1200"/>
                        <a:t>2,35</a:t>
                      </a:r>
                    </a:p>
                  </a:txBody>
                  <a:tcPr marL="6398" marR="6398" marT="6398" marB="6398" anchor="b">
                    <a:lnL>
                      <a:noFill/>
                    </a:lnL>
                    <a:lnR>
                      <a:noFill/>
                    </a:lnR>
                    <a:lnT>
                      <a:noFill/>
                    </a:lnT>
                    <a:lnB>
                      <a:noFill/>
                    </a:lnB>
                  </a:tcPr>
                </a:tc>
                <a:tc>
                  <a:txBody>
                    <a:bodyPr/>
                    <a:lstStyle/>
                    <a:p>
                      <a:r>
                        <a:rPr lang="ru-RU" sz="1200"/>
                        <a:t>3,18</a:t>
                      </a:r>
                    </a:p>
                  </a:txBody>
                  <a:tcPr marL="6398" marR="6398" marT="6398" marB="6398" anchor="b">
                    <a:lnL>
                      <a:noFill/>
                    </a:lnL>
                    <a:lnR>
                      <a:noFill/>
                    </a:lnR>
                    <a:lnT>
                      <a:noFill/>
                    </a:lnT>
                    <a:lnB>
                      <a:noFill/>
                    </a:lnB>
                  </a:tcPr>
                </a:tc>
                <a:tc>
                  <a:txBody>
                    <a:bodyPr/>
                    <a:lstStyle/>
                    <a:p>
                      <a:r>
                        <a:rPr lang="ru-RU" sz="1200"/>
                        <a:t>4,54</a:t>
                      </a:r>
                    </a:p>
                  </a:txBody>
                  <a:tcPr marL="6398" marR="6398" marT="6398" marB="6398" anchor="b">
                    <a:lnL>
                      <a:noFill/>
                    </a:lnL>
                    <a:lnR>
                      <a:noFill/>
                    </a:lnR>
                    <a:lnT>
                      <a:noFill/>
                    </a:lnT>
                    <a:lnB>
                      <a:noFill/>
                    </a:lnB>
                  </a:tcPr>
                </a:tc>
                <a:tc>
                  <a:txBody>
                    <a:bodyPr/>
                    <a:lstStyle/>
                    <a:p>
                      <a:r>
                        <a:rPr lang="ru-RU" sz="1200" dirty="0"/>
                        <a:t>5,84</a:t>
                      </a:r>
                    </a:p>
                  </a:txBody>
                  <a:tcPr marL="6398" marR="6398" marT="6398" marB="6398" anchor="b">
                    <a:lnL>
                      <a:noFill/>
                    </a:lnL>
                    <a:lnR>
                      <a:noFill/>
                    </a:lnR>
                    <a:lnT>
                      <a:noFill/>
                    </a:lnT>
                    <a:lnB>
                      <a:noFill/>
                    </a:lnB>
                  </a:tcPr>
                </a:tc>
                <a:tc>
                  <a:txBody>
                    <a:bodyPr/>
                    <a:lstStyle/>
                    <a:p>
                      <a:r>
                        <a:rPr lang="ru-RU" sz="1200"/>
                        <a:t>10,22</a:t>
                      </a:r>
                    </a:p>
                  </a:txBody>
                  <a:tcPr marL="6398" marR="6398" marT="6398" marB="6398" anchor="b">
                    <a:lnL>
                      <a:noFill/>
                    </a:lnL>
                    <a:lnR>
                      <a:noFill/>
                    </a:lnR>
                    <a:lnT>
                      <a:noFill/>
                    </a:lnT>
                    <a:lnB>
                      <a:noFill/>
                    </a:lnB>
                  </a:tcPr>
                </a:tc>
                <a:tc>
                  <a:txBody>
                    <a:bodyPr/>
                    <a:lstStyle/>
                    <a:p>
                      <a:r>
                        <a:rPr lang="ru-RU" sz="1200" dirty="0"/>
                        <a:t>12,90</a:t>
                      </a:r>
                    </a:p>
                  </a:txBody>
                  <a:tcPr marL="6398" marR="6398" marT="6398" marB="6398" anchor="b">
                    <a:lnL>
                      <a:noFill/>
                    </a:lnL>
                    <a:lnR>
                      <a:noFill/>
                    </a:lnR>
                    <a:lnT>
                      <a:noFill/>
                    </a:lnT>
                    <a:lnB>
                      <a:noFill/>
                    </a:lnB>
                  </a:tcPr>
                </a:tc>
                <a:extLst>
                  <a:ext uri="{0D108BD9-81ED-4DB2-BD59-A6C34878D82A}">
                    <a16:rowId xmlns:a16="http://schemas.microsoft.com/office/drawing/2014/main" val="10004"/>
                  </a:ext>
                </a:extLst>
              </a:tr>
              <a:tr h="143600">
                <a:tc>
                  <a:txBody>
                    <a:bodyPr/>
                    <a:lstStyle/>
                    <a:p>
                      <a:r>
                        <a:rPr lang="ru-RU" sz="1200" b="1">
                          <a:solidFill>
                            <a:srgbClr val="FFFFFF"/>
                          </a:solidFill>
                        </a:rPr>
                        <a:t>4</a:t>
                      </a:r>
                    </a:p>
                  </a:txBody>
                  <a:tcPr marL="6398" marR="6398" marT="6398" marB="6398">
                    <a:lnL>
                      <a:noFill/>
                    </a:lnL>
                    <a:lnR>
                      <a:noFill/>
                    </a:lnR>
                    <a:lnT>
                      <a:noFill/>
                    </a:lnT>
                    <a:lnB>
                      <a:noFill/>
                    </a:lnB>
                  </a:tcPr>
                </a:tc>
                <a:tc>
                  <a:txBody>
                    <a:bodyPr/>
                    <a:lstStyle/>
                    <a:p>
                      <a:r>
                        <a:rPr lang="ru-RU" sz="1200" dirty="0"/>
                        <a:t>2,13</a:t>
                      </a:r>
                    </a:p>
                  </a:txBody>
                  <a:tcPr marL="6398" marR="6398" marT="6398" marB="6398" anchor="b">
                    <a:lnL>
                      <a:noFill/>
                    </a:lnL>
                    <a:lnR>
                      <a:noFill/>
                    </a:lnR>
                    <a:lnT>
                      <a:noFill/>
                    </a:lnT>
                    <a:lnB>
                      <a:noFill/>
                    </a:lnB>
                  </a:tcPr>
                </a:tc>
                <a:tc>
                  <a:txBody>
                    <a:bodyPr/>
                    <a:lstStyle/>
                    <a:p>
                      <a:r>
                        <a:rPr lang="ru-RU" sz="1200"/>
                        <a:t>2,78</a:t>
                      </a:r>
                    </a:p>
                  </a:txBody>
                  <a:tcPr marL="6398" marR="6398" marT="6398" marB="6398" anchor="b">
                    <a:lnL>
                      <a:noFill/>
                    </a:lnL>
                    <a:lnR>
                      <a:noFill/>
                    </a:lnR>
                    <a:lnT>
                      <a:noFill/>
                    </a:lnT>
                    <a:lnB>
                      <a:noFill/>
                    </a:lnB>
                  </a:tcPr>
                </a:tc>
                <a:tc>
                  <a:txBody>
                    <a:bodyPr/>
                    <a:lstStyle/>
                    <a:p>
                      <a:r>
                        <a:rPr lang="ru-RU" sz="1200"/>
                        <a:t>3,75</a:t>
                      </a:r>
                    </a:p>
                  </a:txBody>
                  <a:tcPr marL="6398" marR="6398" marT="6398" marB="6398" anchor="b">
                    <a:lnL>
                      <a:noFill/>
                    </a:lnL>
                    <a:lnR>
                      <a:noFill/>
                    </a:lnR>
                    <a:lnT>
                      <a:noFill/>
                    </a:lnT>
                    <a:lnB>
                      <a:noFill/>
                    </a:lnB>
                  </a:tcPr>
                </a:tc>
                <a:tc>
                  <a:txBody>
                    <a:bodyPr/>
                    <a:lstStyle/>
                    <a:p>
                      <a:r>
                        <a:rPr lang="ru-RU" sz="1200" dirty="0"/>
                        <a:t>4,60</a:t>
                      </a:r>
                    </a:p>
                  </a:txBody>
                  <a:tcPr marL="6398" marR="6398" marT="6398" marB="6398" anchor="b">
                    <a:lnL>
                      <a:noFill/>
                    </a:lnL>
                    <a:lnR>
                      <a:noFill/>
                    </a:lnR>
                    <a:lnT>
                      <a:noFill/>
                    </a:lnT>
                    <a:lnB>
                      <a:noFill/>
                    </a:lnB>
                  </a:tcPr>
                </a:tc>
                <a:tc>
                  <a:txBody>
                    <a:bodyPr/>
                    <a:lstStyle/>
                    <a:p>
                      <a:r>
                        <a:rPr lang="ru-RU" sz="1200"/>
                        <a:t>7,17</a:t>
                      </a:r>
                    </a:p>
                  </a:txBody>
                  <a:tcPr marL="6398" marR="6398" marT="6398" marB="6398" anchor="b">
                    <a:lnL>
                      <a:noFill/>
                    </a:lnL>
                    <a:lnR>
                      <a:noFill/>
                    </a:lnR>
                    <a:lnT>
                      <a:noFill/>
                    </a:lnT>
                    <a:lnB>
                      <a:noFill/>
                    </a:lnB>
                  </a:tcPr>
                </a:tc>
                <a:tc>
                  <a:txBody>
                    <a:bodyPr/>
                    <a:lstStyle/>
                    <a:p>
                      <a:r>
                        <a:rPr lang="ru-RU" sz="1200" dirty="0"/>
                        <a:t>8,61</a:t>
                      </a:r>
                    </a:p>
                  </a:txBody>
                  <a:tcPr marL="6398" marR="6398" marT="6398" marB="6398" anchor="b">
                    <a:lnL>
                      <a:noFill/>
                    </a:lnL>
                    <a:lnR>
                      <a:noFill/>
                    </a:lnR>
                    <a:lnT>
                      <a:noFill/>
                    </a:lnT>
                    <a:lnB>
                      <a:noFill/>
                    </a:lnB>
                  </a:tcPr>
                </a:tc>
                <a:extLst>
                  <a:ext uri="{0D108BD9-81ED-4DB2-BD59-A6C34878D82A}">
                    <a16:rowId xmlns:a16="http://schemas.microsoft.com/office/drawing/2014/main" val="10005"/>
                  </a:ext>
                </a:extLst>
              </a:tr>
              <a:tr h="143600">
                <a:tc>
                  <a:txBody>
                    <a:bodyPr/>
                    <a:lstStyle/>
                    <a:p>
                      <a:r>
                        <a:rPr lang="ru-RU" sz="1200" b="1">
                          <a:solidFill>
                            <a:srgbClr val="FFFFFF"/>
                          </a:solidFill>
                        </a:rPr>
                        <a:t>5</a:t>
                      </a:r>
                    </a:p>
                  </a:txBody>
                  <a:tcPr marL="6398" marR="6398" marT="6398" marB="6398">
                    <a:lnL>
                      <a:noFill/>
                    </a:lnL>
                    <a:lnR>
                      <a:noFill/>
                    </a:lnR>
                    <a:lnT>
                      <a:noFill/>
                    </a:lnT>
                    <a:lnB>
                      <a:noFill/>
                    </a:lnB>
                  </a:tcPr>
                </a:tc>
                <a:tc>
                  <a:txBody>
                    <a:bodyPr/>
                    <a:lstStyle/>
                    <a:p>
                      <a:r>
                        <a:rPr lang="ru-RU" sz="1200" dirty="0"/>
                        <a:t>2,01</a:t>
                      </a:r>
                    </a:p>
                  </a:txBody>
                  <a:tcPr marL="6398" marR="6398" marT="6398" marB="6398" anchor="b">
                    <a:lnL>
                      <a:noFill/>
                    </a:lnL>
                    <a:lnR>
                      <a:noFill/>
                    </a:lnR>
                    <a:lnT>
                      <a:noFill/>
                    </a:lnT>
                    <a:lnB>
                      <a:noFill/>
                    </a:lnB>
                  </a:tcPr>
                </a:tc>
                <a:tc>
                  <a:txBody>
                    <a:bodyPr/>
                    <a:lstStyle/>
                    <a:p>
                      <a:r>
                        <a:rPr lang="ru-RU" sz="1200"/>
                        <a:t>2,57</a:t>
                      </a:r>
                    </a:p>
                  </a:txBody>
                  <a:tcPr marL="6398" marR="6398" marT="6398" marB="6398" anchor="b">
                    <a:lnL>
                      <a:noFill/>
                    </a:lnL>
                    <a:lnR>
                      <a:noFill/>
                    </a:lnR>
                    <a:lnT>
                      <a:noFill/>
                    </a:lnT>
                    <a:lnB>
                      <a:noFill/>
                    </a:lnB>
                  </a:tcPr>
                </a:tc>
                <a:tc>
                  <a:txBody>
                    <a:bodyPr/>
                    <a:lstStyle/>
                    <a:p>
                      <a:r>
                        <a:rPr lang="ru-RU" sz="1200"/>
                        <a:t>3,37</a:t>
                      </a:r>
                    </a:p>
                  </a:txBody>
                  <a:tcPr marL="6398" marR="6398" marT="6398" marB="6398" anchor="b">
                    <a:lnL>
                      <a:noFill/>
                    </a:lnL>
                    <a:lnR>
                      <a:noFill/>
                    </a:lnR>
                    <a:lnT>
                      <a:noFill/>
                    </a:lnT>
                    <a:lnB>
                      <a:noFill/>
                    </a:lnB>
                  </a:tcPr>
                </a:tc>
                <a:tc>
                  <a:txBody>
                    <a:bodyPr/>
                    <a:lstStyle/>
                    <a:p>
                      <a:r>
                        <a:rPr lang="ru-RU" sz="1200" dirty="0"/>
                        <a:t>4,03</a:t>
                      </a:r>
                    </a:p>
                  </a:txBody>
                  <a:tcPr marL="6398" marR="6398" marT="6398" marB="6398" anchor="b">
                    <a:lnL>
                      <a:noFill/>
                    </a:lnL>
                    <a:lnR>
                      <a:noFill/>
                    </a:lnR>
                    <a:lnT>
                      <a:noFill/>
                    </a:lnT>
                    <a:lnB>
                      <a:noFill/>
                    </a:lnB>
                  </a:tcPr>
                </a:tc>
                <a:tc>
                  <a:txBody>
                    <a:bodyPr/>
                    <a:lstStyle/>
                    <a:p>
                      <a:r>
                        <a:rPr lang="ru-RU" sz="1200"/>
                        <a:t>5,89</a:t>
                      </a:r>
                    </a:p>
                  </a:txBody>
                  <a:tcPr marL="6398" marR="6398" marT="6398" marB="6398" anchor="b">
                    <a:lnL>
                      <a:noFill/>
                    </a:lnL>
                    <a:lnR>
                      <a:noFill/>
                    </a:lnR>
                    <a:lnT>
                      <a:noFill/>
                    </a:lnT>
                    <a:lnB>
                      <a:noFill/>
                    </a:lnB>
                  </a:tcPr>
                </a:tc>
                <a:tc>
                  <a:txBody>
                    <a:bodyPr/>
                    <a:lstStyle/>
                    <a:p>
                      <a:r>
                        <a:rPr lang="ru-RU" sz="1200" dirty="0"/>
                        <a:t>6,86</a:t>
                      </a:r>
                    </a:p>
                  </a:txBody>
                  <a:tcPr marL="6398" marR="6398" marT="6398" marB="6398" anchor="b">
                    <a:lnL>
                      <a:noFill/>
                    </a:lnL>
                    <a:lnR>
                      <a:noFill/>
                    </a:lnR>
                    <a:lnT>
                      <a:noFill/>
                    </a:lnT>
                    <a:lnB>
                      <a:noFill/>
                    </a:lnB>
                  </a:tcPr>
                </a:tc>
                <a:extLst>
                  <a:ext uri="{0D108BD9-81ED-4DB2-BD59-A6C34878D82A}">
                    <a16:rowId xmlns:a16="http://schemas.microsoft.com/office/drawing/2014/main" val="10006"/>
                  </a:ext>
                </a:extLst>
              </a:tr>
              <a:tr h="143600">
                <a:tc>
                  <a:txBody>
                    <a:bodyPr/>
                    <a:lstStyle/>
                    <a:p>
                      <a:r>
                        <a:rPr lang="ru-RU" sz="1200" b="1">
                          <a:solidFill>
                            <a:srgbClr val="FFFFFF"/>
                          </a:solidFill>
                        </a:rPr>
                        <a:t>6</a:t>
                      </a:r>
                    </a:p>
                  </a:txBody>
                  <a:tcPr marL="6398" marR="6398" marT="6398" marB="6398">
                    <a:lnL>
                      <a:noFill/>
                    </a:lnL>
                    <a:lnR>
                      <a:noFill/>
                    </a:lnR>
                    <a:lnT>
                      <a:noFill/>
                    </a:lnT>
                    <a:lnB>
                      <a:noFill/>
                    </a:lnB>
                  </a:tcPr>
                </a:tc>
                <a:tc>
                  <a:txBody>
                    <a:bodyPr/>
                    <a:lstStyle/>
                    <a:p>
                      <a:r>
                        <a:rPr lang="ru-RU" sz="1200" dirty="0"/>
                        <a:t>1,94</a:t>
                      </a:r>
                    </a:p>
                  </a:txBody>
                  <a:tcPr marL="6398" marR="6398" marT="6398" marB="6398" anchor="b">
                    <a:lnL>
                      <a:noFill/>
                    </a:lnL>
                    <a:lnR>
                      <a:noFill/>
                    </a:lnR>
                    <a:lnT>
                      <a:noFill/>
                    </a:lnT>
                    <a:lnB>
                      <a:noFill/>
                    </a:lnB>
                  </a:tcPr>
                </a:tc>
                <a:tc>
                  <a:txBody>
                    <a:bodyPr/>
                    <a:lstStyle/>
                    <a:p>
                      <a:r>
                        <a:rPr lang="ru-RU" sz="1200"/>
                        <a:t>2,45</a:t>
                      </a:r>
                    </a:p>
                  </a:txBody>
                  <a:tcPr marL="6398" marR="6398" marT="6398" marB="6398" anchor="b">
                    <a:lnL>
                      <a:noFill/>
                    </a:lnL>
                    <a:lnR>
                      <a:noFill/>
                    </a:lnR>
                    <a:lnT>
                      <a:noFill/>
                    </a:lnT>
                    <a:lnB>
                      <a:noFill/>
                    </a:lnB>
                  </a:tcPr>
                </a:tc>
                <a:tc>
                  <a:txBody>
                    <a:bodyPr/>
                    <a:lstStyle/>
                    <a:p>
                      <a:r>
                        <a:rPr lang="ru-RU" sz="1200"/>
                        <a:t>3,14</a:t>
                      </a:r>
                    </a:p>
                  </a:txBody>
                  <a:tcPr marL="6398" marR="6398" marT="6398" marB="6398" anchor="b">
                    <a:lnL>
                      <a:noFill/>
                    </a:lnL>
                    <a:lnR>
                      <a:noFill/>
                    </a:lnR>
                    <a:lnT>
                      <a:noFill/>
                    </a:lnT>
                    <a:lnB>
                      <a:noFill/>
                    </a:lnB>
                  </a:tcPr>
                </a:tc>
                <a:tc>
                  <a:txBody>
                    <a:bodyPr/>
                    <a:lstStyle/>
                    <a:p>
                      <a:r>
                        <a:rPr lang="ru-RU" sz="1200" dirty="0"/>
                        <a:t>3,71</a:t>
                      </a:r>
                    </a:p>
                  </a:txBody>
                  <a:tcPr marL="6398" marR="6398" marT="6398" marB="6398" anchor="b">
                    <a:lnL>
                      <a:noFill/>
                    </a:lnL>
                    <a:lnR>
                      <a:noFill/>
                    </a:lnR>
                    <a:lnT>
                      <a:noFill/>
                    </a:lnT>
                    <a:lnB>
                      <a:noFill/>
                    </a:lnB>
                  </a:tcPr>
                </a:tc>
                <a:tc>
                  <a:txBody>
                    <a:bodyPr/>
                    <a:lstStyle/>
                    <a:p>
                      <a:r>
                        <a:rPr lang="ru-RU" sz="1200"/>
                        <a:t>5,21</a:t>
                      </a:r>
                    </a:p>
                  </a:txBody>
                  <a:tcPr marL="6398" marR="6398" marT="6398" marB="6398" anchor="b">
                    <a:lnL>
                      <a:noFill/>
                    </a:lnL>
                    <a:lnR>
                      <a:noFill/>
                    </a:lnR>
                    <a:lnT>
                      <a:noFill/>
                    </a:lnT>
                    <a:lnB>
                      <a:noFill/>
                    </a:lnB>
                  </a:tcPr>
                </a:tc>
                <a:tc>
                  <a:txBody>
                    <a:bodyPr/>
                    <a:lstStyle/>
                    <a:p>
                      <a:r>
                        <a:rPr lang="ru-RU" sz="1200" dirty="0"/>
                        <a:t>5,96</a:t>
                      </a:r>
                    </a:p>
                  </a:txBody>
                  <a:tcPr marL="6398" marR="6398" marT="6398" marB="6398" anchor="b">
                    <a:lnL>
                      <a:noFill/>
                    </a:lnL>
                    <a:lnR>
                      <a:noFill/>
                    </a:lnR>
                    <a:lnT>
                      <a:noFill/>
                    </a:lnT>
                    <a:lnB>
                      <a:noFill/>
                    </a:lnB>
                  </a:tcPr>
                </a:tc>
                <a:extLst>
                  <a:ext uri="{0D108BD9-81ED-4DB2-BD59-A6C34878D82A}">
                    <a16:rowId xmlns:a16="http://schemas.microsoft.com/office/drawing/2014/main" val="10007"/>
                  </a:ext>
                </a:extLst>
              </a:tr>
              <a:tr h="143600">
                <a:tc>
                  <a:txBody>
                    <a:bodyPr/>
                    <a:lstStyle/>
                    <a:p>
                      <a:r>
                        <a:rPr lang="ru-RU" sz="1200" b="1">
                          <a:solidFill>
                            <a:srgbClr val="FFFFFF"/>
                          </a:solidFill>
                        </a:rPr>
                        <a:t>7</a:t>
                      </a:r>
                    </a:p>
                  </a:txBody>
                  <a:tcPr marL="6398" marR="6398" marT="6398" marB="6398">
                    <a:lnL>
                      <a:noFill/>
                    </a:lnL>
                    <a:lnR>
                      <a:noFill/>
                    </a:lnR>
                    <a:lnT>
                      <a:noFill/>
                    </a:lnT>
                    <a:lnB>
                      <a:noFill/>
                    </a:lnB>
                  </a:tcPr>
                </a:tc>
                <a:tc>
                  <a:txBody>
                    <a:bodyPr/>
                    <a:lstStyle/>
                    <a:p>
                      <a:r>
                        <a:rPr lang="ru-RU" sz="1200" dirty="0"/>
                        <a:t>1,89</a:t>
                      </a:r>
                    </a:p>
                  </a:txBody>
                  <a:tcPr marL="6398" marR="6398" marT="6398" marB="6398" anchor="b">
                    <a:lnL>
                      <a:noFill/>
                    </a:lnL>
                    <a:lnR>
                      <a:noFill/>
                    </a:lnR>
                    <a:lnT>
                      <a:noFill/>
                    </a:lnT>
                    <a:lnB>
                      <a:noFill/>
                    </a:lnB>
                  </a:tcPr>
                </a:tc>
                <a:tc>
                  <a:txBody>
                    <a:bodyPr/>
                    <a:lstStyle/>
                    <a:p>
                      <a:r>
                        <a:rPr lang="ru-RU" sz="1200"/>
                        <a:t>2,36</a:t>
                      </a:r>
                    </a:p>
                  </a:txBody>
                  <a:tcPr marL="6398" marR="6398" marT="6398" marB="6398" anchor="b">
                    <a:lnL>
                      <a:noFill/>
                    </a:lnL>
                    <a:lnR>
                      <a:noFill/>
                    </a:lnR>
                    <a:lnT>
                      <a:noFill/>
                    </a:lnT>
                    <a:lnB>
                      <a:noFill/>
                    </a:lnB>
                  </a:tcPr>
                </a:tc>
                <a:tc>
                  <a:txBody>
                    <a:bodyPr/>
                    <a:lstStyle/>
                    <a:p>
                      <a:r>
                        <a:rPr lang="ru-RU" sz="1200"/>
                        <a:t>3,00</a:t>
                      </a:r>
                    </a:p>
                  </a:txBody>
                  <a:tcPr marL="6398" marR="6398" marT="6398" marB="6398" anchor="b">
                    <a:lnL>
                      <a:noFill/>
                    </a:lnL>
                    <a:lnR>
                      <a:noFill/>
                    </a:lnR>
                    <a:lnT>
                      <a:noFill/>
                    </a:lnT>
                    <a:lnB>
                      <a:noFill/>
                    </a:lnB>
                  </a:tcPr>
                </a:tc>
                <a:tc>
                  <a:txBody>
                    <a:bodyPr/>
                    <a:lstStyle/>
                    <a:p>
                      <a:r>
                        <a:rPr lang="ru-RU" sz="1200" dirty="0"/>
                        <a:t>3,50</a:t>
                      </a:r>
                    </a:p>
                  </a:txBody>
                  <a:tcPr marL="6398" marR="6398" marT="6398" marB="6398" anchor="b">
                    <a:lnL>
                      <a:noFill/>
                    </a:lnL>
                    <a:lnR>
                      <a:noFill/>
                    </a:lnR>
                    <a:lnT>
                      <a:noFill/>
                    </a:lnT>
                    <a:lnB>
                      <a:noFill/>
                    </a:lnB>
                  </a:tcPr>
                </a:tc>
                <a:tc>
                  <a:txBody>
                    <a:bodyPr/>
                    <a:lstStyle/>
                    <a:p>
                      <a:r>
                        <a:rPr lang="ru-RU" sz="1200"/>
                        <a:t>4,79</a:t>
                      </a:r>
                    </a:p>
                  </a:txBody>
                  <a:tcPr marL="6398" marR="6398" marT="6398" marB="6398" anchor="b">
                    <a:lnL>
                      <a:noFill/>
                    </a:lnL>
                    <a:lnR>
                      <a:noFill/>
                    </a:lnR>
                    <a:lnT>
                      <a:noFill/>
                    </a:lnT>
                    <a:lnB>
                      <a:noFill/>
                    </a:lnB>
                  </a:tcPr>
                </a:tc>
                <a:tc>
                  <a:txBody>
                    <a:bodyPr/>
                    <a:lstStyle/>
                    <a:p>
                      <a:r>
                        <a:rPr lang="ru-RU" sz="1200" dirty="0"/>
                        <a:t>5,40</a:t>
                      </a:r>
                    </a:p>
                  </a:txBody>
                  <a:tcPr marL="6398" marR="6398" marT="6398" marB="6398" anchor="b">
                    <a:lnL>
                      <a:noFill/>
                    </a:lnL>
                    <a:lnR>
                      <a:noFill/>
                    </a:lnR>
                    <a:lnT>
                      <a:noFill/>
                    </a:lnT>
                    <a:lnB>
                      <a:noFill/>
                    </a:lnB>
                  </a:tcPr>
                </a:tc>
                <a:extLst>
                  <a:ext uri="{0D108BD9-81ED-4DB2-BD59-A6C34878D82A}">
                    <a16:rowId xmlns:a16="http://schemas.microsoft.com/office/drawing/2014/main" val="10008"/>
                  </a:ext>
                </a:extLst>
              </a:tr>
              <a:tr h="143600">
                <a:tc>
                  <a:txBody>
                    <a:bodyPr/>
                    <a:lstStyle/>
                    <a:p>
                      <a:r>
                        <a:rPr lang="ru-RU" sz="1200" b="1">
                          <a:solidFill>
                            <a:srgbClr val="FFFFFF"/>
                          </a:solidFill>
                        </a:rPr>
                        <a:t>8</a:t>
                      </a:r>
                    </a:p>
                  </a:txBody>
                  <a:tcPr marL="6398" marR="6398" marT="6398" marB="6398">
                    <a:lnL>
                      <a:noFill/>
                    </a:lnL>
                    <a:lnR>
                      <a:noFill/>
                    </a:lnR>
                    <a:lnT>
                      <a:noFill/>
                    </a:lnT>
                    <a:lnB>
                      <a:noFill/>
                    </a:lnB>
                  </a:tcPr>
                </a:tc>
                <a:tc>
                  <a:txBody>
                    <a:bodyPr/>
                    <a:lstStyle/>
                    <a:p>
                      <a:r>
                        <a:rPr lang="ru-RU" sz="1200" dirty="0"/>
                        <a:t>1,86</a:t>
                      </a:r>
                    </a:p>
                  </a:txBody>
                  <a:tcPr marL="6398" marR="6398" marT="6398" marB="6398" anchor="b">
                    <a:lnL>
                      <a:noFill/>
                    </a:lnL>
                    <a:lnR>
                      <a:noFill/>
                    </a:lnR>
                    <a:lnT>
                      <a:noFill/>
                    </a:lnT>
                    <a:lnB>
                      <a:noFill/>
                    </a:lnB>
                  </a:tcPr>
                </a:tc>
                <a:tc>
                  <a:txBody>
                    <a:bodyPr/>
                    <a:lstStyle/>
                    <a:p>
                      <a:r>
                        <a:rPr lang="ru-RU" sz="1200"/>
                        <a:t>2,31</a:t>
                      </a:r>
                    </a:p>
                  </a:txBody>
                  <a:tcPr marL="6398" marR="6398" marT="6398" marB="6398" anchor="b">
                    <a:lnL>
                      <a:noFill/>
                    </a:lnL>
                    <a:lnR>
                      <a:noFill/>
                    </a:lnR>
                    <a:lnT>
                      <a:noFill/>
                    </a:lnT>
                    <a:lnB>
                      <a:noFill/>
                    </a:lnB>
                  </a:tcPr>
                </a:tc>
                <a:tc>
                  <a:txBody>
                    <a:bodyPr/>
                    <a:lstStyle/>
                    <a:p>
                      <a:r>
                        <a:rPr lang="ru-RU" sz="1200"/>
                        <a:t>2,90</a:t>
                      </a:r>
                    </a:p>
                  </a:txBody>
                  <a:tcPr marL="6398" marR="6398" marT="6398" marB="6398" anchor="b">
                    <a:lnL>
                      <a:noFill/>
                    </a:lnL>
                    <a:lnR>
                      <a:noFill/>
                    </a:lnR>
                    <a:lnT>
                      <a:noFill/>
                    </a:lnT>
                    <a:lnB>
                      <a:noFill/>
                    </a:lnB>
                  </a:tcPr>
                </a:tc>
                <a:tc>
                  <a:txBody>
                    <a:bodyPr/>
                    <a:lstStyle/>
                    <a:p>
                      <a:r>
                        <a:rPr lang="ru-RU" sz="1200" dirty="0"/>
                        <a:t>3,36</a:t>
                      </a:r>
                    </a:p>
                  </a:txBody>
                  <a:tcPr marL="6398" marR="6398" marT="6398" marB="6398" anchor="b">
                    <a:lnL>
                      <a:noFill/>
                    </a:lnL>
                    <a:lnR>
                      <a:noFill/>
                    </a:lnR>
                    <a:lnT>
                      <a:noFill/>
                    </a:lnT>
                    <a:lnB>
                      <a:noFill/>
                    </a:lnB>
                  </a:tcPr>
                </a:tc>
                <a:tc>
                  <a:txBody>
                    <a:bodyPr/>
                    <a:lstStyle/>
                    <a:p>
                      <a:r>
                        <a:rPr lang="ru-RU" sz="1200"/>
                        <a:t>4,50</a:t>
                      </a:r>
                    </a:p>
                  </a:txBody>
                  <a:tcPr marL="6398" marR="6398" marT="6398" marB="6398" anchor="b">
                    <a:lnL>
                      <a:noFill/>
                    </a:lnL>
                    <a:lnR>
                      <a:noFill/>
                    </a:lnR>
                    <a:lnT>
                      <a:noFill/>
                    </a:lnT>
                    <a:lnB>
                      <a:noFill/>
                    </a:lnB>
                  </a:tcPr>
                </a:tc>
                <a:tc>
                  <a:txBody>
                    <a:bodyPr/>
                    <a:lstStyle/>
                    <a:p>
                      <a:r>
                        <a:rPr lang="ru-RU" sz="1200"/>
                        <a:t>5,04</a:t>
                      </a:r>
                    </a:p>
                  </a:txBody>
                  <a:tcPr marL="6398" marR="6398" marT="6398" marB="6398" anchor="b">
                    <a:lnL>
                      <a:noFill/>
                    </a:lnL>
                    <a:lnR>
                      <a:noFill/>
                    </a:lnR>
                    <a:lnT>
                      <a:noFill/>
                    </a:lnT>
                    <a:lnB>
                      <a:noFill/>
                    </a:lnB>
                  </a:tcPr>
                </a:tc>
                <a:extLst>
                  <a:ext uri="{0D108BD9-81ED-4DB2-BD59-A6C34878D82A}">
                    <a16:rowId xmlns:a16="http://schemas.microsoft.com/office/drawing/2014/main" val="10009"/>
                  </a:ext>
                </a:extLst>
              </a:tr>
              <a:tr h="143600">
                <a:tc>
                  <a:txBody>
                    <a:bodyPr/>
                    <a:lstStyle/>
                    <a:p>
                      <a:r>
                        <a:rPr lang="ru-RU" sz="1200" b="1">
                          <a:solidFill>
                            <a:srgbClr val="FFFFFF"/>
                          </a:solidFill>
                        </a:rPr>
                        <a:t>9</a:t>
                      </a:r>
                    </a:p>
                  </a:txBody>
                  <a:tcPr marL="6398" marR="6398" marT="6398" marB="6398">
                    <a:lnL>
                      <a:noFill/>
                    </a:lnL>
                    <a:lnR>
                      <a:noFill/>
                    </a:lnR>
                    <a:lnT>
                      <a:noFill/>
                    </a:lnT>
                    <a:lnB>
                      <a:noFill/>
                    </a:lnB>
                  </a:tcPr>
                </a:tc>
                <a:tc>
                  <a:txBody>
                    <a:bodyPr/>
                    <a:lstStyle/>
                    <a:p>
                      <a:r>
                        <a:rPr lang="ru-RU" sz="1200" dirty="0"/>
                        <a:t>1,83</a:t>
                      </a:r>
                    </a:p>
                  </a:txBody>
                  <a:tcPr marL="6398" marR="6398" marT="6398" marB="6398" anchor="b">
                    <a:lnL>
                      <a:noFill/>
                    </a:lnL>
                    <a:lnR>
                      <a:noFill/>
                    </a:lnR>
                    <a:lnT>
                      <a:noFill/>
                    </a:lnT>
                    <a:lnB>
                      <a:noFill/>
                    </a:lnB>
                  </a:tcPr>
                </a:tc>
                <a:tc>
                  <a:txBody>
                    <a:bodyPr/>
                    <a:lstStyle/>
                    <a:p>
                      <a:r>
                        <a:rPr lang="ru-RU" sz="1200"/>
                        <a:t>2,26</a:t>
                      </a:r>
                    </a:p>
                  </a:txBody>
                  <a:tcPr marL="6398" marR="6398" marT="6398" marB="6398" anchor="b">
                    <a:lnL>
                      <a:noFill/>
                    </a:lnL>
                    <a:lnR>
                      <a:noFill/>
                    </a:lnR>
                    <a:lnT>
                      <a:noFill/>
                    </a:lnT>
                    <a:lnB>
                      <a:noFill/>
                    </a:lnB>
                  </a:tcPr>
                </a:tc>
                <a:tc>
                  <a:txBody>
                    <a:bodyPr/>
                    <a:lstStyle/>
                    <a:p>
                      <a:r>
                        <a:rPr lang="ru-RU" sz="1200"/>
                        <a:t>2,82</a:t>
                      </a:r>
                    </a:p>
                  </a:txBody>
                  <a:tcPr marL="6398" marR="6398" marT="6398" marB="6398" anchor="b">
                    <a:lnL>
                      <a:noFill/>
                    </a:lnL>
                    <a:lnR>
                      <a:noFill/>
                    </a:lnR>
                    <a:lnT>
                      <a:noFill/>
                    </a:lnT>
                    <a:lnB>
                      <a:noFill/>
                    </a:lnB>
                  </a:tcPr>
                </a:tc>
                <a:tc>
                  <a:txBody>
                    <a:bodyPr/>
                    <a:lstStyle/>
                    <a:p>
                      <a:r>
                        <a:rPr lang="ru-RU" sz="1200" dirty="0"/>
                        <a:t>3,25</a:t>
                      </a:r>
                    </a:p>
                  </a:txBody>
                  <a:tcPr marL="6398" marR="6398" marT="6398" marB="6398" anchor="b">
                    <a:lnL>
                      <a:noFill/>
                    </a:lnL>
                    <a:lnR>
                      <a:noFill/>
                    </a:lnR>
                    <a:lnT>
                      <a:noFill/>
                    </a:lnT>
                    <a:lnB>
                      <a:noFill/>
                    </a:lnB>
                  </a:tcPr>
                </a:tc>
                <a:tc>
                  <a:txBody>
                    <a:bodyPr/>
                    <a:lstStyle/>
                    <a:p>
                      <a:r>
                        <a:rPr lang="ru-RU" sz="1200"/>
                        <a:t>4,30</a:t>
                      </a:r>
                    </a:p>
                  </a:txBody>
                  <a:tcPr marL="6398" marR="6398" marT="6398" marB="6398" anchor="b">
                    <a:lnL>
                      <a:noFill/>
                    </a:lnL>
                    <a:lnR>
                      <a:noFill/>
                    </a:lnR>
                    <a:lnT>
                      <a:noFill/>
                    </a:lnT>
                    <a:lnB>
                      <a:noFill/>
                    </a:lnB>
                  </a:tcPr>
                </a:tc>
                <a:tc>
                  <a:txBody>
                    <a:bodyPr/>
                    <a:lstStyle/>
                    <a:p>
                      <a:r>
                        <a:rPr lang="ru-RU" sz="1200" dirty="0"/>
                        <a:t>4,78</a:t>
                      </a:r>
                    </a:p>
                  </a:txBody>
                  <a:tcPr marL="6398" marR="6398" marT="6398" marB="6398" anchor="b">
                    <a:lnL>
                      <a:noFill/>
                    </a:lnL>
                    <a:lnR>
                      <a:noFill/>
                    </a:lnR>
                    <a:lnT>
                      <a:noFill/>
                    </a:lnT>
                    <a:lnB>
                      <a:noFill/>
                    </a:lnB>
                  </a:tcPr>
                </a:tc>
                <a:extLst>
                  <a:ext uri="{0D108BD9-81ED-4DB2-BD59-A6C34878D82A}">
                    <a16:rowId xmlns:a16="http://schemas.microsoft.com/office/drawing/2014/main" val="10010"/>
                  </a:ext>
                </a:extLst>
              </a:tr>
              <a:tr h="143600">
                <a:tc>
                  <a:txBody>
                    <a:bodyPr/>
                    <a:lstStyle/>
                    <a:p>
                      <a:r>
                        <a:rPr lang="ru-RU" sz="1200" b="1">
                          <a:solidFill>
                            <a:srgbClr val="FFFFFF"/>
                          </a:solidFill>
                        </a:rPr>
                        <a:t>10</a:t>
                      </a:r>
                    </a:p>
                  </a:txBody>
                  <a:tcPr marL="6398" marR="6398" marT="6398" marB="6398">
                    <a:lnL>
                      <a:noFill/>
                    </a:lnL>
                    <a:lnR>
                      <a:noFill/>
                    </a:lnR>
                    <a:lnT>
                      <a:noFill/>
                    </a:lnT>
                    <a:lnB>
                      <a:noFill/>
                    </a:lnB>
                  </a:tcPr>
                </a:tc>
                <a:tc>
                  <a:txBody>
                    <a:bodyPr/>
                    <a:lstStyle/>
                    <a:p>
                      <a:r>
                        <a:rPr lang="ru-RU" sz="1200" dirty="0"/>
                        <a:t>1,81</a:t>
                      </a:r>
                    </a:p>
                  </a:txBody>
                  <a:tcPr marL="6398" marR="6398" marT="6398" marB="6398" anchor="b">
                    <a:lnL>
                      <a:noFill/>
                    </a:lnL>
                    <a:lnR>
                      <a:noFill/>
                    </a:lnR>
                    <a:lnT>
                      <a:noFill/>
                    </a:lnT>
                    <a:lnB>
                      <a:noFill/>
                    </a:lnB>
                  </a:tcPr>
                </a:tc>
                <a:tc>
                  <a:txBody>
                    <a:bodyPr/>
                    <a:lstStyle/>
                    <a:p>
                      <a:r>
                        <a:rPr lang="ru-RU" sz="1200"/>
                        <a:t>2,23</a:t>
                      </a:r>
                    </a:p>
                  </a:txBody>
                  <a:tcPr marL="6398" marR="6398" marT="6398" marB="6398" anchor="b">
                    <a:lnL>
                      <a:noFill/>
                    </a:lnL>
                    <a:lnR>
                      <a:noFill/>
                    </a:lnR>
                    <a:lnT>
                      <a:noFill/>
                    </a:lnT>
                    <a:lnB>
                      <a:noFill/>
                    </a:lnB>
                  </a:tcPr>
                </a:tc>
                <a:tc>
                  <a:txBody>
                    <a:bodyPr/>
                    <a:lstStyle/>
                    <a:p>
                      <a:r>
                        <a:rPr lang="ru-RU" sz="1200"/>
                        <a:t>2,76</a:t>
                      </a:r>
                    </a:p>
                  </a:txBody>
                  <a:tcPr marL="6398" marR="6398" marT="6398" marB="6398" anchor="b">
                    <a:lnL>
                      <a:noFill/>
                    </a:lnL>
                    <a:lnR>
                      <a:noFill/>
                    </a:lnR>
                    <a:lnT>
                      <a:noFill/>
                    </a:lnT>
                    <a:lnB>
                      <a:noFill/>
                    </a:lnB>
                  </a:tcPr>
                </a:tc>
                <a:tc>
                  <a:txBody>
                    <a:bodyPr/>
                    <a:lstStyle/>
                    <a:p>
                      <a:r>
                        <a:rPr lang="ru-RU" sz="1200"/>
                        <a:t>3,17</a:t>
                      </a:r>
                    </a:p>
                  </a:txBody>
                  <a:tcPr marL="6398" marR="6398" marT="6398" marB="6398" anchor="b">
                    <a:lnL>
                      <a:noFill/>
                    </a:lnL>
                    <a:lnR>
                      <a:noFill/>
                    </a:lnR>
                    <a:lnT>
                      <a:noFill/>
                    </a:lnT>
                    <a:lnB>
                      <a:noFill/>
                    </a:lnB>
                  </a:tcPr>
                </a:tc>
                <a:tc>
                  <a:txBody>
                    <a:bodyPr/>
                    <a:lstStyle/>
                    <a:p>
                      <a:r>
                        <a:rPr lang="ru-RU" sz="1200"/>
                        <a:t>4,14</a:t>
                      </a:r>
                    </a:p>
                  </a:txBody>
                  <a:tcPr marL="6398" marR="6398" marT="6398" marB="6398" anchor="b">
                    <a:lnL>
                      <a:noFill/>
                    </a:lnL>
                    <a:lnR>
                      <a:noFill/>
                    </a:lnR>
                    <a:lnT>
                      <a:noFill/>
                    </a:lnT>
                    <a:lnB>
                      <a:noFill/>
                    </a:lnB>
                  </a:tcPr>
                </a:tc>
                <a:tc>
                  <a:txBody>
                    <a:bodyPr/>
                    <a:lstStyle/>
                    <a:p>
                      <a:r>
                        <a:rPr lang="ru-RU" sz="1200" dirty="0"/>
                        <a:t>4,59</a:t>
                      </a:r>
                    </a:p>
                  </a:txBody>
                  <a:tcPr marL="6398" marR="6398" marT="6398" marB="6398" anchor="b">
                    <a:lnL>
                      <a:noFill/>
                    </a:lnL>
                    <a:lnR>
                      <a:noFill/>
                    </a:lnR>
                    <a:lnT>
                      <a:noFill/>
                    </a:lnT>
                    <a:lnB>
                      <a:noFill/>
                    </a:lnB>
                  </a:tcPr>
                </a:tc>
                <a:extLst>
                  <a:ext uri="{0D108BD9-81ED-4DB2-BD59-A6C34878D82A}">
                    <a16:rowId xmlns:a16="http://schemas.microsoft.com/office/drawing/2014/main" val="10011"/>
                  </a:ext>
                </a:extLst>
              </a:tr>
              <a:tr h="143600">
                <a:tc>
                  <a:txBody>
                    <a:bodyPr/>
                    <a:lstStyle/>
                    <a:p>
                      <a:r>
                        <a:rPr lang="ru-RU" sz="1200" b="1">
                          <a:solidFill>
                            <a:srgbClr val="FFFFFF"/>
                          </a:solidFill>
                        </a:rPr>
                        <a:t>11</a:t>
                      </a:r>
                    </a:p>
                  </a:txBody>
                  <a:tcPr marL="6398" marR="6398" marT="6398" marB="6398">
                    <a:lnL>
                      <a:noFill/>
                    </a:lnL>
                    <a:lnR>
                      <a:noFill/>
                    </a:lnR>
                    <a:lnT>
                      <a:noFill/>
                    </a:lnT>
                    <a:lnB>
                      <a:noFill/>
                    </a:lnB>
                  </a:tcPr>
                </a:tc>
                <a:tc>
                  <a:txBody>
                    <a:bodyPr/>
                    <a:lstStyle/>
                    <a:p>
                      <a:r>
                        <a:rPr lang="ru-RU" sz="1200" dirty="0"/>
                        <a:t>1,80</a:t>
                      </a:r>
                    </a:p>
                  </a:txBody>
                  <a:tcPr marL="6398" marR="6398" marT="6398" marB="6398" anchor="b">
                    <a:lnL>
                      <a:noFill/>
                    </a:lnL>
                    <a:lnR>
                      <a:noFill/>
                    </a:lnR>
                    <a:lnT>
                      <a:noFill/>
                    </a:lnT>
                    <a:lnB>
                      <a:noFill/>
                    </a:lnB>
                  </a:tcPr>
                </a:tc>
                <a:tc>
                  <a:txBody>
                    <a:bodyPr/>
                    <a:lstStyle/>
                    <a:p>
                      <a:r>
                        <a:rPr lang="ru-RU" sz="1200"/>
                        <a:t>2,20</a:t>
                      </a:r>
                    </a:p>
                  </a:txBody>
                  <a:tcPr marL="6398" marR="6398" marT="6398" marB="6398" anchor="b">
                    <a:lnL>
                      <a:noFill/>
                    </a:lnL>
                    <a:lnR>
                      <a:noFill/>
                    </a:lnR>
                    <a:lnT>
                      <a:noFill/>
                    </a:lnT>
                    <a:lnB>
                      <a:noFill/>
                    </a:lnB>
                  </a:tcPr>
                </a:tc>
                <a:tc>
                  <a:txBody>
                    <a:bodyPr/>
                    <a:lstStyle/>
                    <a:p>
                      <a:r>
                        <a:rPr lang="ru-RU" sz="1200"/>
                        <a:t>2,72</a:t>
                      </a:r>
                    </a:p>
                  </a:txBody>
                  <a:tcPr marL="6398" marR="6398" marT="6398" marB="6398" anchor="b">
                    <a:lnL>
                      <a:noFill/>
                    </a:lnL>
                    <a:lnR>
                      <a:noFill/>
                    </a:lnR>
                    <a:lnT>
                      <a:noFill/>
                    </a:lnT>
                    <a:lnB>
                      <a:noFill/>
                    </a:lnB>
                  </a:tcPr>
                </a:tc>
                <a:tc>
                  <a:txBody>
                    <a:bodyPr/>
                    <a:lstStyle/>
                    <a:p>
                      <a:r>
                        <a:rPr lang="ru-RU" sz="1200" dirty="0"/>
                        <a:t>3,11</a:t>
                      </a:r>
                    </a:p>
                  </a:txBody>
                  <a:tcPr marL="6398" marR="6398" marT="6398" marB="6398" anchor="b">
                    <a:lnL>
                      <a:noFill/>
                    </a:lnL>
                    <a:lnR>
                      <a:noFill/>
                    </a:lnR>
                    <a:lnT>
                      <a:noFill/>
                    </a:lnT>
                    <a:lnB>
                      <a:noFill/>
                    </a:lnB>
                  </a:tcPr>
                </a:tc>
                <a:tc>
                  <a:txBody>
                    <a:bodyPr/>
                    <a:lstStyle/>
                    <a:p>
                      <a:r>
                        <a:rPr lang="ru-RU" sz="1200"/>
                        <a:t>4,03</a:t>
                      </a:r>
                    </a:p>
                  </a:txBody>
                  <a:tcPr marL="6398" marR="6398" marT="6398" marB="6398" anchor="b">
                    <a:lnL>
                      <a:noFill/>
                    </a:lnL>
                    <a:lnR>
                      <a:noFill/>
                    </a:lnR>
                    <a:lnT>
                      <a:noFill/>
                    </a:lnT>
                    <a:lnB>
                      <a:noFill/>
                    </a:lnB>
                  </a:tcPr>
                </a:tc>
                <a:tc>
                  <a:txBody>
                    <a:bodyPr/>
                    <a:lstStyle/>
                    <a:p>
                      <a:r>
                        <a:rPr lang="ru-RU" sz="1200"/>
                        <a:t>4,44</a:t>
                      </a:r>
                    </a:p>
                  </a:txBody>
                  <a:tcPr marL="6398" marR="6398" marT="6398" marB="6398" anchor="b">
                    <a:lnL>
                      <a:noFill/>
                    </a:lnL>
                    <a:lnR>
                      <a:noFill/>
                    </a:lnR>
                    <a:lnT>
                      <a:noFill/>
                    </a:lnT>
                    <a:lnB>
                      <a:noFill/>
                    </a:lnB>
                  </a:tcPr>
                </a:tc>
                <a:extLst>
                  <a:ext uri="{0D108BD9-81ED-4DB2-BD59-A6C34878D82A}">
                    <a16:rowId xmlns:a16="http://schemas.microsoft.com/office/drawing/2014/main" val="10012"/>
                  </a:ext>
                </a:extLst>
              </a:tr>
              <a:tr h="143600">
                <a:tc>
                  <a:txBody>
                    <a:bodyPr/>
                    <a:lstStyle/>
                    <a:p>
                      <a:r>
                        <a:rPr lang="ru-RU" sz="1200" b="1">
                          <a:solidFill>
                            <a:srgbClr val="FFFFFF"/>
                          </a:solidFill>
                        </a:rPr>
                        <a:t>12</a:t>
                      </a:r>
                    </a:p>
                  </a:txBody>
                  <a:tcPr marL="6398" marR="6398" marT="6398" marB="6398">
                    <a:lnL>
                      <a:noFill/>
                    </a:lnL>
                    <a:lnR>
                      <a:noFill/>
                    </a:lnR>
                    <a:lnT>
                      <a:noFill/>
                    </a:lnT>
                    <a:lnB>
                      <a:noFill/>
                    </a:lnB>
                  </a:tcPr>
                </a:tc>
                <a:tc>
                  <a:txBody>
                    <a:bodyPr/>
                    <a:lstStyle/>
                    <a:p>
                      <a:r>
                        <a:rPr lang="ru-RU" sz="1200"/>
                        <a:t>1,78</a:t>
                      </a:r>
                    </a:p>
                  </a:txBody>
                  <a:tcPr marL="6398" marR="6398" marT="6398" marB="6398" anchor="b">
                    <a:lnL>
                      <a:noFill/>
                    </a:lnL>
                    <a:lnR>
                      <a:noFill/>
                    </a:lnR>
                    <a:lnT>
                      <a:noFill/>
                    </a:lnT>
                    <a:lnB>
                      <a:noFill/>
                    </a:lnB>
                  </a:tcPr>
                </a:tc>
                <a:tc>
                  <a:txBody>
                    <a:bodyPr/>
                    <a:lstStyle/>
                    <a:p>
                      <a:r>
                        <a:rPr lang="ru-RU" sz="1200"/>
                        <a:t>2,18</a:t>
                      </a:r>
                    </a:p>
                  </a:txBody>
                  <a:tcPr marL="6398" marR="6398" marT="6398" marB="6398" anchor="b">
                    <a:lnL>
                      <a:noFill/>
                    </a:lnL>
                    <a:lnR>
                      <a:noFill/>
                    </a:lnR>
                    <a:lnT>
                      <a:noFill/>
                    </a:lnT>
                    <a:lnB>
                      <a:noFill/>
                    </a:lnB>
                  </a:tcPr>
                </a:tc>
                <a:tc>
                  <a:txBody>
                    <a:bodyPr/>
                    <a:lstStyle/>
                    <a:p>
                      <a:r>
                        <a:rPr lang="ru-RU" sz="1200"/>
                        <a:t>2,68</a:t>
                      </a:r>
                    </a:p>
                  </a:txBody>
                  <a:tcPr marL="6398" marR="6398" marT="6398" marB="6398" anchor="b">
                    <a:lnL>
                      <a:noFill/>
                    </a:lnL>
                    <a:lnR>
                      <a:noFill/>
                    </a:lnR>
                    <a:lnT>
                      <a:noFill/>
                    </a:lnT>
                    <a:lnB>
                      <a:noFill/>
                    </a:lnB>
                  </a:tcPr>
                </a:tc>
                <a:tc>
                  <a:txBody>
                    <a:bodyPr/>
                    <a:lstStyle/>
                    <a:p>
                      <a:r>
                        <a:rPr lang="ru-RU" sz="1200"/>
                        <a:t>3,05</a:t>
                      </a:r>
                    </a:p>
                  </a:txBody>
                  <a:tcPr marL="6398" marR="6398" marT="6398" marB="6398" anchor="b">
                    <a:lnL>
                      <a:noFill/>
                    </a:lnL>
                    <a:lnR>
                      <a:noFill/>
                    </a:lnR>
                    <a:lnT>
                      <a:noFill/>
                    </a:lnT>
                    <a:lnB>
                      <a:noFill/>
                    </a:lnB>
                  </a:tcPr>
                </a:tc>
                <a:tc>
                  <a:txBody>
                    <a:bodyPr/>
                    <a:lstStyle/>
                    <a:p>
                      <a:r>
                        <a:rPr lang="ru-RU" sz="1200"/>
                        <a:t>3,93</a:t>
                      </a:r>
                    </a:p>
                  </a:txBody>
                  <a:tcPr marL="6398" marR="6398" marT="6398" marB="6398" anchor="b">
                    <a:lnL>
                      <a:noFill/>
                    </a:lnL>
                    <a:lnR>
                      <a:noFill/>
                    </a:lnR>
                    <a:lnT>
                      <a:noFill/>
                    </a:lnT>
                    <a:lnB>
                      <a:noFill/>
                    </a:lnB>
                  </a:tcPr>
                </a:tc>
                <a:tc>
                  <a:txBody>
                    <a:bodyPr/>
                    <a:lstStyle/>
                    <a:p>
                      <a:r>
                        <a:rPr lang="ru-RU" sz="1200" dirty="0"/>
                        <a:t>4,32</a:t>
                      </a:r>
                    </a:p>
                  </a:txBody>
                  <a:tcPr marL="6398" marR="6398" marT="6398" marB="6398" anchor="b">
                    <a:lnL>
                      <a:noFill/>
                    </a:lnL>
                    <a:lnR>
                      <a:noFill/>
                    </a:lnR>
                    <a:lnT>
                      <a:noFill/>
                    </a:lnT>
                    <a:lnB>
                      <a:noFill/>
                    </a:lnB>
                  </a:tcPr>
                </a:tc>
                <a:extLst>
                  <a:ext uri="{0D108BD9-81ED-4DB2-BD59-A6C34878D82A}">
                    <a16:rowId xmlns:a16="http://schemas.microsoft.com/office/drawing/2014/main" val="10013"/>
                  </a:ext>
                </a:extLst>
              </a:tr>
              <a:tr h="143600">
                <a:tc>
                  <a:txBody>
                    <a:bodyPr/>
                    <a:lstStyle/>
                    <a:p>
                      <a:r>
                        <a:rPr lang="ru-RU" sz="1200" b="1">
                          <a:solidFill>
                            <a:srgbClr val="FFFFFF"/>
                          </a:solidFill>
                        </a:rPr>
                        <a:t>13</a:t>
                      </a:r>
                    </a:p>
                  </a:txBody>
                  <a:tcPr marL="6398" marR="6398" marT="6398" marB="6398">
                    <a:lnL>
                      <a:noFill/>
                    </a:lnL>
                    <a:lnR>
                      <a:noFill/>
                    </a:lnR>
                    <a:lnT>
                      <a:noFill/>
                    </a:lnT>
                    <a:lnB>
                      <a:noFill/>
                    </a:lnB>
                  </a:tcPr>
                </a:tc>
                <a:tc>
                  <a:txBody>
                    <a:bodyPr/>
                    <a:lstStyle/>
                    <a:p>
                      <a:r>
                        <a:rPr lang="ru-RU" sz="1200"/>
                        <a:t>1,77</a:t>
                      </a:r>
                    </a:p>
                  </a:txBody>
                  <a:tcPr marL="6398" marR="6398" marT="6398" marB="6398" anchor="b">
                    <a:lnL>
                      <a:noFill/>
                    </a:lnL>
                    <a:lnR>
                      <a:noFill/>
                    </a:lnR>
                    <a:lnT>
                      <a:noFill/>
                    </a:lnT>
                    <a:lnB>
                      <a:noFill/>
                    </a:lnB>
                  </a:tcPr>
                </a:tc>
                <a:tc>
                  <a:txBody>
                    <a:bodyPr/>
                    <a:lstStyle/>
                    <a:p>
                      <a:r>
                        <a:rPr lang="ru-RU" sz="1200" dirty="0"/>
                        <a:t>2,16</a:t>
                      </a:r>
                    </a:p>
                  </a:txBody>
                  <a:tcPr marL="6398" marR="6398" marT="6398" marB="6398" anchor="b">
                    <a:lnL>
                      <a:noFill/>
                    </a:lnL>
                    <a:lnR>
                      <a:noFill/>
                    </a:lnR>
                    <a:lnT>
                      <a:noFill/>
                    </a:lnT>
                    <a:lnB>
                      <a:noFill/>
                    </a:lnB>
                  </a:tcPr>
                </a:tc>
                <a:tc>
                  <a:txBody>
                    <a:bodyPr/>
                    <a:lstStyle/>
                    <a:p>
                      <a:r>
                        <a:rPr lang="ru-RU" sz="1200"/>
                        <a:t>2,65</a:t>
                      </a:r>
                    </a:p>
                  </a:txBody>
                  <a:tcPr marL="6398" marR="6398" marT="6398" marB="6398" anchor="b">
                    <a:lnL>
                      <a:noFill/>
                    </a:lnL>
                    <a:lnR>
                      <a:noFill/>
                    </a:lnR>
                    <a:lnT>
                      <a:noFill/>
                    </a:lnT>
                    <a:lnB>
                      <a:noFill/>
                    </a:lnB>
                  </a:tcPr>
                </a:tc>
                <a:tc>
                  <a:txBody>
                    <a:bodyPr/>
                    <a:lstStyle/>
                    <a:p>
                      <a:r>
                        <a:rPr lang="ru-RU" sz="1200" dirty="0"/>
                        <a:t>3,01</a:t>
                      </a:r>
                    </a:p>
                  </a:txBody>
                  <a:tcPr marL="6398" marR="6398" marT="6398" marB="6398" anchor="b">
                    <a:lnL>
                      <a:noFill/>
                    </a:lnL>
                    <a:lnR>
                      <a:noFill/>
                    </a:lnR>
                    <a:lnT>
                      <a:noFill/>
                    </a:lnT>
                    <a:lnB>
                      <a:noFill/>
                    </a:lnB>
                  </a:tcPr>
                </a:tc>
                <a:tc>
                  <a:txBody>
                    <a:bodyPr/>
                    <a:lstStyle/>
                    <a:p>
                      <a:r>
                        <a:rPr lang="ru-RU" sz="1200"/>
                        <a:t>3,85</a:t>
                      </a:r>
                    </a:p>
                  </a:txBody>
                  <a:tcPr marL="6398" marR="6398" marT="6398" marB="6398" anchor="b">
                    <a:lnL>
                      <a:noFill/>
                    </a:lnL>
                    <a:lnR>
                      <a:noFill/>
                    </a:lnR>
                    <a:lnT>
                      <a:noFill/>
                    </a:lnT>
                    <a:lnB>
                      <a:noFill/>
                    </a:lnB>
                  </a:tcPr>
                </a:tc>
                <a:tc>
                  <a:txBody>
                    <a:bodyPr/>
                    <a:lstStyle/>
                    <a:p>
                      <a:r>
                        <a:rPr lang="ru-RU" sz="1200"/>
                        <a:t>4,22</a:t>
                      </a:r>
                    </a:p>
                  </a:txBody>
                  <a:tcPr marL="6398" marR="6398" marT="6398" marB="6398" anchor="b">
                    <a:lnL>
                      <a:noFill/>
                    </a:lnL>
                    <a:lnR>
                      <a:noFill/>
                    </a:lnR>
                    <a:lnT>
                      <a:noFill/>
                    </a:lnT>
                    <a:lnB>
                      <a:noFill/>
                    </a:lnB>
                  </a:tcPr>
                </a:tc>
                <a:extLst>
                  <a:ext uri="{0D108BD9-81ED-4DB2-BD59-A6C34878D82A}">
                    <a16:rowId xmlns:a16="http://schemas.microsoft.com/office/drawing/2014/main" val="10014"/>
                  </a:ext>
                </a:extLst>
              </a:tr>
              <a:tr h="143600">
                <a:tc>
                  <a:txBody>
                    <a:bodyPr/>
                    <a:lstStyle/>
                    <a:p>
                      <a:r>
                        <a:rPr lang="ru-RU" sz="1200" b="1">
                          <a:solidFill>
                            <a:srgbClr val="FFFFFF"/>
                          </a:solidFill>
                        </a:rPr>
                        <a:t>14</a:t>
                      </a:r>
                    </a:p>
                  </a:txBody>
                  <a:tcPr marL="6398" marR="6398" marT="6398" marB="6398">
                    <a:lnL>
                      <a:noFill/>
                    </a:lnL>
                    <a:lnR>
                      <a:noFill/>
                    </a:lnR>
                    <a:lnT>
                      <a:noFill/>
                    </a:lnT>
                    <a:lnB>
                      <a:noFill/>
                    </a:lnB>
                  </a:tcPr>
                </a:tc>
                <a:tc>
                  <a:txBody>
                    <a:bodyPr/>
                    <a:lstStyle/>
                    <a:p>
                      <a:r>
                        <a:rPr lang="ru-RU" sz="1200"/>
                        <a:t>1,76</a:t>
                      </a:r>
                    </a:p>
                  </a:txBody>
                  <a:tcPr marL="6398" marR="6398" marT="6398" marB="6398" anchor="b">
                    <a:lnL>
                      <a:noFill/>
                    </a:lnL>
                    <a:lnR>
                      <a:noFill/>
                    </a:lnR>
                    <a:lnT>
                      <a:noFill/>
                    </a:lnT>
                    <a:lnB>
                      <a:noFill/>
                    </a:lnB>
                  </a:tcPr>
                </a:tc>
                <a:tc>
                  <a:txBody>
                    <a:bodyPr/>
                    <a:lstStyle/>
                    <a:p>
                      <a:r>
                        <a:rPr lang="ru-RU" sz="1200" dirty="0"/>
                        <a:t>2,14</a:t>
                      </a:r>
                    </a:p>
                  </a:txBody>
                  <a:tcPr marL="6398" marR="6398" marT="6398" marB="6398" anchor="b">
                    <a:lnL>
                      <a:noFill/>
                    </a:lnL>
                    <a:lnR>
                      <a:noFill/>
                    </a:lnR>
                    <a:lnT>
                      <a:noFill/>
                    </a:lnT>
                    <a:lnB>
                      <a:noFill/>
                    </a:lnB>
                  </a:tcPr>
                </a:tc>
                <a:tc>
                  <a:txBody>
                    <a:bodyPr/>
                    <a:lstStyle/>
                    <a:p>
                      <a:r>
                        <a:rPr lang="ru-RU" sz="1200"/>
                        <a:t>2,62</a:t>
                      </a:r>
                    </a:p>
                  </a:txBody>
                  <a:tcPr marL="6398" marR="6398" marT="6398" marB="6398" anchor="b">
                    <a:lnL>
                      <a:noFill/>
                    </a:lnL>
                    <a:lnR>
                      <a:noFill/>
                    </a:lnR>
                    <a:lnT>
                      <a:noFill/>
                    </a:lnT>
                    <a:lnB>
                      <a:noFill/>
                    </a:lnB>
                  </a:tcPr>
                </a:tc>
                <a:tc>
                  <a:txBody>
                    <a:bodyPr/>
                    <a:lstStyle/>
                    <a:p>
                      <a:r>
                        <a:rPr lang="ru-RU" sz="1200"/>
                        <a:t>2,98</a:t>
                      </a:r>
                    </a:p>
                  </a:txBody>
                  <a:tcPr marL="6398" marR="6398" marT="6398" marB="6398" anchor="b">
                    <a:lnL>
                      <a:noFill/>
                    </a:lnL>
                    <a:lnR>
                      <a:noFill/>
                    </a:lnR>
                    <a:lnT>
                      <a:noFill/>
                    </a:lnT>
                    <a:lnB>
                      <a:noFill/>
                    </a:lnB>
                  </a:tcPr>
                </a:tc>
                <a:tc>
                  <a:txBody>
                    <a:bodyPr/>
                    <a:lstStyle/>
                    <a:p>
                      <a:r>
                        <a:rPr lang="ru-RU" sz="1200"/>
                        <a:t>3,79</a:t>
                      </a:r>
                    </a:p>
                  </a:txBody>
                  <a:tcPr marL="6398" marR="6398" marT="6398" marB="6398" anchor="b">
                    <a:lnL>
                      <a:noFill/>
                    </a:lnL>
                    <a:lnR>
                      <a:noFill/>
                    </a:lnR>
                    <a:lnT>
                      <a:noFill/>
                    </a:lnT>
                    <a:lnB>
                      <a:noFill/>
                    </a:lnB>
                  </a:tcPr>
                </a:tc>
                <a:tc>
                  <a:txBody>
                    <a:bodyPr/>
                    <a:lstStyle/>
                    <a:p>
                      <a:r>
                        <a:rPr lang="ru-RU" sz="1200"/>
                        <a:t>4,14</a:t>
                      </a:r>
                    </a:p>
                  </a:txBody>
                  <a:tcPr marL="6398" marR="6398" marT="6398" marB="6398" anchor="b">
                    <a:lnL>
                      <a:noFill/>
                    </a:lnL>
                    <a:lnR>
                      <a:noFill/>
                    </a:lnR>
                    <a:lnT>
                      <a:noFill/>
                    </a:lnT>
                    <a:lnB>
                      <a:noFill/>
                    </a:lnB>
                  </a:tcPr>
                </a:tc>
                <a:extLst>
                  <a:ext uri="{0D108BD9-81ED-4DB2-BD59-A6C34878D82A}">
                    <a16:rowId xmlns:a16="http://schemas.microsoft.com/office/drawing/2014/main" val="10015"/>
                  </a:ext>
                </a:extLst>
              </a:tr>
              <a:tr h="143600">
                <a:tc>
                  <a:txBody>
                    <a:bodyPr/>
                    <a:lstStyle/>
                    <a:p>
                      <a:r>
                        <a:rPr lang="ru-RU" sz="1200" b="1">
                          <a:solidFill>
                            <a:srgbClr val="FFFFFF"/>
                          </a:solidFill>
                        </a:rPr>
                        <a:t>15</a:t>
                      </a:r>
                    </a:p>
                  </a:txBody>
                  <a:tcPr marL="6398" marR="6398" marT="6398" marB="6398">
                    <a:lnL>
                      <a:noFill/>
                    </a:lnL>
                    <a:lnR>
                      <a:noFill/>
                    </a:lnR>
                    <a:lnT>
                      <a:noFill/>
                    </a:lnT>
                    <a:lnB>
                      <a:noFill/>
                    </a:lnB>
                  </a:tcPr>
                </a:tc>
                <a:tc>
                  <a:txBody>
                    <a:bodyPr/>
                    <a:lstStyle/>
                    <a:p>
                      <a:r>
                        <a:rPr lang="ru-RU" sz="1200"/>
                        <a:t>1,75</a:t>
                      </a:r>
                    </a:p>
                  </a:txBody>
                  <a:tcPr marL="6398" marR="6398" marT="6398" marB="6398" anchor="b">
                    <a:lnL>
                      <a:noFill/>
                    </a:lnL>
                    <a:lnR>
                      <a:noFill/>
                    </a:lnR>
                    <a:lnT>
                      <a:noFill/>
                    </a:lnT>
                    <a:lnB>
                      <a:noFill/>
                    </a:lnB>
                  </a:tcPr>
                </a:tc>
                <a:tc>
                  <a:txBody>
                    <a:bodyPr/>
                    <a:lstStyle/>
                    <a:p>
                      <a:r>
                        <a:rPr lang="ru-RU" sz="1200" dirty="0"/>
                        <a:t>2,13</a:t>
                      </a:r>
                    </a:p>
                  </a:txBody>
                  <a:tcPr marL="6398" marR="6398" marT="6398" marB="6398" anchor="b">
                    <a:lnL>
                      <a:noFill/>
                    </a:lnL>
                    <a:lnR>
                      <a:noFill/>
                    </a:lnR>
                    <a:lnT>
                      <a:noFill/>
                    </a:lnT>
                    <a:lnB>
                      <a:noFill/>
                    </a:lnB>
                  </a:tcPr>
                </a:tc>
                <a:tc>
                  <a:txBody>
                    <a:bodyPr/>
                    <a:lstStyle/>
                    <a:p>
                      <a:r>
                        <a:rPr lang="ru-RU" sz="1200"/>
                        <a:t>2,60</a:t>
                      </a:r>
                    </a:p>
                  </a:txBody>
                  <a:tcPr marL="6398" marR="6398" marT="6398" marB="6398" anchor="b">
                    <a:lnL>
                      <a:noFill/>
                    </a:lnL>
                    <a:lnR>
                      <a:noFill/>
                    </a:lnR>
                    <a:lnT>
                      <a:noFill/>
                    </a:lnT>
                    <a:lnB>
                      <a:noFill/>
                    </a:lnB>
                  </a:tcPr>
                </a:tc>
                <a:tc>
                  <a:txBody>
                    <a:bodyPr/>
                    <a:lstStyle/>
                    <a:p>
                      <a:r>
                        <a:rPr lang="ru-RU" sz="1200"/>
                        <a:t>2,95</a:t>
                      </a:r>
                    </a:p>
                  </a:txBody>
                  <a:tcPr marL="6398" marR="6398" marT="6398" marB="6398" anchor="b">
                    <a:lnL>
                      <a:noFill/>
                    </a:lnL>
                    <a:lnR>
                      <a:noFill/>
                    </a:lnR>
                    <a:lnT>
                      <a:noFill/>
                    </a:lnT>
                    <a:lnB>
                      <a:noFill/>
                    </a:lnB>
                  </a:tcPr>
                </a:tc>
                <a:tc>
                  <a:txBody>
                    <a:bodyPr/>
                    <a:lstStyle/>
                    <a:p>
                      <a:r>
                        <a:rPr lang="ru-RU" sz="1200"/>
                        <a:t>3,73</a:t>
                      </a:r>
                    </a:p>
                  </a:txBody>
                  <a:tcPr marL="6398" marR="6398" marT="6398" marB="6398" anchor="b">
                    <a:lnL>
                      <a:noFill/>
                    </a:lnL>
                    <a:lnR>
                      <a:noFill/>
                    </a:lnR>
                    <a:lnT>
                      <a:noFill/>
                    </a:lnT>
                    <a:lnB>
                      <a:noFill/>
                    </a:lnB>
                  </a:tcPr>
                </a:tc>
                <a:tc>
                  <a:txBody>
                    <a:bodyPr/>
                    <a:lstStyle/>
                    <a:p>
                      <a:r>
                        <a:rPr lang="ru-RU" sz="1200" dirty="0"/>
                        <a:t>4,07</a:t>
                      </a:r>
                    </a:p>
                  </a:txBody>
                  <a:tcPr marL="6398" marR="6398" marT="6398" marB="6398" anchor="b">
                    <a:lnL>
                      <a:noFill/>
                    </a:lnL>
                    <a:lnR>
                      <a:noFill/>
                    </a:lnR>
                    <a:lnT>
                      <a:noFill/>
                    </a:lnT>
                    <a:lnB>
                      <a:noFill/>
                    </a:lnB>
                  </a:tcPr>
                </a:tc>
                <a:extLst>
                  <a:ext uri="{0D108BD9-81ED-4DB2-BD59-A6C34878D82A}">
                    <a16:rowId xmlns:a16="http://schemas.microsoft.com/office/drawing/2014/main" val="10016"/>
                  </a:ext>
                </a:extLst>
              </a:tr>
              <a:tr h="143600">
                <a:tc>
                  <a:txBody>
                    <a:bodyPr/>
                    <a:lstStyle/>
                    <a:p>
                      <a:r>
                        <a:rPr lang="ru-RU" sz="1200" b="1">
                          <a:solidFill>
                            <a:srgbClr val="FFFFFF"/>
                          </a:solidFill>
                        </a:rPr>
                        <a:t>16</a:t>
                      </a:r>
                    </a:p>
                  </a:txBody>
                  <a:tcPr marL="6398" marR="6398" marT="6398" marB="6398">
                    <a:lnL>
                      <a:noFill/>
                    </a:lnL>
                    <a:lnR>
                      <a:noFill/>
                    </a:lnR>
                    <a:lnT>
                      <a:noFill/>
                    </a:lnT>
                    <a:lnB>
                      <a:noFill/>
                    </a:lnB>
                  </a:tcPr>
                </a:tc>
                <a:tc>
                  <a:txBody>
                    <a:bodyPr/>
                    <a:lstStyle/>
                    <a:p>
                      <a:r>
                        <a:rPr lang="ru-RU" sz="1200"/>
                        <a:t>1,75</a:t>
                      </a:r>
                    </a:p>
                  </a:txBody>
                  <a:tcPr marL="6398" marR="6398" marT="6398" marB="6398" anchor="b">
                    <a:lnL>
                      <a:noFill/>
                    </a:lnL>
                    <a:lnR>
                      <a:noFill/>
                    </a:lnR>
                    <a:lnT>
                      <a:noFill/>
                    </a:lnT>
                    <a:lnB>
                      <a:noFill/>
                    </a:lnB>
                  </a:tcPr>
                </a:tc>
                <a:tc>
                  <a:txBody>
                    <a:bodyPr/>
                    <a:lstStyle/>
                    <a:p>
                      <a:r>
                        <a:rPr lang="ru-RU" sz="1200"/>
                        <a:t>2,12</a:t>
                      </a:r>
                    </a:p>
                  </a:txBody>
                  <a:tcPr marL="6398" marR="6398" marT="6398" marB="6398" anchor="b">
                    <a:lnL>
                      <a:noFill/>
                    </a:lnL>
                    <a:lnR>
                      <a:noFill/>
                    </a:lnR>
                    <a:lnT>
                      <a:noFill/>
                    </a:lnT>
                    <a:lnB>
                      <a:noFill/>
                    </a:lnB>
                  </a:tcPr>
                </a:tc>
                <a:tc>
                  <a:txBody>
                    <a:bodyPr/>
                    <a:lstStyle/>
                    <a:p>
                      <a:r>
                        <a:rPr lang="ru-RU" sz="1200"/>
                        <a:t>2,58</a:t>
                      </a:r>
                    </a:p>
                  </a:txBody>
                  <a:tcPr marL="6398" marR="6398" marT="6398" marB="6398" anchor="b">
                    <a:lnL>
                      <a:noFill/>
                    </a:lnL>
                    <a:lnR>
                      <a:noFill/>
                    </a:lnR>
                    <a:lnT>
                      <a:noFill/>
                    </a:lnT>
                    <a:lnB>
                      <a:noFill/>
                    </a:lnB>
                  </a:tcPr>
                </a:tc>
                <a:tc>
                  <a:txBody>
                    <a:bodyPr/>
                    <a:lstStyle/>
                    <a:p>
                      <a:r>
                        <a:rPr lang="ru-RU" sz="1200"/>
                        <a:t>2,92</a:t>
                      </a:r>
                    </a:p>
                  </a:txBody>
                  <a:tcPr marL="6398" marR="6398" marT="6398" marB="6398" anchor="b">
                    <a:lnL>
                      <a:noFill/>
                    </a:lnL>
                    <a:lnR>
                      <a:noFill/>
                    </a:lnR>
                    <a:lnT>
                      <a:noFill/>
                    </a:lnT>
                    <a:lnB>
                      <a:noFill/>
                    </a:lnB>
                  </a:tcPr>
                </a:tc>
                <a:tc>
                  <a:txBody>
                    <a:bodyPr/>
                    <a:lstStyle/>
                    <a:p>
                      <a:r>
                        <a:rPr lang="ru-RU" sz="1200"/>
                        <a:t>3,69</a:t>
                      </a:r>
                    </a:p>
                  </a:txBody>
                  <a:tcPr marL="6398" marR="6398" marT="6398" marB="6398" anchor="b">
                    <a:lnL>
                      <a:noFill/>
                    </a:lnL>
                    <a:lnR>
                      <a:noFill/>
                    </a:lnR>
                    <a:lnT>
                      <a:noFill/>
                    </a:lnT>
                    <a:lnB>
                      <a:noFill/>
                    </a:lnB>
                  </a:tcPr>
                </a:tc>
                <a:tc>
                  <a:txBody>
                    <a:bodyPr/>
                    <a:lstStyle/>
                    <a:p>
                      <a:r>
                        <a:rPr lang="ru-RU" sz="1200"/>
                        <a:t>4,01</a:t>
                      </a:r>
                    </a:p>
                  </a:txBody>
                  <a:tcPr marL="6398" marR="6398" marT="6398" marB="6398" anchor="b">
                    <a:lnL>
                      <a:noFill/>
                    </a:lnL>
                    <a:lnR>
                      <a:noFill/>
                    </a:lnR>
                    <a:lnT>
                      <a:noFill/>
                    </a:lnT>
                    <a:lnB>
                      <a:noFill/>
                    </a:lnB>
                  </a:tcPr>
                </a:tc>
                <a:extLst>
                  <a:ext uri="{0D108BD9-81ED-4DB2-BD59-A6C34878D82A}">
                    <a16:rowId xmlns:a16="http://schemas.microsoft.com/office/drawing/2014/main" val="10017"/>
                  </a:ext>
                </a:extLst>
              </a:tr>
              <a:tr h="143600">
                <a:tc>
                  <a:txBody>
                    <a:bodyPr/>
                    <a:lstStyle/>
                    <a:p>
                      <a:r>
                        <a:rPr lang="ru-RU" sz="1200" b="1">
                          <a:solidFill>
                            <a:srgbClr val="FFFFFF"/>
                          </a:solidFill>
                        </a:rPr>
                        <a:t>17</a:t>
                      </a:r>
                    </a:p>
                  </a:txBody>
                  <a:tcPr marL="6398" marR="6398" marT="6398" marB="6398">
                    <a:lnL>
                      <a:noFill/>
                    </a:lnL>
                    <a:lnR>
                      <a:noFill/>
                    </a:lnR>
                    <a:lnT>
                      <a:noFill/>
                    </a:lnT>
                    <a:lnB>
                      <a:noFill/>
                    </a:lnB>
                  </a:tcPr>
                </a:tc>
                <a:tc>
                  <a:txBody>
                    <a:bodyPr/>
                    <a:lstStyle/>
                    <a:p>
                      <a:r>
                        <a:rPr lang="ru-RU" sz="1200"/>
                        <a:t>1,74</a:t>
                      </a:r>
                    </a:p>
                  </a:txBody>
                  <a:tcPr marL="6398" marR="6398" marT="6398" marB="6398" anchor="b">
                    <a:lnL>
                      <a:noFill/>
                    </a:lnL>
                    <a:lnR>
                      <a:noFill/>
                    </a:lnR>
                    <a:lnT>
                      <a:noFill/>
                    </a:lnT>
                    <a:lnB>
                      <a:noFill/>
                    </a:lnB>
                  </a:tcPr>
                </a:tc>
                <a:tc>
                  <a:txBody>
                    <a:bodyPr/>
                    <a:lstStyle/>
                    <a:p>
                      <a:r>
                        <a:rPr lang="ru-RU" sz="1200" dirty="0"/>
                        <a:t>2,11</a:t>
                      </a:r>
                    </a:p>
                  </a:txBody>
                  <a:tcPr marL="6398" marR="6398" marT="6398" marB="6398" anchor="b">
                    <a:lnL>
                      <a:noFill/>
                    </a:lnL>
                    <a:lnR>
                      <a:noFill/>
                    </a:lnR>
                    <a:lnT>
                      <a:noFill/>
                    </a:lnT>
                    <a:lnB>
                      <a:noFill/>
                    </a:lnB>
                  </a:tcPr>
                </a:tc>
                <a:tc>
                  <a:txBody>
                    <a:bodyPr/>
                    <a:lstStyle/>
                    <a:p>
                      <a:r>
                        <a:rPr lang="ru-RU" sz="1200"/>
                        <a:t>2,57</a:t>
                      </a:r>
                    </a:p>
                  </a:txBody>
                  <a:tcPr marL="6398" marR="6398" marT="6398" marB="6398" anchor="b">
                    <a:lnL>
                      <a:noFill/>
                    </a:lnL>
                    <a:lnR>
                      <a:noFill/>
                    </a:lnR>
                    <a:lnT>
                      <a:noFill/>
                    </a:lnT>
                    <a:lnB>
                      <a:noFill/>
                    </a:lnB>
                  </a:tcPr>
                </a:tc>
                <a:tc>
                  <a:txBody>
                    <a:bodyPr/>
                    <a:lstStyle/>
                    <a:p>
                      <a:r>
                        <a:rPr lang="ru-RU" sz="1200" dirty="0"/>
                        <a:t>2,90</a:t>
                      </a:r>
                    </a:p>
                  </a:txBody>
                  <a:tcPr marL="6398" marR="6398" marT="6398" marB="6398" anchor="b">
                    <a:lnL>
                      <a:noFill/>
                    </a:lnL>
                    <a:lnR>
                      <a:noFill/>
                    </a:lnR>
                    <a:lnT>
                      <a:noFill/>
                    </a:lnT>
                    <a:lnB>
                      <a:noFill/>
                    </a:lnB>
                  </a:tcPr>
                </a:tc>
                <a:tc>
                  <a:txBody>
                    <a:bodyPr/>
                    <a:lstStyle/>
                    <a:p>
                      <a:r>
                        <a:rPr lang="ru-RU" sz="1200"/>
                        <a:t>3,65</a:t>
                      </a:r>
                    </a:p>
                  </a:txBody>
                  <a:tcPr marL="6398" marR="6398" marT="6398" marB="6398" anchor="b">
                    <a:lnL>
                      <a:noFill/>
                    </a:lnL>
                    <a:lnR>
                      <a:noFill/>
                    </a:lnR>
                    <a:lnT>
                      <a:noFill/>
                    </a:lnT>
                    <a:lnB>
                      <a:noFill/>
                    </a:lnB>
                  </a:tcPr>
                </a:tc>
                <a:tc>
                  <a:txBody>
                    <a:bodyPr/>
                    <a:lstStyle/>
                    <a:p>
                      <a:r>
                        <a:rPr lang="ru-RU" sz="1200" dirty="0"/>
                        <a:t>3,95</a:t>
                      </a:r>
                    </a:p>
                  </a:txBody>
                  <a:tcPr marL="6398" marR="6398" marT="6398" marB="6398" anchor="b">
                    <a:lnL>
                      <a:noFill/>
                    </a:lnL>
                    <a:lnR>
                      <a:noFill/>
                    </a:lnR>
                    <a:lnT>
                      <a:noFill/>
                    </a:lnT>
                    <a:lnB>
                      <a:noFill/>
                    </a:lnB>
                  </a:tcPr>
                </a:tc>
                <a:extLst>
                  <a:ext uri="{0D108BD9-81ED-4DB2-BD59-A6C34878D82A}">
                    <a16:rowId xmlns:a16="http://schemas.microsoft.com/office/drawing/2014/main" val="10018"/>
                  </a:ext>
                </a:extLst>
              </a:tr>
              <a:tr h="143600">
                <a:tc>
                  <a:txBody>
                    <a:bodyPr/>
                    <a:lstStyle/>
                    <a:p>
                      <a:r>
                        <a:rPr lang="ru-RU" sz="1200" b="1">
                          <a:solidFill>
                            <a:srgbClr val="FFFFFF"/>
                          </a:solidFill>
                        </a:rPr>
                        <a:t>18</a:t>
                      </a:r>
                    </a:p>
                  </a:txBody>
                  <a:tcPr marL="6398" marR="6398" marT="6398" marB="6398">
                    <a:lnL>
                      <a:noFill/>
                    </a:lnL>
                    <a:lnR>
                      <a:noFill/>
                    </a:lnR>
                    <a:lnT>
                      <a:noFill/>
                    </a:lnT>
                    <a:lnB>
                      <a:noFill/>
                    </a:lnB>
                  </a:tcPr>
                </a:tc>
                <a:tc>
                  <a:txBody>
                    <a:bodyPr/>
                    <a:lstStyle/>
                    <a:p>
                      <a:r>
                        <a:rPr lang="ru-RU" sz="1200"/>
                        <a:t>1,73</a:t>
                      </a:r>
                    </a:p>
                  </a:txBody>
                  <a:tcPr marL="6398" marR="6398" marT="6398" marB="6398" anchor="b">
                    <a:lnL>
                      <a:noFill/>
                    </a:lnL>
                    <a:lnR>
                      <a:noFill/>
                    </a:lnR>
                    <a:lnT>
                      <a:noFill/>
                    </a:lnT>
                    <a:lnB>
                      <a:noFill/>
                    </a:lnB>
                  </a:tcPr>
                </a:tc>
                <a:tc>
                  <a:txBody>
                    <a:bodyPr/>
                    <a:lstStyle/>
                    <a:p>
                      <a:r>
                        <a:rPr lang="ru-RU" sz="1200" dirty="0"/>
                        <a:t>2,10</a:t>
                      </a:r>
                    </a:p>
                  </a:txBody>
                  <a:tcPr marL="6398" marR="6398" marT="6398" marB="6398" anchor="b">
                    <a:lnL>
                      <a:noFill/>
                    </a:lnL>
                    <a:lnR>
                      <a:noFill/>
                    </a:lnR>
                    <a:lnT>
                      <a:noFill/>
                    </a:lnT>
                    <a:lnB>
                      <a:noFill/>
                    </a:lnB>
                  </a:tcPr>
                </a:tc>
                <a:tc>
                  <a:txBody>
                    <a:bodyPr/>
                    <a:lstStyle/>
                    <a:p>
                      <a:r>
                        <a:rPr lang="ru-RU" sz="1200"/>
                        <a:t>2,55</a:t>
                      </a:r>
                    </a:p>
                  </a:txBody>
                  <a:tcPr marL="6398" marR="6398" marT="6398" marB="6398" anchor="b">
                    <a:lnL>
                      <a:noFill/>
                    </a:lnL>
                    <a:lnR>
                      <a:noFill/>
                    </a:lnR>
                    <a:lnT>
                      <a:noFill/>
                    </a:lnT>
                    <a:lnB>
                      <a:noFill/>
                    </a:lnB>
                  </a:tcPr>
                </a:tc>
                <a:tc>
                  <a:txBody>
                    <a:bodyPr/>
                    <a:lstStyle/>
                    <a:p>
                      <a:r>
                        <a:rPr lang="ru-RU" sz="1200"/>
                        <a:t>2,88</a:t>
                      </a:r>
                    </a:p>
                  </a:txBody>
                  <a:tcPr marL="6398" marR="6398" marT="6398" marB="6398" anchor="b">
                    <a:lnL>
                      <a:noFill/>
                    </a:lnL>
                    <a:lnR>
                      <a:noFill/>
                    </a:lnR>
                    <a:lnT>
                      <a:noFill/>
                    </a:lnT>
                    <a:lnB>
                      <a:noFill/>
                    </a:lnB>
                  </a:tcPr>
                </a:tc>
                <a:tc>
                  <a:txBody>
                    <a:bodyPr/>
                    <a:lstStyle/>
                    <a:p>
                      <a:r>
                        <a:rPr lang="ru-RU" sz="1200"/>
                        <a:t>3,61</a:t>
                      </a:r>
                    </a:p>
                  </a:txBody>
                  <a:tcPr marL="6398" marR="6398" marT="6398" marB="6398" anchor="b">
                    <a:lnL>
                      <a:noFill/>
                    </a:lnL>
                    <a:lnR>
                      <a:noFill/>
                    </a:lnR>
                    <a:lnT>
                      <a:noFill/>
                    </a:lnT>
                    <a:lnB>
                      <a:noFill/>
                    </a:lnB>
                  </a:tcPr>
                </a:tc>
                <a:tc>
                  <a:txBody>
                    <a:bodyPr/>
                    <a:lstStyle/>
                    <a:p>
                      <a:r>
                        <a:rPr lang="ru-RU" sz="1200"/>
                        <a:t>3,92</a:t>
                      </a:r>
                    </a:p>
                  </a:txBody>
                  <a:tcPr marL="6398" marR="6398" marT="6398" marB="6398" anchor="b">
                    <a:lnL>
                      <a:noFill/>
                    </a:lnL>
                    <a:lnR>
                      <a:noFill/>
                    </a:lnR>
                    <a:lnT>
                      <a:noFill/>
                    </a:lnT>
                    <a:lnB>
                      <a:noFill/>
                    </a:lnB>
                  </a:tcPr>
                </a:tc>
                <a:extLst>
                  <a:ext uri="{0D108BD9-81ED-4DB2-BD59-A6C34878D82A}">
                    <a16:rowId xmlns:a16="http://schemas.microsoft.com/office/drawing/2014/main" val="10019"/>
                  </a:ext>
                </a:extLst>
              </a:tr>
              <a:tr h="143600">
                <a:tc>
                  <a:txBody>
                    <a:bodyPr/>
                    <a:lstStyle/>
                    <a:p>
                      <a:r>
                        <a:rPr lang="ru-RU" sz="1200" b="1">
                          <a:solidFill>
                            <a:srgbClr val="FFFFFF"/>
                          </a:solidFill>
                        </a:rPr>
                        <a:t>19</a:t>
                      </a:r>
                    </a:p>
                  </a:txBody>
                  <a:tcPr marL="6398" marR="6398" marT="6398" marB="6398">
                    <a:lnL>
                      <a:noFill/>
                    </a:lnL>
                    <a:lnR>
                      <a:noFill/>
                    </a:lnR>
                    <a:lnT>
                      <a:noFill/>
                    </a:lnT>
                    <a:lnB>
                      <a:noFill/>
                    </a:lnB>
                  </a:tcPr>
                </a:tc>
                <a:tc>
                  <a:txBody>
                    <a:bodyPr/>
                    <a:lstStyle/>
                    <a:p>
                      <a:r>
                        <a:rPr lang="ru-RU" sz="1200"/>
                        <a:t>1,73</a:t>
                      </a:r>
                    </a:p>
                  </a:txBody>
                  <a:tcPr marL="6398" marR="6398" marT="6398" marB="6398" anchor="b">
                    <a:lnL>
                      <a:noFill/>
                    </a:lnL>
                    <a:lnR>
                      <a:noFill/>
                    </a:lnR>
                    <a:lnT>
                      <a:noFill/>
                    </a:lnT>
                    <a:lnB>
                      <a:noFill/>
                    </a:lnB>
                  </a:tcPr>
                </a:tc>
                <a:tc>
                  <a:txBody>
                    <a:bodyPr/>
                    <a:lstStyle/>
                    <a:p>
                      <a:r>
                        <a:rPr lang="ru-RU" sz="1200" dirty="0"/>
                        <a:t>2,09</a:t>
                      </a:r>
                    </a:p>
                  </a:txBody>
                  <a:tcPr marL="6398" marR="6398" marT="6398" marB="6398" anchor="b">
                    <a:lnL>
                      <a:noFill/>
                    </a:lnL>
                    <a:lnR>
                      <a:noFill/>
                    </a:lnR>
                    <a:lnT>
                      <a:noFill/>
                    </a:lnT>
                    <a:lnB>
                      <a:noFill/>
                    </a:lnB>
                  </a:tcPr>
                </a:tc>
                <a:tc>
                  <a:txBody>
                    <a:bodyPr/>
                    <a:lstStyle/>
                    <a:p>
                      <a:r>
                        <a:rPr lang="ru-RU" sz="1200"/>
                        <a:t>2,54</a:t>
                      </a:r>
                    </a:p>
                  </a:txBody>
                  <a:tcPr marL="6398" marR="6398" marT="6398" marB="6398" anchor="b">
                    <a:lnL>
                      <a:noFill/>
                    </a:lnL>
                    <a:lnR>
                      <a:noFill/>
                    </a:lnR>
                    <a:lnT>
                      <a:noFill/>
                    </a:lnT>
                    <a:lnB>
                      <a:noFill/>
                    </a:lnB>
                  </a:tcPr>
                </a:tc>
                <a:tc>
                  <a:txBody>
                    <a:bodyPr/>
                    <a:lstStyle/>
                    <a:p>
                      <a:r>
                        <a:rPr lang="ru-RU" sz="1200"/>
                        <a:t>2,86</a:t>
                      </a:r>
                    </a:p>
                  </a:txBody>
                  <a:tcPr marL="6398" marR="6398" marT="6398" marB="6398" anchor="b">
                    <a:lnL>
                      <a:noFill/>
                    </a:lnL>
                    <a:lnR>
                      <a:noFill/>
                    </a:lnR>
                    <a:lnT>
                      <a:noFill/>
                    </a:lnT>
                    <a:lnB>
                      <a:noFill/>
                    </a:lnB>
                  </a:tcPr>
                </a:tc>
                <a:tc>
                  <a:txBody>
                    <a:bodyPr/>
                    <a:lstStyle/>
                    <a:p>
                      <a:r>
                        <a:rPr lang="ru-RU" sz="1200"/>
                        <a:t>3,58</a:t>
                      </a:r>
                    </a:p>
                  </a:txBody>
                  <a:tcPr marL="6398" marR="6398" marT="6398" marB="6398" anchor="b">
                    <a:lnL>
                      <a:noFill/>
                    </a:lnL>
                    <a:lnR>
                      <a:noFill/>
                    </a:lnR>
                    <a:lnT>
                      <a:noFill/>
                    </a:lnT>
                    <a:lnB>
                      <a:noFill/>
                    </a:lnB>
                  </a:tcPr>
                </a:tc>
                <a:tc>
                  <a:txBody>
                    <a:bodyPr/>
                    <a:lstStyle/>
                    <a:p>
                      <a:r>
                        <a:rPr lang="ru-RU" sz="1200" dirty="0"/>
                        <a:t>3,88</a:t>
                      </a:r>
                    </a:p>
                  </a:txBody>
                  <a:tcPr marL="6398" marR="6398" marT="6398" marB="6398" anchor="b">
                    <a:lnL>
                      <a:noFill/>
                    </a:lnL>
                    <a:lnR>
                      <a:noFill/>
                    </a:lnR>
                    <a:lnT>
                      <a:noFill/>
                    </a:lnT>
                    <a:lnB>
                      <a:noFill/>
                    </a:lnB>
                  </a:tcPr>
                </a:tc>
                <a:extLst>
                  <a:ext uri="{0D108BD9-81ED-4DB2-BD59-A6C34878D82A}">
                    <a16:rowId xmlns:a16="http://schemas.microsoft.com/office/drawing/2014/main" val="10020"/>
                  </a:ext>
                </a:extLst>
              </a:tr>
              <a:tr h="143600">
                <a:tc>
                  <a:txBody>
                    <a:bodyPr/>
                    <a:lstStyle/>
                    <a:p>
                      <a:r>
                        <a:rPr lang="ru-RU" sz="1200" b="1">
                          <a:solidFill>
                            <a:srgbClr val="FFFFFF"/>
                          </a:solidFill>
                        </a:rPr>
                        <a:t>20</a:t>
                      </a:r>
                    </a:p>
                  </a:txBody>
                  <a:tcPr marL="6398" marR="6398" marT="6398" marB="6398">
                    <a:lnL>
                      <a:noFill/>
                    </a:lnL>
                    <a:lnR>
                      <a:noFill/>
                    </a:lnR>
                    <a:lnT>
                      <a:noFill/>
                    </a:lnT>
                    <a:lnB>
                      <a:noFill/>
                    </a:lnB>
                  </a:tcPr>
                </a:tc>
                <a:tc>
                  <a:txBody>
                    <a:bodyPr/>
                    <a:lstStyle/>
                    <a:p>
                      <a:r>
                        <a:rPr lang="ru-RU" sz="1200"/>
                        <a:t>1,73</a:t>
                      </a:r>
                    </a:p>
                  </a:txBody>
                  <a:tcPr marL="6398" marR="6398" marT="6398" marB="6398" anchor="b">
                    <a:lnL>
                      <a:noFill/>
                    </a:lnL>
                    <a:lnR>
                      <a:noFill/>
                    </a:lnR>
                    <a:lnT>
                      <a:noFill/>
                    </a:lnT>
                    <a:lnB>
                      <a:noFill/>
                    </a:lnB>
                  </a:tcPr>
                </a:tc>
                <a:tc>
                  <a:txBody>
                    <a:bodyPr/>
                    <a:lstStyle/>
                    <a:p>
                      <a:r>
                        <a:rPr lang="ru-RU" sz="1200"/>
                        <a:t>2,09</a:t>
                      </a:r>
                    </a:p>
                  </a:txBody>
                  <a:tcPr marL="6398" marR="6398" marT="6398" marB="6398" anchor="b">
                    <a:lnL>
                      <a:noFill/>
                    </a:lnL>
                    <a:lnR>
                      <a:noFill/>
                    </a:lnR>
                    <a:lnT>
                      <a:noFill/>
                    </a:lnT>
                    <a:lnB>
                      <a:noFill/>
                    </a:lnB>
                  </a:tcPr>
                </a:tc>
                <a:tc>
                  <a:txBody>
                    <a:bodyPr/>
                    <a:lstStyle/>
                    <a:p>
                      <a:r>
                        <a:rPr lang="ru-RU" sz="1200"/>
                        <a:t>2,53</a:t>
                      </a:r>
                    </a:p>
                  </a:txBody>
                  <a:tcPr marL="6398" marR="6398" marT="6398" marB="6398" anchor="b">
                    <a:lnL>
                      <a:noFill/>
                    </a:lnL>
                    <a:lnR>
                      <a:noFill/>
                    </a:lnR>
                    <a:lnT>
                      <a:noFill/>
                    </a:lnT>
                    <a:lnB>
                      <a:noFill/>
                    </a:lnB>
                  </a:tcPr>
                </a:tc>
                <a:tc>
                  <a:txBody>
                    <a:bodyPr/>
                    <a:lstStyle/>
                    <a:p>
                      <a:r>
                        <a:rPr lang="ru-RU" sz="1200"/>
                        <a:t>2,85</a:t>
                      </a:r>
                    </a:p>
                  </a:txBody>
                  <a:tcPr marL="6398" marR="6398" marT="6398" marB="6398" anchor="b">
                    <a:lnL>
                      <a:noFill/>
                    </a:lnL>
                    <a:lnR>
                      <a:noFill/>
                    </a:lnR>
                    <a:lnT>
                      <a:noFill/>
                    </a:lnT>
                    <a:lnB>
                      <a:noFill/>
                    </a:lnB>
                  </a:tcPr>
                </a:tc>
                <a:tc>
                  <a:txBody>
                    <a:bodyPr/>
                    <a:lstStyle/>
                    <a:p>
                      <a:r>
                        <a:rPr lang="ru-RU" sz="1200"/>
                        <a:t>3,55</a:t>
                      </a:r>
                    </a:p>
                  </a:txBody>
                  <a:tcPr marL="6398" marR="6398" marT="6398" marB="6398" anchor="b">
                    <a:lnL>
                      <a:noFill/>
                    </a:lnL>
                    <a:lnR>
                      <a:noFill/>
                    </a:lnR>
                    <a:lnT>
                      <a:noFill/>
                    </a:lnT>
                    <a:lnB>
                      <a:noFill/>
                    </a:lnB>
                  </a:tcPr>
                </a:tc>
                <a:tc>
                  <a:txBody>
                    <a:bodyPr/>
                    <a:lstStyle/>
                    <a:p>
                      <a:r>
                        <a:rPr lang="ru-RU" sz="1200" dirty="0"/>
                        <a:t>3,85</a:t>
                      </a:r>
                    </a:p>
                  </a:txBody>
                  <a:tcPr marL="6398" marR="6398" marT="6398" marB="6398" anchor="b">
                    <a:lnL>
                      <a:noFill/>
                    </a:lnL>
                    <a:lnR>
                      <a:noFill/>
                    </a:lnR>
                    <a:lnT>
                      <a:noFill/>
                    </a:lnT>
                    <a:lnB>
                      <a:noFill/>
                    </a:lnB>
                  </a:tcPr>
                </a:tc>
                <a:extLst>
                  <a:ext uri="{0D108BD9-81ED-4DB2-BD59-A6C34878D82A}">
                    <a16:rowId xmlns:a16="http://schemas.microsoft.com/office/drawing/2014/main" val="10021"/>
                  </a:ext>
                </a:extLst>
              </a:tr>
              <a:tr h="143600">
                <a:tc>
                  <a:txBody>
                    <a:bodyPr/>
                    <a:lstStyle/>
                    <a:p>
                      <a:r>
                        <a:rPr lang="ru-RU" sz="1200" b="1">
                          <a:solidFill>
                            <a:srgbClr val="FFFFFF"/>
                          </a:solidFill>
                        </a:rPr>
                        <a:t>21</a:t>
                      </a:r>
                    </a:p>
                  </a:txBody>
                  <a:tcPr marL="6398" marR="6398" marT="6398" marB="6398">
                    <a:lnL>
                      <a:noFill/>
                    </a:lnL>
                    <a:lnR>
                      <a:noFill/>
                    </a:lnR>
                    <a:lnT>
                      <a:noFill/>
                    </a:lnT>
                    <a:lnB>
                      <a:noFill/>
                    </a:lnB>
                  </a:tcPr>
                </a:tc>
                <a:tc>
                  <a:txBody>
                    <a:bodyPr/>
                    <a:lstStyle/>
                    <a:p>
                      <a:r>
                        <a:rPr lang="ru-RU" sz="1200"/>
                        <a:t>1,72</a:t>
                      </a:r>
                    </a:p>
                  </a:txBody>
                  <a:tcPr marL="6398" marR="6398" marT="6398" marB="6398" anchor="b">
                    <a:lnL>
                      <a:noFill/>
                    </a:lnL>
                    <a:lnR>
                      <a:noFill/>
                    </a:lnR>
                    <a:lnT>
                      <a:noFill/>
                    </a:lnT>
                    <a:lnB>
                      <a:noFill/>
                    </a:lnB>
                  </a:tcPr>
                </a:tc>
                <a:tc>
                  <a:txBody>
                    <a:bodyPr/>
                    <a:lstStyle/>
                    <a:p>
                      <a:r>
                        <a:rPr lang="ru-RU" sz="1200" dirty="0"/>
                        <a:t>2,08</a:t>
                      </a:r>
                    </a:p>
                  </a:txBody>
                  <a:tcPr marL="6398" marR="6398" marT="6398" marB="6398" anchor="b">
                    <a:lnL>
                      <a:noFill/>
                    </a:lnL>
                    <a:lnR>
                      <a:noFill/>
                    </a:lnR>
                    <a:lnT>
                      <a:noFill/>
                    </a:lnT>
                    <a:lnB>
                      <a:noFill/>
                    </a:lnB>
                  </a:tcPr>
                </a:tc>
                <a:tc>
                  <a:txBody>
                    <a:bodyPr/>
                    <a:lstStyle/>
                    <a:p>
                      <a:r>
                        <a:rPr lang="ru-RU" sz="1200"/>
                        <a:t>2,52</a:t>
                      </a:r>
                    </a:p>
                  </a:txBody>
                  <a:tcPr marL="6398" marR="6398" marT="6398" marB="6398" anchor="b">
                    <a:lnL>
                      <a:noFill/>
                    </a:lnL>
                    <a:lnR>
                      <a:noFill/>
                    </a:lnR>
                    <a:lnT>
                      <a:noFill/>
                    </a:lnT>
                    <a:lnB>
                      <a:noFill/>
                    </a:lnB>
                  </a:tcPr>
                </a:tc>
                <a:tc>
                  <a:txBody>
                    <a:bodyPr/>
                    <a:lstStyle/>
                    <a:p>
                      <a:r>
                        <a:rPr lang="ru-RU" sz="1200"/>
                        <a:t>2,83</a:t>
                      </a:r>
                    </a:p>
                  </a:txBody>
                  <a:tcPr marL="6398" marR="6398" marT="6398" marB="6398" anchor="b">
                    <a:lnL>
                      <a:noFill/>
                    </a:lnL>
                    <a:lnR>
                      <a:noFill/>
                    </a:lnR>
                    <a:lnT>
                      <a:noFill/>
                    </a:lnT>
                    <a:lnB>
                      <a:noFill/>
                    </a:lnB>
                  </a:tcPr>
                </a:tc>
                <a:tc>
                  <a:txBody>
                    <a:bodyPr/>
                    <a:lstStyle/>
                    <a:p>
                      <a:r>
                        <a:rPr lang="ru-RU" sz="1200" dirty="0"/>
                        <a:t>3,53</a:t>
                      </a:r>
                    </a:p>
                  </a:txBody>
                  <a:tcPr marL="6398" marR="6398" marT="6398" marB="6398" anchor="b">
                    <a:lnL>
                      <a:noFill/>
                    </a:lnL>
                    <a:lnR>
                      <a:noFill/>
                    </a:lnR>
                    <a:lnT>
                      <a:noFill/>
                    </a:lnT>
                    <a:lnB>
                      <a:noFill/>
                    </a:lnB>
                  </a:tcPr>
                </a:tc>
                <a:tc>
                  <a:txBody>
                    <a:bodyPr/>
                    <a:lstStyle/>
                    <a:p>
                      <a:r>
                        <a:rPr lang="ru-RU" sz="1200" dirty="0"/>
                        <a:t>3,82</a:t>
                      </a:r>
                    </a:p>
                  </a:txBody>
                  <a:tcPr marL="6398" marR="6398" marT="6398" marB="6398" anchor="b">
                    <a:lnL>
                      <a:noFill/>
                    </a:lnL>
                    <a:lnR>
                      <a:noFill/>
                    </a:lnR>
                    <a:lnT>
                      <a:noFill/>
                    </a:lnT>
                    <a:lnB>
                      <a:noFill/>
                    </a:lnB>
                  </a:tcPr>
                </a:tc>
                <a:extLst>
                  <a:ext uri="{0D108BD9-81ED-4DB2-BD59-A6C34878D82A}">
                    <a16:rowId xmlns:a16="http://schemas.microsoft.com/office/drawing/2014/main" val="10022"/>
                  </a:ext>
                </a:extLst>
              </a:tr>
              <a:tr h="143600">
                <a:tc>
                  <a:txBody>
                    <a:bodyPr/>
                    <a:lstStyle/>
                    <a:p>
                      <a:r>
                        <a:rPr lang="ru-RU" sz="1200" b="1">
                          <a:solidFill>
                            <a:srgbClr val="FFFFFF"/>
                          </a:solidFill>
                        </a:rPr>
                        <a:t>22</a:t>
                      </a:r>
                    </a:p>
                  </a:txBody>
                  <a:tcPr marL="6398" marR="6398" marT="6398" marB="6398">
                    <a:lnL>
                      <a:noFill/>
                    </a:lnL>
                    <a:lnR>
                      <a:noFill/>
                    </a:lnR>
                    <a:lnT>
                      <a:noFill/>
                    </a:lnT>
                    <a:lnB>
                      <a:noFill/>
                    </a:lnB>
                  </a:tcPr>
                </a:tc>
                <a:tc>
                  <a:txBody>
                    <a:bodyPr/>
                    <a:lstStyle/>
                    <a:p>
                      <a:r>
                        <a:rPr lang="ru-RU" sz="1200"/>
                        <a:t>1,72</a:t>
                      </a:r>
                    </a:p>
                  </a:txBody>
                  <a:tcPr marL="6398" marR="6398" marT="6398" marB="6398" anchor="b">
                    <a:lnL>
                      <a:noFill/>
                    </a:lnL>
                    <a:lnR>
                      <a:noFill/>
                    </a:lnR>
                    <a:lnT>
                      <a:noFill/>
                    </a:lnT>
                    <a:lnB>
                      <a:noFill/>
                    </a:lnB>
                  </a:tcPr>
                </a:tc>
                <a:tc>
                  <a:txBody>
                    <a:bodyPr/>
                    <a:lstStyle/>
                    <a:p>
                      <a:r>
                        <a:rPr lang="ru-RU" sz="1200" dirty="0"/>
                        <a:t>2,07</a:t>
                      </a:r>
                    </a:p>
                  </a:txBody>
                  <a:tcPr marL="6398" marR="6398" marT="6398" marB="6398" anchor="b">
                    <a:lnL>
                      <a:noFill/>
                    </a:lnL>
                    <a:lnR>
                      <a:noFill/>
                    </a:lnR>
                    <a:lnT>
                      <a:noFill/>
                    </a:lnT>
                    <a:lnB>
                      <a:noFill/>
                    </a:lnB>
                  </a:tcPr>
                </a:tc>
                <a:tc>
                  <a:txBody>
                    <a:bodyPr/>
                    <a:lstStyle/>
                    <a:p>
                      <a:r>
                        <a:rPr lang="ru-RU" sz="1200"/>
                        <a:t>2,51</a:t>
                      </a:r>
                    </a:p>
                  </a:txBody>
                  <a:tcPr marL="6398" marR="6398" marT="6398" marB="6398" anchor="b">
                    <a:lnL>
                      <a:noFill/>
                    </a:lnL>
                    <a:lnR>
                      <a:noFill/>
                    </a:lnR>
                    <a:lnT>
                      <a:noFill/>
                    </a:lnT>
                    <a:lnB>
                      <a:noFill/>
                    </a:lnB>
                  </a:tcPr>
                </a:tc>
                <a:tc>
                  <a:txBody>
                    <a:bodyPr/>
                    <a:lstStyle/>
                    <a:p>
                      <a:r>
                        <a:rPr lang="ru-RU" sz="1200"/>
                        <a:t>2,82</a:t>
                      </a:r>
                    </a:p>
                  </a:txBody>
                  <a:tcPr marL="6398" marR="6398" marT="6398" marB="6398" anchor="b">
                    <a:lnL>
                      <a:noFill/>
                    </a:lnL>
                    <a:lnR>
                      <a:noFill/>
                    </a:lnR>
                    <a:lnT>
                      <a:noFill/>
                    </a:lnT>
                    <a:lnB>
                      <a:noFill/>
                    </a:lnB>
                  </a:tcPr>
                </a:tc>
                <a:tc>
                  <a:txBody>
                    <a:bodyPr/>
                    <a:lstStyle/>
                    <a:p>
                      <a:r>
                        <a:rPr lang="ru-RU" sz="1200"/>
                        <a:t>3,51</a:t>
                      </a:r>
                    </a:p>
                  </a:txBody>
                  <a:tcPr marL="6398" marR="6398" marT="6398" marB="6398" anchor="b">
                    <a:lnL>
                      <a:noFill/>
                    </a:lnL>
                    <a:lnR>
                      <a:noFill/>
                    </a:lnR>
                    <a:lnT>
                      <a:noFill/>
                    </a:lnT>
                    <a:lnB>
                      <a:noFill/>
                    </a:lnB>
                  </a:tcPr>
                </a:tc>
                <a:tc>
                  <a:txBody>
                    <a:bodyPr/>
                    <a:lstStyle/>
                    <a:p>
                      <a:r>
                        <a:rPr lang="ru-RU" sz="1200" dirty="0"/>
                        <a:t>3,79</a:t>
                      </a:r>
                    </a:p>
                  </a:txBody>
                  <a:tcPr marL="6398" marR="6398" marT="6398" marB="6398" anchor="b">
                    <a:lnL>
                      <a:noFill/>
                    </a:lnL>
                    <a:lnR>
                      <a:noFill/>
                    </a:lnR>
                    <a:lnT>
                      <a:noFill/>
                    </a:lnT>
                    <a:lnB>
                      <a:noFill/>
                    </a:lnB>
                  </a:tcPr>
                </a:tc>
                <a:extLst>
                  <a:ext uri="{0D108BD9-81ED-4DB2-BD59-A6C34878D82A}">
                    <a16:rowId xmlns:a16="http://schemas.microsoft.com/office/drawing/2014/main" val="10023"/>
                  </a:ext>
                </a:extLst>
              </a:tr>
              <a:tr h="143600">
                <a:tc>
                  <a:txBody>
                    <a:bodyPr/>
                    <a:lstStyle/>
                    <a:p>
                      <a:r>
                        <a:rPr lang="ru-RU" sz="1200" b="1">
                          <a:solidFill>
                            <a:srgbClr val="FFFFFF"/>
                          </a:solidFill>
                        </a:rPr>
                        <a:t>23</a:t>
                      </a:r>
                    </a:p>
                  </a:txBody>
                  <a:tcPr marL="6398" marR="6398" marT="6398" marB="6398">
                    <a:lnL>
                      <a:noFill/>
                    </a:lnL>
                    <a:lnR>
                      <a:noFill/>
                    </a:lnR>
                    <a:lnT>
                      <a:noFill/>
                    </a:lnT>
                    <a:lnB>
                      <a:noFill/>
                    </a:lnB>
                  </a:tcPr>
                </a:tc>
                <a:tc>
                  <a:txBody>
                    <a:bodyPr/>
                    <a:lstStyle/>
                    <a:p>
                      <a:r>
                        <a:rPr lang="ru-RU" sz="1200"/>
                        <a:t>1,71</a:t>
                      </a:r>
                    </a:p>
                  </a:txBody>
                  <a:tcPr marL="6398" marR="6398" marT="6398" marB="6398" anchor="b">
                    <a:lnL>
                      <a:noFill/>
                    </a:lnL>
                    <a:lnR>
                      <a:noFill/>
                    </a:lnR>
                    <a:lnT>
                      <a:noFill/>
                    </a:lnT>
                    <a:lnB>
                      <a:noFill/>
                    </a:lnB>
                  </a:tcPr>
                </a:tc>
                <a:tc>
                  <a:txBody>
                    <a:bodyPr/>
                    <a:lstStyle/>
                    <a:p>
                      <a:r>
                        <a:rPr lang="ru-RU" sz="1200"/>
                        <a:t>2,07</a:t>
                      </a:r>
                    </a:p>
                  </a:txBody>
                  <a:tcPr marL="6398" marR="6398" marT="6398" marB="6398" anchor="b">
                    <a:lnL>
                      <a:noFill/>
                    </a:lnL>
                    <a:lnR>
                      <a:noFill/>
                    </a:lnR>
                    <a:lnT>
                      <a:noFill/>
                    </a:lnT>
                    <a:lnB>
                      <a:noFill/>
                    </a:lnB>
                  </a:tcPr>
                </a:tc>
                <a:tc>
                  <a:txBody>
                    <a:bodyPr/>
                    <a:lstStyle/>
                    <a:p>
                      <a:r>
                        <a:rPr lang="ru-RU" sz="1200"/>
                        <a:t>2,50</a:t>
                      </a:r>
                    </a:p>
                  </a:txBody>
                  <a:tcPr marL="6398" marR="6398" marT="6398" marB="6398" anchor="b">
                    <a:lnL>
                      <a:noFill/>
                    </a:lnL>
                    <a:lnR>
                      <a:noFill/>
                    </a:lnR>
                    <a:lnT>
                      <a:noFill/>
                    </a:lnT>
                    <a:lnB>
                      <a:noFill/>
                    </a:lnB>
                  </a:tcPr>
                </a:tc>
                <a:tc>
                  <a:txBody>
                    <a:bodyPr/>
                    <a:lstStyle/>
                    <a:p>
                      <a:r>
                        <a:rPr lang="ru-RU" sz="1200"/>
                        <a:t>2,81</a:t>
                      </a:r>
                    </a:p>
                  </a:txBody>
                  <a:tcPr marL="6398" marR="6398" marT="6398" marB="6398" anchor="b">
                    <a:lnL>
                      <a:noFill/>
                    </a:lnL>
                    <a:lnR>
                      <a:noFill/>
                    </a:lnR>
                    <a:lnT>
                      <a:noFill/>
                    </a:lnT>
                    <a:lnB>
                      <a:noFill/>
                    </a:lnB>
                  </a:tcPr>
                </a:tc>
                <a:tc>
                  <a:txBody>
                    <a:bodyPr/>
                    <a:lstStyle/>
                    <a:p>
                      <a:r>
                        <a:rPr lang="ru-RU" sz="1200"/>
                        <a:t>3,59</a:t>
                      </a:r>
                    </a:p>
                  </a:txBody>
                  <a:tcPr marL="6398" marR="6398" marT="6398" marB="6398" anchor="b">
                    <a:lnL>
                      <a:noFill/>
                    </a:lnL>
                    <a:lnR>
                      <a:noFill/>
                    </a:lnR>
                    <a:lnT>
                      <a:noFill/>
                    </a:lnT>
                    <a:lnB>
                      <a:noFill/>
                    </a:lnB>
                  </a:tcPr>
                </a:tc>
                <a:tc>
                  <a:txBody>
                    <a:bodyPr/>
                    <a:lstStyle/>
                    <a:p>
                      <a:r>
                        <a:rPr lang="ru-RU" sz="1200"/>
                        <a:t>3,77</a:t>
                      </a:r>
                    </a:p>
                  </a:txBody>
                  <a:tcPr marL="6398" marR="6398" marT="6398" marB="6398" anchor="b">
                    <a:lnL>
                      <a:noFill/>
                    </a:lnL>
                    <a:lnR>
                      <a:noFill/>
                    </a:lnR>
                    <a:lnT>
                      <a:noFill/>
                    </a:lnT>
                    <a:lnB>
                      <a:noFill/>
                    </a:lnB>
                  </a:tcPr>
                </a:tc>
                <a:extLst>
                  <a:ext uri="{0D108BD9-81ED-4DB2-BD59-A6C34878D82A}">
                    <a16:rowId xmlns:a16="http://schemas.microsoft.com/office/drawing/2014/main" val="10024"/>
                  </a:ext>
                </a:extLst>
              </a:tr>
              <a:tr h="143600">
                <a:tc>
                  <a:txBody>
                    <a:bodyPr/>
                    <a:lstStyle/>
                    <a:p>
                      <a:r>
                        <a:rPr lang="ru-RU" sz="1200" b="1">
                          <a:solidFill>
                            <a:srgbClr val="FFFFFF"/>
                          </a:solidFill>
                        </a:rPr>
                        <a:t>24</a:t>
                      </a:r>
                    </a:p>
                  </a:txBody>
                  <a:tcPr marL="6398" marR="6398" marT="6398" marB="6398">
                    <a:lnL>
                      <a:noFill/>
                    </a:lnL>
                    <a:lnR>
                      <a:noFill/>
                    </a:lnR>
                    <a:lnT>
                      <a:noFill/>
                    </a:lnT>
                    <a:lnB>
                      <a:noFill/>
                    </a:lnB>
                  </a:tcPr>
                </a:tc>
                <a:tc>
                  <a:txBody>
                    <a:bodyPr/>
                    <a:lstStyle/>
                    <a:p>
                      <a:r>
                        <a:rPr lang="ru-RU" sz="1200"/>
                        <a:t>1,71</a:t>
                      </a:r>
                    </a:p>
                  </a:txBody>
                  <a:tcPr marL="6398" marR="6398" marT="6398" marB="6398" anchor="b">
                    <a:lnL>
                      <a:noFill/>
                    </a:lnL>
                    <a:lnR>
                      <a:noFill/>
                    </a:lnR>
                    <a:lnT>
                      <a:noFill/>
                    </a:lnT>
                    <a:lnB>
                      <a:noFill/>
                    </a:lnB>
                  </a:tcPr>
                </a:tc>
                <a:tc>
                  <a:txBody>
                    <a:bodyPr/>
                    <a:lstStyle/>
                    <a:p>
                      <a:r>
                        <a:rPr lang="ru-RU" sz="1200"/>
                        <a:t>2,06</a:t>
                      </a:r>
                    </a:p>
                  </a:txBody>
                  <a:tcPr marL="6398" marR="6398" marT="6398" marB="6398" anchor="b">
                    <a:lnL>
                      <a:noFill/>
                    </a:lnL>
                    <a:lnR>
                      <a:noFill/>
                    </a:lnR>
                    <a:lnT>
                      <a:noFill/>
                    </a:lnT>
                    <a:lnB>
                      <a:noFill/>
                    </a:lnB>
                  </a:tcPr>
                </a:tc>
                <a:tc>
                  <a:txBody>
                    <a:bodyPr/>
                    <a:lstStyle/>
                    <a:p>
                      <a:r>
                        <a:rPr lang="ru-RU" sz="1200"/>
                        <a:t>2,49</a:t>
                      </a:r>
                    </a:p>
                  </a:txBody>
                  <a:tcPr marL="6398" marR="6398" marT="6398" marB="6398" anchor="b">
                    <a:lnL>
                      <a:noFill/>
                    </a:lnL>
                    <a:lnR>
                      <a:noFill/>
                    </a:lnR>
                    <a:lnT>
                      <a:noFill/>
                    </a:lnT>
                    <a:lnB>
                      <a:noFill/>
                    </a:lnB>
                  </a:tcPr>
                </a:tc>
                <a:tc>
                  <a:txBody>
                    <a:bodyPr/>
                    <a:lstStyle/>
                    <a:p>
                      <a:r>
                        <a:rPr lang="ru-RU" sz="1200"/>
                        <a:t>2,80</a:t>
                      </a:r>
                    </a:p>
                  </a:txBody>
                  <a:tcPr marL="6398" marR="6398" marT="6398" marB="6398" anchor="b">
                    <a:lnL>
                      <a:noFill/>
                    </a:lnL>
                    <a:lnR>
                      <a:noFill/>
                    </a:lnR>
                    <a:lnT>
                      <a:noFill/>
                    </a:lnT>
                    <a:lnB>
                      <a:noFill/>
                    </a:lnB>
                  </a:tcPr>
                </a:tc>
                <a:tc>
                  <a:txBody>
                    <a:bodyPr/>
                    <a:lstStyle/>
                    <a:p>
                      <a:r>
                        <a:rPr lang="ru-RU" sz="1200"/>
                        <a:t>3,47</a:t>
                      </a:r>
                    </a:p>
                  </a:txBody>
                  <a:tcPr marL="6398" marR="6398" marT="6398" marB="6398" anchor="b">
                    <a:lnL>
                      <a:noFill/>
                    </a:lnL>
                    <a:lnR>
                      <a:noFill/>
                    </a:lnR>
                    <a:lnT>
                      <a:noFill/>
                    </a:lnT>
                    <a:lnB>
                      <a:noFill/>
                    </a:lnB>
                  </a:tcPr>
                </a:tc>
                <a:tc>
                  <a:txBody>
                    <a:bodyPr/>
                    <a:lstStyle/>
                    <a:p>
                      <a:r>
                        <a:rPr lang="ru-RU" sz="1200" dirty="0"/>
                        <a:t>3,74</a:t>
                      </a:r>
                    </a:p>
                  </a:txBody>
                  <a:tcPr marL="6398" marR="6398" marT="6398" marB="6398" anchor="b">
                    <a:lnL>
                      <a:noFill/>
                    </a:lnL>
                    <a:lnR>
                      <a:noFill/>
                    </a:lnR>
                    <a:lnT>
                      <a:noFill/>
                    </a:lnT>
                    <a:lnB>
                      <a:noFill/>
                    </a:lnB>
                  </a:tcPr>
                </a:tc>
                <a:extLst>
                  <a:ext uri="{0D108BD9-81ED-4DB2-BD59-A6C34878D82A}">
                    <a16:rowId xmlns:a16="http://schemas.microsoft.com/office/drawing/2014/main" val="10025"/>
                  </a:ext>
                </a:extLst>
              </a:tr>
              <a:tr h="143600">
                <a:tc>
                  <a:txBody>
                    <a:bodyPr/>
                    <a:lstStyle/>
                    <a:p>
                      <a:r>
                        <a:rPr lang="ru-RU" sz="1200" b="1">
                          <a:solidFill>
                            <a:srgbClr val="FFFFFF"/>
                          </a:solidFill>
                        </a:rPr>
                        <a:t>25</a:t>
                      </a:r>
                    </a:p>
                  </a:txBody>
                  <a:tcPr marL="6398" marR="6398" marT="6398" marB="6398">
                    <a:lnL>
                      <a:noFill/>
                    </a:lnL>
                    <a:lnR>
                      <a:noFill/>
                    </a:lnR>
                    <a:lnT>
                      <a:noFill/>
                    </a:lnT>
                    <a:lnB>
                      <a:noFill/>
                    </a:lnB>
                  </a:tcPr>
                </a:tc>
                <a:tc>
                  <a:txBody>
                    <a:bodyPr/>
                    <a:lstStyle/>
                    <a:p>
                      <a:r>
                        <a:rPr lang="ru-RU" sz="1200"/>
                        <a:t>1,71</a:t>
                      </a:r>
                    </a:p>
                  </a:txBody>
                  <a:tcPr marL="6398" marR="6398" marT="6398" marB="6398" anchor="b">
                    <a:lnL>
                      <a:noFill/>
                    </a:lnL>
                    <a:lnR>
                      <a:noFill/>
                    </a:lnR>
                    <a:lnT>
                      <a:noFill/>
                    </a:lnT>
                    <a:lnB>
                      <a:noFill/>
                    </a:lnB>
                  </a:tcPr>
                </a:tc>
                <a:tc>
                  <a:txBody>
                    <a:bodyPr/>
                    <a:lstStyle/>
                    <a:p>
                      <a:r>
                        <a:rPr lang="ru-RU" sz="1200"/>
                        <a:t>2,06</a:t>
                      </a:r>
                    </a:p>
                  </a:txBody>
                  <a:tcPr marL="6398" marR="6398" marT="6398" marB="6398" anchor="b">
                    <a:lnL>
                      <a:noFill/>
                    </a:lnL>
                    <a:lnR>
                      <a:noFill/>
                    </a:lnR>
                    <a:lnT>
                      <a:noFill/>
                    </a:lnT>
                    <a:lnB>
                      <a:noFill/>
                    </a:lnB>
                  </a:tcPr>
                </a:tc>
                <a:tc>
                  <a:txBody>
                    <a:bodyPr/>
                    <a:lstStyle/>
                    <a:p>
                      <a:r>
                        <a:rPr lang="ru-RU" sz="1200"/>
                        <a:t>2,49</a:t>
                      </a:r>
                    </a:p>
                  </a:txBody>
                  <a:tcPr marL="6398" marR="6398" marT="6398" marB="6398" anchor="b">
                    <a:lnL>
                      <a:noFill/>
                    </a:lnL>
                    <a:lnR>
                      <a:noFill/>
                    </a:lnR>
                    <a:lnT>
                      <a:noFill/>
                    </a:lnT>
                    <a:lnB>
                      <a:noFill/>
                    </a:lnB>
                  </a:tcPr>
                </a:tc>
                <a:tc>
                  <a:txBody>
                    <a:bodyPr/>
                    <a:lstStyle/>
                    <a:p>
                      <a:r>
                        <a:rPr lang="ru-RU" sz="1200"/>
                        <a:t>2,79</a:t>
                      </a:r>
                    </a:p>
                  </a:txBody>
                  <a:tcPr marL="6398" marR="6398" marT="6398" marB="6398" anchor="b">
                    <a:lnL>
                      <a:noFill/>
                    </a:lnL>
                    <a:lnR>
                      <a:noFill/>
                    </a:lnR>
                    <a:lnT>
                      <a:noFill/>
                    </a:lnT>
                    <a:lnB>
                      <a:noFill/>
                    </a:lnB>
                  </a:tcPr>
                </a:tc>
                <a:tc>
                  <a:txBody>
                    <a:bodyPr/>
                    <a:lstStyle/>
                    <a:p>
                      <a:r>
                        <a:rPr lang="ru-RU" sz="1200"/>
                        <a:t>3,45</a:t>
                      </a:r>
                    </a:p>
                  </a:txBody>
                  <a:tcPr marL="6398" marR="6398" marT="6398" marB="6398" anchor="b">
                    <a:lnL>
                      <a:noFill/>
                    </a:lnL>
                    <a:lnR>
                      <a:noFill/>
                    </a:lnR>
                    <a:lnT>
                      <a:noFill/>
                    </a:lnT>
                    <a:lnB>
                      <a:noFill/>
                    </a:lnB>
                  </a:tcPr>
                </a:tc>
                <a:tc>
                  <a:txBody>
                    <a:bodyPr/>
                    <a:lstStyle/>
                    <a:p>
                      <a:r>
                        <a:rPr lang="ru-RU" sz="1200"/>
                        <a:t>3,72</a:t>
                      </a:r>
                    </a:p>
                  </a:txBody>
                  <a:tcPr marL="6398" marR="6398" marT="6398" marB="6398" anchor="b">
                    <a:lnL>
                      <a:noFill/>
                    </a:lnL>
                    <a:lnR>
                      <a:noFill/>
                    </a:lnR>
                    <a:lnT>
                      <a:noFill/>
                    </a:lnT>
                    <a:lnB>
                      <a:noFill/>
                    </a:lnB>
                  </a:tcPr>
                </a:tc>
                <a:extLst>
                  <a:ext uri="{0D108BD9-81ED-4DB2-BD59-A6C34878D82A}">
                    <a16:rowId xmlns:a16="http://schemas.microsoft.com/office/drawing/2014/main" val="10026"/>
                  </a:ext>
                </a:extLst>
              </a:tr>
              <a:tr h="143600">
                <a:tc>
                  <a:txBody>
                    <a:bodyPr/>
                    <a:lstStyle/>
                    <a:p>
                      <a:r>
                        <a:rPr lang="ru-RU" sz="1200" b="1">
                          <a:solidFill>
                            <a:srgbClr val="FFFFFF"/>
                          </a:solidFill>
                        </a:rPr>
                        <a:t>26</a:t>
                      </a:r>
                    </a:p>
                  </a:txBody>
                  <a:tcPr marL="6398" marR="6398" marT="6398" marB="6398">
                    <a:lnL>
                      <a:noFill/>
                    </a:lnL>
                    <a:lnR>
                      <a:noFill/>
                    </a:lnR>
                    <a:lnT>
                      <a:noFill/>
                    </a:lnT>
                    <a:lnB>
                      <a:noFill/>
                    </a:lnB>
                  </a:tcPr>
                </a:tc>
                <a:tc>
                  <a:txBody>
                    <a:bodyPr/>
                    <a:lstStyle/>
                    <a:p>
                      <a:r>
                        <a:rPr lang="ru-RU" sz="1200"/>
                        <a:t>1,71</a:t>
                      </a:r>
                    </a:p>
                  </a:txBody>
                  <a:tcPr marL="6398" marR="6398" marT="6398" marB="6398" anchor="b">
                    <a:lnL>
                      <a:noFill/>
                    </a:lnL>
                    <a:lnR>
                      <a:noFill/>
                    </a:lnR>
                    <a:lnT>
                      <a:noFill/>
                    </a:lnT>
                    <a:lnB>
                      <a:noFill/>
                    </a:lnB>
                  </a:tcPr>
                </a:tc>
                <a:tc>
                  <a:txBody>
                    <a:bodyPr/>
                    <a:lstStyle/>
                    <a:p>
                      <a:r>
                        <a:rPr lang="ru-RU" sz="1200"/>
                        <a:t>2,06</a:t>
                      </a:r>
                    </a:p>
                  </a:txBody>
                  <a:tcPr marL="6398" marR="6398" marT="6398" marB="6398" anchor="b">
                    <a:lnL>
                      <a:noFill/>
                    </a:lnL>
                    <a:lnR>
                      <a:noFill/>
                    </a:lnR>
                    <a:lnT>
                      <a:noFill/>
                    </a:lnT>
                    <a:lnB>
                      <a:noFill/>
                    </a:lnB>
                  </a:tcPr>
                </a:tc>
                <a:tc>
                  <a:txBody>
                    <a:bodyPr/>
                    <a:lstStyle/>
                    <a:p>
                      <a:r>
                        <a:rPr lang="ru-RU" sz="1200"/>
                        <a:t>2,48</a:t>
                      </a:r>
                    </a:p>
                  </a:txBody>
                  <a:tcPr marL="6398" marR="6398" marT="6398" marB="6398" anchor="b">
                    <a:lnL>
                      <a:noFill/>
                    </a:lnL>
                    <a:lnR>
                      <a:noFill/>
                    </a:lnR>
                    <a:lnT>
                      <a:noFill/>
                    </a:lnT>
                    <a:lnB>
                      <a:noFill/>
                    </a:lnB>
                  </a:tcPr>
                </a:tc>
                <a:tc>
                  <a:txBody>
                    <a:bodyPr/>
                    <a:lstStyle/>
                    <a:p>
                      <a:r>
                        <a:rPr lang="ru-RU" sz="1200"/>
                        <a:t>2,78</a:t>
                      </a:r>
                    </a:p>
                  </a:txBody>
                  <a:tcPr marL="6398" marR="6398" marT="6398" marB="6398" anchor="b">
                    <a:lnL>
                      <a:noFill/>
                    </a:lnL>
                    <a:lnR>
                      <a:noFill/>
                    </a:lnR>
                    <a:lnT>
                      <a:noFill/>
                    </a:lnT>
                    <a:lnB>
                      <a:noFill/>
                    </a:lnB>
                  </a:tcPr>
                </a:tc>
                <a:tc>
                  <a:txBody>
                    <a:bodyPr/>
                    <a:lstStyle/>
                    <a:p>
                      <a:r>
                        <a:rPr lang="ru-RU" sz="1200"/>
                        <a:t>3,44</a:t>
                      </a:r>
                    </a:p>
                  </a:txBody>
                  <a:tcPr marL="6398" marR="6398" marT="6398" marB="6398" anchor="b">
                    <a:lnL>
                      <a:noFill/>
                    </a:lnL>
                    <a:lnR>
                      <a:noFill/>
                    </a:lnR>
                    <a:lnT>
                      <a:noFill/>
                    </a:lnT>
                    <a:lnB>
                      <a:noFill/>
                    </a:lnB>
                  </a:tcPr>
                </a:tc>
                <a:tc>
                  <a:txBody>
                    <a:bodyPr/>
                    <a:lstStyle/>
                    <a:p>
                      <a:r>
                        <a:rPr lang="ru-RU" sz="1200" dirty="0"/>
                        <a:t>3,71</a:t>
                      </a:r>
                    </a:p>
                  </a:txBody>
                  <a:tcPr marL="6398" marR="6398" marT="6398" marB="6398" anchor="b">
                    <a:lnL>
                      <a:noFill/>
                    </a:lnL>
                    <a:lnR>
                      <a:noFill/>
                    </a:lnR>
                    <a:lnT>
                      <a:noFill/>
                    </a:lnT>
                    <a:lnB>
                      <a:noFill/>
                    </a:lnB>
                  </a:tcPr>
                </a:tc>
                <a:extLst>
                  <a:ext uri="{0D108BD9-81ED-4DB2-BD59-A6C34878D82A}">
                    <a16:rowId xmlns:a16="http://schemas.microsoft.com/office/drawing/2014/main" val="10027"/>
                  </a:ext>
                </a:extLst>
              </a:tr>
              <a:tr h="143600">
                <a:tc>
                  <a:txBody>
                    <a:bodyPr/>
                    <a:lstStyle/>
                    <a:p>
                      <a:r>
                        <a:rPr lang="ru-RU" sz="1200" b="1">
                          <a:solidFill>
                            <a:srgbClr val="FFFFFF"/>
                          </a:solidFill>
                        </a:rPr>
                        <a:t>27</a:t>
                      </a:r>
                    </a:p>
                  </a:txBody>
                  <a:tcPr marL="6398" marR="6398" marT="6398" marB="6398">
                    <a:lnL>
                      <a:noFill/>
                    </a:lnL>
                    <a:lnR>
                      <a:noFill/>
                    </a:lnR>
                    <a:lnT>
                      <a:noFill/>
                    </a:lnT>
                    <a:lnB>
                      <a:noFill/>
                    </a:lnB>
                  </a:tcPr>
                </a:tc>
                <a:tc>
                  <a:txBody>
                    <a:bodyPr/>
                    <a:lstStyle/>
                    <a:p>
                      <a:r>
                        <a:rPr lang="ru-RU" sz="1200"/>
                        <a:t>1,71</a:t>
                      </a:r>
                    </a:p>
                  </a:txBody>
                  <a:tcPr marL="6398" marR="6398" marT="6398" marB="6398" anchor="b">
                    <a:lnL>
                      <a:noFill/>
                    </a:lnL>
                    <a:lnR>
                      <a:noFill/>
                    </a:lnR>
                    <a:lnT>
                      <a:noFill/>
                    </a:lnT>
                    <a:lnB>
                      <a:noFill/>
                    </a:lnB>
                  </a:tcPr>
                </a:tc>
                <a:tc>
                  <a:txBody>
                    <a:bodyPr/>
                    <a:lstStyle/>
                    <a:p>
                      <a:r>
                        <a:rPr lang="ru-RU" sz="1200"/>
                        <a:t>2,05</a:t>
                      </a:r>
                    </a:p>
                  </a:txBody>
                  <a:tcPr marL="6398" marR="6398" marT="6398" marB="6398" anchor="b">
                    <a:lnL>
                      <a:noFill/>
                    </a:lnL>
                    <a:lnR>
                      <a:noFill/>
                    </a:lnR>
                    <a:lnT>
                      <a:noFill/>
                    </a:lnT>
                    <a:lnB>
                      <a:noFill/>
                    </a:lnB>
                  </a:tcPr>
                </a:tc>
                <a:tc>
                  <a:txBody>
                    <a:bodyPr/>
                    <a:lstStyle/>
                    <a:p>
                      <a:r>
                        <a:rPr lang="ru-RU" sz="1200"/>
                        <a:t>2,47</a:t>
                      </a:r>
                    </a:p>
                  </a:txBody>
                  <a:tcPr marL="6398" marR="6398" marT="6398" marB="6398" anchor="b">
                    <a:lnL>
                      <a:noFill/>
                    </a:lnL>
                    <a:lnR>
                      <a:noFill/>
                    </a:lnR>
                    <a:lnT>
                      <a:noFill/>
                    </a:lnT>
                    <a:lnB>
                      <a:noFill/>
                    </a:lnB>
                  </a:tcPr>
                </a:tc>
                <a:tc>
                  <a:txBody>
                    <a:bodyPr/>
                    <a:lstStyle/>
                    <a:p>
                      <a:r>
                        <a:rPr lang="ru-RU" sz="1200"/>
                        <a:t>2,77</a:t>
                      </a:r>
                    </a:p>
                  </a:txBody>
                  <a:tcPr marL="6398" marR="6398" marT="6398" marB="6398" anchor="b">
                    <a:lnL>
                      <a:noFill/>
                    </a:lnL>
                    <a:lnR>
                      <a:noFill/>
                    </a:lnR>
                    <a:lnT>
                      <a:noFill/>
                    </a:lnT>
                    <a:lnB>
                      <a:noFill/>
                    </a:lnB>
                  </a:tcPr>
                </a:tc>
                <a:tc>
                  <a:txBody>
                    <a:bodyPr/>
                    <a:lstStyle/>
                    <a:p>
                      <a:r>
                        <a:rPr lang="ru-RU" sz="1200" dirty="0"/>
                        <a:t>3,42</a:t>
                      </a:r>
                    </a:p>
                  </a:txBody>
                  <a:tcPr marL="6398" marR="6398" marT="6398" marB="6398" anchor="b">
                    <a:lnL>
                      <a:noFill/>
                    </a:lnL>
                    <a:lnR>
                      <a:noFill/>
                    </a:lnR>
                    <a:lnT>
                      <a:noFill/>
                    </a:lnT>
                    <a:lnB>
                      <a:noFill/>
                    </a:lnB>
                  </a:tcPr>
                </a:tc>
                <a:tc>
                  <a:txBody>
                    <a:bodyPr/>
                    <a:lstStyle/>
                    <a:p>
                      <a:r>
                        <a:rPr lang="ru-RU" sz="1200"/>
                        <a:t>3,69</a:t>
                      </a:r>
                    </a:p>
                  </a:txBody>
                  <a:tcPr marL="6398" marR="6398" marT="6398" marB="6398" anchor="b">
                    <a:lnL>
                      <a:noFill/>
                    </a:lnL>
                    <a:lnR>
                      <a:noFill/>
                    </a:lnR>
                    <a:lnT>
                      <a:noFill/>
                    </a:lnT>
                    <a:lnB>
                      <a:noFill/>
                    </a:lnB>
                  </a:tcPr>
                </a:tc>
                <a:extLst>
                  <a:ext uri="{0D108BD9-81ED-4DB2-BD59-A6C34878D82A}">
                    <a16:rowId xmlns:a16="http://schemas.microsoft.com/office/drawing/2014/main" val="10028"/>
                  </a:ext>
                </a:extLst>
              </a:tr>
              <a:tr h="143600">
                <a:tc>
                  <a:txBody>
                    <a:bodyPr/>
                    <a:lstStyle/>
                    <a:p>
                      <a:r>
                        <a:rPr lang="ru-RU" sz="1200" b="1">
                          <a:solidFill>
                            <a:srgbClr val="FFFFFF"/>
                          </a:solidFill>
                        </a:rPr>
                        <a:t>28</a:t>
                      </a:r>
                    </a:p>
                  </a:txBody>
                  <a:tcPr marL="6398" marR="6398" marT="6398" marB="6398">
                    <a:lnL>
                      <a:noFill/>
                    </a:lnL>
                    <a:lnR>
                      <a:noFill/>
                    </a:lnR>
                    <a:lnT>
                      <a:noFill/>
                    </a:lnT>
                    <a:lnB>
                      <a:noFill/>
                    </a:lnB>
                  </a:tcPr>
                </a:tc>
                <a:tc>
                  <a:txBody>
                    <a:bodyPr/>
                    <a:lstStyle/>
                    <a:p>
                      <a:r>
                        <a:rPr lang="ru-RU" sz="1200"/>
                        <a:t>1,70</a:t>
                      </a:r>
                    </a:p>
                  </a:txBody>
                  <a:tcPr marL="6398" marR="6398" marT="6398" marB="6398" anchor="b">
                    <a:lnL>
                      <a:noFill/>
                    </a:lnL>
                    <a:lnR>
                      <a:noFill/>
                    </a:lnR>
                    <a:lnT>
                      <a:noFill/>
                    </a:lnT>
                    <a:lnB>
                      <a:noFill/>
                    </a:lnB>
                  </a:tcPr>
                </a:tc>
                <a:tc>
                  <a:txBody>
                    <a:bodyPr/>
                    <a:lstStyle/>
                    <a:p>
                      <a:r>
                        <a:rPr lang="ru-RU" sz="1200"/>
                        <a:t>2,05</a:t>
                      </a:r>
                    </a:p>
                  </a:txBody>
                  <a:tcPr marL="6398" marR="6398" marT="6398" marB="6398" anchor="b">
                    <a:lnL>
                      <a:noFill/>
                    </a:lnL>
                    <a:lnR>
                      <a:noFill/>
                    </a:lnR>
                    <a:lnT>
                      <a:noFill/>
                    </a:lnT>
                    <a:lnB>
                      <a:noFill/>
                    </a:lnB>
                  </a:tcPr>
                </a:tc>
                <a:tc>
                  <a:txBody>
                    <a:bodyPr/>
                    <a:lstStyle/>
                    <a:p>
                      <a:r>
                        <a:rPr lang="ru-RU" sz="1200"/>
                        <a:t>2,46</a:t>
                      </a:r>
                    </a:p>
                  </a:txBody>
                  <a:tcPr marL="6398" marR="6398" marT="6398" marB="6398" anchor="b">
                    <a:lnL>
                      <a:noFill/>
                    </a:lnL>
                    <a:lnR>
                      <a:noFill/>
                    </a:lnR>
                    <a:lnT>
                      <a:noFill/>
                    </a:lnT>
                    <a:lnB>
                      <a:noFill/>
                    </a:lnB>
                  </a:tcPr>
                </a:tc>
                <a:tc>
                  <a:txBody>
                    <a:bodyPr/>
                    <a:lstStyle/>
                    <a:p>
                      <a:r>
                        <a:rPr lang="ru-RU" sz="1200"/>
                        <a:t>2,76</a:t>
                      </a:r>
                    </a:p>
                  </a:txBody>
                  <a:tcPr marL="6398" marR="6398" marT="6398" marB="6398" anchor="b">
                    <a:lnL>
                      <a:noFill/>
                    </a:lnL>
                    <a:lnR>
                      <a:noFill/>
                    </a:lnR>
                    <a:lnT>
                      <a:noFill/>
                    </a:lnT>
                    <a:lnB>
                      <a:noFill/>
                    </a:lnB>
                  </a:tcPr>
                </a:tc>
                <a:tc>
                  <a:txBody>
                    <a:bodyPr/>
                    <a:lstStyle/>
                    <a:p>
                      <a:r>
                        <a:rPr lang="ru-RU" sz="1200"/>
                        <a:t>3,40</a:t>
                      </a:r>
                    </a:p>
                  </a:txBody>
                  <a:tcPr marL="6398" marR="6398" marT="6398" marB="6398" anchor="b">
                    <a:lnL>
                      <a:noFill/>
                    </a:lnL>
                    <a:lnR>
                      <a:noFill/>
                    </a:lnR>
                    <a:lnT>
                      <a:noFill/>
                    </a:lnT>
                    <a:lnB>
                      <a:noFill/>
                    </a:lnB>
                  </a:tcPr>
                </a:tc>
                <a:tc>
                  <a:txBody>
                    <a:bodyPr/>
                    <a:lstStyle/>
                    <a:p>
                      <a:r>
                        <a:rPr lang="ru-RU" sz="1200" dirty="0"/>
                        <a:t>3,66</a:t>
                      </a:r>
                    </a:p>
                  </a:txBody>
                  <a:tcPr marL="6398" marR="6398" marT="6398" marB="6398" anchor="b">
                    <a:lnL>
                      <a:noFill/>
                    </a:lnL>
                    <a:lnR>
                      <a:noFill/>
                    </a:lnR>
                    <a:lnT>
                      <a:noFill/>
                    </a:lnT>
                    <a:lnB>
                      <a:noFill/>
                    </a:lnB>
                  </a:tcPr>
                </a:tc>
                <a:extLst>
                  <a:ext uri="{0D108BD9-81ED-4DB2-BD59-A6C34878D82A}">
                    <a16:rowId xmlns:a16="http://schemas.microsoft.com/office/drawing/2014/main" val="10029"/>
                  </a:ext>
                </a:extLst>
              </a:tr>
              <a:tr h="143600">
                <a:tc>
                  <a:txBody>
                    <a:bodyPr/>
                    <a:lstStyle/>
                    <a:p>
                      <a:r>
                        <a:rPr lang="ru-RU" sz="1200" b="1">
                          <a:solidFill>
                            <a:srgbClr val="FFFFFF"/>
                          </a:solidFill>
                        </a:rPr>
                        <a:t>29</a:t>
                      </a:r>
                    </a:p>
                  </a:txBody>
                  <a:tcPr marL="6398" marR="6398" marT="6398" marB="6398">
                    <a:lnL>
                      <a:noFill/>
                    </a:lnL>
                    <a:lnR>
                      <a:noFill/>
                    </a:lnR>
                    <a:lnT>
                      <a:noFill/>
                    </a:lnT>
                    <a:lnB>
                      <a:noFill/>
                    </a:lnB>
                  </a:tcPr>
                </a:tc>
                <a:tc>
                  <a:txBody>
                    <a:bodyPr/>
                    <a:lstStyle/>
                    <a:p>
                      <a:r>
                        <a:rPr lang="ru-RU" sz="1200"/>
                        <a:t>1,70</a:t>
                      </a:r>
                    </a:p>
                  </a:txBody>
                  <a:tcPr marL="6398" marR="6398" marT="6398" marB="6398" anchor="b">
                    <a:lnL>
                      <a:noFill/>
                    </a:lnL>
                    <a:lnR>
                      <a:noFill/>
                    </a:lnR>
                    <a:lnT>
                      <a:noFill/>
                    </a:lnT>
                    <a:lnB>
                      <a:noFill/>
                    </a:lnB>
                  </a:tcPr>
                </a:tc>
                <a:tc>
                  <a:txBody>
                    <a:bodyPr/>
                    <a:lstStyle/>
                    <a:p>
                      <a:r>
                        <a:rPr lang="ru-RU" sz="1200"/>
                        <a:t>2,05</a:t>
                      </a:r>
                    </a:p>
                  </a:txBody>
                  <a:tcPr marL="6398" marR="6398" marT="6398" marB="6398" anchor="b">
                    <a:lnL>
                      <a:noFill/>
                    </a:lnL>
                    <a:lnR>
                      <a:noFill/>
                    </a:lnR>
                    <a:lnT>
                      <a:noFill/>
                    </a:lnT>
                    <a:lnB>
                      <a:noFill/>
                    </a:lnB>
                  </a:tcPr>
                </a:tc>
                <a:tc>
                  <a:txBody>
                    <a:bodyPr/>
                    <a:lstStyle/>
                    <a:p>
                      <a:r>
                        <a:rPr lang="ru-RU" sz="1200"/>
                        <a:t>2,46</a:t>
                      </a:r>
                    </a:p>
                  </a:txBody>
                  <a:tcPr marL="6398" marR="6398" marT="6398" marB="6398" anchor="b">
                    <a:lnL>
                      <a:noFill/>
                    </a:lnL>
                    <a:lnR>
                      <a:noFill/>
                    </a:lnR>
                    <a:lnT>
                      <a:noFill/>
                    </a:lnT>
                    <a:lnB>
                      <a:noFill/>
                    </a:lnB>
                  </a:tcPr>
                </a:tc>
                <a:tc>
                  <a:txBody>
                    <a:bodyPr/>
                    <a:lstStyle/>
                    <a:p>
                      <a:r>
                        <a:rPr lang="ru-RU" sz="1200"/>
                        <a:t>2,76</a:t>
                      </a:r>
                    </a:p>
                  </a:txBody>
                  <a:tcPr marL="6398" marR="6398" marT="6398" marB="6398" anchor="b">
                    <a:lnL>
                      <a:noFill/>
                    </a:lnL>
                    <a:lnR>
                      <a:noFill/>
                    </a:lnR>
                    <a:lnT>
                      <a:noFill/>
                    </a:lnT>
                    <a:lnB>
                      <a:noFill/>
                    </a:lnB>
                  </a:tcPr>
                </a:tc>
                <a:tc>
                  <a:txBody>
                    <a:bodyPr/>
                    <a:lstStyle/>
                    <a:p>
                      <a:r>
                        <a:rPr lang="ru-RU" sz="1200"/>
                        <a:t>3,40</a:t>
                      </a:r>
                    </a:p>
                  </a:txBody>
                  <a:tcPr marL="6398" marR="6398" marT="6398" marB="6398" anchor="b">
                    <a:lnL>
                      <a:noFill/>
                    </a:lnL>
                    <a:lnR>
                      <a:noFill/>
                    </a:lnR>
                    <a:lnT>
                      <a:noFill/>
                    </a:lnT>
                    <a:lnB>
                      <a:noFill/>
                    </a:lnB>
                  </a:tcPr>
                </a:tc>
                <a:tc>
                  <a:txBody>
                    <a:bodyPr/>
                    <a:lstStyle/>
                    <a:p>
                      <a:r>
                        <a:rPr lang="ru-RU" sz="1200"/>
                        <a:t>3,66</a:t>
                      </a:r>
                    </a:p>
                  </a:txBody>
                  <a:tcPr marL="6398" marR="6398" marT="6398" marB="6398" anchor="b">
                    <a:lnL>
                      <a:noFill/>
                    </a:lnL>
                    <a:lnR>
                      <a:noFill/>
                    </a:lnR>
                    <a:lnT>
                      <a:noFill/>
                    </a:lnT>
                    <a:lnB>
                      <a:noFill/>
                    </a:lnB>
                  </a:tcPr>
                </a:tc>
                <a:extLst>
                  <a:ext uri="{0D108BD9-81ED-4DB2-BD59-A6C34878D82A}">
                    <a16:rowId xmlns:a16="http://schemas.microsoft.com/office/drawing/2014/main" val="10030"/>
                  </a:ext>
                </a:extLst>
              </a:tr>
              <a:tr h="143600">
                <a:tc>
                  <a:txBody>
                    <a:bodyPr/>
                    <a:lstStyle/>
                    <a:p>
                      <a:r>
                        <a:rPr lang="ru-RU" sz="1200" b="1">
                          <a:solidFill>
                            <a:srgbClr val="FFFFFF"/>
                          </a:solidFill>
                        </a:rPr>
                        <a:t>30</a:t>
                      </a:r>
                    </a:p>
                  </a:txBody>
                  <a:tcPr marL="6398" marR="6398" marT="6398" marB="6398">
                    <a:lnL>
                      <a:noFill/>
                    </a:lnL>
                    <a:lnR>
                      <a:noFill/>
                    </a:lnR>
                    <a:lnT>
                      <a:noFill/>
                    </a:lnT>
                    <a:lnB>
                      <a:noFill/>
                    </a:lnB>
                  </a:tcPr>
                </a:tc>
                <a:tc>
                  <a:txBody>
                    <a:bodyPr/>
                    <a:lstStyle/>
                    <a:p>
                      <a:r>
                        <a:rPr lang="ru-RU" sz="1200"/>
                        <a:t>1,70</a:t>
                      </a:r>
                    </a:p>
                  </a:txBody>
                  <a:tcPr marL="6398" marR="6398" marT="6398" marB="6398" anchor="b">
                    <a:lnL>
                      <a:noFill/>
                    </a:lnL>
                    <a:lnR>
                      <a:noFill/>
                    </a:lnR>
                    <a:lnT>
                      <a:noFill/>
                    </a:lnT>
                    <a:lnB>
                      <a:noFill/>
                    </a:lnB>
                  </a:tcPr>
                </a:tc>
                <a:tc>
                  <a:txBody>
                    <a:bodyPr/>
                    <a:lstStyle/>
                    <a:p>
                      <a:r>
                        <a:rPr lang="ru-RU" sz="1200"/>
                        <a:t>2,04</a:t>
                      </a:r>
                    </a:p>
                  </a:txBody>
                  <a:tcPr marL="6398" marR="6398" marT="6398" marB="6398" anchor="b">
                    <a:lnL>
                      <a:noFill/>
                    </a:lnL>
                    <a:lnR>
                      <a:noFill/>
                    </a:lnR>
                    <a:lnT>
                      <a:noFill/>
                    </a:lnT>
                    <a:lnB>
                      <a:noFill/>
                    </a:lnB>
                  </a:tcPr>
                </a:tc>
                <a:tc>
                  <a:txBody>
                    <a:bodyPr/>
                    <a:lstStyle/>
                    <a:p>
                      <a:r>
                        <a:rPr lang="ru-RU" sz="1200"/>
                        <a:t>2,46</a:t>
                      </a:r>
                    </a:p>
                  </a:txBody>
                  <a:tcPr marL="6398" marR="6398" marT="6398" marB="6398" anchor="b">
                    <a:lnL>
                      <a:noFill/>
                    </a:lnL>
                    <a:lnR>
                      <a:noFill/>
                    </a:lnR>
                    <a:lnT>
                      <a:noFill/>
                    </a:lnT>
                    <a:lnB>
                      <a:noFill/>
                    </a:lnB>
                  </a:tcPr>
                </a:tc>
                <a:tc>
                  <a:txBody>
                    <a:bodyPr/>
                    <a:lstStyle/>
                    <a:p>
                      <a:r>
                        <a:rPr lang="ru-RU" sz="1200"/>
                        <a:t>2,75</a:t>
                      </a:r>
                    </a:p>
                  </a:txBody>
                  <a:tcPr marL="6398" marR="6398" marT="6398" marB="6398" anchor="b">
                    <a:lnL>
                      <a:noFill/>
                    </a:lnL>
                    <a:lnR>
                      <a:noFill/>
                    </a:lnR>
                    <a:lnT>
                      <a:noFill/>
                    </a:lnT>
                    <a:lnB>
                      <a:noFill/>
                    </a:lnB>
                  </a:tcPr>
                </a:tc>
                <a:tc>
                  <a:txBody>
                    <a:bodyPr/>
                    <a:lstStyle/>
                    <a:p>
                      <a:r>
                        <a:rPr lang="ru-RU" sz="1200"/>
                        <a:t>3,39</a:t>
                      </a:r>
                    </a:p>
                  </a:txBody>
                  <a:tcPr marL="6398" marR="6398" marT="6398" marB="6398" anchor="b">
                    <a:lnL>
                      <a:noFill/>
                    </a:lnL>
                    <a:lnR>
                      <a:noFill/>
                    </a:lnR>
                    <a:lnT>
                      <a:noFill/>
                    </a:lnT>
                    <a:lnB>
                      <a:noFill/>
                    </a:lnB>
                  </a:tcPr>
                </a:tc>
                <a:tc>
                  <a:txBody>
                    <a:bodyPr/>
                    <a:lstStyle/>
                    <a:p>
                      <a:r>
                        <a:rPr lang="ru-RU" sz="1200" dirty="0"/>
                        <a:t>3,65</a:t>
                      </a:r>
                    </a:p>
                  </a:txBody>
                  <a:tcPr marL="6398" marR="6398" marT="6398" marB="6398" anchor="b">
                    <a:lnL>
                      <a:noFill/>
                    </a:lnL>
                    <a:lnR>
                      <a:noFill/>
                    </a:lnR>
                    <a:lnT>
                      <a:noFill/>
                    </a:lnT>
                    <a:lnB>
                      <a:noFill/>
                    </a:lnB>
                  </a:tcPr>
                </a:tc>
                <a:extLst>
                  <a:ext uri="{0D108BD9-81ED-4DB2-BD59-A6C34878D82A}">
                    <a16:rowId xmlns:a16="http://schemas.microsoft.com/office/drawing/2014/main" val="10031"/>
                  </a:ext>
                </a:extLst>
              </a:tr>
              <a:tr h="143600">
                <a:tc>
                  <a:txBody>
                    <a:bodyPr/>
                    <a:lstStyle/>
                    <a:p>
                      <a:r>
                        <a:rPr lang="ru-RU" sz="1200" b="1">
                          <a:solidFill>
                            <a:srgbClr val="FFFFFF"/>
                          </a:solidFill>
                        </a:rPr>
                        <a:t>40</a:t>
                      </a:r>
                    </a:p>
                  </a:txBody>
                  <a:tcPr marL="6398" marR="6398" marT="6398" marB="6398">
                    <a:lnL>
                      <a:noFill/>
                    </a:lnL>
                    <a:lnR>
                      <a:noFill/>
                    </a:lnR>
                    <a:lnT>
                      <a:noFill/>
                    </a:lnT>
                    <a:lnB>
                      <a:noFill/>
                    </a:lnB>
                  </a:tcPr>
                </a:tc>
                <a:tc>
                  <a:txBody>
                    <a:bodyPr/>
                    <a:lstStyle/>
                    <a:p>
                      <a:r>
                        <a:rPr lang="ru-RU" sz="1200"/>
                        <a:t>1,68</a:t>
                      </a:r>
                    </a:p>
                  </a:txBody>
                  <a:tcPr marL="6398" marR="6398" marT="6398" marB="6398" anchor="b">
                    <a:lnL>
                      <a:noFill/>
                    </a:lnL>
                    <a:lnR>
                      <a:noFill/>
                    </a:lnR>
                    <a:lnT>
                      <a:noFill/>
                    </a:lnT>
                    <a:lnB>
                      <a:noFill/>
                    </a:lnB>
                  </a:tcPr>
                </a:tc>
                <a:tc>
                  <a:txBody>
                    <a:bodyPr/>
                    <a:lstStyle/>
                    <a:p>
                      <a:r>
                        <a:rPr lang="ru-RU" sz="1200"/>
                        <a:t>2,02</a:t>
                      </a:r>
                    </a:p>
                  </a:txBody>
                  <a:tcPr marL="6398" marR="6398" marT="6398" marB="6398" anchor="b">
                    <a:lnL>
                      <a:noFill/>
                    </a:lnL>
                    <a:lnR>
                      <a:noFill/>
                    </a:lnR>
                    <a:lnT>
                      <a:noFill/>
                    </a:lnT>
                    <a:lnB>
                      <a:noFill/>
                    </a:lnB>
                  </a:tcPr>
                </a:tc>
                <a:tc>
                  <a:txBody>
                    <a:bodyPr/>
                    <a:lstStyle/>
                    <a:p>
                      <a:r>
                        <a:rPr lang="ru-RU" sz="1200"/>
                        <a:t>2,42</a:t>
                      </a:r>
                    </a:p>
                  </a:txBody>
                  <a:tcPr marL="6398" marR="6398" marT="6398" marB="6398" anchor="b">
                    <a:lnL>
                      <a:noFill/>
                    </a:lnL>
                    <a:lnR>
                      <a:noFill/>
                    </a:lnR>
                    <a:lnT>
                      <a:noFill/>
                    </a:lnT>
                    <a:lnB>
                      <a:noFill/>
                    </a:lnB>
                  </a:tcPr>
                </a:tc>
                <a:tc>
                  <a:txBody>
                    <a:bodyPr/>
                    <a:lstStyle/>
                    <a:p>
                      <a:r>
                        <a:rPr lang="ru-RU" sz="1200"/>
                        <a:t>2,70</a:t>
                      </a:r>
                    </a:p>
                  </a:txBody>
                  <a:tcPr marL="6398" marR="6398" marT="6398" marB="6398" anchor="b">
                    <a:lnL>
                      <a:noFill/>
                    </a:lnL>
                    <a:lnR>
                      <a:noFill/>
                    </a:lnR>
                    <a:lnT>
                      <a:noFill/>
                    </a:lnT>
                    <a:lnB>
                      <a:noFill/>
                    </a:lnB>
                  </a:tcPr>
                </a:tc>
                <a:tc>
                  <a:txBody>
                    <a:bodyPr/>
                    <a:lstStyle/>
                    <a:p>
                      <a:r>
                        <a:rPr lang="ru-RU" sz="1200"/>
                        <a:t>3,31</a:t>
                      </a:r>
                    </a:p>
                  </a:txBody>
                  <a:tcPr marL="6398" marR="6398" marT="6398" marB="6398" anchor="b">
                    <a:lnL>
                      <a:noFill/>
                    </a:lnL>
                    <a:lnR>
                      <a:noFill/>
                    </a:lnR>
                    <a:lnT>
                      <a:noFill/>
                    </a:lnT>
                    <a:lnB>
                      <a:noFill/>
                    </a:lnB>
                  </a:tcPr>
                </a:tc>
                <a:tc>
                  <a:txBody>
                    <a:bodyPr/>
                    <a:lstStyle/>
                    <a:p>
                      <a:r>
                        <a:rPr lang="ru-RU" sz="1200" dirty="0"/>
                        <a:t>3,55</a:t>
                      </a:r>
                    </a:p>
                  </a:txBody>
                  <a:tcPr marL="6398" marR="6398" marT="6398" marB="6398" anchor="b">
                    <a:lnL>
                      <a:noFill/>
                    </a:lnL>
                    <a:lnR>
                      <a:noFill/>
                    </a:lnR>
                    <a:lnT>
                      <a:noFill/>
                    </a:lnT>
                    <a:lnB>
                      <a:noFill/>
                    </a:lnB>
                  </a:tcPr>
                </a:tc>
                <a:extLst>
                  <a:ext uri="{0D108BD9-81ED-4DB2-BD59-A6C34878D82A}">
                    <a16:rowId xmlns:a16="http://schemas.microsoft.com/office/drawing/2014/main" val="10032"/>
                  </a:ext>
                </a:extLst>
              </a:tr>
              <a:tr h="143600">
                <a:tc>
                  <a:txBody>
                    <a:bodyPr/>
                    <a:lstStyle/>
                    <a:p>
                      <a:r>
                        <a:rPr lang="ru-RU" sz="1200" b="1">
                          <a:solidFill>
                            <a:srgbClr val="FFFFFF"/>
                          </a:solidFill>
                        </a:rPr>
                        <a:t>60</a:t>
                      </a:r>
                    </a:p>
                  </a:txBody>
                  <a:tcPr marL="6398" marR="6398" marT="6398" marB="6398">
                    <a:lnL>
                      <a:noFill/>
                    </a:lnL>
                    <a:lnR>
                      <a:noFill/>
                    </a:lnR>
                    <a:lnT>
                      <a:noFill/>
                    </a:lnT>
                    <a:lnB>
                      <a:noFill/>
                    </a:lnB>
                  </a:tcPr>
                </a:tc>
                <a:tc>
                  <a:txBody>
                    <a:bodyPr/>
                    <a:lstStyle/>
                    <a:p>
                      <a:r>
                        <a:rPr lang="ru-RU" sz="1200"/>
                        <a:t>1,67</a:t>
                      </a:r>
                    </a:p>
                  </a:txBody>
                  <a:tcPr marL="6398" marR="6398" marT="6398" marB="6398" anchor="b">
                    <a:lnL>
                      <a:noFill/>
                    </a:lnL>
                    <a:lnR>
                      <a:noFill/>
                    </a:lnR>
                    <a:lnT>
                      <a:noFill/>
                    </a:lnT>
                    <a:lnB>
                      <a:noFill/>
                    </a:lnB>
                  </a:tcPr>
                </a:tc>
                <a:tc>
                  <a:txBody>
                    <a:bodyPr/>
                    <a:lstStyle/>
                    <a:p>
                      <a:r>
                        <a:rPr lang="ru-RU" sz="1200"/>
                        <a:t>2,00</a:t>
                      </a:r>
                    </a:p>
                  </a:txBody>
                  <a:tcPr marL="6398" marR="6398" marT="6398" marB="6398" anchor="b">
                    <a:lnL>
                      <a:noFill/>
                    </a:lnL>
                    <a:lnR>
                      <a:noFill/>
                    </a:lnR>
                    <a:lnT>
                      <a:noFill/>
                    </a:lnT>
                    <a:lnB>
                      <a:noFill/>
                    </a:lnB>
                  </a:tcPr>
                </a:tc>
                <a:tc>
                  <a:txBody>
                    <a:bodyPr/>
                    <a:lstStyle/>
                    <a:p>
                      <a:r>
                        <a:rPr lang="ru-RU" sz="1200"/>
                        <a:t>2,39</a:t>
                      </a:r>
                    </a:p>
                  </a:txBody>
                  <a:tcPr marL="6398" marR="6398" marT="6398" marB="6398" anchor="b">
                    <a:lnL>
                      <a:noFill/>
                    </a:lnL>
                    <a:lnR>
                      <a:noFill/>
                    </a:lnR>
                    <a:lnT>
                      <a:noFill/>
                    </a:lnT>
                    <a:lnB>
                      <a:noFill/>
                    </a:lnB>
                  </a:tcPr>
                </a:tc>
                <a:tc>
                  <a:txBody>
                    <a:bodyPr/>
                    <a:lstStyle/>
                    <a:p>
                      <a:r>
                        <a:rPr lang="ru-RU" sz="1200"/>
                        <a:t>2,66</a:t>
                      </a:r>
                    </a:p>
                  </a:txBody>
                  <a:tcPr marL="6398" marR="6398" marT="6398" marB="6398" anchor="b">
                    <a:lnL>
                      <a:noFill/>
                    </a:lnL>
                    <a:lnR>
                      <a:noFill/>
                    </a:lnR>
                    <a:lnT>
                      <a:noFill/>
                    </a:lnT>
                    <a:lnB>
                      <a:noFill/>
                    </a:lnB>
                  </a:tcPr>
                </a:tc>
                <a:tc>
                  <a:txBody>
                    <a:bodyPr/>
                    <a:lstStyle/>
                    <a:p>
                      <a:r>
                        <a:rPr lang="ru-RU" sz="1200" dirty="0"/>
                        <a:t>3,23</a:t>
                      </a:r>
                    </a:p>
                  </a:txBody>
                  <a:tcPr marL="6398" marR="6398" marT="6398" marB="6398" anchor="b">
                    <a:lnL>
                      <a:noFill/>
                    </a:lnL>
                    <a:lnR>
                      <a:noFill/>
                    </a:lnR>
                    <a:lnT>
                      <a:noFill/>
                    </a:lnT>
                    <a:lnB>
                      <a:noFill/>
                    </a:lnB>
                  </a:tcPr>
                </a:tc>
                <a:tc>
                  <a:txBody>
                    <a:bodyPr/>
                    <a:lstStyle/>
                    <a:p>
                      <a:r>
                        <a:rPr lang="ru-RU" sz="1200" dirty="0"/>
                        <a:t>3,46</a:t>
                      </a:r>
                    </a:p>
                  </a:txBody>
                  <a:tcPr marL="6398" marR="6398" marT="6398" marB="6398" anchor="b">
                    <a:lnL>
                      <a:noFill/>
                    </a:lnL>
                    <a:lnR>
                      <a:noFill/>
                    </a:lnR>
                    <a:lnT>
                      <a:noFill/>
                    </a:lnT>
                    <a:lnB>
                      <a:noFill/>
                    </a:lnB>
                  </a:tcPr>
                </a:tc>
                <a:extLst>
                  <a:ext uri="{0D108BD9-81ED-4DB2-BD59-A6C34878D82A}">
                    <a16:rowId xmlns:a16="http://schemas.microsoft.com/office/drawing/2014/main" val="10033"/>
                  </a:ext>
                </a:extLst>
              </a:tr>
              <a:tr h="143600">
                <a:tc>
                  <a:txBody>
                    <a:bodyPr/>
                    <a:lstStyle/>
                    <a:p>
                      <a:r>
                        <a:rPr lang="ru-RU" sz="1200" b="1">
                          <a:solidFill>
                            <a:srgbClr val="FFFFFF"/>
                          </a:solidFill>
                        </a:rPr>
                        <a:t>120</a:t>
                      </a:r>
                    </a:p>
                  </a:txBody>
                  <a:tcPr marL="6398" marR="6398" marT="6398" marB="6398">
                    <a:lnL>
                      <a:noFill/>
                    </a:lnL>
                    <a:lnR>
                      <a:noFill/>
                    </a:lnR>
                    <a:lnT>
                      <a:noFill/>
                    </a:lnT>
                    <a:lnB>
                      <a:noFill/>
                    </a:lnB>
                  </a:tcPr>
                </a:tc>
                <a:tc>
                  <a:txBody>
                    <a:bodyPr/>
                    <a:lstStyle/>
                    <a:p>
                      <a:r>
                        <a:rPr lang="ru-RU" sz="1200"/>
                        <a:t>1,66</a:t>
                      </a:r>
                    </a:p>
                  </a:txBody>
                  <a:tcPr marL="6398" marR="6398" marT="6398" marB="6398" anchor="b">
                    <a:lnL>
                      <a:noFill/>
                    </a:lnL>
                    <a:lnR>
                      <a:noFill/>
                    </a:lnR>
                    <a:lnT>
                      <a:noFill/>
                    </a:lnT>
                    <a:lnB>
                      <a:noFill/>
                    </a:lnB>
                  </a:tcPr>
                </a:tc>
                <a:tc>
                  <a:txBody>
                    <a:bodyPr/>
                    <a:lstStyle/>
                    <a:p>
                      <a:r>
                        <a:rPr lang="ru-RU" sz="1200"/>
                        <a:t>1,98</a:t>
                      </a:r>
                    </a:p>
                  </a:txBody>
                  <a:tcPr marL="6398" marR="6398" marT="6398" marB="6398" anchor="b">
                    <a:lnL>
                      <a:noFill/>
                    </a:lnL>
                    <a:lnR>
                      <a:noFill/>
                    </a:lnR>
                    <a:lnT>
                      <a:noFill/>
                    </a:lnT>
                    <a:lnB>
                      <a:noFill/>
                    </a:lnB>
                  </a:tcPr>
                </a:tc>
                <a:tc>
                  <a:txBody>
                    <a:bodyPr/>
                    <a:lstStyle/>
                    <a:p>
                      <a:r>
                        <a:rPr lang="ru-RU" sz="1200"/>
                        <a:t>2,36</a:t>
                      </a:r>
                    </a:p>
                  </a:txBody>
                  <a:tcPr marL="6398" marR="6398" marT="6398" marB="6398" anchor="b">
                    <a:lnL>
                      <a:noFill/>
                    </a:lnL>
                    <a:lnR>
                      <a:noFill/>
                    </a:lnR>
                    <a:lnT>
                      <a:noFill/>
                    </a:lnT>
                    <a:lnB>
                      <a:noFill/>
                    </a:lnB>
                  </a:tcPr>
                </a:tc>
                <a:tc>
                  <a:txBody>
                    <a:bodyPr/>
                    <a:lstStyle/>
                    <a:p>
                      <a:r>
                        <a:rPr lang="ru-RU" sz="1200"/>
                        <a:t>2,62</a:t>
                      </a:r>
                    </a:p>
                  </a:txBody>
                  <a:tcPr marL="6398" marR="6398" marT="6398" marB="6398" anchor="b">
                    <a:lnL>
                      <a:noFill/>
                    </a:lnL>
                    <a:lnR>
                      <a:noFill/>
                    </a:lnR>
                    <a:lnT>
                      <a:noFill/>
                    </a:lnT>
                    <a:lnB>
                      <a:noFill/>
                    </a:lnB>
                  </a:tcPr>
                </a:tc>
                <a:tc>
                  <a:txBody>
                    <a:bodyPr/>
                    <a:lstStyle/>
                    <a:p>
                      <a:r>
                        <a:rPr lang="ru-RU" sz="1200" dirty="0"/>
                        <a:t>3,17</a:t>
                      </a:r>
                    </a:p>
                  </a:txBody>
                  <a:tcPr marL="6398" marR="6398" marT="6398" marB="6398" anchor="b">
                    <a:lnL>
                      <a:noFill/>
                    </a:lnL>
                    <a:lnR>
                      <a:noFill/>
                    </a:lnR>
                    <a:lnT>
                      <a:noFill/>
                    </a:lnT>
                    <a:lnB>
                      <a:noFill/>
                    </a:lnB>
                  </a:tcPr>
                </a:tc>
                <a:tc>
                  <a:txBody>
                    <a:bodyPr/>
                    <a:lstStyle/>
                    <a:p>
                      <a:r>
                        <a:rPr lang="ru-RU" sz="1200" dirty="0">
                          <a:solidFill>
                            <a:srgbClr val="FFFFFF"/>
                          </a:solidFill>
                        </a:rPr>
                        <a:t>3,37</a:t>
                      </a:r>
                    </a:p>
                  </a:txBody>
                  <a:tcPr marL="6398" marR="6398" marT="6398" marB="6398" anchor="b">
                    <a:lnL>
                      <a:noFill/>
                    </a:lnL>
                    <a:lnR>
                      <a:noFill/>
                    </a:lnR>
                    <a:lnT>
                      <a:noFill/>
                    </a:lnT>
                    <a:lnB>
                      <a:noFill/>
                    </a:lnB>
                    <a:solidFill>
                      <a:srgbClr val="1C8CD7"/>
                    </a:solidFill>
                  </a:tcPr>
                </a:tc>
                <a:extLst>
                  <a:ext uri="{0D108BD9-81ED-4DB2-BD59-A6C34878D82A}">
                    <a16:rowId xmlns:a16="http://schemas.microsoft.com/office/drawing/2014/main" val="10034"/>
                  </a:ext>
                </a:extLst>
              </a:tr>
            </a:tbl>
          </a:graphicData>
        </a:graphic>
      </p:graphicFrame>
      <p:sp>
        <p:nvSpPr>
          <p:cNvPr id="4" name="Номер слайда 3"/>
          <p:cNvSpPr>
            <a:spLocks noGrp="1"/>
          </p:cNvSpPr>
          <p:nvPr>
            <p:ph type="sldNum" sz="quarter" idx="12"/>
          </p:nvPr>
        </p:nvSpPr>
        <p:spPr/>
        <p:txBody>
          <a:bodyPr/>
          <a:lstStyle/>
          <a:p>
            <a:fld id="{0CC3DD56-44D6-4410-A1D4-F947CD7B8BFD}" type="slidenum">
              <a:rPr lang="ru-RU" smtClean="0"/>
              <a:pPr/>
              <a:t>33</a:t>
            </a:fld>
            <a:endParaRPr lang="ru-RU"/>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ru-RU" sz="3200" dirty="0"/>
              <a:t>Таблица значений распределения</a:t>
            </a:r>
            <a:br>
              <a:rPr lang="ru-RU" sz="3200" dirty="0"/>
            </a:br>
            <a:r>
              <a:rPr lang="ru-RU" sz="3200" dirty="0"/>
              <a:t> </a:t>
            </a:r>
            <a:r>
              <a:rPr lang="ru-RU" sz="3200" dirty="0" err="1"/>
              <a:t>Хи-квадрат</a:t>
            </a:r>
            <a:r>
              <a:rPr lang="ru-RU" sz="3200"/>
              <a:t> (</a:t>
            </a:r>
            <a:r>
              <a:rPr lang="ru-RU" sz="3200" dirty="0"/>
              <a:t>Пирсона)</a:t>
            </a:r>
          </a:p>
        </p:txBody>
      </p:sp>
      <p:graphicFrame>
        <p:nvGraphicFramePr>
          <p:cNvPr id="6" name="Содержимое 5"/>
          <p:cNvGraphicFramePr>
            <a:graphicFrameLocks noGrp="1"/>
          </p:cNvGraphicFramePr>
          <p:nvPr>
            <p:ph idx="1"/>
          </p:nvPr>
        </p:nvGraphicFramePr>
        <p:xfrm>
          <a:off x="500035" y="1646079"/>
          <a:ext cx="8286810" cy="4526261"/>
        </p:xfrm>
        <a:graphic>
          <a:graphicData uri="http://schemas.openxmlformats.org/drawingml/2006/table">
            <a:tbl>
              <a:tblPr/>
              <a:tblGrid>
                <a:gridCol w="1037704">
                  <a:extLst>
                    <a:ext uri="{9D8B030D-6E8A-4147-A177-3AD203B41FA5}">
                      <a16:colId xmlns:a16="http://schemas.microsoft.com/office/drawing/2014/main" val="20000"/>
                    </a:ext>
                  </a:extLst>
                </a:gridCol>
                <a:gridCol w="1037704">
                  <a:extLst>
                    <a:ext uri="{9D8B030D-6E8A-4147-A177-3AD203B41FA5}">
                      <a16:colId xmlns:a16="http://schemas.microsoft.com/office/drawing/2014/main" val="20001"/>
                    </a:ext>
                  </a:extLst>
                </a:gridCol>
                <a:gridCol w="1037704">
                  <a:extLst>
                    <a:ext uri="{9D8B030D-6E8A-4147-A177-3AD203B41FA5}">
                      <a16:colId xmlns:a16="http://schemas.microsoft.com/office/drawing/2014/main" val="20002"/>
                    </a:ext>
                  </a:extLst>
                </a:gridCol>
                <a:gridCol w="1037704">
                  <a:extLst>
                    <a:ext uri="{9D8B030D-6E8A-4147-A177-3AD203B41FA5}">
                      <a16:colId xmlns:a16="http://schemas.microsoft.com/office/drawing/2014/main" val="20003"/>
                    </a:ext>
                  </a:extLst>
                </a:gridCol>
                <a:gridCol w="1037704">
                  <a:extLst>
                    <a:ext uri="{9D8B030D-6E8A-4147-A177-3AD203B41FA5}">
                      <a16:colId xmlns:a16="http://schemas.microsoft.com/office/drawing/2014/main" val="20004"/>
                    </a:ext>
                  </a:extLst>
                </a:gridCol>
                <a:gridCol w="1037704">
                  <a:extLst>
                    <a:ext uri="{9D8B030D-6E8A-4147-A177-3AD203B41FA5}">
                      <a16:colId xmlns:a16="http://schemas.microsoft.com/office/drawing/2014/main" val="20005"/>
                    </a:ext>
                  </a:extLst>
                </a:gridCol>
                <a:gridCol w="1037704">
                  <a:extLst>
                    <a:ext uri="{9D8B030D-6E8A-4147-A177-3AD203B41FA5}">
                      <a16:colId xmlns:a16="http://schemas.microsoft.com/office/drawing/2014/main" val="20006"/>
                    </a:ext>
                  </a:extLst>
                </a:gridCol>
                <a:gridCol w="1022882">
                  <a:extLst>
                    <a:ext uri="{9D8B030D-6E8A-4147-A177-3AD203B41FA5}">
                      <a16:colId xmlns:a16="http://schemas.microsoft.com/office/drawing/2014/main" val="20007"/>
                    </a:ext>
                  </a:extLst>
                </a:gridCol>
              </a:tblGrid>
              <a:tr h="137150">
                <a:tc rowSpan="2">
                  <a:txBody>
                    <a:bodyPr/>
                    <a:lstStyle/>
                    <a:p>
                      <a:pPr algn="ctr"/>
                      <a:r>
                        <a:rPr lang="en-US" sz="900" dirty="0">
                          <a:solidFill>
                            <a:srgbClr val="FF0000"/>
                          </a:solidFill>
                          <a:latin typeface="times new roman"/>
                        </a:rPr>
                        <a:t>k</a:t>
                      </a:r>
                      <a:endParaRPr lang="en-US" sz="900" dirty="0">
                        <a:solidFill>
                          <a:srgbClr val="FF0000"/>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635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gridSpan="7">
                  <a:txBody>
                    <a:bodyPr/>
                    <a:lstStyle/>
                    <a:p>
                      <a:pPr algn="ctr"/>
                      <a:r>
                        <a:rPr lang="ru-RU" sz="900" b="0" i="0" dirty="0">
                          <a:solidFill>
                            <a:srgbClr val="FF0000"/>
                          </a:solidFill>
                          <a:latin typeface="MJXc-TeX-main-R"/>
                        </a:rPr>
                        <a:t>Уровень</a:t>
                      </a:r>
                      <a:r>
                        <a:rPr lang="ru-RU" sz="900" b="0" i="0" baseline="0" dirty="0">
                          <a:solidFill>
                            <a:srgbClr val="FF0000"/>
                          </a:solidFill>
                          <a:latin typeface="MJXc-TeX-main-R"/>
                        </a:rPr>
                        <a:t> доверия</a:t>
                      </a:r>
                      <a:endParaRPr lang="el-GR" sz="900" dirty="0">
                        <a:solidFill>
                          <a:srgbClr val="FF0000"/>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635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tc hMerge="1">
                  <a:txBody>
                    <a:bodyPr/>
                    <a:lstStyle/>
                    <a:p>
                      <a:endParaRPr lang="ru-RU"/>
                    </a:p>
                  </a:txBody>
                  <a:tcPr/>
                </a:tc>
                <a:extLst>
                  <a:ext uri="{0D108BD9-81ED-4DB2-BD59-A6C34878D82A}">
                    <a16:rowId xmlns:a16="http://schemas.microsoft.com/office/drawing/2014/main" val="10000"/>
                  </a:ext>
                </a:extLst>
              </a:tr>
              <a:tr h="274301">
                <a:tc vMerge="1">
                  <a:txBody>
                    <a:bodyPr/>
                    <a:lstStyle/>
                    <a:p>
                      <a:endParaRPr lang="ru-RU"/>
                    </a:p>
                  </a:txBody>
                  <a:tcPr/>
                </a:tc>
                <a:tc>
                  <a:txBody>
                    <a:bodyPr/>
                    <a:lstStyle/>
                    <a:p>
                      <a:pPr algn="ctr"/>
                      <a:r>
                        <a:rPr lang="ru-RU" sz="900" b="1" dirty="0">
                          <a:solidFill>
                            <a:schemeClr val="bg2"/>
                          </a:solidFill>
                          <a:latin typeface="times new roman"/>
                        </a:rPr>
                        <a:t>0,75</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dirty="0">
                          <a:solidFill>
                            <a:schemeClr val="bg2"/>
                          </a:solidFill>
                          <a:latin typeface="times new roman"/>
                        </a:rPr>
                        <a:t>0,9</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dirty="0">
                          <a:solidFill>
                            <a:schemeClr val="bg2"/>
                          </a:solidFill>
                          <a:latin typeface="times new roman"/>
                        </a:rPr>
                        <a:t>0,95</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dirty="0">
                          <a:solidFill>
                            <a:schemeClr val="bg2"/>
                          </a:solidFill>
                          <a:latin typeface="times new roman"/>
                        </a:rPr>
                        <a:t>0,975</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dirty="0">
                          <a:solidFill>
                            <a:schemeClr val="bg2"/>
                          </a:solidFill>
                          <a:latin typeface="times new roman"/>
                        </a:rPr>
                        <a:t>0,99</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dirty="0">
                          <a:solidFill>
                            <a:schemeClr val="bg2"/>
                          </a:solidFill>
                          <a:latin typeface="times new roman"/>
                        </a:rPr>
                        <a:t>0,995</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dirty="0">
                          <a:solidFill>
                            <a:schemeClr val="bg2"/>
                          </a:solidFill>
                          <a:latin typeface="times new roman"/>
                        </a:rPr>
                        <a:t>0,999</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extLst>
                  <a:ext uri="{0D108BD9-81ED-4DB2-BD59-A6C34878D82A}">
                    <a16:rowId xmlns:a16="http://schemas.microsoft.com/office/drawing/2014/main" val="10001"/>
                  </a:ext>
                </a:extLst>
              </a:tr>
              <a:tr h="137150">
                <a:tc>
                  <a:txBody>
                    <a:bodyPr/>
                    <a:lstStyle/>
                    <a:p>
                      <a:pPr algn="ctr"/>
                      <a:r>
                        <a:rPr lang="ru-RU" sz="900" b="1">
                          <a:solidFill>
                            <a:schemeClr val="bg2"/>
                          </a:solidFill>
                          <a:latin typeface="times new roman"/>
                        </a:rPr>
                        <a:t>1</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1,32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2,71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3,84</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5,02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6,63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7,88</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10,8</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02"/>
                  </a:ext>
                </a:extLst>
              </a:tr>
              <a:tr h="137150">
                <a:tc>
                  <a:txBody>
                    <a:bodyPr/>
                    <a:lstStyle/>
                    <a:p>
                      <a:pPr algn="ctr"/>
                      <a:r>
                        <a:rPr lang="ru-RU" sz="900" b="1">
                          <a:solidFill>
                            <a:schemeClr val="bg2"/>
                          </a:solidFill>
                          <a:latin typeface="times new roman"/>
                        </a:rPr>
                        <a:t>2</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2,77</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4,61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5,99</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7,38</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9,21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10,6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13,8</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03"/>
                  </a:ext>
                </a:extLst>
              </a:tr>
              <a:tr h="137150">
                <a:tc>
                  <a:txBody>
                    <a:bodyPr/>
                    <a:lstStyle/>
                    <a:p>
                      <a:pPr algn="ctr"/>
                      <a:r>
                        <a:rPr lang="ru-RU" sz="900" b="1">
                          <a:solidFill>
                            <a:schemeClr val="bg2"/>
                          </a:solidFill>
                          <a:latin typeface="times new roman"/>
                        </a:rPr>
                        <a:t>3</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4,11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6,25</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7,81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9,35</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11,3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12,8</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16,3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04"/>
                  </a:ext>
                </a:extLst>
              </a:tr>
              <a:tr h="137150">
                <a:tc>
                  <a:txBody>
                    <a:bodyPr/>
                    <a:lstStyle/>
                    <a:p>
                      <a:pPr algn="ctr"/>
                      <a:r>
                        <a:rPr lang="ru-RU" sz="900" b="1">
                          <a:solidFill>
                            <a:schemeClr val="bg2"/>
                          </a:solidFill>
                          <a:latin typeface="times new roman"/>
                        </a:rPr>
                        <a:t>4</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5,39</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7,78</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9,49</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11,1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13,3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14,9</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18,5</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05"/>
                  </a:ext>
                </a:extLst>
              </a:tr>
              <a:tr h="137150">
                <a:tc>
                  <a:txBody>
                    <a:bodyPr/>
                    <a:lstStyle/>
                    <a:p>
                      <a:pPr algn="ctr"/>
                      <a:r>
                        <a:rPr lang="ru-RU" sz="900" b="1">
                          <a:solidFill>
                            <a:schemeClr val="bg2"/>
                          </a:solidFill>
                          <a:latin typeface="times new roman"/>
                        </a:rPr>
                        <a:t>5</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6,63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9,24</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11,1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12,8</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15,1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16,7</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20,5</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06"/>
                  </a:ext>
                </a:extLst>
              </a:tr>
              <a:tr h="137150">
                <a:tc>
                  <a:txBody>
                    <a:bodyPr/>
                    <a:lstStyle/>
                    <a:p>
                      <a:pPr algn="ctr"/>
                      <a:r>
                        <a:rPr lang="ru-RU" sz="900" b="1">
                          <a:solidFill>
                            <a:schemeClr val="bg2"/>
                          </a:solidFill>
                          <a:latin typeface="times new roman"/>
                        </a:rPr>
                        <a:t>6</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7,84</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10,6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12,6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14,4</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16,8</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18,5</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22,5</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07"/>
                  </a:ext>
                </a:extLst>
              </a:tr>
              <a:tr h="137150">
                <a:tc>
                  <a:txBody>
                    <a:bodyPr/>
                    <a:lstStyle/>
                    <a:p>
                      <a:pPr algn="ctr"/>
                      <a:r>
                        <a:rPr lang="ru-RU" sz="900" b="1">
                          <a:solidFill>
                            <a:schemeClr val="bg2"/>
                          </a:solidFill>
                          <a:latin typeface="times new roman"/>
                        </a:rPr>
                        <a:t>7</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9,04</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14,1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18,5</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20,3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24,3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08"/>
                  </a:ext>
                </a:extLst>
              </a:tr>
              <a:tr h="137150">
                <a:tc>
                  <a:txBody>
                    <a:bodyPr/>
                    <a:lstStyle/>
                    <a:p>
                      <a:pPr algn="ctr"/>
                      <a:r>
                        <a:rPr lang="ru-RU" sz="900" b="1">
                          <a:solidFill>
                            <a:schemeClr val="bg2"/>
                          </a:solidFill>
                          <a:latin typeface="times new roman"/>
                        </a:rPr>
                        <a:t>8</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10,2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13,4</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15,5</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17,5</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20,1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26,1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09"/>
                  </a:ext>
                </a:extLst>
              </a:tr>
              <a:tr h="137150">
                <a:tc>
                  <a:txBody>
                    <a:bodyPr/>
                    <a:lstStyle/>
                    <a:p>
                      <a:pPr algn="ctr"/>
                      <a:r>
                        <a:rPr lang="ru-RU" sz="900" b="1">
                          <a:solidFill>
                            <a:schemeClr val="bg2"/>
                          </a:solidFill>
                          <a:latin typeface="times new roman"/>
                        </a:rPr>
                        <a:t>9</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11,4</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14,7</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16,9</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19</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21,7</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23,6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27,9</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10"/>
                  </a:ext>
                </a:extLst>
              </a:tr>
              <a:tr h="137150">
                <a:tc>
                  <a:txBody>
                    <a:bodyPr/>
                    <a:lstStyle/>
                    <a:p>
                      <a:pPr algn="ctr"/>
                      <a:r>
                        <a:rPr lang="ru-RU" sz="900" b="1">
                          <a:solidFill>
                            <a:schemeClr val="bg2"/>
                          </a:solidFill>
                          <a:latin typeface="times new roman"/>
                        </a:rPr>
                        <a:t>10</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12,5</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18,3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20,5</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23,2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25,2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29,6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11"/>
                  </a:ext>
                </a:extLst>
              </a:tr>
              <a:tr h="137150">
                <a:tc>
                  <a:txBody>
                    <a:bodyPr/>
                    <a:lstStyle/>
                    <a:p>
                      <a:pPr algn="ctr"/>
                      <a:r>
                        <a:rPr lang="ru-RU" sz="900" b="1">
                          <a:solidFill>
                            <a:schemeClr val="bg2"/>
                          </a:solidFill>
                          <a:latin typeface="times new roman"/>
                        </a:rPr>
                        <a:t>11</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13,7</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17,3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19,7</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21,9</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24,7</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26,8</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31,3</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12"/>
                  </a:ext>
                </a:extLst>
              </a:tr>
              <a:tr h="137150">
                <a:tc>
                  <a:txBody>
                    <a:bodyPr/>
                    <a:lstStyle/>
                    <a:p>
                      <a:pPr algn="ctr"/>
                      <a:r>
                        <a:rPr lang="ru-RU" sz="900" b="1">
                          <a:solidFill>
                            <a:schemeClr val="bg2"/>
                          </a:solidFill>
                          <a:latin typeface="times new roman"/>
                        </a:rPr>
                        <a:t>12</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14,8</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18,5</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23,3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26,2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28,3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32,9</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13"/>
                  </a:ext>
                </a:extLst>
              </a:tr>
              <a:tr h="137150">
                <a:tc>
                  <a:txBody>
                    <a:bodyPr/>
                    <a:lstStyle/>
                    <a:p>
                      <a:pPr algn="ctr"/>
                      <a:r>
                        <a:rPr lang="ru-RU" sz="900" b="1">
                          <a:solidFill>
                            <a:schemeClr val="bg2"/>
                          </a:solidFill>
                          <a:latin typeface="times new roman"/>
                        </a:rPr>
                        <a:t>13</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16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19,8</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22,4</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24,7</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27,7</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29,8</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34,5</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14"/>
                  </a:ext>
                </a:extLst>
              </a:tr>
              <a:tr h="137150">
                <a:tc>
                  <a:txBody>
                    <a:bodyPr/>
                    <a:lstStyle/>
                    <a:p>
                      <a:pPr algn="ctr"/>
                      <a:r>
                        <a:rPr lang="ru-RU" sz="900" b="1">
                          <a:solidFill>
                            <a:schemeClr val="bg2"/>
                          </a:solidFill>
                          <a:latin typeface="times new roman"/>
                        </a:rPr>
                        <a:t>14</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17,1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21,1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23,7</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26,1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29,1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31,3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36,1</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15"/>
                  </a:ext>
                </a:extLst>
              </a:tr>
              <a:tr h="137150">
                <a:tc>
                  <a:txBody>
                    <a:bodyPr/>
                    <a:lstStyle/>
                    <a:p>
                      <a:pPr algn="ctr"/>
                      <a:r>
                        <a:rPr lang="ru-RU" sz="900" b="1">
                          <a:solidFill>
                            <a:schemeClr val="bg2"/>
                          </a:solidFill>
                          <a:latin typeface="times new roman"/>
                        </a:rPr>
                        <a:t>15</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18,2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22,3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25</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27,5</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30,6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32,8</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37,7</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16"/>
                  </a:ext>
                </a:extLst>
              </a:tr>
              <a:tr h="137150">
                <a:tc>
                  <a:txBody>
                    <a:bodyPr/>
                    <a:lstStyle/>
                    <a:p>
                      <a:pPr algn="ctr"/>
                      <a:r>
                        <a:rPr lang="ru-RU" sz="900" b="1">
                          <a:solidFill>
                            <a:schemeClr val="bg2"/>
                          </a:solidFill>
                          <a:latin typeface="times new roman"/>
                        </a:rPr>
                        <a:t>16</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19,4</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23,5</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26,3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28,8</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34,3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39,3</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17"/>
                  </a:ext>
                </a:extLst>
              </a:tr>
              <a:tr h="137150">
                <a:tc>
                  <a:txBody>
                    <a:bodyPr/>
                    <a:lstStyle/>
                    <a:p>
                      <a:pPr algn="ctr"/>
                      <a:r>
                        <a:rPr lang="ru-RU" sz="900" b="1">
                          <a:solidFill>
                            <a:schemeClr val="bg2"/>
                          </a:solidFill>
                          <a:latin typeface="times new roman"/>
                        </a:rPr>
                        <a:t>17</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20,5</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24,8</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27,6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30,2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33,4</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35,7</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40,8</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18"/>
                  </a:ext>
                </a:extLst>
              </a:tr>
              <a:tr h="137150">
                <a:tc>
                  <a:txBody>
                    <a:bodyPr/>
                    <a:lstStyle/>
                    <a:p>
                      <a:pPr algn="ctr"/>
                      <a:r>
                        <a:rPr lang="ru-RU" sz="900" b="1">
                          <a:solidFill>
                            <a:schemeClr val="bg2"/>
                          </a:solidFill>
                          <a:latin typeface="times new roman"/>
                        </a:rPr>
                        <a:t>18</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21,6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28,9</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31,5</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34,8</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37,2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42,3</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19"/>
                  </a:ext>
                </a:extLst>
              </a:tr>
              <a:tr h="137150">
                <a:tc>
                  <a:txBody>
                    <a:bodyPr/>
                    <a:lstStyle/>
                    <a:p>
                      <a:pPr algn="ctr"/>
                      <a:r>
                        <a:rPr lang="ru-RU" sz="900" b="1">
                          <a:solidFill>
                            <a:schemeClr val="bg2"/>
                          </a:solidFill>
                          <a:latin typeface="times new roman"/>
                        </a:rPr>
                        <a:t>19</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22,7</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27,2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30,1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32,9</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36,2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38,6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43,8</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20"/>
                  </a:ext>
                </a:extLst>
              </a:tr>
              <a:tr h="137150">
                <a:tc>
                  <a:txBody>
                    <a:bodyPr/>
                    <a:lstStyle/>
                    <a:p>
                      <a:pPr algn="ctr"/>
                      <a:r>
                        <a:rPr lang="ru-RU" sz="900" b="1">
                          <a:solidFill>
                            <a:schemeClr val="bg2"/>
                          </a:solidFill>
                          <a:latin typeface="times new roman"/>
                        </a:rPr>
                        <a:t>20</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23,8</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28,4</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31,4</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34,2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37,6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40</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45,3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21"/>
                  </a:ext>
                </a:extLst>
              </a:tr>
              <a:tr h="137150">
                <a:tc>
                  <a:txBody>
                    <a:bodyPr/>
                    <a:lstStyle/>
                    <a:p>
                      <a:pPr algn="ctr"/>
                      <a:r>
                        <a:rPr lang="ru-RU" sz="900" b="1">
                          <a:solidFill>
                            <a:schemeClr val="bg2"/>
                          </a:solidFill>
                          <a:latin typeface="times new roman"/>
                        </a:rPr>
                        <a:t>21</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24,9</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29,6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32,7</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35,5</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38,9</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41,4</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46,8</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22"/>
                  </a:ext>
                </a:extLst>
              </a:tr>
              <a:tr h="137150">
                <a:tc>
                  <a:txBody>
                    <a:bodyPr/>
                    <a:lstStyle/>
                    <a:p>
                      <a:pPr algn="ctr"/>
                      <a:r>
                        <a:rPr lang="ru-RU" sz="900" b="1">
                          <a:solidFill>
                            <a:schemeClr val="bg2"/>
                          </a:solidFill>
                          <a:latin typeface="times new roman"/>
                        </a:rPr>
                        <a:t>22</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26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30,8</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33,9</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36,8</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40,3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42,8</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48,3</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23"/>
                  </a:ext>
                </a:extLst>
              </a:tr>
              <a:tr h="137150">
                <a:tc>
                  <a:txBody>
                    <a:bodyPr/>
                    <a:lstStyle/>
                    <a:p>
                      <a:pPr algn="ctr"/>
                      <a:r>
                        <a:rPr lang="ru-RU" sz="900" b="1">
                          <a:solidFill>
                            <a:schemeClr val="bg2"/>
                          </a:solidFill>
                          <a:latin typeface="times new roman"/>
                        </a:rPr>
                        <a:t>23</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27,1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35,2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38,1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41,6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44,2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49,7</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24"/>
                  </a:ext>
                </a:extLst>
              </a:tr>
              <a:tr h="137150">
                <a:tc>
                  <a:txBody>
                    <a:bodyPr/>
                    <a:lstStyle/>
                    <a:p>
                      <a:pPr algn="ctr"/>
                      <a:r>
                        <a:rPr lang="ru-RU" sz="900" b="1">
                          <a:solidFill>
                            <a:schemeClr val="bg2"/>
                          </a:solidFill>
                          <a:latin typeface="times new roman"/>
                        </a:rPr>
                        <a:t>24</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28,2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33,2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36,4</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39,4</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45,6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51,2</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25"/>
                  </a:ext>
                </a:extLst>
              </a:tr>
              <a:tr h="137150">
                <a:tc>
                  <a:txBody>
                    <a:bodyPr/>
                    <a:lstStyle/>
                    <a:p>
                      <a:pPr algn="ctr"/>
                      <a:r>
                        <a:rPr lang="ru-RU" sz="900" b="1">
                          <a:solidFill>
                            <a:schemeClr val="bg2"/>
                          </a:solidFill>
                          <a:latin typeface="times new roman"/>
                        </a:rPr>
                        <a:t>25</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29,3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34,4</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37,7</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40,6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44,3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46,9</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52,6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26"/>
                  </a:ext>
                </a:extLst>
              </a:tr>
              <a:tr h="137150">
                <a:tc>
                  <a:txBody>
                    <a:bodyPr/>
                    <a:lstStyle/>
                    <a:p>
                      <a:pPr algn="ctr"/>
                      <a:r>
                        <a:rPr lang="ru-RU" sz="900" b="1">
                          <a:solidFill>
                            <a:schemeClr val="bg2"/>
                          </a:solidFill>
                          <a:latin typeface="times new roman"/>
                        </a:rPr>
                        <a:t>26</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30,4</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35,6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38,9</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41,9</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45,6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48,3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54,1</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27"/>
                  </a:ext>
                </a:extLst>
              </a:tr>
              <a:tr h="137150">
                <a:tc>
                  <a:txBody>
                    <a:bodyPr/>
                    <a:lstStyle/>
                    <a:p>
                      <a:pPr algn="ctr"/>
                      <a:r>
                        <a:rPr lang="ru-RU" sz="900" b="1">
                          <a:solidFill>
                            <a:schemeClr val="bg2"/>
                          </a:solidFill>
                          <a:latin typeface="times new roman"/>
                        </a:rPr>
                        <a:t>27</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31,5</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36,7</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40,1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43,2</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47</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49,6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55,5</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28"/>
                  </a:ext>
                </a:extLst>
              </a:tr>
              <a:tr h="137150">
                <a:tc>
                  <a:txBody>
                    <a:bodyPr/>
                    <a:lstStyle/>
                    <a:p>
                      <a:pPr algn="ctr"/>
                      <a:r>
                        <a:rPr lang="ru-RU" sz="900" b="1">
                          <a:solidFill>
                            <a:schemeClr val="bg2"/>
                          </a:solidFill>
                          <a:latin typeface="times new roman"/>
                        </a:rPr>
                        <a:t>28</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32,6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37,9</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41,3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44,5</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48,3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51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56,9</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29"/>
                  </a:ext>
                </a:extLst>
              </a:tr>
              <a:tr h="137150">
                <a:tc>
                  <a:txBody>
                    <a:bodyPr/>
                    <a:lstStyle/>
                    <a:p>
                      <a:pPr algn="ctr"/>
                      <a:r>
                        <a:rPr lang="ru-RU" sz="900" b="1">
                          <a:solidFill>
                            <a:schemeClr val="bg2"/>
                          </a:solidFill>
                          <a:latin typeface="times new roman"/>
                        </a:rPr>
                        <a:t>29</a:t>
                      </a:r>
                      <a:endParaRPr lang="ru-RU" sz="900">
                        <a:solidFill>
                          <a:schemeClr val="bg2"/>
                        </a:solidFill>
                      </a:endParaRPr>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solidFill>
                            <a:schemeClr val="bg2"/>
                          </a:solidFill>
                          <a:latin typeface="times new roman"/>
                        </a:rPr>
                        <a:t>33,7</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39,1</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42,6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45,7</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49,6</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solidFill>
                            <a:schemeClr val="bg2"/>
                          </a:solidFill>
                          <a:latin typeface="times new roman"/>
                        </a:rPr>
                        <a:t>52,3</a:t>
                      </a:r>
                      <a:endParaRPr lang="ru-RU" sz="900">
                        <a:solidFill>
                          <a:schemeClr val="bg2"/>
                        </a:solidFill>
                      </a:endParaRPr>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solidFill>
                            <a:schemeClr val="bg2"/>
                          </a:solidFill>
                          <a:latin typeface="times new roman"/>
                        </a:rPr>
                        <a:t>58,3</a:t>
                      </a:r>
                      <a:endParaRPr lang="ru-RU" sz="900" dirty="0">
                        <a:solidFill>
                          <a:schemeClr val="bg2"/>
                        </a:solidFill>
                      </a:endParaRPr>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1270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30"/>
                  </a:ext>
                </a:extLst>
              </a:tr>
              <a:tr h="137150">
                <a:tc>
                  <a:txBody>
                    <a:bodyPr/>
                    <a:lstStyle/>
                    <a:p>
                      <a:pPr algn="ctr"/>
                      <a:r>
                        <a:rPr lang="ru-RU" sz="900" b="1">
                          <a:latin typeface="times new roman"/>
                        </a:rPr>
                        <a:t>30</a:t>
                      </a:r>
                      <a:endParaRPr lang="ru-RU" sz="900"/>
                    </a:p>
                  </a:txBody>
                  <a:tcPr marL="0" marR="0" marT="0" marB="0" anchor="ctr">
                    <a:lnL w="635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6350" cap="flat" cmpd="sng" algn="ctr">
                      <a:solidFill>
                        <a:srgbClr val="DBD7D7"/>
                      </a:solidFill>
                      <a:prstDash val="solid"/>
                      <a:round/>
                      <a:headEnd type="none" w="med" len="med"/>
                      <a:tailEnd type="none" w="med" len="med"/>
                    </a:lnB>
                    <a:solidFill>
                      <a:srgbClr val="DCFFD6"/>
                    </a:solidFill>
                  </a:tcPr>
                </a:tc>
                <a:tc>
                  <a:txBody>
                    <a:bodyPr/>
                    <a:lstStyle/>
                    <a:p>
                      <a:pPr algn="ctr"/>
                      <a:r>
                        <a:rPr lang="ru-RU" sz="900" b="1">
                          <a:latin typeface="times new roman"/>
                        </a:rPr>
                        <a:t>34,8</a:t>
                      </a:r>
                      <a:endParaRPr lang="ru-RU" sz="900"/>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635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latin typeface="times new roman"/>
                        </a:rPr>
                        <a:t>40,3</a:t>
                      </a:r>
                      <a:endParaRPr lang="ru-RU" sz="900"/>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635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latin typeface="times new roman"/>
                        </a:rPr>
                        <a:t>43,8</a:t>
                      </a:r>
                      <a:endParaRPr lang="ru-RU" sz="900"/>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635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latin typeface="times new roman"/>
                        </a:rPr>
                        <a:t>47</a:t>
                      </a:r>
                      <a:endParaRPr lang="ru-RU" sz="900"/>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635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latin typeface="times new roman"/>
                        </a:rPr>
                        <a:t>50,9</a:t>
                      </a:r>
                      <a:endParaRPr lang="ru-RU" sz="900"/>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635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a:latin typeface="times new roman"/>
                        </a:rPr>
                        <a:t>53,7</a:t>
                      </a:r>
                      <a:endParaRPr lang="ru-RU" sz="900"/>
                    </a:p>
                  </a:txBody>
                  <a:tcPr marL="0" marR="0" marT="0" marB="0" anchor="ctr">
                    <a:lnL w="12700" cap="flat" cmpd="sng" algn="ctr">
                      <a:solidFill>
                        <a:srgbClr val="DBD7D7"/>
                      </a:solidFill>
                      <a:prstDash val="solid"/>
                      <a:round/>
                      <a:headEnd type="none" w="med" len="med"/>
                      <a:tailEnd type="none" w="med" len="med"/>
                    </a:lnL>
                    <a:lnR w="1270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6350" cap="flat" cmpd="sng" algn="ctr">
                      <a:solidFill>
                        <a:srgbClr val="DBD7D7"/>
                      </a:solidFill>
                      <a:prstDash val="solid"/>
                      <a:round/>
                      <a:headEnd type="none" w="med" len="med"/>
                      <a:tailEnd type="none" w="med" len="med"/>
                    </a:lnB>
                    <a:solidFill>
                      <a:srgbClr val="FFF9A8"/>
                    </a:solidFill>
                  </a:tcPr>
                </a:tc>
                <a:tc>
                  <a:txBody>
                    <a:bodyPr/>
                    <a:lstStyle/>
                    <a:p>
                      <a:pPr algn="ctr"/>
                      <a:r>
                        <a:rPr lang="ru-RU" sz="900" b="1" dirty="0">
                          <a:latin typeface="times new roman"/>
                        </a:rPr>
                        <a:t>59,7</a:t>
                      </a:r>
                      <a:endParaRPr lang="ru-RU" sz="900" dirty="0"/>
                    </a:p>
                  </a:txBody>
                  <a:tcPr marL="0" marR="0" marT="0" marB="0" anchor="ctr">
                    <a:lnL w="12700" cap="flat" cmpd="sng" algn="ctr">
                      <a:solidFill>
                        <a:srgbClr val="DBD7D7"/>
                      </a:solidFill>
                      <a:prstDash val="solid"/>
                      <a:round/>
                      <a:headEnd type="none" w="med" len="med"/>
                      <a:tailEnd type="none" w="med" len="med"/>
                    </a:lnL>
                    <a:lnR w="6350" cap="flat" cmpd="sng" algn="ctr">
                      <a:solidFill>
                        <a:srgbClr val="DBD7D7"/>
                      </a:solidFill>
                      <a:prstDash val="solid"/>
                      <a:round/>
                      <a:headEnd type="none" w="med" len="med"/>
                      <a:tailEnd type="none" w="med" len="med"/>
                    </a:lnR>
                    <a:lnT w="12700" cap="flat" cmpd="sng" algn="ctr">
                      <a:solidFill>
                        <a:srgbClr val="DBD7D7"/>
                      </a:solidFill>
                      <a:prstDash val="solid"/>
                      <a:round/>
                      <a:headEnd type="none" w="med" len="med"/>
                      <a:tailEnd type="none" w="med" len="med"/>
                    </a:lnT>
                    <a:lnB w="6350" cap="flat" cmpd="sng" algn="ctr">
                      <a:solidFill>
                        <a:srgbClr val="DBD7D7"/>
                      </a:solidFill>
                      <a:prstDash val="solid"/>
                      <a:round/>
                      <a:headEnd type="none" w="med" len="med"/>
                      <a:tailEnd type="none" w="med" len="med"/>
                    </a:lnB>
                    <a:solidFill>
                      <a:srgbClr val="FFF9A8"/>
                    </a:solidFill>
                  </a:tcPr>
                </a:tc>
                <a:extLst>
                  <a:ext uri="{0D108BD9-81ED-4DB2-BD59-A6C34878D82A}">
                    <a16:rowId xmlns:a16="http://schemas.microsoft.com/office/drawing/2014/main" val="10031"/>
                  </a:ext>
                </a:extLst>
              </a:tr>
            </a:tbl>
          </a:graphicData>
        </a:graphic>
      </p:graphicFrame>
      <p:sp>
        <p:nvSpPr>
          <p:cNvPr id="4" name="Номер слайда 3"/>
          <p:cNvSpPr>
            <a:spLocks noGrp="1"/>
          </p:cNvSpPr>
          <p:nvPr>
            <p:ph type="sldNum" sz="quarter" idx="12"/>
          </p:nvPr>
        </p:nvSpPr>
        <p:spPr/>
        <p:txBody>
          <a:bodyPr/>
          <a:lstStyle/>
          <a:p>
            <a:fld id="{0CC3DD56-44D6-4410-A1D4-F947CD7B8BFD}" type="slidenum">
              <a:rPr lang="ru-RU" smtClean="0"/>
              <a:pPr/>
              <a:t>34</a:t>
            </a:fld>
            <a:endParaRPr lang="ru-RU"/>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Содержимое 2"/>
          <p:cNvSpPr>
            <a:spLocks noGrp="1"/>
          </p:cNvSpPr>
          <p:nvPr>
            <p:ph idx="1"/>
          </p:nvPr>
        </p:nvSpPr>
        <p:spPr/>
        <p:txBody>
          <a:bodyPr/>
          <a:lstStyle/>
          <a:p>
            <a:r>
              <a:rPr lang="ru-RU" dirty="0"/>
              <a:t>На сегодня все, </a:t>
            </a:r>
          </a:p>
          <a:p>
            <a:r>
              <a:rPr lang="ru-RU" dirty="0"/>
              <a:t>Всем спасибо </a:t>
            </a:r>
            <a:r>
              <a:rPr lang="ru-RU"/>
              <a:t>за внимание!</a:t>
            </a:r>
          </a:p>
        </p:txBody>
      </p:sp>
      <p:sp>
        <p:nvSpPr>
          <p:cNvPr id="4" name="Номер слайда 3"/>
          <p:cNvSpPr>
            <a:spLocks noGrp="1"/>
          </p:cNvSpPr>
          <p:nvPr>
            <p:ph type="sldNum" sz="quarter" idx="12"/>
          </p:nvPr>
        </p:nvSpPr>
        <p:spPr/>
        <p:txBody>
          <a:bodyPr/>
          <a:lstStyle/>
          <a:p>
            <a:fld id="{0CC3DD56-44D6-4410-A1D4-F947CD7B8BFD}" type="slidenum">
              <a:rPr lang="ru-RU" smtClean="0"/>
              <a:pPr/>
              <a:t>35</a:t>
            </a:fld>
            <a:endParaRPr lang="ru-RU"/>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Литейная">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Литейная">
      <a:majorFont>
        <a:latin typeface="Rockwell"/>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Литейная">
      <a:fillStyleLst>
        <a:solidFill>
          <a:schemeClr val="phClr"/>
        </a:solidFill>
        <a:gradFill rotWithShape="1">
          <a:gsLst>
            <a:gs pos="0">
              <a:schemeClr val="phClr">
                <a:tint val="70000"/>
                <a:satMod val="180000"/>
              </a:schemeClr>
            </a:gs>
            <a:gs pos="62000">
              <a:schemeClr val="phClr">
                <a:tint val="30000"/>
                <a:satMod val="180000"/>
              </a:schemeClr>
            </a:gs>
            <a:gs pos="100000">
              <a:schemeClr val="phClr">
                <a:tint val="22000"/>
                <a:satMod val="180000"/>
              </a:schemeClr>
            </a:gs>
          </a:gsLst>
          <a:lin ang="16200000" scaled="0"/>
        </a:gradFill>
        <a:gradFill rotWithShape="1">
          <a:gsLst>
            <a:gs pos="0">
              <a:schemeClr val="phClr">
                <a:shade val="58000"/>
                <a:satMod val="150000"/>
              </a:schemeClr>
            </a:gs>
            <a:gs pos="72000">
              <a:schemeClr val="phClr">
                <a:tint val="90000"/>
                <a:satMod val="135000"/>
              </a:schemeClr>
            </a:gs>
            <a:gs pos="100000">
              <a:schemeClr val="phClr">
                <a:tint val="80000"/>
                <a:satMod val="155000"/>
              </a:schemeClr>
            </a:gs>
          </a:gsLst>
          <a:lin ang="16200000" scaled="0"/>
        </a:gradFill>
      </a:fillStyleLst>
      <a:lnStyleLst>
        <a:ln w="9525" cap="flat" cmpd="sng" algn="ctr">
          <a:solidFill>
            <a:schemeClr val="phClr">
              <a:shade val="80000"/>
            </a:schemeClr>
          </a:solidFill>
          <a:prstDash val="solid"/>
        </a:ln>
        <a:ln w="381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a:effectStyle>
      </a:effectStyleLst>
      <a:bgFillStyleLst>
        <a:solidFill>
          <a:schemeClr val="phClr"/>
        </a:solidFill>
        <a:gradFill rotWithShape="1">
          <a:gsLst>
            <a:gs pos="0">
              <a:schemeClr val="phClr">
                <a:tint val="75000"/>
                <a:satMod val="400000"/>
              </a:schemeClr>
            </a:gs>
            <a:gs pos="20000">
              <a:schemeClr val="phClr">
                <a:tint val="80000"/>
                <a:satMod val="355000"/>
              </a:schemeClr>
            </a:gs>
            <a:gs pos="100000">
              <a:schemeClr val="phClr">
                <a:tint val="95000"/>
                <a:shade val="55000"/>
                <a:satMod val="355000"/>
              </a:schemeClr>
            </a:gs>
          </a:gsLst>
          <a:path path="circle">
            <a:fillToRect l="67500" t="35000" r="32500" b="65000"/>
          </a:path>
        </a:gradFill>
        <a:blipFill>
          <a:blip xmlns:r="http://schemas.openxmlformats.org/officeDocument/2006/relationships" r:embed="rId1">
            <a:duotone>
              <a:schemeClr val="phClr">
                <a:shade val="30000"/>
                <a:satMod val="120000"/>
              </a:schemeClr>
              <a:schemeClr val="phClr">
                <a:tint val="70000"/>
                <a:satMod val="250000"/>
              </a:schemeClr>
            </a:duotone>
          </a:blip>
          <a:tile tx="0" ty="0" sx="50000" sy="50000" flip="none" algn="t"/>
        </a:blip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Foundry</Template>
  <TotalTime>6274</TotalTime>
  <Words>3328</Words>
  <Application>Microsoft Office PowerPoint</Application>
  <PresentationFormat>Экран (4:3)</PresentationFormat>
  <Paragraphs>1221</Paragraphs>
  <Slides>35</Slides>
  <Notes>0</Notes>
  <HiddenSlides>0</HiddenSlides>
  <MMClips>0</MMClips>
  <ScaleCrop>false</ScaleCrop>
  <HeadingPairs>
    <vt:vector size="8" baseType="variant">
      <vt:variant>
        <vt:lpstr>Использованные шрифты</vt:lpstr>
      </vt:variant>
      <vt:variant>
        <vt:i4>10</vt:i4>
      </vt:variant>
      <vt:variant>
        <vt:lpstr>Тема</vt:lpstr>
      </vt:variant>
      <vt:variant>
        <vt:i4>1</vt:i4>
      </vt:variant>
      <vt:variant>
        <vt:lpstr>Внедренные серверы OLE</vt:lpstr>
      </vt:variant>
      <vt:variant>
        <vt:i4>1</vt:i4>
      </vt:variant>
      <vt:variant>
        <vt:lpstr>Заголовки слайдов</vt:lpstr>
      </vt:variant>
      <vt:variant>
        <vt:i4>35</vt:i4>
      </vt:variant>
    </vt:vector>
  </HeadingPairs>
  <TitlesOfParts>
    <vt:vector size="47" baseType="lpstr">
      <vt:lpstr>Arial</vt:lpstr>
      <vt:lpstr>Calibri</vt:lpstr>
      <vt:lpstr>Cambria</vt:lpstr>
      <vt:lpstr>MJXc-TeX-main-R</vt:lpstr>
      <vt:lpstr>Rockwell</vt:lpstr>
      <vt:lpstr>Symbol</vt:lpstr>
      <vt:lpstr>Times New Roman</vt:lpstr>
      <vt:lpstr>Times New Roman</vt:lpstr>
      <vt:lpstr>Wingdings</vt:lpstr>
      <vt:lpstr>Wingdings 2</vt:lpstr>
      <vt:lpstr>Литейная</vt:lpstr>
      <vt:lpstr>Формула</vt:lpstr>
      <vt:lpstr>Теория вероятностей и математическая статистика. Лекция 14</vt:lpstr>
      <vt:lpstr>Проверка статистических гипотез</vt:lpstr>
      <vt:lpstr>Типы гипотез </vt:lpstr>
      <vt:lpstr>Презентация PowerPoint</vt:lpstr>
      <vt:lpstr>Простые и сложные гипотезы</vt:lpstr>
      <vt:lpstr>Ошибки первого и второго рода</vt:lpstr>
      <vt:lpstr>Презентация PowerPoint</vt:lpstr>
      <vt:lpstr>Презентация PowerPoint</vt:lpstr>
      <vt:lpstr>Уровень значимости α и уровень доверия ϒ</vt:lpstr>
      <vt:lpstr>Критерии проверки гипотезы</vt:lpstr>
      <vt:lpstr>Критерий проверки гипотезы</vt:lpstr>
      <vt:lpstr>Критическая область и ее границы</vt:lpstr>
      <vt:lpstr>Двусторонняя и односторонние критические области</vt:lpstr>
      <vt:lpstr>Левосторонняя критическая область</vt:lpstr>
      <vt:lpstr>Правосторонняя критическая область</vt:lpstr>
      <vt:lpstr>Двусторонняя критическая область</vt:lpstr>
      <vt:lpstr>Получение вывода</vt:lpstr>
      <vt:lpstr>Давайте проверим, что вы запомнили.</vt:lpstr>
      <vt:lpstr>Гипотезы о значениях числовых характеристик генеральной совокупности </vt:lpstr>
      <vt:lpstr>Гипотеза о численной величине генерального среднего а.</vt:lpstr>
      <vt:lpstr>Нₒ: а=аₒ, где аₒ - некоторое число Н₁:а≠аₒ.  Проверим гипотезу Нₒ на уровне доверия γ. </vt:lpstr>
      <vt:lpstr>Нₒ: а=аₒ, где аₒ - некоторое число Н₁:а≠аₒ.</vt:lpstr>
      <vt:lpstr>Последовательность действий</vt:lpstr>
      <vt:lpstr>Пример 1.</vt:lpstr>
      <vt:lpstr>Гипотеза о числовом значении генеральной дисперсии σ2.</vt:lpstr>
      <vt:lpstr>Нₒ: σ²=σₒ², где σₒ - некоторое число Н₁: σ²≠σₒ².  Проверим гипотезу Нₒ на уровне доверия γ. </vt:lpstr>
      <vt:lpstr>Последовательность действий</vt:lpstr>
      <vt:lpstr>Пример 2.</vt:lpstr>
      <vt:lpstr>Гипотеза о числовом значении доли признака p.</vt:lpstr>
      <vt:lpstr>Нₒ: р=рₒ, где рₒ - некоторое число, Н₁ : р≠рₒ .  Проверим гипотезу Нₒ на уровне доверия γ.</vt:lpstr>
      <vt:lpstr>Пример 3.</vt:lpstr>
      <vt:lpstr>Таблица значений функции Лапласа Ф(х)=                  </vt:lpstr>
      <vt:lpstr>Таблица значений распределения Стьюдента</vt:lpstr>
      <vt:lpstr>Таблица значений распределения  Хи-квадрат (Пирсона)</vt:lpstr>
      <vt:lpstr>Презентация PowerPoint</vt:lpstr>
    </vt:vector>
  </TitlesOfParts>
  <Company>Reanimator Extreme Edition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Теория вероятностей и математическая статистика</dc:title>
  <dc:creator>Elena</dc:creator>
  <cp:lastModifiedBy>e s</cp:lastModifiedBy>
  <cp:revision>462</cp:revision>
  <dcterms:created xsi:type="dcterms:W3CDTF">2021-02-04T09:02:28Z</dcterms:created>
  <dcterms:modified xsi:type="dcterms:W3CDTF">2026-02-16T09:40:26Z</dcterms:modified>
</cp:coreProperties>
</file>