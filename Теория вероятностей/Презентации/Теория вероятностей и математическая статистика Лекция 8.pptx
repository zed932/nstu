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60" r:id="rId1"/>
  </p:sldMasterIdLst>
  <p:notesMasterIdLst>
    <p:notesMasterId r:id="rId29"/>
  </p:notesMasterIdLst>
  <p:sldIdLst>
    <p:sldId id="256" r:id="rId2"/>
    <p:sldId id="444" r:id="rId3"/>
    <p:sldId id="445" r:id="rId4"/>
    <p:sldId id="446" r:id="rId5"/>
    <p:sldId id="447" r:id="rId6"/>
    <p:sldId id="448" r:id="rId7"/>
    <p:sldId id="449" r:id="rId8"/>
    <p:sldId id="450" r:id="rId9"/>
    <p:sldId id="451" r:id="rId10"/>
    <p:sldId id="452" r:id="rId11"/>
    <p:sldId id="453" r:id="rId12"/>
    <p:sldId id="454" r:id="rId13"/>
    <p:sldId id="455" r:id="rId14"/>
    <p:sldId id="456" r:id="rId15"/>
    <p:sldId id="457" r:id="rId16"/>
    <p:sldId id="458" r:id="rId17"/>
    <p:sldId id="459" r:id="rId18"/>
    <p:sldId id="460" r:id="rId19"/>
    <p:sldId id="461" r:id="rId20"/>
    <p:sldId id="462" r:id="rId21"/>
    <p:sldId id="463" r:id="rId22"/>
    <p:sldId id="464" r:id="rId23"/>
    <p:sldId id="465" r:id="rId24"/>
    <p:sldId id="466" r:id="rId25"/>
    <p:sldId id="467" r:id="rId26"/>
    <p:sldId id="468" r:id="rId27"/>
    <p:sldId id="469" r:id="rId2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525" autoAdjust="0"/>
  </p:normalViewPr>
  <p:slideViewPr>
    <p:cSldViewPr>
      <p:cViewPr varScale="1">
        <p:scale>
          <a:sx n="92" d="100"/>
          <a:sy n="92" d="100"/>
        </p:scale>
        <p:origin x="94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 s" userId="b32979be72172c5e" providerId="LiveId" clId="{1A9D4396-1918-4F43-B4DF-954C8EB3F697}"/>
    <pc:docChg chg="modSld">
      <pc:chgData name="e s" userId="b32979be72172c5e" providerId="LiveId" clId="{1A9D4396-1918-4F43-B4DF-954C8EB3F697}" dt="2026-02-16T08:59:19.721" v="2" actId="14100"/>
      <pc:docMkLst>
        <pc:docMk/>
      </pc:docMkLst>
      <pc:sldChg chg="addSp modSp mod">
        <pc:chgData name="e s" userId="b32979be72172c5e" providerId="LiveId" clId="{1A9D4396-1918-4F43-B4DF-954C8EB3F697}" dt="2026-02-16T08:59:19.721" v="2" actId="14100"/>
        <pc:sldMkLst>
          <pc:docMk/>
          <pc:sldMk cId="0" sldId="453"/>
        </pc:sldMkLst>
        <pc:picChg chg="add mod">
          <ac:chgData name="e s" userId="b32979be72172c5e" providerId="LiveId" clId="{1A9D4396-1918-4F43-B4DF-954C8EB3F697}" dt="2026-02-16T08:59:19.721" v="2" actId="14100"/>
          <ac:picMkLst>
            <pc:docMk/>
            <pc:sldMk cId="0" sldId="453"/>
            <ac:picMk id="6" creationId="{6BA8FE69-C68D-0143-C6A8-B8E7CD9123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777D3-0B2B-48AE-98C1-113779481BCC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C6C41-54EF-49D8-8026-9CCF966A16E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618A8932-62C9-4217-BDB8-ACC30534E1C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35C-E6EA-416D-AA91-2D7B45730357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326BC372-8821-47C8-8858-C1C512837FE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1F389-A53C-4A80-A700-AD17C06A2A6E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6EEEE-F63A-45AF-84D9-BF154B205700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8AF9-156B-43BB-A6E4-2BA5B4B2CE04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A241-2F2C-4BDB-949F-CDA85DBACC88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FB5F21AF-98DF-4F3D-8D1F-E6D251F86555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ru-RU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04880FEF-A9E0-4096-A6F1-C5DFB362ABD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B0B1-7D84-48E7-96D3-793BA5087640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BA8E-E9BE-4983-8968-4586D2DC7992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4694BB94-EEF3-4693-84F8-FBB2BE68A97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V.09.03.02.NNTU@yandex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0B0F0"/>
                </a:solidFill>
              </a:rPr>
              <a:t>Теория вероятностей и математическая статистика. Лекция </a:t>
            </a:r>
            <a:r>
              <a:rPr lang="en-US" b="1" dirty="0">
                <a:solidFill>
                  <a:srgbClr val="00B0F0"/>
                </a:solidFill>
              </a:rPr>
              <a:t>8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3609996"/>
          </a:xfrm>
        </p:spPr>
        <p:txBody>
          <a:bodyPr>
            <a:normAutofit fontScale="85000" lnSpcReduction="20000"/>
          </a:bodyPr>
          <a:lstStyle/>
          <a:p>
            <a:r>
              <a:rPr lang="ru-RU" sz="3000" dirty="0">
                <a:solidFill>
                  <a:schemeClr val="tx1"/>
                </a:solidFill>
              </a:rPr>
              <a:t>Преподаватель</a:t>
            </a:r>
            <a:r>
              <a:rPr lang="en-US" sz="3000" dirty="0">
                <a:solidFill>
                  <a:schemeClr val="tx1"/>
                </a:solidFill>
              </a:rPr>
              <a:t>:</a:t>
            </a:r>
          </a:p>
          <a:p>
            <a:r>
              <a:rPr lang="ru-RU" sz="3000" dirty="0">
                <a:solidFill>
                  <a:schemeClr val="tx1"/>
                </a:solidFill>
              </a:rPr>
              <a:t>к.т.н., доцент каф ЭСВМ</a:t>
            </a:r>
            <a:endParaRPr lang="en-US" sz="3000" dirty="0">
              <a:solidFill>
                <a:schemeClr val="tx1"/>
              </a:solidFill>
            </a:endParaRPr>
          </a:p>
          <a:p>
            <a:endParaRPr lang="ru-RU" sz="3000" dirty="0">
              <a:solidFill>
                <a:schemeClr val="tx1"/>
              </a:solidFill>
            </a:endParaRPr>
          </a:p>
          <a:p>
            <a:r>
              <a:rPr lang="ru-RU" sz="3300" b="1" i="1" dirty="0">
                <a:solidFill>
                  <a:schemeClr val="accent5"/>
                </a:solidFill>
              </a:rPr>
              <a:t>Елена Владимировна Сидорова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E-mail:</a:t>
            </a:r>
            <a:endParaRPr lang="ru-RU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  <a:hlinkClick r:id="rId2"/>
              </a:rPr>
              <a:t>TV.09.03.02.NNTU@yandex.ru</a:t>
            </a:r>
            <a:endParaRPr lang="en-US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  <a:p>
            <a:r>
              <a:rPr lang="ru-RU" dirty="0">
                <a:solidFill>
                  <a:schemeClr val="tx2"/>
                </a:solidFill>
              </a:rPr>
              <a:t>Аттестация: </a:t>
            </a:r>
          </a:p>
          <a:p>
            <a:r>
              <a:rPr lang="ru-RU" sz="3800" b="1" u="sng" dirty="0">
                <a:solidFill>
                  <a:srgbClr val="FF0000"/>
                </a:solidFill>
              </a:rPr>
              <a:t>экзамен</a:t>
            </a:r>
            <a:endParaRPr lang="ru-RU" sz="3800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ЗАВИСИМЫЕ И НЕЗАВИСИМЫЕ СЛУЧАЙНЫЕ ВЕЛИЧИНЫ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Случайные величины Х и Y называются 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независимыми</a:t>
            </a:r>
            <a:r>
              <a:rPr lang="ru-RU" dirty="0">
                <a:latin typeface="Calibri" pitchFamily="34" charset="0"/>
                <a:cs typeface="Calibri" pitchFamily="34" charset="0"/>
              </a:rPr>
              <a:t>, если их совместная функция распределения </a:t>
            </a:r>
            <a:r>
              <a:rPr lang="ru-RU" i="1" dirty="0">
                <a:latin typeface="Calibri" pitchFamily="34" charset="0"/>
                <a:cs typeface="Calibri" pitchFamily="34" charset="0"/>
              </a:rPr>
              <a:t>F(x, y)</a:t>
            </a:r>
            <a:r>
              <a:rPr lang="ru-RU" dirty="0">
                <a:latin typeface="Calibri" pitchFamily="34" charset="0"/>
                <a:cs typeface="Calibri" pitchFamily="34" charset="0"/>
              </a:rPr>
              <a:t> представляется в виде произведения функций распределения </a:t>
            </a:r>
            <a:r>
              <a:rPr lang="ru-RU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ru-RU" i="1" baseline="-25000" dirty="0">
                <a:latin typeface="Calibri" pitchFamily="34" charset="0"/>
                <a:cs typeface="Calibri" pitchFamily="34" charset="0"/>
              </a:rPr>
              <a:t>1</a:t>
            </a:r>
            <a:r>
              <a:rPr lang="ru-RU" i="1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x</a:t>
            </a:r>
            <a:r>
              <a:rPr lang="ru-RU" i="1" dirty="0">
                <a:latin typeface="Calibri" pitchFamily="34" charset="0"/>
                <a:cs typeface="Calibri" pitchFamily="34" charset="0"/>
              </a:rPr>
              <a:t>)</a:t>
            </a:r>
            <a:r>
              <a:rPr lang="ru-RU" dirty="0">
                <a:latin typeface="Calibri" pitchFamily="34" charset="0"/>
                <a:cs typeface="Calibri" pitchFamily="34" charset="0"/>
              </a:rPr>
              <a:t> и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ru-RU" i="1" baseline="-25000" dirty="0">
                <a:latin typeface="Calibri" pitchFamily="34" charset="0"/>
                <a:cs typeface="Calibri" pitchFamily="34" charset="0"/>
              </a:rPr>
              <a:t>2</a:t>
            </a:r>
            <a:r>
              <a:rPr lang="ru-RU" i="1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y</a:t>
            </a:r>
            <a:r>
              <a:rPr lang="ru-RU" i="1" dirty="0">
                <a:latin typeface="Calibri" pitchFamily="34" charset="0"/>
                <a:cs typeface="Calibri" pitchFamily="34" charset="0"/>
              </a:rPr>
              <a:t>)</a:t>
            </a:r>
            <a:r>
              <a:rPr lang="ru-RU" dirty="0">
                <a:latin typeface="Calibri" pitchFamily="34" charset="0"/>
                <a:cs typeface="Calibri" pitchFamily="34" charset="0"/>
              </a:rPr>
              <a:t> этих случайных величин, то есть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ru-RU" i="1" baseline="-25000" dirty="0">
                <a:latin typeface="Calibri" pitchFamily="34" charset="0"/>
                <a:cs typeface="Calibri" pitchFamily="34" charset="0"/>
              </a:rPr>
              <a:t>1</a:t>
            </a:r>
            <a:r>
              <a:rPr lang="ru-RU" i="1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x</a:t>
            </a:r>
            <a:r>
              <a:rPr lang="ru-RU" i="1" dirty="0">
                <a:latin typeface="Calibri" pitchFamily="34" charset="0"/>
                <a:cs typeface="Calibri" pitchFamily="34" charset="0"/>
              </a:rPr>
              <a:t>)*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ru-RU" i="1" baseline="-25000" dirty="0">
                <a:latin typeface="Calibri" pitchFamily="34" charset="0"/>
                <a:cs typeface="Calibri" pitchFamily="34" charset="0"/>
              </a:rPr>
              <a:t>2</a:t>
            </a:r>
            <a:r>
              <a:rPr lang="ru-RU" i="1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y</a:t>
            </a:r>
            <a:r>
              <a:rPr lang="ru-RU" i="1" dirty="0">
                <a:latin typeface="Calibri" pitchFamily="34" charset="0"/>
                <a:cs typeface="Calibri" pitchFamily="34" charset="0"/>
              </a:rPr>
              <a:t>)</a:t>
            </a:r>
            <a:r>
              <a:rPr lang="ru-RU" dirty="0">
                <a:latin typeface="Calibri" pitchFamily="34" charset="0"/>
                <a:cs typeface="Calibri" pitchFamily="34" charset="0"/>
              </a:rPr>
              <a:t>. </a:t>
            </a:r>
          </a:p>
          <a:p>
            <a:pPr algn="ctr">
              <a:buNone/>
            </a:pPr>
            <a:r>
              <a:rPr lang="ru-RU" b="1" i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F(x, y)=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b="1" i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F</a:t>
            </a:r>
            <a:r>
              <a:rPr lang="ru-RU" b="1" i="1" baseline="-25000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ru-RU" b="1" i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b="1" i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x</a:t>
            </a:r>
            <a:r>
              <a:rPr lang="ru-RU" b="1" i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)*</a:t>
            </a:r>
            <a:r>
              <a:rPr lang="en-US" b="1" i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F</a:t>
            </a:r>
            <a:r>
              <a:rPr lang="ru-RU" b="1" i="1" baseline="-25000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ru-RU" b="1" i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b="1" i="1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y</a:t>
            </a:r>
            <a:r>
              <a:rPr lang="ru-RU" b="1" i="1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)</a:t>
            </a:r>
            <a:r>
              <a:rPr lang="ru-RU" b="1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. </a:t>
            </a:r>
            <a:endParaRPr lang="ru-RU" b="1" dirty="0">
              <a:solidFill>
                <a:schemeClr val="bg2">
                  <a:lumMod val="20000"/>
                  <a:lumOff val="80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ru-RU" dirty="0"/>
          </a:p>
          <a:p>
            <a:r>
              <a:rPr lang="ru-RU" dirty="0">
                <a:latin typeface="Calibri" pitchFamily="34" charset="0"/>
                <a:cs typeface="Calibri" pitchFamily="34" charset="0"/>
              </a:rPr>
              <a:t>Для 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дискретных независимых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dirty="0">
                <a:latin typeface="Calibri" pitchFamily="34" charset="0"/>
                <a:cs typeface="Calibri" pitchFamily="34" charset="0"/>
              </a:rPr>
              <a:t>случайных величин по определению функции распределения </a:t>
            </a:r>
          </a:p>
          <a:p>
            <a:pPr algn="ctr">
              <a:buNone/>
            </a:pPr>
            <a:r>
              <a:rPr lang="en-US" b="1" i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P((X&lt;x)(Y&lt;y))=P(X&lt;x)*P(Y&lt;y)</a:t>
            </a: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ru-RU" b="1" dirty="0">
              <a:solidFill>
                <a:schemeClr val="bg2">
                  <a:lumMod val="20000"/>
                  <a:lumOff val="80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ru-RU" dirty="0"/>
          </a:p>
          <a:p>
            <a:r>
              <a:rPr lang="ru-RU" dirty="0">
                <a:latin typeface="Calibri" pitchFamily="34" charset="0"/>
                <a:cs typeface="Calibri" pitchFamily="34" charset="0"/>
              </a:rPr>
              <a:t>В противном случае, при невыполнении этого равенства, случайные величины X и Y называются 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зависимыми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31612"/>
            <a:ext cx="8229600" cy="4526280"/>
          </a:xfrm>
        </p:spPr>
        <p:txBody>
          <a:bodyPr>
            <a:normAutofit lnSpcReduction="10000"/>
          </a:bodyPr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Для 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независимых непрерывных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dirty="0">
                <a:latin typeface="Calibri" pitchFamily="34" charset="0"/>
                <a:cs typeface="Calibri" pitchFamily="34" charset="0"/>
              </a:rPr>
              <a:t>случайных величин X и Y их совместная плотность </a:t>
            </a:r>
            <a:r>
              <a:rPr lang="el-GR" dirty="0">
                <a:latin typeface="Cambria"/>
                <a:ea typeface="Cambria"/>
                <a:cs typeface="Calibri" pitchFamily="34" charset="0"/>
              </a:rPr>
              <a:t>φ</a:t>
            </a:r>
            <a:r>
              <a:rPr lang="ru-RU" dirty="0">
                <a:latin typeface="Calibri" pitchFamily="34" charset="0"/>
                <a:cs typeface="Calibri" pitchFamily="34" charset="0"/>
              </a:rPr>
              <a:t>(</a:t>
            </a:r>
            <a:r>
              <a:rPr lang="ru-RU" i="1" dirty="0">
                <a:latin typeface="Calibri" pitchFamily="34" charset="0"/>
                <a:cs typeface="Calibri" pitchFamily="34" charset="0"/>
              </a:rPr>
              <a:t>x,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y</a:t>
            </a:r>
            <a:r>
              <a:rPr lang="ru-RU" dirty="0">
                <a:latin typeface="Calibri" pitchFamily="34" charset="0"/>
                <a:cs typeface="Calibri" pitchFamily="34" charset="0"/>
              </a:rPr>
              <a:t>) равна произведению плотностей вероятности </a:t>
            </a:r>
            <a:r>
              <a:rPr lang="el-GR" dirty="0">
                <a:latin typeface="Cambria"/>
                <a:ea typeface="Cambria"/>
                <a:cs typeface="Calibri" pitchFamily="34" charset="0"/>
              </a:rPr>
              <a:t>φ</a:t>
            </a:r>
            <a:r>
              <a:rPr lang="ru-RU" baseline="-25000" dirty="0">
                <a:latin typeface="Calibri" pitchFamily="34" charset="0"/>
                <a:cs typeface="Calibri" pitchFamily="34" charset="0"/>
              </a:rPr>
              <a:t>1</a:t>
            </a:r>
            <a:r>
              <a:rPr lang="ru-RU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x</a:t>
            </a:r>
            <a:r>
              <a:rPr lang="ru-RU" dirty="0">
                <a:latin typeface="Calibri" pitchFamily="34" charset="0"/>
                <a:cs typeface="Calibri" pitchFamily="34" charset="0"/>
              </a:rPr>
              <a:t>) и </a:t>
            </a:r>
            <a:r>
              <a:rPr lang="el-GR" dirty="0">
                <a:latin typeface="Cambria"/>
                <a:ea typeface="Cambria"/>
                <a:cs typeface="Calibri" pitchFamily="34" charset="0"/>
              </a:rPr>
              <a:t>φ</a:t>
            </a:r>
            <a:r>
              <a:rPr lang="ru-RU" baseline="-25000" dirty="0">
                <a:latin typeface="Calibri" pitchFamily="34" charset="0"/>
                <a:cs typeface="Calibri" pitchFamily="34" charset="0"/>
              </a:rPr>
              <a:t>2</a:t>
            </a:r>
            <a:r>
              <a:rPr lang="ru-RU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y</a:t>
            </a:r>
            <a:r>
              <a:rPr lang="ru-RU" dirty="0">
                <a:latin typeface="Calibri" pitchFamily="34" charset="0"/>
                <a:cs typeface="Calibri" pitchFamily="34" charset="0"/>
              </a:rPr>
              <a:t>) этих случайных величин: </a:t>
            </a:r>
            <a:r>
              <a:rPr lang="el-GR" b="1" dirty="0">
                <a:solidFill>
                  <a:schemeClr val="bg2">
                    <a:lumMod val="20000"/>
                    <a:lumOff val="80000"/>
                  </a:schemeClr>
                </a:solidFill>
                <a:ea typeface="Cambria"/>
                <a:cs typeface="Calibri" pitchFamily="34" charset="0"/>
              </a:rPr>
              <a:t>φ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ru-RU" b="1" i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x, </a:t>
            </a:r>
            <a:r>
              <a:rPr lang="en-US" b="1" i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y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)=</a:t>
            </a:r>
            <a:r>
              <a:rPr lang="el-GR" b="1" dirty="0">
                <a:solidFill>
                  <a:schemeClr val="bg2">
                    <a:lumMod val="20000"/>
                    <a:lumOff val="80000"/>
                  </a:schemeClr>
                </a:solidFill>
                <a:ea typeface="Cambria"/>
                <a:cs typeface="Calibri" pitchFamily="34" charset="0"/>
              </a:rPr>
              <a:t>φ</a:t>
            </a:r>
            <a:r>
              <a:rPr lang="ru-RU" b="1" baseline="-25000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b="1" i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x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)*</a:t>
            </a:r>
            <a:r>
              <a:rPr lang="el-GR" b="1" dirty="0">
                <a:solidFill>
                  <a:schemeClr val="bg2">
                    <a:lumMod val="20000"/>
                    <a:lumOff val="80000"/>
                  </a:schemeClr>
                </a:solidFill>
                <a:ea typeface="Cambria"/>
                <a:cs typeface="Calibri" pitchFamily="34" charset="0"/>
              </a:rPr>
              <a:t>φ</a:t>
            </a:r>
            <a:r>
              <a:rPr lang="ru-RU" b="1" baseline="-25000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b="1" i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y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r>
              <a:rPr lang="ru-RU" dirty="0">
                <a:latin typeface="Calibri" pitchFamily="34" charset="0"/>
                <a:cs typeface="Calibri" pitchFamily="34" charset="0"/>
              </a:rPr>
              <a:t>Кроме того, условные плотности вероятности каждой из них совпадают с соответствующими безусловными плотностями, то есть </a:t>
            </a:r>
            <a:r>
              <a:rPr lang="ru-RU" dirty="0"/>
              <a:t>                   и                   ,</a:t>
            </a:r>
            <a:r>
              <a:rPr lang="en-US" dirty="0"/>
              <a:t> </a:t>
            </a:r>
            <a:r>
              <a:rPr lang="ru-RU" dirty="0"/>
              <a:t>где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</a:t>
            </a:fld>
            <a:endParaRPr lang="ru-RU"/>
          </a:p>
        </p:txBody>
      </p:sp>
      <p:graphicFrame>
        <p:nvGraphicFramePr>
          <p:cNvPr id="327682" name="Object 2"/>
          <p:cNvGraphicFramePr>
            <a:graphicFrameLocks noChangeAspect="1"/>
          </p:cNvGraphicFramePr>
          <p:nvPr/>
        </p:nvGraphicFramePr>
        <p:xfrm>
          <a:off x="4572000" y="4929198"/>
          <a:ext cx="1534037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863280" imgH="241200" progId="Equation.3">
                  <p:embed/>
                </p:oleObj>
              </mc:Choice>
              <mc:Fallback>
                <p:oleObj name="Формула" r:id="rId2" imgW="863280" imgH="241200" progId="Equation.3">
                  <p:embed/>
                  <p:pic>
                    <p:nvPicPr>
                      <p:cNvPr id="3276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929198"/>
                        <a:ext cx="1534037" cy="42862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3" name="Object 3"/>
          <p:cNvGraphicFramePr>
            <a:graphicFrameLocks noChangeAspect="1"/>
          </p:cNvGraphicFramePr>
          <p:nvPr/>
        </p:nvGraphicFramePr>
        <p:xfrm>
          <a:off x="6572264" y="4929198"/>
          <a:ext cx="1571636" cy="398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901440" imgH="228600" progId="Equation.3">
                  <p:embed/>
                </p:oleObj>
              </mc:Choice>
              <mc:Fallback>
                <p:oleObj name="Формула" r:id="rId4" imgW="901440" imgH="228600" progId="Equation.3">
                  <p:embed/>
                  <p:pic>
                    <p:nvPicPr>
                      <p:cNvPr id="3276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64" y="4929198"/>
                        <a:ext cx="1571636" cy="39844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4" name="Object 4"/>
          <p:cNvGraphicFramePr>
            <a:graphicFrameLocks noChangeAspect="1"/>
          </p:cNvGraphicFramePr>
          <p:nvPr/>
        </p:nvGraphicFramePr>
        <p:xfrm>
          <a:off x="1500166" y="5500702"/>
          <a:ext cx="1493839" cy="642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6" imgW="1002960" imgH="431640" progId="Equation.3">
                  <p:embed/>
                </p:oleObj>
              </mc:Choice>
              <mc:Fallback>
                <p:oleObj name="Формула" r:id="rId6" imgW="1002960" imgH="431640" progId="Equation.3">
                  <p:embed/>
                  <p:pic>
                    <p:nvPicPr>
                      <p:cNvPr id="3276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66" y="5500702"/>
                        <a:ext cx="1493839" cy="64291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5" name="Object 5"/>
          <p:cNvGraphicFramePr>
            <a:graphicFrameLocks noChangeAspect="1"/>
          </p:cNvGraphicFramePr>
          <p:nvPr/>
        </p:nvGraphicFramePr>
        <p:xfrm>
          <a:off x="3071802" y="5500702"/>
          <a:ext cx="1500198" cy="653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8" imgW="990360" imgH="431640" progId="Equation.3">
                  <p:embed/>
                </p:oleObj>
              </mc:Choice>
              <mc:Fallback>
                <p:oleObj name="Формула" r:id="rId8" imgW="990360" imgH="431640" progId="Equation.3">
                  <p:embed/>
                  <p:pic>
                    <p:nvPicPr>
                      <p:cNvPr id="3276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02" y="5500702"/>
                        <a:ext cx="1500198" cy="65393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Ковариация и коэффициент корреляции.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Пусть имеется двумерная случайная величина (X, Y), распределение которой известно. </a:t>
            </a:r>
          </a:p>
          <a:p>
            <a:pPr>
              <a:buNone/>
            </a:pPr>
            <a:r>
              <a:rPr lang="ru-RU" dirty="0"/>
              <a:t>Тогда можно найти математические ожидания M[X]</a:t>
            </a:r>
            <a:r>
              <a:rPr lang="ru-RU" dirty="0" err="1"/>
              <a:t>=</a:t>
            </a:r>
            <a:r>
              <a:rPr lang="ru-RU" i="1" dirty="0" err="1"/>
              <a:t>a</a:t>
            </a:r>
            <a:r>
              <a:rPr lang="en-US" i="1" baseline="-25000" dirty="0"/>
              <a:t>x</a:t>
            </a:r>
            <a:r>
              <a:rPr lang="ru-RU" dirty="0"/>
              <a:t>, </a:t>
            </a:r>
            <a:r>
              <a:rPr lang="en-US" dirty="0"/>
              <a:t>M</a:t>
            </a:r>
            <a:r>
              <a:rPr lang="ru-RU" dirty="0"/>
              <a:t>[</a:t>
            </a:r>
            <a:r>
              <a:rPr lang="en-US" dirty="0"/>
              <a:t>Y</a:t>
            </a:r>
            <a:r>
              <a:rPr lang="ru-RU" dirty="0"/>
              <a:t>]=</a:t>
            </a:r>
            <a:r>
              <a:rPr lang="en-US" i="1" dirty="0"/>
              <a:t>a</a:t>
            </a:r>
            <a:r>
              <a:rPr lang="en-US" i="1" baseline="-25000" dirty="0"/>
              <a:t>y</a:t>
            </a:r>
            <a:r>
              <a:rPr lang="ru-RU" dirty="0"/>
              <a:t> и дисперсии D[X]=</a:t>
            </a:r>
            <a:r>
              <a:rPr lang="ru-RU" i="1" dirty="0" err="1"/>
              <a:t>σ</a:t>
            </a:r>
            <a:r>
              <a:rPr lang="en-US" i="1" baseline="-25000" dirty="0"/>
              <a:t>x</a:t>
            </a:r>
            <a:r>
              <a:rPr lang="ru-RU" baseline="30000" dirty="0"/>
              <a:t>2</a:t>
            </a:r>
            <a:r>
              <a:rPr lang="ru-RU" dirty="0"/>
              <a:t>, </a:t>
            </a:r>
            <a:r>
              <a:rPr lang="en-US" dirty="0"/>
              <a:t>D</a:t>
            </a:r>
            <a:r>
              <a:rPr lang="ru-RU" dirty="0"/>
              <a:t>[</a:t>
            </a:r>
            <a:r>
              <a:rPr lang="en-US" dirty="0"/>
              <a:t>Y</a:t>
            </a:r>
            <a:r>
              <a:rPr lang="ru-RU" dirty="0" err="1"/>
              <a:t>]=σ</a:t>
            </a:r>
            <a:r>
              <a:rPr lang="en-US" i="1" baseline="-25000" dirty="0"/>
              <a:t>y</a:t>
            </a:r>
            <a:r>
              <a:rPr lang="ru-RU" baseline="30000" dirty="0"/>
              <a:t>2</a:t>
            </a:r>
            <a:r>
              <a:rPr lang="ru-RU" dirty="0"/>
              <a:t> одномерных составляющих</a:t>
            </a:r>
            <a:r>
              <a:rPr lang="ru-RU" baseline="30000" dirty="0"/>
              <a:t> </a:t>
            </a:r>
            <a:r>
              <a:rPr lang="en-US" dirty="0"/>
              <a:t>X</a:t>
            </a:r>
            <a:r>
              <a:rPr lang="ru-RU" dirty="0"/>
              <a:t> и </a:t>
            </a:r>
            <a:r>
              <a:rPr lang="en-US" dirty="0"/>
              <a:t>Y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Однако математические ожидания и дисперсии </a:t>
            </a:r>
            <a:r>
              <a:rPr lang="ru-RU" u="sng" dirty="0"/>
              <a:t>одномерных</a:t>
            </a:r>
            <a:r>
              <a:rPr lang="ru-RU" dirty="0"/>
              <a:t> случайных величин X и Y недостаточно полно характеризуют </a:t>
            </a:r>
            <a:r>
              <a:rPr lang="ru-RU" u="sng" dirty="0"/>
              <a:t>двумерную</a:t>
            </a:r>
            <a:r>
              <a:rPr lang="ru-RU" dirty="0"/>
              <a:t> случайную величину (X, Y), так как не выражают степени зависимости ее составляющих X и Y.</a:t>
            </a:r>
          </a:p>
          <a:p>
            <a:r>
              <a:rPr lang="ru-RU" dirty="0"/>
              <a:t>Эту роль выполняют </a:t>
            </a:r>
            <a:r>
              <a:rPr lang="ru-RU" b="1" dirty="0"/>
              <a:t>ковариация</a:t>
            </a:r>
            <a:r>
              <a:rPr lang="ru-RU" dirty="0"/>
              <a:t> и </a:t>
            </a:r>
            <a:r>
              <a:rPr lang="ru-RU" b="1" dirty="0"/>
              <a:t>коэффициент корреляции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2"/>
                </a:solidFill>
                <a:effectLst/>
              </a:rPr>
              <a:t>Ковариация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Ковариацией </a:t>
            </a:r>
            <a:r>
              <a:rPr lang="ru-RU" b="1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K</a:t>
            </a:r>
            <a:r>
              <a:rPr lang="en-US" b="1" i="1" baseline="-25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xy</a:t>
            </a:r>
            <a:r>
              <a:rPr lang="ru-RU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ru-RU" dirty="0"/>
              <a:t>случайных величин </a:t>
            </a:r>
            <a:r>
              <a:rPr lang="en-US" dirty="0"/>
              <a:t>X</a:t>
            </a:r>
            <a:r>
              <a:rPr lang="ru-RU" dirty="0"/>
              <a:t> и </a:t>
            </a:r>
            <a:r>
              <a:rPr lang="en-US" dirty="0"/>
              <a:t>Y</a:t>
            </a:r>
            <a:r>
              <a:rPr lang="ru-RU" dirty="0"/>
              <a:t> называется математическое ожидание произведения отклонений этих величин от своих математических ожиданий</a:t>
            </a:r>
          </a:p>
          <a:p>
            <a:pPr algn="ctr">
              <a:buNone/>
            </a:pPr>
            <a:r>
              <a:rPr lang="en-US" i="1" dirty="0" err="1">
                <a:latin typeface="Calibri" pitchFamily="34" charset="0"/>
                <a:cs typeface="Calibri" pitchFamily="34" charset="0"/>
              </a:rPr>
              <a:t>K</a:t>
            </a:r>
            <a:r>
              <a:rPr lang="en-US" i="1" baseline="-25000" dirty="0" err="1">
                <a:latin typeface="Calibri" pitchFamily="34" charset="0"/>
                <a:cs typeface="Calibri" pitchFamily="34" charset="0"/>
              </a:rPr>
              <a:t>xy</a:t>
            </a:r>
            <a:r>
              <a:rPr lang="en-US" dirty="0">
                <a:latin typeface="Calibri" pitchFamily="34" charset="0"/>
                <a:cs typeface="Calibri" pitchFamily="34" charset="0"/>
              </a:rPr>
              <a:t>=M[(X-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 a</a:t>
            </a:r>
            <a:r>
              <a:rPr lang="en-US" i="1" baseline="-25000" dirty="0">
                <a:latin typeface="Calibri" pitchFamily="34" charset="0"/>
                <a:cs typeface="Calibri" pitchFamily="34" charset="0"/>
              </a:rPr>
              <a:t>x</a:t>
            </a:r>
            <a:r>
              <a:rPr lang="en-US" dirty="0">
                <a:latin typeface="Calibri" pitchFamily="34" charset="0"/>
                <a:cs typeface="Calibri" pitchFamily="34" charset="0"/>
              </a:rPr>
              <a:t>)*(Y-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 a</a:t>
            </a:r>
            <a:r>
              <a:rPr lang="en-US" i="1" baseline="-25000" dirty="0">
                <a:latin typeface="Calibri" pitchFamily="34" charset="0"/>
                <a:cs typeface="Calibri" pitchFamily="34" charset="0"/>
              </a:rPr>
              <a:t>y</a:t>
            </a:r>
            <a:r>
              <a:rPr lang="en-US" dirty="0">
                <a:latin typeface="Calibri" pitchFamily="34" charset="0"/>
                <a:cs typeface="Calibri" pitchFamily="34" charset="0"/>
              </a:rPr>
              <a:t>)].</a:t>
            </a:r>
            <a:endParaRPr lang="ru-RU" dirty="0">
              <a:latin typeface="Calibri" pitchFamily="34" charset="0"/>
              <a:cs typeface="Calibri" pitchFamily="34" charset="0"/>
            </a:endParaRPr>
          </a:p>
          <a:p>
            <a:endParaRPr lang="ru-RU" i="1" dirty="0"/>
          </a:p>
          <a:p>
            <a:endParaRPr lang="ru-RU" i="1" dirty="0"/>
          </a:p>
          <a:p>
            <a:pPr algn="ctr">
              <a:buNone/>
            </a:pPr>
            <a:r>
              <a:rPr lang="en-US" i="1" dirty="0" err="1">
                <a:latin typeface="Calibri" pitchFamily="34" charset="0"/>
                <a:cs typeface="Calibri" pitchFamily="34" charset="0"/>
              </a:rPr>
              <a:t>K</a:t>
            </a:r>
            <a:r>
              <a:rPr lang="en-US" i="1" baseline="-25000" dirty="0" err="1">
                <a:latin typeface="Calibri" pitchFamily="34" charset="0"/>
                <a:cs typeface="Calibri" pitchFamily="34" charset="0"/>
              </a:rPr>
              <a:t>xy</a:t>
            </a:r>
            <a:r>
              <a:rPr lang="ru-RU" dirty="0">
                <a:latin typeface="Calibri" pitchFamily="34" charset="0"/>
                <a:cs typeface="Calibri" pitchFamily="34" charset="0"/>
              </a:rPr>
              <a:t>=</a:t>
            </a:r>
            <a:r>
              <a:rPr lang="ru-RU" i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i="1" dirty="0" err="1">
                <a:latin typeface="Calibri" pitchFamily="34" charset="0"/>
                <a:cs typeface="Calibri" pitchFamily="34" charset="0"/>
              </a:rPr>
              <a:t>K</a:t>
            </a:r>
            <a:r>
              <a:rPr lang="en-US" i="1" baseline="-25000" dirty="0" err="1">
                <a:latin typeface="Calibri" pitchFamily="34" charset="0"/>
                <a:cs typeface="Calibri" pitchFamily="34" charset="0"/>
              </a:rPr>
              <a:t>yx</a:t>
            </a:r>
            <a:r>
              <a:rPr lang="ru-RU" i="1" dirty="0">
                <a:latin typeface="Calibri" pitchFamily="34" charset="0"/>
                <a:cs typeface="Calibri" pitchFamily="34" charset="0"/>
              </a:rPr>
              <a:t>.</a:t>
            </a:r>
            <a:endParaRPr lang="ru-RU" dirty="0">
              <a:latin typeface="Calibri" pitchFamily="34" charset="0"/>
              <a:cs typeface="Calibri" pitchFamily="34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Ковариация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Для дискретных СВ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Для непрерывных СВ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7</a:t>
            </a:fld>
            <a:endParaRPr lang="ru-RU"/>
          </a:p>
        </p:txBody>
      </p:sp>
      <p:graphicFrame>
        <p:nvGraphicFramePr>
          <p:cNvPr id="328706" name="Object 2"/>
          <p:cNvGraphicFramePr>
            <a:graphicFrameLocks noChangeAspect="1"/>
          </p:cNvGraphicFramePr>
          <p:nvPr/>
        </p:nvGraphicFramePr>
        <p:xfrm>
          <a:off x="785786" y="2928934"/>
          <a:ext cx="3525811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1942920" imgH="393480" progId="Equation.3">
                  <p:embed/>
                </p:oleObj>
              </mc:Choice>
              <mc:Fallback>
                <p:oleObj name="Формула" r:id="rId2" imgW="1942920" imgH="393480" progId="Equation.3">
                  <p:embed/>
                  <p:pic>
                    <p:nvPicPr>
                      <p:cNvPr id="3287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2928934"/>
                        <a:ext cx="3525811" cy="71438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07" name="Object 3"/>
          <p:cNvGraphicFramePr>
            <a:graphicFrameLocks noChangeAspect="1"/>
          </p:cNvGraphicFramePr>
          <p:nvPr/>
        </p:nvGraphicFramePr>
        <p:xfrm>
          <a:off x="4714876" y="3000372"/>
          <a:ext cx="3919872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2400120" imgH="393480" progId="Equation.3">
                  <p:embed/>
                </p:oleObj>
              </mc:Choice>
              <mc:Fallback>
                <p:oleObj name="Формула" r:id="rId4" imgW="2400120" imgH="393480" progId="Equation.3">
                  <p:embed/>
                  <p:pic>
                    <p:nvPicPr>
                      <p:cNvPr id="3287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6" y="3000372"/>
                        <a:ext cx="3919872" cy="64294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714348" y="5214950"/>
            <a:ext cx="77867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Ковариация двух случайных величин</a:t>
            </a:r>
            <a:r>
              <a:rPr lang="ru-RU" sz="2400" dirty="0"/>
              <a:t> характеризует как </a:t>
            </a:r>
            <a:r>
              <a:rPr lang="ru-RU" sz="2400" b="1" dirty="0"/>
              <a:t>степень зависимости</a:t>
            </a:r>
            <a:r>
              <a:rPr lang="ru-RU" sz="2400" dirty="0"/>
              <a:t> случайных величин, так и их </a:t>
            </a:r>
            <a:r>
              <a:rPr lang="ru-RU" sz="2400" b="1" dirty="0"/>
              <a:t>рассеивание</a:t>
            </a:r>
            <a:r>
              <a:rPr lang="ru-RU" sz="2400" dirty="0"/>
              <a:t> вокруг точки (</a:t>
            </a:r>
            <a:r>
              <a:rPr lang="ru-RU" sz="2400" i="1" dirty="0"/>
              <a:t>a</a:t>
            </a:r>
            <a:r>
              <a:rPr lang="en-US" sz="2400" i="1" baseline="-25000" dirty="0"/>
              <a:t>x</a:t>
            </a:r>
            <a:r>
              <a:rPr lang="ru-RU" sz="2400" dirty="0"/>
              <a:t>,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i="1" baseline="-25000" dirty="0"/>
              <a:t>y</a:t>
            </a:r>
            <a:r>
              <a:rPr lang="ru-RU" sz="2400" dirty="0"/>
              <a:t>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u="sng" dirty="0"/>
              <a:t>Свойства ковариации двух случайных величин: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ru-RU" u="sng" dirty="0"/>
              <a:t>Если две случайные величины</a:t>
            </a:r>
            <a:r>
              <a:rPr lang="ru-RU" dirty="0"/>
              <a:t> </a:t>
            </a:r>
            <a:r>
              <a:rPr lang="ru-RU" u="sng" dirty="0"/>
              <a:t>независимы, то их ковариация равна 0</a:t>
            </a:r>
            <a:r>
              <a:rPr lang="ru-RU" dirty="0"/>
              <a:t>. </a:t>
            </a:r>
            <a:r>
              <a:rPr lang="ru-RU" b="1" dirty="0"/>
              <a:t>Обратное утверждение</a:t>
            </a:r>
            <a:r>
              <a:rPr lang="ru-RU" dirty="0"/>
              <a:t>, что если ковариация двух случайных величин равна 0, то они независимы</a:t>
            </a:r>
            <a:r>
              <a:rPr lang="ru-RU" b="1" dirty="0"/>
              <a:t>, в общем случае неверно</a:t>
            </a:r>
            <a:r>
              <a:rPr lang="ru-RU" dirty="0"/>
              <a:t>!</a:t>
            </a:r>
            <a:r>
              <a:rPr lang="en-US" dirty="0"/>
              <a:t>                 </a:t>
            </a:r>
            <a:r>
              <a:rPr lang="ru-RU" dirty="0"/>
              <a:t>(см задача 3)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/>
              <a:t>Ковариация двух случайных величин равна математическому ожиданию их произведения минус произведение их математических ожиданий</a:t>
            </a:r>
          </a:p>
          <a:p>
            <a:pPr algn="ctr">
              <a:buNone/>
            </a:pPr>
            <a:r>
              <a:rPr lang="ru-RU" i="1" dirty="0">
                <a:latin typeface="Calibri" pitchFamily="34" charset="0"/>
                <a:cs typeface="Calibri" pitchFamily="34" charset="0"/>
              </a:rPr>
              <a:t>К</a:t>
            </a:r>
            <a:r>
              <a:rPr lang="en-US" i="1" baseline="-25000" dirty="0">
                <a:latin typeface="Calibri" pitchFamily="34" charset="0"/>
                <a:cs typeface="Calibri" pitchFamily="34" charset="0"/>
              </a:rPr>
              <a:t>xy</a:t>
            </a:r>
            <a:r>
              <a:rPr lang="en-US" dirty="0">
                <a:latin typeface="Calibri" pitchFamily="34" charset="0"/>
                <a:cs typeface="Calibri" pitchFamily="34" charset="0"/>
              </a:rPr>
              <a:t>=M[X*Y]-M[X]*M[Y].</a:t>
            </a:r>
            <a:endParaRPr lang="ru-RU" dirty="0">
              <a:latin typeface="Calibri" pitchFamily="34" charset="0"/>
              <a:cs typeface="Calibri" pitchFamily="34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 startAt="3"/>
            </a:pPr>
            <a:r>
              <a:rPr lang="ru-RU" dirty="0"/>
              <a:t>Ковариация двух случайных величин по абсолютной величине не превосходит произведения их средних </a:t>
            </a:r>
            <a:r>
              <a:rPr lang="ru-RU" dirty="0" err="1"/>
              <a:t>квадратических</a:t>
            </a:r>
            <a:r>
              <a:rPr lang="ru-RU" dirty="0"/>
              <a:t> отклонений 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Коэффициент корреляции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Коэффициентом корреляции двух случайных величин</a:t>
            </a:r>
            <a:r>
              <a:rPr lang="ru-RU" dirty="0"/>
              <a:t> называется отношение их ковариации к произведению средних </a:t>
            </a:r>
            <a:r>
              <a:rPr lang="ru-RU" dirty="0" err="1"/>
              <a:t>квадратических</a:t>
            </a:r>
            <a:r>
              <a:rPr lang="ru-RU" dirty="0"/>
              <a:t> отклонений этих величин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10</a:t>
            </a:fld>
            <a:endParaRPr lang="ru-RU"/>
          </a:p>
        </p:txBody>
      </p:sp>
      <p:graphicFrame>
        <p:nvGraphicFramePr>
          <p:cNvPr id="329730" name="Object 2"/>
          <p:cNvGraphicFramePr>
            <a:graphicFrameLocks noChangeAspect="1"/>
          </p:cNvGraphicFramePr>
          <p:nvPr/>
        </p:nvGraphicFramePr>
        <p:xfrm>
          <a:off x="2357422" y="4286256"/>
          <a:ext cx="4214842" cy="87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2323800" imgH="482400" progId="Equation.3">
                  <p:embed/>
                </p:oleObj>
              </mc:Choice>
              <mc:Fallback>
                <p:oleObj name="Формула" r:id="rId2" imgW="2323800" imgH="482400" progId="Equation.3">
                  <p:embed/>
                  <p:pic>
                    <p:nvPicPr>
                      <p:cNvPr id="3297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22" y="4286256"/>
                        <a:ext cx="4214842" cy="8752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1000100" y="5214950"/>
            <a:ext cx="75724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err="1"/>
              <a:t>ρ</a:t>
            </a:r>
            <a:r>
              <a:rPr lang="ru-RU" sz="2000" i="1" baseline="-25000" dirty="0" err="1"/>
              <a:t>xy</a:t>
            </a:r>
            <a:r>
              <a:rPr lang="ru-RU" sz="2000" dirty="0" err="1"/>
              <a:t>= ρ</a:t>
            </a:r>
            <a:r>
              <a:rPr lang="ru-RU" sz="2000" i="1" baseline="-25000" dirty="0" err="1"/>
              <a:t>y</a:t>
            </a:r>
            <a:r>
              <a:rPr lang="en-US" sz="2000" i="1" baseline="-25000" dirty="0"/>
              <a:t>x</a:t>
            </a:r>
            <a:r>
              <a:rPr lang="ru-RU" sz="2000" dirty="0"/>
              <a:t>.</a:t>
            </a:r>
          </a:p>
          <a:p>
            <a:r>
              <a:rPr lang="ru-RU" sz="2000" dirty="0"/>
              <a:t>Коэффициент корреляции безразмерная величина, в отличие от ковариации, которая зависит от размерности случайных величин.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u="sng" dirty="0"/>
              <a:t>Свойства коэффициента корреляции двух случайных величин: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None/>
            </a:pPr>
            <a:r>
              <a:rPr lang="ru-RU" dirty="0"/>
              <a:t>1.                   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>
              <a:buNone/>
            </a:pPr>
            <a:r>
              <a:rPr lang="ru-RU" dirty="0"/>
              <a:t>2. Если случайные величины независимы, то их коэффициент корреляции равен 0, то есть </a:t>
            </a:r>
            <a:r>
              <a:rPr lang="ru-RU" dirty="0" err="1"/>
              <a:t>ρ</a:t>
            </a:r>
            <a:r>
              <a:rPr lang="ru-RU" dirty="0"/>
              <a:t>=0. </a:t>
            </a:r>
          </a:p>
          <a:p>
            <a:pPr algn="just">
              <a:buNone/>
            </a:pPr>
            <a:r>
              <a:rPr lang="ru-RU" dirty="0"/>
              <a:t>Таким образом, из независимости случайных величин следует их некоррелированность. </a:t>
            </a:r>
            <a:r>
              <a:rPr lang="ru-RU" u="sng" dirty="0"/>
              <a:t>Обратное утверждение, о том что если коэффициент корреляции равен 0, то случайные величины независимы, </a:t>
            </a:r>
            <a:r>
              <a:rPr lang="ru-RU" b="1" u="sng" dirty="0"/>
              <a:t>неверно!</a:t>
            </a:r>
            <a:r>
              <a:rPr lang="ru-RU" dirty="0"/>
              <a:t> Случайные величины, чей коэффициент корреляции равен 0, называются </a:t>
            </a:r>
            <a:r>
              <a:rPr lang="ru-RU" b="1" dirty="0" err="1"/>
              <a:t>некоррелируемыми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11</a:t>
            </a:fld>
            <a:endParaRPr lang="ru-RU"/>
          </a:p>
        </p:txBody>
      </p:sp>
      <p:graphicFrame>
        <p:nvGraphicFramePr>
          <p:cNvPr id="330754" name="Object 2"/>
          <p:cNvGraphicFramePr>
            <a:graphicFrameLocks noChangeAspect="1"/>
          </p:cNvGraphicFramePr>
          <p:nvPr/>
        </p:nvGraphicFramePr>
        <p:xfrm>
          <a:off x="1000100" y="1571612"/>
          <a:ext cx="1785950" cy="560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647640" imgH="203040" progId="Equation.3">
                  <p:embed/>
                </p:oleObj>
              </mc:Choice>
              <mc:Fallback>
                <p:oleObj name="Формула" r:id="rId2" imgW="647640" imgH="203040" progId="Equation.3">
                  <p:embed/>
                  <p:pic>
                    <p:nvPicPr>
                      <p:cNvPr id="3307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00" y="1571612"/>
                        <a:ext cx="1785950" cy="5602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A8FE69-C68D-0143-C6A8-B8E7CD912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0" y="1591397"/>
            <a:ext cx="2227999" cy="6151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3. Если коэффициент корреляции двух случайных величин равен единице, то между этими случайными величинами существует линейная функциональная зависимость.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3317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4214818"/>
            <a:ext cx="8786874" cy="247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3328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1643050"/>
            <a:ext cx="8662698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Значение ковариации удобно находить по формуле 2 свойства ковариации </a:t>
            </a:r>
          </a:p>
          <a:p>
            <a:pPr algn="ctr">
              <a:buNone/>
            </a:pPr>
            <a:r>
              <a:rPr lang="ru-RU" i="1" dirty="0"/>
              <a:t>К</a:t>
            </a:r>
            <a:r>
              <a:rPr lang="en-US" i="1" baseline="-25000" dirty="0"/>
              <a:t>xy</a:t>
            </a:r>
            <a:r>
              <a:rPr lang="en-US" i="1" dirty="0"/>
              <a:t>=M[X*Y]-M[X]*M[Y].</a:t>
            </a:r>
            <a:endParaRPr lang="ru-RU" dirty="0"/>
          </a:p>
          <a:p>
            <a:endParaRPr lang="ru-RU" dirty="0"/>
          </a:p>
          <a:p>
            <a:pPr>
              <a:buNone/>
            </a:pPr>
            <a:r>
              <a:rPr lang="ru-RU" dirty="0"/>
              <a:t>Найдем </a:t>
            </a:r>
            <a:r>
              <a:rPr lang="en-US" i="1" dirty="0"/>
              <a:t>M</a:t>
            </a:r>
            <a:r>
              <a:rPr lang="ru-RU" i="1" dirty="0"/>
              <a:t>[</a:t>
            </a:r>
            <a:r>
              <a:rPr lang="en-US" i="1" dirty="0"/>
              <a:t>X</a:t>
            </a:r>
            <a:r>
              <a:rPr lang="ru-RU" i="1" dirty="0"/>
              <a:t>*</a:t>
            </a:r>
            <a:r>
              <a:rPr lang="en-US" i="1" dirty="0"/>
              <a:t>Y</a:t>
            </a:r>
            <a:r>
              <a:rPr lang="ru-RU" i="1" dirty="0"/>
              <a:t>]</a:t>
            </a:r>
            <a:r>
              <a:rPr lang="ru-RU" dirty="0"/>
              <a:t> по исходной таблице, используя формулу для дискретных случайных величин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3594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714488"/>
            <a:ext cx="8229600" cy="1071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14348" y="3143248"/>
            <a:ext cx="792961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Для расчета ковариации так же необходимо найти математические ожидания </a:t>
            </a:r>
            <a:r>
              <a:rPr lang="en-US" sz="2000" i="1" dirty="0"/>
              <a:t>M</a:t>
            </a:r>
            <a:r>
              <a:rPr lang="ru-RU" sz="2000" i="1" dirty="0"/>
              <a:t>[</a:t>
            </a:r>
            <a:r>
              <a:rPr lang="en-US" sz="2000" i="1" dirty="0"/>
              <a:t>X</a:t>
            </a:r>
            <a:r>
              <a:rPr lang="ru-RU" sz="2000" i="1" dirty="0"/>
              <a:t>]</a:t>
            </a:r>
            <a:r>
              <a:rPr lang="ru-RU" sz="2000" dirty="0"/>
              <a:t> и </a:t>
            </a:r>
            <a:r>
              <a:rPr lang="en-US" sz="2000" i="1" dirty="0"/>
              <a:t>M</a:t>
            </a:r>
            <a:r>
              <a:rPr lang="ru-RU" sz="2000" i="1" dirty="0"/>
              <a:t>[</a:t>
            </a:r>
            <a:r>
              <a:rPr lang="en-US" sz="2000" i="1" dirty="0"/>
              <a:t>Y</a:t>
            </a:r>
            <a:r>
              <a:rPr lang="ru-RU" sz="2000" i="1" dirty="0"/>
              <a:t>]</a:t>
            </a:r>
            <a:r>
              <a:rPr lang="ru-RU" sz="2000" dirty="0"/>
              <a:t> одномерных случайных величин X и Y.</a:t>
            </a:r>
          </a:p>
          <a:p>
            <a:r>
              <a:rPr lang="ru-RU" sz="2000" dirty="0"/>
              <a:t>Составим законы распределения одномерных случайных величин по таблице из исходных данных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16</a:t>
            </a:fld>
            <a:endParaRPr lang="ru-RU"/>
          </a:p>
        </p:txBody>
      </p:sp>
      <p:pic>
        <p:nvPicPr>
          <p:cNvPr id="3604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1571612"/>
            <a:ext cx="4673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04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3795" y="214290"/>
            <a:ext cx="9020205" cy="113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04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844" y="4143380"/>
            <a:ext cx="8786874" cy="263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3614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500042"/>
            <a:ext cx="73660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14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3571876"/>
            <a:ext cx="7358113" cy="312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18</a:t>
            </a:fld>
            <a:endParaRPr lang="ru-RU"/>
          </a:p>
        </p:txBody>
      </p:sp>
      <p:pic>
        <p:nvPicPr>
          <p:cNvPr id="3624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428604"/>
            <a:ext cx="8229600" cy="2224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24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5902" y="3498870"/>
            <a:ext cx="8713816" cy="2616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19</a:t>
            </a:fld>
            <a:endParaRPr lang="ru-RU"/>
          </a:p>
        </p:txBody>
      </p:sp>
      <p:pic>
        <p:nvPicPr>
          <p:cNvPr id="3635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500042"/>
            <a:ext cx="7759700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35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4357694"/>
            <a:ext cx="563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3737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57224" y="357166"/>
            <a:ext cx="6797702" cy="4294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21</a:t>
            </a:fld>
            <a:endParaRPr lang="ru-RU"/>
          </a:p>
        </p:txBody>
      </p:sp>
      <p:pic>
        <p:nvPicPr>
          <p:cNvPr id="3747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500174"/>
            <a:ext cx="8347489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22</a:t>
            </a:fld>
            <a:endParaRPr lang="ru-RU"/>
          </a:p>
        </p:txBody>
      </p:sp>
      <p:pic>
        <p:nvPicPr>
          <p:cNvPr id="3758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08025" y="428604"/>
            <a:ext cx="7727950" cy="238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58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3806838"/>
            <a:ext cx="8215370" cy="1765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581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348" y="5072074"/>
            <a:ext cx="8261520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23</a:t>
            </a:fld>
            <a:endParaRPr lang="ru-RU"/>
          </a:p>
        </p:txBody>
      </p:sp>
      <p:pic>
        <p:nvPicPr>
          <p:cNvPr id="3768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500306"/>
            <a:ext cx="6715172" cy="1507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68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3857629"/>
            <a:ext cx="6143668" cy="1417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683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714356"/>
            <a:ext cx="7715250" cy="157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24</a:t>
            </a:fld>
            <a:endParaRPr lang="ru-RU"/>
          </a:p>
        </p:txBody>
      </p:sp>
      <p:pic>
        <p:nvPicPr>
          <p:cNvPr id="3778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2071678"/>
            <a:ext cx="8554160" cy="2964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78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857232"/>
            <a:ext cx="4637914" cy="71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786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86512" y="785794"/>
            <a:ext cx="1928825" cy="67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25</a:t>
            </a:fld>
            <a:endParaRPr lang="ru-RU"/>
          </a:p>
        </p:txBody>
      </p:sp>
      <p:pic>
        <p:nvPicPr>
          <p:cNvPr id="3788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357166"/>
            <a:ext cx="6338914" cy="4036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88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09" y="4500570"/>
            <a:ext cx="8203053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Важно!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Если в результате решения вы выяснили, что коэффициент корреляции ≠0, то из этого следует, что случайные величины  являются </a:t>
            </a:r>
            <a:r>
              <a:rPr lang="ru-RU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зависимыми</a:t>
            </a:r>
            <a:r>
              <a:rPr lang="ru-RU" dirty="0"/>
              <a:t> или </a:t>
            </a:r>
            <a:r>
              <a:rPr lang="ru-RU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коррелированными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. </a:t>
            </a:r>
          </a:p>
          <a:p>
            <a:r>
              <a:rPr lang="ru-RU" dirty="0"/>
              <a:t>Но если </a:t>
            </a:r>
            <a:r>
              <a:rPr lang="ru-RU"/>
              <a:t>получен коэффициент </a:t>
            </a:r>
            <a:r>
              <a:rPr lang="ru-RU" dirty="0"/>
              <a:t>корреляции=0, то СВ могут оказаться как </a:t>
            </a:r>
            <a:r>
              <a:rPr lang="ru-RU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независимыми</a:t>
            </a:r>
            <a:r>
              <a:rPr lang="ru-RU" dirty="0"/>
              <a:t>, так и </a:t>
            </a:r>
            <a:r>
              <a:rPr lang="ru-RU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зависимыми</a:t>
            </a:r>
            <a:r>
              <a:rPr lang="ru-RU" dirty="0"/>
              <a:t> </a:t>
            </a:r>
            <a:r>
              <a:rPr lang="ru-RU" i="1" dirty="0"/>
              <a:t>(т.к. зависимость может носить не только линейный характер)</a:t>
            </a:r>
            <a:r>
              <a:rPr lang="ru-RU" dirty="0"/>
              <a:t>; однако и в том и другом случае их называют </a:t>
            </a:r>
            <a:r>
              <a:rPr lang="ru-RU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некоррелированными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26</a:t>
            </a:fld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сегодня все,  всем спасибо за внимание!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27</a:t>
            </a:fld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Литейная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Литейная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Литей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1845</TotalTime>
  <Words>799</Words>
  <Application>Microsoft Office PowerPoint</Application>
  <PresentationFormat>Экран (4:3)</PresentationFormat>
  <Paragraphs>87</Paragraphs>
  <Slides>27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4" baseType="lpstr">
      <vt:lpstr>Calibri</vt:lpstr>
      <vt:lpstr>Cambria</vt:lpstr>
      <vt:lpstr>Rockwell</vt:lpstr>
      <vt:lpstr>Times New Roman</vt:lpstr>
      <vt:lpstr>Wingdings 2</vt:lpstr>
      <vt:lpstr>Литейная</vt:lpstr>
      <vt:lpstr>Формула</vt:lpstr>
      <vt:lpstr>Теория вероятностей и математическая статистика. Лекция 8</vt:lpstr>
      <vt:lpstr>ЗАВИСИМЫЕ И НЕЗАВИСИМЫЕ СЛУЧАЙНЫЕ ВЕЛИЧИНЫ</vt:lpstr>
      <vt:lpstr>Презентация PowerPoint</vt:lpstr>
      <vt:lpstr>Ковариация и коэффициент корреляции.</vt:lpstr>
      <vt:lpstr>Презентация PowerPoint</vt:lpstr>
      <vt:lpstr>Ковариация</vt:lpstr>
      <vt:lpstr>Ковариация</vt:lpstr>
      <vt:lpstr>Свойства ковариации двух случайных величин:</vt:lpstr>
      <vt:lpstr>Презентация PowerPoint</vt:lpstr>
      <vt:lpstr>Коэффициент корреляции</vt:lpstr>
      <vt:lpstr>Свойства коэффициента корреляции двух случайных величин: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Важно!</vt:lpstr>
      <vt:lpstr>Презентация PowerPoint</vt:lpstr>
    </vt:vector>
  </TitlesOfParts>
  <Company>Reanimator Extreme Edition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вероятностей и математическая статистика</dc:title>
  <dc:creator>Elena</dc:creator>
  <cp:lastModifiedBy>e s</cp:lastModifiedBy>
  <cp:revision>215</cp:revision>
  <dcterms:created xsi:type="dcterms:W3CDTF">2021-02-04T09:02:28Z</dcterms:created>
  <dcterms:modified xsi:type="dcterms:W3CDTF">2026-02-16T08:59:39Z</dcterms:modified>
</cp:coreProperties>
</file>