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49"/>
  </p:notesMasterIdLst>
  <p:sldIdLst>
    <p:sldId id="256" r:id="rId2"/>
    <p:sldId id="470" r:id="rId3"/>
    <p:sldId id="472" r:id="rId4"/>
    <p:sldId id="473" r:id="rId5"/>
    <p:sldId id="504" r:id="rId6"/>
    <p:sldId id="474" r:id="rId7"/>
    <p:sldId id="475" r:id="rId8"/>
    <p:sldId id="476" r:id="rId9"/>
    <p:sldId id="471" r:id="rId10"/>
    <p:sldId id="478" r:id="rId11"/>
    <p:sldId id="479" r:id="rId12"/>
    <p:sldId id="480" r:id="rId13"/>
    <p:sldId id="515" r:id="rId14"/>
    <p:sldId id="481" r:id="rId15"/>
    <p:sldId id="482" r:id="rId16"/>
    <p:sldId id="483" r:id="rId17"/>
    <p:sldId id="484" r:id="rId18"/>
    <p:sldId id="485" r:id="rId19"/>
    <p:sldId id="488" r:id="rId20"/>
    <p:sldId id="489" r:id="rId21"/>
    <p:sldId id="486" r:id="rId22"/>
    <p:sldId id="487" r:id="rId23"/>
    <p:sldId id="490" r:id="rId24"/>
    <p:sldId id="491" r:id="rId25"/>
    <p:sldId id="492" r:id="rId26"/>
    <p:sldId id="493" r:id="rId27"/>
    <p:sldId id="494" r:id="rId28"/>
    <p:sldId id="495" r:id="rId29"/>
    <p:sldId id="496" r:id="rId30"/>
    <p:sldId id="497" r:id="rId31"/>
    <p:sldId id="498" r:id="rId32"/>
    <p:sldId id="499" r:id="rId33"/>
    <p:sldId id="500" r:id="rId34"/>
    <p:sldId id="501" r:id="rId35"/>
    <p:sldId id="502" r:id="rId36"/>
    <p:sldId id="503" r:id="rId37"/>
    <p:sldId id="505" r:id="rId38"/>
    <p:sldId id="506" r:id="rId39"/>
    <p:sldId id="507" r:id="rId40"/>
    <p:sldId id="508" r:id="rId41"/>
    <p:sldId id="509" r:id="rId42"/>
    <p:sldId id="510" r:id="rId43"/>
    <p:sldId id="511" r:id="rId44"/>
    <p:sldId id="512" r:id="rId45"/>
    <p:sldId id="513" r:id="rId46"/>
    <p:sldId id="514" r:id="rId47"/>
    <p:sldId id="469" r:id="rId4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6525" autoAdjust="0"/>
  </p:normalViewPr>
  <p:slideViewPr>
    <p:cSldViewPr>
      <p:cViewPr varScale="1">
        <p:scale>
          <a:sx n="63" d="100"/>
          <a:sy n="63" d="100"/>
        </p:scale>
        <p:origin x="-128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09.04.2021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618A8932-62C9-4217-BDB8-ACC30534E1CC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B3C35C-E6EA-416D-AA91-2D7B45730357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326BC372-8821-47C8-8858-C1C512837FEC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31F389-A53C-4A80-A700-AD17C06A2A6E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EEEE-F63A-45AF-84D9-BF154B205700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AE8AF9-156B-43BB-A6E4-2BA5B4B2CE04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9A241-2F2C-4BDB-949F-CDA85DBACC88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FB5F21AF-98DF-4F3D-8D1F-E6D251F86555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04880FEF-A9E0-4096-A6F1-C5DFB362ABDC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46B0B1-7D84-48E7-96D3-793BA5087640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575BA8E-E9BE-4983-8968-4586D2DC7992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09.04.2021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9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1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18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 dirty="0" smtClean="0">
                <a:solidFill>
                  <a:srgbClr val="00B0F0"/>
                </a:solidFill>
              </a:rPr>
              <a:t>9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 smtClean="0">
                <a:solidFill>
                  <a:schemeClr val="tx1"/>
                </a:solidFill>
              </a:rPr>
              <a:t>Преподаватель</a:t>
            </a:r>
            <a:r>
              <a:rPr lang="en-US" sz="3000" dirty="0" smtClean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 smtClean="0">
                <a:solidFill>
                  <a:schemeClr val="tx1"/>
                </a:solidFill>
              </a:rPr>
              <a:t>к.т.н., доцент каф ЭСВМ</a:t>
            </a:r>
            <a:endParaRPr lang="en-US" sz="3000" dirty="0" smtClean="0">
              <a:solidFill>
                <a:schemeClr val="tx1"/>
              </a:solidFill>
            </a:endParaRPr>
          </a:p>
          <a:p>
            <a:endParaRPr lang="ru-RU" sz="3000" dirty="0" smtClean="0">
              <a:solidFill>
                <a:schemeClr val="tx1"/>
              </a:solidFill>
            </a:endParaRPr>
          </a:p>
          <a:p>
            <a:r>
              <a:rPr lang="ru-RU" sz="3300" b="1" i="1" dirty="0" smtClean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E-mail:</a:t>
            </a:r>
            <a:endParaRPr lang="ru-RU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 smtClean="0">
              <a:solidFill>
                <a:schemeClr val="tx2"/>
              </a:solidFill>
            </a:endParaRPr>
          </a:p>
          <a:p>
            <a:endParaRPr lang="ru-RU" dirty="0" smtClean="0">
              <a:solidFill>
                <a:schemeClr val="tx2"/>
              </a:solidFill>
            </a:endParaRPr>
          </a:p>
          <a:p>
            <a:r>
              <a:rPr lang="ru-RU" dirty="0" smtClean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 smtClean="0">
                <a:solidFill>
                  <a:srgbClr val="FF0000"/>
                </a:solidFill>
              </a:rPr>
              <a:t>экзамен</a:t>
            </a:r>
            <a:endParaRPr lang="ru-RU" sz="3800" dirty="0" smtClean="0">
              <a:solidFill>
                <a:schemeClr val="tx2"/>
              </a:solidFill>
            </a:endParaRPr>
          </a:p>
          <a:p>
            <a:endParaRPr lang="ru-RU" dirty="0" smtClean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Элементы теории случайных процессов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Теория случайных процессов – это раздел математической науки, изучающей закономерности случайных явлений в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динамике</a:t>
            </a:r>
            <a:r>
              <a:rPr lang="ru-RU" dirty="0" smtClean="0"/>
              <a:t> их развития.</a:t>
            </a:r>
          </a:p>
          <a:p>
            <a:r>
              <a:rPr lang="ru-RU" dirty="0" smtClean="0"/>
              <a:t>Случайным процессом </a:t>
            </a:r>
            <a:r>
              <a:rPr lang="en-US" dirty="0" smtClean="0"/>
              <a:t>X(t) </a:t>
            </a:r>
            <a:r>
              <a:rPr lang="ru-RU" dirty="0" smtClean="0"/>
              <a:t>называется процесс, значение которого при любом значении аргумента </a:t>
            </a:r>
            <a:r>
              <a:rPr lang="en-US" dirty="0" smtClean="0"/>
              <a:t>t</a:t>
            </a:r>
            <a:r>
              <a:rPr lang="ru-RU" dirty="0" smtClean="0"/>
              <a:t> является случайной величиной.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Случайный процесс представляет собой функцию, которая в результате испытания может принять тот или иной конкретный вид, неизвестный заранее.</a:t>
            </a:r>
          </a:p>
          <a:p>
            <a:r>
              <a:rPr lang="ru-RU" dirty="0" smtClean="0"/>
              <a:t>Случайный процесс можно записать в виде </a:t>
            </a:r>
            <a:r>
              <a:rPr lang="ru-RU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функции двух переменных </a:t>
            </a: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X(t, </a:t>
            </a:r>
            <a:r>
              <a:rPr lang="el-GR" dirty="0" smtClean="0">
                <a:solidFill>
                  <a:schemeClr val="bg2">
                    <a:lumMod val="20000"/>
                    <a:lumOff val="80000"/>
                  </a:schemeClr>
                </a:solidFill>
                <a:ea typeface="Cambria"/>
              </a:rPr>
              <a:t>ω</a:t>
            </a: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mbria"/>
                <a:ea typeface="Cambria"/>
              </a:rPr>
              <a:t>)</a:t>
            </a:r>
            <a:r>
              <a:rPr lang="ru-RU" dirty="0" smtClean="0">
                <a:ea typeface="Cambria"/>
              </a:rPr>
              <a:t>, где </a:t>
            </a:r>
            <a:r>
              <a:rPr lang="el-GR" dirty="0" smtClean="0">
                <a:ea typeface="Cambria"/>
              </a:rPr>
              <a:t>ω∈Ω</a:t>
            </a:r>
            <a:r>
              <a:rPr lang="ru-RU" dirty="0" smtClean="0">
                <a:ea typeface="Cambria"/>
              </a:rPr>
              <a:t>-пространство элементарных событий, </a:t>
            </a:r>
            <a:r>
              <a:rPr lang="en-US" dirty="0" err="1" smtClean="0">
                <a:latin typeface="Cambria"/>
                <a:ea typeface="Cambria"/>
              </a:rPr>
              <a:t>t∈T</a:t>
            </a:r>
            <a:r>
              <a:rPr lang="ru-RU" dirty="0" smtClean="0">
                <a:ea typeface="Cambria"/>
              </a:rPr>
              <a:t>-множество значений аргумента.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 smtClean="0"/>
              <a:t>Сечение и реализация</a:t>
            </a:r>
            <a:r>
              <a:rPr lang="en-US" sz="3600" b="1" dirty="0" smtClean="0"/>
              <a:t> (</a:t>
            </a:r>
            <a:r>
              <a:rPr lang="ru-RU" sz="3600" b="1" dirty="0" smtClean="0"/>
              <a:t>траектория) случайного процесса</a:t>
            </a:r>
            <a:endParaRPr lang="ru-RU" sz="36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 фиксированном </a:t>
            </a:r>
            <a:r>
              <a:rPr lang="en-US" dirty="0" smtClean="0"/>
              <a:t>t=t</a:t>
            </a:r>
            <a:r>
              <a:rPr lang="en-US" baseline="-25000" dirty="0" smtClean="0"/>
              <a:t>0</a:t>
            </a:r>
            <a:r>
              <a:rPr lang="en-US" dirty="0" smtClean="0"/>
              <a:t> X(t</a:t>
            </a:r>
            <a:r>
              <a:rPr lang="en-US" baseline="-25000" dirty="0" smtClean="0"/>
              <a:t>0</a:t>
            </a:r>
            <a:r>
              <a:rPr lang="en-US" dirty="0" smtClean="0"/>
              <a:t>) </a:t>
            </a:r>
            <a:r>
              <a:rPr lang="ru-RU" dirty="0" smtClean="0"/>
              <a:t>представляет собой обычную случайную величину, то есть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Сечение</a:t>
            </a:r>
            <a:r>
              <a:rPr lang="ru-RU" dirty="0" smtClean="0"/>
              <a:t> случайного процесса в момент </a:t>
            </a:r>
            <a:r>
              <a:rPr lang="en-US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При фиксированном </a:t>
            </a:r>
            <a:r>
              <a:rPr lang="el-GR" dirty="0" smtClean="0">
                <a:latin typeface="Cambria"/>
                <a:ea typeface="Cambria"/>
              </a:rPr>
              <a:t>ω</a:t>
            </a:r>
            <a:r>
              <a:rPr lang="ru-RU" dirty="0" smtClean="0">
                <a:latin typeface="Cambria"/>
                <a:ea typeface="Cambria"/>
              </a:rPr>
              <a:t> случайный процесс превращается в конкретную неслучайную функцию </a:t>
            </a:r>
            <a:r>
              <a:rPr lang="en-US" dirty="0" smtClean="0">
                <a:latin typeface="Cambria"/>
                <a:ea typeface="Cambria"/>
              </a:rPr>
              <a:t>x(t)</a:t>
            </a:r>
            <a:r>
              <a:rPr lang="ru-RU" dirty="0" smtClean="0">
                <a:latin typeface="Cambria"/>
                <a:ea typeface="Cambria"/>
              </a:rPr>
              <a:t>, то есть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mbria"/>
                <a:ea typeface="Cambria"/>
              </a:rPr>
              <a:t>Реализацию</a:t>
            </a:r>
            <a:r>
              <a:rPr lang="ru-RU" dirty="0" smtClean="0">
                <a:latin typeface="Cambria"/>
                <a:ea typeface="Cambria"/>
              </a:rPr>
              <a:t> случайного процесса.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Числовые характеристики случайного процесса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Как и случайная величина, случайный процесс может быть описан числовыми характеристиками: матожиданием, дисперсией и средним </a:t>
            </a:r>
            <a:r>
              <a:rPr lang="ru-RU" dirty="0" err="1" smtClean="0"/>
              <a:t>квадратическим</a:t>
            </a:r>
            <a:r>
              <a:rPr lang="ru-RU" dirty="0" smtClean="0"/>
              <a:t> отклонением.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Математическое ожидание случайного процесса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Математическим ожиданием М</a:t>
            </a:r>
            <a:r>
              <a:rPr lang="en-US" dirty="0" smtClean="0"/>
              <a:t>[</a:t>
            </a:r>
            <a:r>
              <a:rPr lang="ru-RU" dirty="0" smtClean="0"/>
              <a:t>Х</a:t>
            </a:r>
            <a:r>
              <a:rPr lang="en-US" dirty="0" smtClean="0"/>
              <a:t>(t)] </a:t>
            </a:r>
            <a:r>
              <a:rPr lang="ru-RU" dirty="0" smtClean="0"/>
              <a:t>случайного процесса </a:t>
            </a:r>
            <a:r>
              <a:rPr lang="en-US" dirty="0" smtClean="0"/>
              <a:t>X(t)</a:t>
            </a:r>
            <a:r>
              <a:rPr lang="ru-RU" dirty="0" smtClean="0"/>
              <a:t> называется неслучайная функция </a:t>
            </a:r>
            <a:r>
              <a:rPr lang="en-US" dirty="0" smtClean="0"/>
              <a:t>a</a:t>
            </a:r>
            <a:r>
              <a:rPr lang="en-US" baseline="-25000" dirty="0" smtClean="0"/>
              <a:t>x</a:t>
            </a:r>
            <a:r>
              <a:rPr lang="en-US" dirty="0" smtClean="0"/>
              <a:t>(t)</a:t>
            </a:r>
            <a:r>
              <a:rPr lang="ru-RU" dirty="0" smtClean="0"/>
              <a:t>, которая при любом значении переменной </a:t>
            </a:r>
            <a:r>
              <a:rPr lang="en-US" dirty="0" smtClean="0"/>
              <a:t>t</a:t>
            </a:r>
            <a:r>
              <a:rPr lang="ru-RU" dirty="0" smtClean="0"/>
              <a:t> равна математическому ожиданию соответствующего сечения случайного процесса, то есть </a:t>
            </a:r>
            <a:r>
              <a:rPr lang="en-US" dirty="0" smtClean="0"/>
              <a:t>a</a:t>
            </a:r>
            <a:r>
              <a:rPr lang="en-US" baseline="-25000" dirty="0" smtClean="0"/>
              <a:t>x</a:t>
            </a:r>
            <a:r>
              <a:rPr lang="en-US" dirty="0" smtClean="0"/>
              <a:t>(t)</a:t>
            </a:r>
            <a:r>
              <a:rPr lang="ru-RU" dirty="0" smtClean="0"/>
              <a:t>= М</a:t>
            </a:r>
            <a:r>
              <a:rPr lang="en-US" dirty="0" smtClean="0"/>
              <a:t>[</a:t>
            </a:r>
            <a:r>
              <a:rPr lang="ru-RU" dirty="0" smtClean="0"/>
              <a:t>Х</a:t>
            </a:r>
            <a:r>
              <a:rPr lang="en-US" dirty="0" smtClean="0"/>
              <a:t>(t)] </a:t>
            </a:r>
            <a:endParaRPr lang="ru-RU" dirty="0" smtClean="0"/>
          </a:p>
          <a:p>
            <a:r>
              <a:rPr lang="ru-RU" dirty="0" smtClean="0"/>
              <a:t>Математическое ожидание случайного процесса характеризует среднюю траекторию всех возможных реализаций.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Дисперсия случайного процесса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Дисперсией </a:t>
            </a:r>
            <a:r>
              <a:rPr lang="en-US" dirty="0" smtClean="0"/>
              <a:t>D[</a:t>
            </a:r>
            <a:r>
              <a:rPr lang="ru-RU" dirty="0" smtClean="0"/>
              <a:t>Х</a:t>
            </a:r>
            <a:r>
              <a:rPr lang="en-US" dirty="0" smtClean="0"/>
              <a:t>(t)]</a:t>
            </a:r>
            <a:r>
              <a:rPr lang="ru-RU" dirty="0" smtClean="0"/>
              <a:t> случайного процесса </a:t>
            </a:r>
            <a:r>
              <a:rPr lang="en-US" dirty="0" smtClean="0"/>
              <a:t>X(t)</a:t>
            </a:r>
            <a:r>
              <a:rPr lang="ru-RU" dirty="0" smtClean="0"/>
              <a:t> называется неслучайная функция </a:t>
            </a:r>
            <a:r>
              <a:rPr lang="en-US" dirty="0" smtClean="0"/>
              <a:t>D</a:t>
            </a:r>
            <a:r>
              <a:rPr lang="en-US" baseline="-25000" dirty="0" smtClean="0"/>
              <a:t>x</a:t>
            </a:r>
            <a:r>
              <a:rPr lang="en-US" dirty="0" smtClean="0"/>
              <a:t>(t)</a:t>
            </a:r>
            <a:r>
              <a:rPr lang="ru-RU" dirty="0" smtClean="0"/>
              <a:t>, которая при любом значении переменной </a:t>
            </a:r>
            <a:r>
              <a:rPr lang="en-US" dirty="0" smtClean="0"/>
              <a:t>t</a:t>
            </a:r>
            <a:r>
              <a:rPr lang="ru-RU" dirty="0" smtClean="0"/>
              <a:t> равна дисперсии соответствующего сечения случайного процесса, то есть </a:t>
            </a:r>
            <a:r>
              <a:rPr lang="en-US" dirty="0" smtClean="0"/>
              <a:t>D</a:t>
            </a:r>
            <a:r>
              <a:rPr lang="en-US" baseline="-25000" dirty="0" smtClean="0"/>
              <a:t>x</a:t>
            </a:r>
            <a:r>
              <a:rPr lang="en-US" dirty="0" smtClean="0"/>
              <a:t>(t)</a:t>
            </a:r>
            <a:r>
              <a:rPr lang="ru-RU" dirty="0" smtClean="0"/>
              <a:t>=</a:t>
            </a:r>
            <a:r>
              <a:rPr lang="en-US" dirty="0" smtClean="0"/>
              <a:t> D[</a:t>
            </a:r>
            <a:r>
              <a:rPr lang="ru-RU" dirty="0" smtClean="0"/>
              <a:t>Х</a:t>
            </a:r>
            <a:r>
              <a:rPr lang="en-US" dirty="0" smtClean="0"/>
              <a:t>(t)]</a:t>
            </a:r>
            <a:r>
              <a:rPr lang="ru-RU" dirty="0" smtClean="0"/>
              <a:t> </a:t>
            </a:r>
          </a:p>
          <a:p>
            <a:r>
              <a:rPr lang="ru-RU" dirty="0" smtClean="0"/>
              <a:t>Дисперсия случайного процесса характеризует разброс реализаций относительно средней траектории.</a:t>
            </a:r>
            <a:endParaRPr lang="en-US" dirty="0" smtClean="0"/>
          </a:p>
          <a:p>
            <a:r>
              <a:rPr lang="ru-RU" dirty="0" smtClean="0"/>
              <a:t>Среднее квадратическое отклонение случайного процесса равно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5643570" y="5357826"/>
          <a:ext cx="2071702" cy="580077"/>
        </p:xfrm>
        <a:graphic>
          <a:graphicData uri="http://schemas.openxmlformats.org/presentationml/2006/ole">
            <p:oleObj spid="_x0000_s354306" name="Формула" r:id="rId3" imgW="952200" imgH="26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3522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28662" y="1571612"/>
            <a:ext cx="7500990" cy="2410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Корреляционная функция случайного процесса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Корреляционной функцией случайного процесса </a:t>
            </a:r>
            <a:r>
              <a:rPr lang="en-US" dirty="0" smtClean="0"/>
              <a:t>X(t)</a:t>
            </a:r>
            <a:r>
              <a:rPr lang="ru-RU" dirty="0" smtClean="0"/>
              <a:t> называется неслучайная функция </a:t>
            </a:r>
          </a:p>
          <a:p>
            <a:pPr algn="ctr">
              <a:buNone/>
            </a:pPr>
            <a:r>
              <a:rPr lang="ru-RU" dirty="0" smtClean="0"/>
              <a:t>К</a:t>
            </a:r>
            <a:r>
              <a:rPr lang="en-US" baseline="-25000" dirty="0" smtClean="0"/>
              <a:t>x</a:t>
            </a:r>
            <a:r>
              <a:rPr lang="en-US" dirty="0" smtClean="0"/>
              <a:t>(t</a:t>
            </a:r>
            <a:r>
              <a:rPr lang="en-US" baseline="-25000" dirty="0" smtClean="0"/>
              <a:t>1</a:t>
            </a:r>
            <a:r>
              <a:rPr lang="en-US" dirty="0" smtClean="0"/>
              <a:t>, t</a:t>
            </a:r>
            <a:r>
              <a:rPr lang="en-US" baseline="-25000" dirty="0" smtClean="0"/>
              <a:t>2</a:t>
            </a:r>
            <a:r>
              <a:rPr lang="en-US" dirty="0" smtClean="0"/>
              <a:t>)=M[(X(t</a:t>
            </a:r>
            <a:r>
              <a:rPr lang="en-US" baseline="-25000" dirty="0" smtClean="0"/>
              <a:t>1</a:t>
            </a:r>
            <a:r>
              <a:rPr lang="en-US" dirty="0" smtClean="0"/>
              <a:t>)-a</a:t>
            </a:r>
            <a:r>
              <a:rPr lang="en-US" baseline="-25000" dirty="0" smtClean="0"/>
              <a:t>x</a:t>
            </a:r>
            <a:r>
              <a:rPr lang="en-US" dirty="0" smtClean="0"/>
              <a:t>(t</a:t>
            </a:r>
            <a:r>
              <a:rPr lang="en-US" baseline="-25000" dirty="0" smtClean="0"/>
              <a:t>1</a:t>
            </a:r>
            <a:r>
              <a:rPr lang="en-US" dirty="0" smtClean="0"/>
              <a:t>))*(X(t</a:t>
            </a:r>
            <a:r>
              <a:rPr lang="en-US" baseline="-25000" dirty="0" smtClean="0"/>
              <a:t>2</a:t>
            </a:r>
            <a:r>
              <a:rPr lang="en-US" dirty="0" smtClean="0"/>
              <a:t>)-a</a:t>
            </a:r>
            <a:r>
              <a:rPr lang="en-US" baseline="-25000" dirty="0" smtClean="0"/>
              <a:t>x</a:t>
            </a:r>
            <a:r>
              <a:rPr lang="en-US" dirty="0" smtClean="0"/>
              <a:t>(t</a:t>
            </a:r>
            <a:r>
              <a:rPr lang="en-US" baseline="-25000" dirty="0" smtClean="0"/>
              <a:t>2</a:t>
            </a:r>
            <a:r>
              <a:rPr lang="en-US" dirty="0" smtClean="0"/>
              <a:t>))]</a:t>
            </a:r>
          </a:p>
          <a:p>
            <a:pPr>
              <a:buNone/>
            </a:pPr>
            <a:r>
              <a:rPr lang="ru-RU" dirty="0" smtClean="0"/>
              <a:t>двух переменных </a:t>
            </a:r>
            <a:r>
              <a:rPr lang="en-US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/>
              <a:t>t</a:t>
            </a:r>
            <a:r>
              <a:rPr lang="en-US" baseline="-25000" dirty="0" smtClean="0"/>
              <a:t>2</a:t>
            </a:r>
            <a:r>
              <a:rPr lang="ru-RU" dirty="0" smtClean="0"/>
              <a:t>, которая при каждой паре переменных </a:t>
            </a:r>
            <a:r>
              <a:rPr lang="en-US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/>
              <a:t>t</a:t>
            </a:r>
            <a:r>
              <a:rPr lang="en-US" baseline="-25000" dirty="0" smtClean="0"/>
              <a:t>2</a:t>
            </a:r>
            <a:r>
              <a:rPr lang="ru-RU" dirty="0" smtClean="0"/>
              <a:t> равна корреляции соответствующих сечений </a:t>
            </a:r>
            <a:r>
              <a:rPr lang="en-US" dirty="0" smtClean="0"/>
              <a:t>X(t</a:t>
            </a:r>
            <a:r>
              <a:rPr lang="en-US" baseline="-25000" dirty="0" smtClean="0"/>
              <a:t>1</a:t>
            </a:r>
            <a:r>
              <a:rPr lang="en-US" dirty="0" smtClean="0"/>
              <a:t>) </a:t>
            </a:r>
            <a:r>
              <a:rPr lang="ru-RU" dirty="0" smtClean="0"/>
              <a:t>и </a:t>
            </a:r>
            <a:r>
              <a:rPr lang="en-US" dirty="0" smtClean="0"/>
              <a:t>X(t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  <a:r>
              <a:rPr lang="ru-RU" dirty="0" smtClean="0"/>
              <a:t> случайного процесса.</a:t>
            </a:r>
          </a:p>
          <a:p>
            <a:pPr>
              <a:buNone/>
            </a:pPr>
            <a:r>
              <a:rPr lang="ru-RU" dirty="0" smtClean="0"/>
              <a:t>Корреляционная функция характеризует </a:t>
            </a:r>
          </a:p>
          <a:p>
            <a:r>
              <a:rPr lang="ru-RU" dirty="0" smtClean="0"/>
              <a:t>степень тесноты линейной зависимости между двумя сечениями</a:t>
            </a:r>
          </a:p>
          <a:p>
            <a:r>
              <a:rPr lang="ru-RU" dirty="0" smtClean="0"/>
              <a:t>и разброс этих сечений относительно математического ожидания.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Нормированной корреляционной функцией случайного процесса </a:t>
            </a:r>
            <a:r>
              <a:rPr lang="en-US" dirty="0" smtClean="0"/>
              <a:t>X(t) </a:t>
            </a:r>
            <a:r>
              <a:rPr lang="ru-RU" dirty="0" smtClean="0"/>
              <a:t>называется функция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2571736" y="3213100"/>
          <a:ext cx="3132247" cy="858842"/>
        </p:xfrm>
        <a:graphic>
          <a:graphicData uri="http://schemas.openxmlformats.org/presentationml/2006/ole">
            <p:oleObj spid="_x0000_s353282" name="Формула" r:id="rId3" imgW="157464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понятия теории массового обслуживания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Системы массового обслуживания (СМО) предназначены для многоразового использования при решении однотипных задач.</a:t>
            </a:r>
          </a:p>
          <a:p>
            <a:r>
              <a:rPr lang="ru-RU" dirty="0" smtClean="0"/>
              <a:t>Автозаправка,</a:t>
            </a:r>
          </a:p>
          <a:p>
            <a:r>
              <a:rPr lang="ru-RU" dirty="0" smtClean="0"/>
              <a:t>Парикмахерская,</a:t>
            </a:r>
          </a:p>
          <a:p>
            <a:r>
              <a:rPr lang="ru-RU" dirty="0" smtClean="0"/>
              <a:t>Телефонные сети,</a:t>
            </a:r>
          </a:p>
          <a:p>
            <a:r>
              <a:rPr lang="ru-RU" dirty="0" smtClean="0"/>
              <a:t>Банкоматы,</a:t>
            </a:r>
          </a:p>
          <a:p>
            <a:r>
              <a:rPr lang="ru-RU" dirty="0" smtClean="0"/>
              <a:t>Компьютерные сети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14591" y="2604562"/>
            <a:ext cx="6114818" cy="2609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Каждая СМО включает в свою структуру некоторое число обслуживающих устройств (пунктов, приборов, линий), которые называют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каналами обслуживания.</a:t>
            </a:r>
            <a:r>
              <a:rPr lang="ru-RU" dirty="0" smtClean="0"/>
              <a:t> </a:t>
            </a:r>
          </a:p>
          <a:p>
            <a:r>
              <a:rPr lang="ru-RU" dirty="0" smtClean="0"/>
              <a:t>Роль каналов могут играть лица, выполняющие те или иные операции, линии связи, ремонтные бригады, железнодорожные пути, бензоколонки, </a:t>
            </a:r>
            <a:r>
              <a:rPr lang="ru-RU" dirty="0" err="1" smtClean="0"/>
              <a:t>маршрутизаторы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 числу каналов СМО подразделяют на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одноканальные и многоканальные</a:t>
            </a:r>
            <a:r>
              <a:rPr lang="ru-RU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Каждая СМО предназначена для обслуживания (выполнения) некоторого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потока заявок </a:t>
            </a:r>
            <a:r>
              <a:rPr lang="ru-RU" dirty="0" smtClean="0"/>
              <a:t>(или </a:t>
            </a:r>
            <a:r>
              <a:rPr lang="ru-RU" i="1" dirty="0" smtClean="0"/>
              <a:t>требований</a:t>
            </a:r>
            <a:r>
              <a:rPr lang="ru-RU" dirty="0" smtClean="0"/>
              <a:t>), поступающих на вход системы большей частью не регулярно, а в случайные моменты времени. </a:t>
            </a:r>
          </a:p>
          <a:p>
            <a:r>
              <a:rPr lang="ru-RU" dirty="0" smtClean="0"/>
              <a:t>СМО делят на 2 основных класса: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СМО с отказами и СМО с очередью.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Процесс работы СМО представляет собой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случайный процесс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Процесс называется </a:t>
            </a:r>
            <a:r>
              <a:rPr lang="ru-RU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процессом с дискретными состояниями</a:t>
            </a:r>
            <a:r>
              <a:rPr lang="ru-RU" dirty="0" smtClean="0"/>
              <a:t>, если его возможные состояния можно заранее перечислить, а переход системы из состояния в состояние происходит мгновенно (скачком).</a:t>
            </a:r>
          </a:p>
          <a:p>
            <a:r>
              <a:rPr lang="ru-RU" dirty="0" smtClean="0"/>
              <a:t>Процесс называется </a:t>
            </a:r>
            <a:r>
              <a:rPr lang="ru-RU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процессом с непрерывным временем</a:t>
            </a:r>
            <a:r>
              <a:rPr lang="ru-RU" dirty="0" smtClean="0"/>
              <a:t>, если моменты возможных переходов системы из состояния в состояние не фиксированы заранее, а случайны.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Марковские процессы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cs typeface="Times New Roman" pitchFamily="18" charset="0"/>
              </a:rPr>
              <a:t>Случайный процесс, протекающий в системе </a:t>
            </a:r>
            <a:r>
              <a:rPr lang="en-US" i="1" dirty="0" smtClean="0">
                <a:cs typeface="Times New Roman" pitchFamily="18" charset="0"/>
              </a:rPr>
              <a:t>S</a:t>
            </a:r>
            <a:r>
              <a:rPr lang="ru-RU" dirty="0" smtClean="0">
                <a:cs typeface="Times New Roman" pitchFamily="18" charset="0"/>
              </a:rPr>
              <a:t> , называется </a:t>
            </a:r>
            <a:r>
              <a:rPr lang="ru-RU" b="1" dirty="0" err="1" smtClean="0">
                <a:solidFill>
                  <a:schemeClr val="bg2">
                    <a:lumMod val="20000"/>
                    <a:lumOff val="80000"/>
                  </a:schemeClr>
                </a:solidFill>
                <a:cs typeface="Times New Roman" pitchFamily="18" charset="0"/>
              </a:rPr>
              <a:t>марковским</a:t>
            </a:r>
            <a:r>
              <a:rPr lang="ru-RU" i="1" dirty="0" smtClean="0">
                <a:cs typeface="Times New Roman" pitchFamily="18" charset="0"/>
              </a:rPr>
              <a:t>, </a:t>
            </a:r>
            <a:r>
              <a:rPr lang="ru-RU" dirty="0" smtClean="0">
                <a:cs typeface="Times New Roman" pitchFamily="18" charset="0"/>
              </a:rPr>
              <a:t>если обладает свойством </a:t>
            </a:r>
            <a:r>
              <a:rPr lang="ru-RU" b="1" u="sng" dirty="0" smtClean="0">
                <a:solidFill>
                  <a:schemeClr val="bg2">
                    <a:lumMod val="20000"/>
                    <a:lumOff val="80000"/>
                  </a:schemeClr>
                </a:solidFill>
                <a:cs typeface="Times New Roman" pitchFamily="18" charset="0"/>
              </a:rPr>
              <a:t>отсутствия последействия</a:t>
            </a:r>
            <a:r>
              <a:rPr lang="ru-RU" dirty="0" smtClean="0">
                <a:cs typeface="Times New Roman" pitchFamily="18" charset="0"/>
              </a:rPr>
              <a:t>, или отсутствия памяти, т.е. для любого фиксированного момента времени </a:t>
            </a:r>
            <a:r>
              <a:rPr lang="ru-RU" i="1" dirty="0" smtClean="0">
                <a:cs typeface="Times New Roman" pitchFamily="18" charset="0"/>
              </a:rPr>
              <a:t>t</a:t>
            </a:r>
            <a:r>
              <a:rPr lang="ru-RU" i="1" baseline="-25000" dirty="0" smtClean="0">
                <a:cs typeface="Times New Roman" pitchFamily="18" charset="0"/>
              </a:rPr>
              <a:t>0</a:t>
            </a:r>
            <a:r>
              <a:rPr lang="ru-RU" dirty="0" smtClean="0">
                <a:cs typeface="Times New Roman" pitchFamily="18" charset="0"/>
              </a:rPr>
              <a:t> вероятность состояния в будущем зависит только от состояния системы в настоящем и не зависит от того, как развивался этот процесс в прошлом.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Потоки событий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Под </a:t>
            </a:r>
            <a:r>
              <a:rPr lang="ru-RU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потоком событий </a:t>
            </a:r>
            <a:r>
              <a:rPr lang="ru-RU" dirty="0" smtClean="0"/>
              <a:t>понимается последовательность однородных событий, следующих одно за другим в какие-то случайные моменты времени.</a:t>
            </a:r>
          </a:p>
          <a:p>
            <a:r>
              <a:rPr lang="ru-RU" dirty="0" smtClean="0"/>
              <a:t>Поток покупателей, поток машин, поток телефонных вызовов, поток машин</a:t>
            </a:r>
          </a:p>
          <a:p>
            <a:r>
              <a:rPr lang="ru-RU" dirty="0" smtClean="0"/>
              <a:t>Поток характеризуется </a:t>
            </a:r>
            <a:r>
              <a:rPr lang="ru-RU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интенсивностью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l-GR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λ</a:t>
            </a:r>
            <a:r>
              <a:rPr lang="ru-RU" dirty="0" smtClean="0"/>
              <a:t> – частотой появления событий или средним числом событий, поступающих в СМО в единицу времени.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Поток событий называется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регулярным</a:t>
            </a:r>
            <a:r>
              <a:rPr lang="ru-RU" dirty="0" smtClean="0"/>
              <a:t>, если события следуют одно за другим через определенные равные промежутки времени.</a:t>
            </a:r>
          </a:p>
          <a:p>
            <a:r>
              <a:rPr lang="ru-RU" dirty="0" smtClean="0"/>
              <a:t>Поток событий называется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стационарным</a:t>
            </a:r>
            <a:r>
              <a:rPr lang="ru-RU" dirty="0" smtClean="0"/>
              <a:t>, если его вероятностные характеристики не зависят от времени, то есть </a:t>
            </a:r>
            <a:r>
              <a:rPr lang="el-GR" dirty="0" smtClean="0"/>
              <a:t>λ</a:t>
            </a:r>
            <a:r>
              <a:rPr lang="ru-RU" dirty="0" smtClean="0"/>
              <a:t>(</a:t>
            </a:r>
            <a:r>
              <a:rPr lang="en-US" dirty="0" smtClean="0"/>
              <a:t>t)=</a:t>
            </a:r>
            <a:r>
              <a:rPr lang="el-GR" dirty="0" smtClean="0">
                <a:latin typeface="Cambria"/>
                <a:ea typeface="Cambria"/>
              </a:rPr>
              <a:t>λ</a:t>
            </a:r>
            <a:endParaRPr lang="en-US" dirty="0" smtClean="0">
              <a:latin typeface="Cambria"/>
              <a:ea typeface="Cambria"/>
            </a:endParaRPr>
          </a:p>
          <a:p>
            <a:r>
              <a:rPr lang="ru-RU" dirty="0" smtClean="0">
                <a:latin typeface="Cambria"/>
                <a:ea typeface="Cambria"/>
              </a:rPr>
              <a:t>Поток событий называется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mbria"/>
                <a:ea typeface="Cambria"/>
              </a:rPr>
              <a:t>ординарным</a:t>
            </a:r>
            <a:r>
              <a:rPr lang="ru-RU" dirty="0" smtClean="0">
                <a:latin typeface="Cambria"/>
                <a:ea typeface="Cambria"/>
              </a:rPr>
              <a:t>, если вероятность попадания на малый участок времени двух и более событий пренебрежительно мала.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Простейший поток (стационарный пуассоновский)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Поток событий называется </a:t>
            </a:r>
            <a:r>
              <a:rPr lang="ru-RU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простейшим или стационарным пуассоновским</a:t>
            </a:r>
            <a:r>
              <a:rPr lang="ru-RU" dirty="0" smtClean="0"/>
              <a:t>, если он одновременно </a:t>
            </a:r>
            <a:r>
              <a:rPr lang="ru-RU" u="sng" dirty="0" smtClean="0"/>
              <a:t>стационарен, ординарен и не имеет последействия</a:t>
            </a:r>
            <a:r>
              <a:rPr lang="ru-RU" dirty="0" smtClean="0"/>
              <a:t>.</a:t>
            </a:r>
          </a:p>
          <a:p>
            <a:r>
              <a:rPr lang="ru-RU" dirty="0" smtClean="0">
                <a:cs typeface="Times New Roman" pitchFamily="18" charset="0"/>
              </a:rPr>
              <a:t>Если постоянная интенсивность потока</a:t>
            </a:r>
            <a:r>
              <a:rPr lang="ru-RU" b="1" dirty="0" smtClean="0">
                <a:cs typeface="Times New Roman" pitchFamily="18" charset="0"/>
              </a:rPr>
              <a:t> </a:t>
            </a:r>
            <a:r>
              <a:rPr lang="en-US" b="1" dirty="0" smtClean="0">
                <a:ea typeface="Cambria"/>
                <a:cs typeface="Times New Roman" pitchFamily="18" charset="0"/>
              </a:rPr>
              <a:t>λ</a:t>
            </a:r>
            <a:r>
              <a:rPr lang="ru-RU" b="1" dirty="0" smtClean="0"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известна, то вероятность появления </a:t>
            </a:r>
            <a:r>
              <a:rPr lang="en-US" dirty="0" smtClean="0">
                <a:cs typeface="Times New Roman" pitchFamily="18" charset="0"/>
              </a:rPr>
              <a:t>m</a:t>
            </a:r>
            <a:r>
              <a:rPr lang="ru-RU" b="1" dirty="0" smtClean="0"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событий простейшего потока за время </a:t>
            </a:r>
            <a:r>
              <a:rPr lang="el-GR" dirty="0" smtClean="0">
                <a:cs typeface="Times New Roman" pitchFamily="18" charset="0"/>
              </a:rPr>
              <a:t>τ</a:t>
            </a:r>
            <a:r>
              <a:rPr lang="ru-RU" dirty="0" smtClean="0">
                <a:cs typeface="Times New Roman" pitchFamily="18" charset="0"/>
              </a:rPr>
              <a:t>   определяется формулой Пуассона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  <p:graphicFrame>
        <p:nvGraphicFramePr>
          <p:cNvPr id="357378" name="Object 2"/>
          <p:cNvGraphicFramePr>
            <a:graphicFrameLocks noChangeAspect="1"/>
          </p:cNvGraphicFramePr>
          <p:nvPr/>
        </p:nvGraphicFramePr>
        <p:xfrm>
          <a:off x="2857488" y="5715016"/>
          <a:ext cx="3589347" cy="857256"/>
        </p:xfrm>
        <a:graphic>
          <a:graphicData uri="http://schemas.openxmlformats.org/presentationml/2006/ole">
            <p:oleObj spid="_x0000_s357378" name="Формула" r:id="rId3" imgW="1206500" imgH="469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Задача: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автоматическую телефонную станцию поступает простейший поток вызовов с интенсивностью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λ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=1,2 вызовов в минуту.</a:t>
            </a:r>
          </a:p>
          <a:p>
            <a:pPr>
              <a:buFont typeface="Wingdings" pitchFamily="2" charset="2"/>
              <a:buChar char="q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Найти вероятность того, что за две минуты: 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а) не придет ни одного вызова; 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б) придет ровно один вызов.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а) Случайная величина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число вызовов за две минуты – распределена по закону Пуассона с параметром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λτ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=1,2 ∙ 2 = 2,4 . Вероятность того, что вызовов не будет (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=0), по формуле:</a:t>
            </a:r>
          </a:p>
          <a:p>
            <a:pPr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б) Вероятность одного вызова (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=1) по формуле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  <p:graphicFrame>
        <p:nvGraphicFramePr>
          <p:cNvPr id="355330" name="Object 2"/>
          <p:cNvGraphicFramePr>
            <a:graphicFrameLocks noChangeAspect="1"/>
          </p:cNvGraphicFramePr>
          <p:nvPr/>
        </p:nvGraphicFramePr>
        <p:xfrm>
          <a:off x="4357686" y="3786190"/>
          <a:ext cx="4143404" cy="451754"/>
        </p:xfrm>
        <a:graphic>
          <a:graphicData uri="http://schemas.openxmlformats.org/presentationml/2006/ole">
            <p:oleObj spid="_x0000_s355330" name="Формула" r:id="rId3" imgW="2425700" imgH="266700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57488" y="5786454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355331" name="Object 3"/>
          <p:cNvGraphicFramePr>
            <a:graphicFrameLocks noChangeAspect="1"/>
          </p:cNvGraphicFramePr>
          <p:nvPr/>
        </p:nvGraphicFramePr>
        <p:xfrm>
          <a:off x="2500298" y="5143512"/>
          <a:ext cx="5402262" cy="431800"/>
        </p:xfrm>
        <a:graphic>
          <a:graphicData uri="http://schemas.openxmlformats.org/presentationml/2006/ole">
            <p:oleObj spid="_x0000_s355331" name="Формула" r:id="rId4" imgW="29718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Марковский случайный процесс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Процесс работы СМО представляет собой случайный процесс с дискретными состояниями и непрерывным временем, с отсутствием последействия.</a:t>
            </a:r>
          </a:p>
          <a:p>
            <a:r>
              <a:rPr lang="ru-RU" dirty="0" smtClean="0"/>
              <a:t>При анализе случайных процессов с дискретными состояниями используют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граф состояний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Задача: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Построить граф состояний следующего процесса: устройство </a:t>
            </a:r>
            <a:r>
              <a:rPr lang="en-US" dirty="0" smtClean="0"/>
              <a:t>S</a:t>
            </a:r>
            <a:r>
              <a:rPr lang="ru-RU" dirty="0" smtClean="0"/>
              <a:t> состоит из двух узлов, каждый их которых в случайный момент времени может выйти из строя, после чего мгновенно начинается ремонт узла, продолжающийся неизвестное время.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Опишем все возможные состояния системы:</a:t>
            </a:r>
          </a:p>
          <a:p>
            <a:r>
              <a:rPr lang="en-US" dirty="0" smtClean="0"/>
              <a:t>S</a:t>
            </a:r>
            <a:r>
              <a:rPr lang="en-US" baseline="-25000" dirty="0" smtClean="0"/>
              <a:t>0 </a:t>
            </a:r>
            <a:r>
              <a:rPr lang="en-US" dirty="0" smtClean="0"/>
              <a:t>– </a:t>
            </a:r>
            <a:r>
              <a:rPr lang="ru-RU" dirty="0" smtClean="0"/>
              <a:t>оба узла исправны,</a:t>
            </a:r>
          </a:p>
          <a:p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 – </a:t>
            </a:r>
            <a:r>
              <a:rPr lang="ru-RU" dirty="0" smtClean="0"/>
              <a:t>первый ремонтируется, второй исправен,</a:t>
            </a:r>
          </a:p>
          <a:p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 – </a:t>
            </a:r>
            <a:r>
              <a:rPr lang="ru-RU" dirty="0" smtClean="0"/>
              <a:t>первый исправен, второй ремонтируется,</a:t>
            </a:r>
          </a:p>
          <a:p>
            <a:r>
              <a:rPr lang="en-US" dirty="0" smtClean="0"/>
              <a:t>S</a:t>
            </a:r>
            <a:r>
              <a:rPr lang="en-US" baseline="-25000" dirty="0" smtClean="0"/>
              <a:t>3</a:t>
            </a:r>
            <a:r>
              <a:rPr lang="en-US" dirty="0" smtClean="0"/>
              <a:t> – </a:t>
            </a:r>
            <a:r>
              <a:rPr lang="ru-RU" dirty="0" smtClean="0"/>
              <a:t>оба узла ремонтируются.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Уравнения </a:t>
            </a:r>
            <a:r>
              <a:rPr lang="ru-RU" dirty="0" err="1" smtClean="0"/>
              <a:t>Колмагорова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Вероятностью </a:t>
            </a:r>
            <a:r>
              <a:rPr lang="en-US" dirty="0" smtClean="0"/>
              <a:t>p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/>
              <a:t>(t)</a:t>
            </a:r>
            <a:r>
              <a:rPr lang="ru-RU" dirty="0" smtClean="0"/>
              <a:t>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/>
              <a:t>-</a:t>
            </a:r>
            <a:r>
              <a:rPr lang="ru-RU" dirty="0" smtClean="0"/>
              <a:t>го</a:t>
            </a:r>
            <a:r>
              <a:rPr lang="en-US" dirty="0" smtClean="0"/>
              <a:t> </a:t>
            </a:r>
            <a:r>
              <a:rPr lang="ru-RU" dirty="0" smtClean="0"/>
              <a:t>состояния называется вероятность того, что в момент времени </a:t>
            </a:r>
            <a:r>
              <a:rPr lang="en-US" dirty="0" smtClean="0"/>
              <a:t>t</a:t>
            </a:r>
            <a:r>
              <a:rPr lang="ru-RU" dirty="0" smtClean="0"/>
              <a:t> система будет находиться в состоянии </a:t>
            </a:r>
            <a:r>
              <a:rPr lang="en-US" dirty="0" smtClean="0"/>
              <a:t>S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endParaRPr lang="en-US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Для вероятностей состояний системы можно получить систему дифференциальных уравнений </a:t>
            </a:r>
            <a:r>
              <a:rPr lang="ru-RU" b="1" dirty="0" err="1" smtClean="0">
                <a:solidFill>
                  <a:schemeClr val="bg2">
                    <a:lumMod val="20000"/>
                    <a:lumOff val="80000"/>
                  </a:schemeClr>
                </a:solidFill>
                <a:cs typeface="Times New Roman" pitchFamily="18" charset="0"/>
              </a:rPr>
              <a:t>Колмагорова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  <a:cs typeface="Times New Roman" pitchFamily="18" charset="0"/>
              </a:rPr>
              <a:t>.</a:t>
            </a:r>
            <a:endParaRPr lang="en-US" b="1" i="1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214414" y="3143248"/>
          <a:ext cx="1643074" cy="930042"/>
        </p:xfrm>
        <a:graphic>
          <a:graphicData uri="http://schemas.openxmlformats.org/presentationml/2006/ole">
            <p:oleObj spid="_x0000_s359426" name="Формула" r:id="rId3" imgW="672840" imgH="3808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Правило составления уравнений </a:t>
            </a:r>
            <a:r>
              <a:rPr lang="ru-RU" dirty="0" err="1" smtClean="0"/>
              <a:t>Колмагорова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В левой части каждого из них стоит производная вероятности </a:t>
            </a:r>
            <a:r>
              <a:rPr lang="en-US" dirty="0" smtClean="0"/>
              <a:t>i-</a:t>
            </a:r>
            <a:r>
              <a:rPr lang="ru-RU" dirty="0" smtClean="0"/>
              <a:t>го состояния.</a:t>
            </a:r>
          </a:p>
          <a:p>
            <a:r>
              <a:rPr lang="ru-RU" dirty="0" smtClean="0"/>
              <a:t>В правой части – алгебраическая сумма произведений интенсивностей соответствующих потоков на вероятности состояний из которых осуществляется переход. Со знаком «+» берутся слагаемые входящие в </a:t>
            </a:r>
            <a:r>
              <a:rPr lang="en-US" dirty="0" smtClean="0"/>
              <a:t>i-</a:t>
            </a:r>
            <a:r>
              <a:rPr lang="ru-RU" dirty="0" err="1" smtClean="0"/>
              <a:t>ую</a:t>
            </a:r>
            <a:r>
              <a:rPr lang="ru-RU" dirty="0" smtClean="0"/>
              <a:t> вершину, со знаком «-» исходящие из </a:t>
            </a:r>
            <a:r>
              <a:rPr lang="en-US" dirty="0" smtClean="0"/>
              <a:t>i-</a:t>
            </a:r>
            <a:r>
              <a:rPr lang="ru-RU" dirty="0" smtClean="0"/>
              <a:t>ой вершины.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29</a:t>
            </a:fld>
            <a:endParaRPr lang="ru-RU"/>
          </a:p>
        </p:txBody>
      </p:sp>
      <p:graphicFrame>
        <p:nvGraphicFramePr>
          <p:cNvPr id="5" name="Содержимое 4"/>
          <p:cNvGraphicFramePr>
            <a:graphicFrameLocks noChangeAspect="1"/>
          </p:cNvGraphicFramePr>
          <p:nvPr>
            <p:ph idx="1"/>
          </p:nvPr>
        </p:nvGraphicFramePr>
        <p:xfrm>
          <a:off x="1357290" y="2928934"/>
          <a:ext cx="6858048" cy="3586183"/>
        </p:xfrm>
        <a:graphic>
          <a:graphicData uri="http://schemas.openxmlformats.org/presentationml/2006/ole">
            <p:oleObj spid="_x0000_s360450" name="Формула" r:id="rId3" imgW="3111480" imgH="1625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Уравнения </a:t>
            </a:r>
            <a:r>
              <a:rPr lang="ru-RU" dirty="0" err="1" smtClean="0"/>
              <a:t>Колмагорова</a:t>
            </a:r>
            <a:r>
              <a:rPr lang="ru-RU" dirty="0" smtClean="0"/>
              <a:t> дают возможность найти все вероятности системы как функции времени.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Предельные вероятности состояний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Особый интерес представляют вероятности системы </a:t>
            </a:r>
            <a:r>
              <a:rPr lang="en-US" dirty="0" smtClean="0"/>
              <a:t>p</a:t>
            </a:r>
            <a:r>
              <a:rPr lang="en-US" baseline="-25000" dirty="0" smtClean="0"/>
              <a:t>i</a:t>
            </a:r>
            <a:r>
              <a:rPr lang="en-US" dirty="0" smtClean="0"/>
              <a:t>(t) </a:t>
            </a:r>
            <a:r>
              <a:rPr lang="ru-RU" dirty="0" smtClean="0"/>
              <a:t>в предельном стационарном режиме, то е</a:t>
            </a:r>
            <a:r>
              <a:rPr lang="en-US" dirty="0" smtClean="0"/>
              <a:t>c</a:t>
            </a:r>
            <a:r>
              <a:rPr lang="ru-RU" dirty="0" err="1" smtClean="0"/>
              <a:t>ть</a:t>
            </a:r>
            <a:r>
              <a:rPr lang="ru-RU" dirty="0" smtClean="0"/>
              <a:t> при </a:t>
            </a:r>
            <a:r>
              <a:rPr lang="en-US" dirty="0" smtClean="0"/>
              <a:t>t</a:t>
            </a:r>
            <a:r>
              <a:rPr lang="en-US" dirty="0" smtClean="0">
                <a:latin typeface="Cambria"/>
                <a:ea typeface="Cambria"/>
              </a:rPr>
              <a:t>→∞</a:t>
            </a:r>
            <a:r>
              <a:rPr lang="ru-RU" dirty="0" smtClean="0">
                <a:latin typeface="Cambria"/>
                <a:ea typeface="Cambria"/>
              </a:rPr>
              <a:t>, которые называются </a:t>
            </a:r>
            <a:r>
              <a:rPr lang="ru-RU" b="1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mbria"/>
                <a:ea typeface="Cambria"/>
              </a:rPr>
              <a:t>предельными вероятностями состояний.</a:t>
            </a:r>
          </a:p>
          <a:p>
            <a:r>
              <a:rPr lang="ru-RU" u="sng" dirty="0" smtClean="0">
                <a:latin typeface="Cambria"/>
                <a:ea typeface="Cambria"/>
              </a:rPr>
              <a:t>Предельная вероятность </a:t>
            </a:r>
            <a:r>
              <a:rPr lang="ru-RU" dirty="0" smtClean="0">
                <a:latin typeface="Cambria"/>
                <a:ea typeface="Cambria"/>
              </a:rPr>
              <a:t>имеет четкий </a:t>
            </a:r>
            <a:r>
              <a:rPr lang="ru-RU" u="sng" dirty="0" smtClean="0">
                <a:latin typeface="Cambria"/>
                <a:ea typeface="Cambria"/>
              </a:rPr>
              <a:t>смысл</a:t>
            </a:r>
            <a:r>
              <a:rPr lang="ru-RU" dirty="0" smtClean="0">
                <a:latin typeface="Cambria"/>
                <a:ea typeface="Cambria"/>
              </a:rPr>
              <a:t>: она показывает среднее относительное время пребывания системы в этом состоянии.</a:t>
            </a:r>
          </a:p>
          <a:p>
            <a:r>
              <a:rPr lang="ru-RU" dirty="0" smtClean="0">
                <a:latin typeface="Cambria"/>
                <a:ea typeface="Cambria"/>
              </a:rPr>
              <a:t>Предельные вероятности постоянны.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Система уравнений </a:t>
            </a:r>
            <a:r>
              <a:rPr lang="ru-RU" dirty="0" err="1" smtClean="0"/>
              <a:t>Колмагорова</a:t>
            </a:r>
            <a:r>
              <a:rPr lang="ru-RU" dirty="0" smtClean="0"/>
              <a:t> для стационарного режима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u="sng" dirty="0" smtClean="0"/>
              <a:t>Слева</a:t>
            </a:r>
            <a:r>
              <a:rPr lang="ru-RU" dirty="0" smtClean="0"/>
              <a:t> в уравнениях стоит предельная вероятность данного состояния </a:t>
            </a:r>
            <a:r>
              <a:rPr lang="en-US" dirty="0" smtClean="0"/>
              <a:t>p</a:t>
            </a:r>
            <a:r>
              <a:rPr lang="en-US" baseline="-25000" dirty="0" smtClean="0"/>
              <a:t>i</a:t>
            </a:r>
            <a:r>
              <a:rPr lang="en-US" dirty="0" smtClean="0"/>
              <a:t> , </a:t>
            </a:r>
            <a:r>
              <a:rPr lang="ru-RU" dirty="0" smtClean="0"/>
              <a:t>умноженная на суммарную интенсивность всех потоков, ведущих ИЗ данного состояния, а </a:t>
            </a:r>
            <a:r>
              <a:rPr lang="ru-RU" u="sng" dirty="0" smtClean="0"/>
              <a:t>справа</a:t>
            </a:r>
            <a:r>
              <a:rPr lang="ru-RU" dirty="0" smtClean="0"/>
              <a:t> – сумма произведений интенсивностей всех потоков, входящих в </a:t>
            </a:r>
            <a:r>
              <a:rPr lang="en-US" dirty="0" smtClean="0"/>
              <a:t>i-</a:t>
            </a:r>
            <a:r>
              <a:rPr lang="ru-RU" dirty="0" smtClean="0"/>
              <a:t>е состояние, на вероятности тех состояний, из которых эти потоки исходят.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dirty="0" smtClean="0"/>
              <a:t>Задача</a:t>
            </a:r>
            <a:r>
              <a:rPr lang="en-US" sz="3100" dirty="0" smtClean="0"/>
              <a:t>: </a:t>
            </a:r>
            <a:r>
              <a:rPr lang="ru-RU" sz="3100" dirty="0" smtClean="0"/>
              <a:t>Найти предельные вероятности состояний системы из предыдущей задачи, при </a:t>
            </a:r>
            <a:br>
              <a:rPr lang="ru-RU" sz="3100" dirty="0" smtClean="0"/>
            </a:b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01</a:t>
            </a:r>
            <a:r>
              <a:rPr lang="ru-RU" sz="3100" dirty="0" smtClean="0">
                <a:ea typeface="Cambria"/>
              </a:rPr>
              <a:t>=1;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02</a:t>
            </a:r>
            <a:r>
              <a:rPr lang="ru-RU" sz="3100" dirty="0" smtClean="0">
                <a:ea typeface="Cambria"/>
              </a:rPr>
              <a:t>=2;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10</a:t>
            </a:r>
            <a:r>
              <a:rPr lang="ru-RU" sz="3100" dirty="0" smtClean="0">
                <a:ea typeface="Cambria"/>
              </a:rPr>
              <a:t>=2;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13</a:t>
            </a:r>
            <a:r>
              <a:rPr lang="ru-RU" sz="3100" dirty="0" smtClean="0">
                <a:ea typeface="Cambria"/>
              </a:rPr>
              <a:t>=2;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20</a:t>
            </a:r>
            <a:r>
              <a:rPr lang="ru-RU" sz="3100" dirty="0" smtClean="0">
                <a:ea typeface="Cambria"/>
              </a:rPr>
              <a:t>=3;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23</a:t>
            </a:r>
            <a:r>
              <a:rPr lang="ru-RU" sz="3100" dirty="0" smtClean="0">
                <a:ea typeface="Cambria"/>
              </a:rPr>
              <a:t>=1;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31</a:t>
            </a:r>
            <a:r>
              <a:rPr lang="ru-RU" sz="3100" dirty="0" smtClean="0">
                <a:ea typeface="Cambria"/>
              </a:rPr>
              <a:t>=3; </a:t>
            </a:r>
            <a:r>
              <a:rPr lang="el-GR" sz="3100" dirty="0" smtClean="0">
                <a:ea typeface="Cambria"/>
              </a:rPr>
              <a:t>λ</a:t>
            </a:r>
            <a:r>
              <a:rPr lang="ru-RU" sz="3100" baseline="-25000" dirty="0" smtClean="0">
                <a:ea typeface="Cambria"/>
              </a:rPr>
              <a:t>32</a:t>
            </a:r>
            <a:r>
              <a:rPr lang="ru-RU" sz="3100" dirty="0" smtClean="0">
                <a:ea typeface="Cambria"/>
              </a:rPr>
              <a:t>=2</a:t>
            </a:r>
            <a:r>
              <a:rPr lang="ru-RU" dirty="0" smtClean="0">
                <a:ea typeface="Cambria"/>
              </a:rPr>
              <a:t>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33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57158" y="1571612"/>
          <a:ext cx="3357586" cy="2238391"/>
        </p:xfrm>
        <a:graphic>
          <a:graphicData uri="http://schemas.openxmlformats.org/presentationml/2006/ole">
            <p:oleObj spid="_x0000_s361474" name="Формула" r:id="rId3" imgW="1409400" imgH="939600" progId="Equation.3">
              <p:embed/>
            </p:oleObj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5357818" y="1571612"/>
          <a:ext cx="1500198" cy="2160285"/>
        </p:xfrm>
        <a:graphic>
          <a:graphicData uri="http://schemas.openxmlformats.org/presentationml/2006/ole">
            <p:oleObj spid="_x0000_s361475" name="Формула" r:id="rId4" imgW="634680" imgH="914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Процессы гибели и размножения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Переходы из любого состояния могут осуществляться только в состояния с соседними номерами.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Составив и решив систему алгебраических уравнений для стационарного режима получим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35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428728" y="3500438"/>
          <a:ext cx="4649749" cy="2678124"/>
        </p:xfrm>
        <a:graphic>
          <a:graphicData uri="http://schemas.openxmlformats.org/presentationml/2006/ole">
            <p:oleObj spid="_x0000_s363522" name="Формула" r:id="rId3" imgW="3593880" imgH="2070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Задача: процесс гибели и размножения представлен графом. Найти предельные вероятности состояний.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85786" y="3714752"/>
            <a:ext cx="628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428596" y="4286255"/>
          <a:ext cx="3286148" cy="2484017"/>
        </p:xfrm>
        <a:graphic>
          <a:graphicData uri="http://schemas.openxmlformats.org/presentationml/2006/ole">
            <p:oleObj spid="_x0000_s365574" name="Формула" r:id="rId3" imgW="1612800" imgH="12189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СМО с отказами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 smtClean="0"/>
          </a:p>
          <a:p>
            <a:pPr>
              <a:buNone/>
            </a:pPr>
            <a:r>
              <a:rPr lang="ru-RU" dirty="0" smtClean="0"/>
              <a:t>В качестве показателей эффективности СМО с отказами будем рассматривать:</a:t>
            </a:r>
          </a:p>
          <a:p>
            <a:pPr>
              <a:buNone/>
            </a:pPr>
            <a:r>
              <a:rPr lang="ru-RU" dirty="0" smtClean="0"/>
              <a:t>1)  А — </a:t>
            </a:r>
            <a:r>
              <a:rPr lang="ru-RU" b="1" i="1" dirty="0" smtClean="0"/>
              <a:t>абсолютную пропускную способность СМО</a:t>
            </a:r>
            <a:r>
              <a:rPr lang="ru-RU" dirty="0" smtClean="0"/>
              <a:t>, т.е. среднее число заявок, обслуживаемых в единицу времени;</a:t>
            </a:r>
          </a:p>
          <a:p>
            <a:pPr>
              <a:buNone/>
            </a:pPr>
            <a:r>
              <a:rPr lang="ru-RU" dirty="0" smtClean="0"/>
              <a:t>2) </a:t>
            </a:r>
            <a:r>
              <a:rPr lang="en-US" dirty="0" smtClean="0"/>
              <a:t>Q </a:t>
            </a:r>
            <a:r>
              <a:rPr lang="ru-RU" dirty="0" smtClean="0"/>
              <a:t> — </a:t>
            </a:r>
            <a:r>
              <a:rPr lang="ru-RU" b="1" i="1" dirty="0" smtClean="0"/>
              <a:t>относительную пропускную способность</a:t>
            </a:r>
            <a:r>
              <a:rPr lang="ru-RU" dirty="0" smtClean="0"/>
              <a:t>, т.е. среднюю долю пришедших заявок, обслуживаемых системой;</a:t>
            </a:r>
          </a:p>
          <a:p>
            <a:pPr>
              <a:buNone/>
            </a:pPr>
            <a:r>
              <a:rPr lang="ru-RU" dirty="0" smtClean="0"/>
              <a:t>3)  </a:t>
            </a:r>
            <a:r>
              <a:rPr lang="ru-RU" dirty="0" err="1" smtClean="0"/>
              <a:t>Ротк</a:t>
            </a:r>
            <a:r>
              <a:rPr lang="ru-RU" dirty="0" smtClean="0"/>
              <a:t>— </a:t>
            </a:r>
            <a:r>
              <a:rPr lang="ru-RU" b="1" i="1" dirty="0" smtClean="0"/>
              <a:t>вероятность отказа</a:t>
            </a:r>
            <a:r>
              <a:rPr lang="ru-RU" dirty="0" smtClean="0"/>
              <a:t>, т.е. того, что заявка покинет СМО </a:t>
            </a:r>
            <a:r>
              <a:rPr lang="ru-RU" dirty="0" err="1" smtClean="0"/>
              <a:t>необслуженной</a:t>
            </a:r>
            <a:r>
              <a:rPr lang="ru-RU" dirty="0" smtClean="0"/>
              <a:t>;</a:t>
            </a:r>
          </a:p>
          <a:p>
            <a:pPr>
              <a:buNone/>
            </a:pPr>
            <a:r>
              <a:rPr lang="ru-RU" dirty="0" smtClean="0"/>
              <a:t>4) </a:t>
            </a:r>
            <a:r>
              <a:rPr lang="en-US" dirty="0" smtClean="0"/>
              <a:t>k</a:t>
            </a:r>
            <a:r>
              <a:rPr lang="ru-RU" dirty="0" smtClean="0"/>
              <a:t> — </a:t>
            </a:r>
            <a:r>
              <a:rPr lang="ru-RU" b="1" i="1" dirty="0" smtClean="0"/>
              <a:t>среднее число занятых каналов</a:t>
            </a:r>
            <a:r>
              <a:rPr lang="ru-RU" dirty="0" smtClean="0"/>
              <a:t> (для многоканальной системы).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Одноканальная система с отказами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/>
              <a:t>Рассмотрим задачу. Имеется один канал, на который поступает поток заявок с интенсивностью </a:t>
            </a:r>
            <a:r>
              <a:rPr lang="el-GR" dirty="0" smtClean="0"/>
              <a:t>λ</a:t>
            </a:r>
            <a:r>
              <a:rPr lang="ru-RU" dirty="0" smtClean="0"/>
              <a:t>. Поток обслуживании имеет интенсивность </a:t>
            </a:r>
            <a:r>
              <a:rPr lang="el-GR" dirty="0" smtClean="0"/>
              <a:t>μ</a:t>
            </a:r>
            <a:r>
              <a:rPr lang="ru-RU" dirty="0" smtClean="0"/>
              <a:t>. Найти предельные вероятности состояний системы и показатели ее эффективности.</a:t>
            </a:r>
          </a:p>
          <a:p>
            <a:pPr>
              <a:buNone/>
            </a:pPr>
            <a:r>
              <a:rPr lang="ru-RU" dirty="0" smtClean="0"/>
              <a:t>Система  (СМО) имеет два состояния:  </a:t>
            </a: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ru-RU" dirty="0" smtClean="0"/>
              <a:t>— канал свободен,  </a:t>
            </a: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ru-RU" dirty="0" smtClean="0"/>
              <a:t>— канал занят. Размеченный граф состояний представлен на рис.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38</a:t>
            </a:fld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rcRect l="17190" t="48235" r="62314" b="38824"/>
          <a:stretch>
            <a:fillRect/>
          </a:stretch>
        </p:blipFill>
        <p:spPr bwMode="auto">
          <a:xfrm>
            <a:off x="6623720" y="5143512"/>
            <a:ext cx="2520280" cy="1347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предельном, стационарном режиме система алгебраических уравнений для вероятностей состояний имеет вид</a:t>
            </a:r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Учитывая нормировочное условие р0+р1=1, найдем из</a:t>
            </a:r>
            <a:r>
              <a:rPr lang="en-US" dirty="0" smtClean="0"/>
              <a:t> </a:t>
            </a:r>
            <a:r>
              <a:rPr lang="ru-RU" dirty="0" smtClean="0"/>
              <a:t>системы  предельные вероятности состояний</a:t>
            </a:r>
          </a:p>
          <a:p>
            <a:endParaRPr lang="be-BY" dirty="0" smtClean="0"/>
          </a:p>
          <a:p>
            <a:endParaRPr lang="en-US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39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 l="47768" t="22647" r="36364" b="66765"/>
          <a:stretch>
            <a:fillRect/>
          </a:stretch>
        </p:blipFill>
        <p:spPr bwMode="auto">
          <a:xfrm>
            <a:off x="857224" y="3134698"/>
            <a:ext cx="2736304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2" cstate="print"/>
          <a:srcRect l="46777" t="37647" r="31901" b="52941"/>
          <a:stretch>
            <a:fillRect/>
          </a:stretch>
        </p:blipFill>
        <p:spPr bwMode="auto">
          <a:xfrm>
            <a:off x="2071670" y="5643578"/>
            <a:ext cx="4248472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где р</a:t>
            </a:r>
            <a:r>
              <a:rPr lang="ru-RU" baseline="-25000" dirty="0" smtClean="0"/>
              <a:t>0</a:t>
            </a:r>
            <a:r>
              <a:rPr lang="ru-RU" dirty="0" smtClean="0"/>
              <a:t>– вероятность того, что заявка будет обслужена, р</a:t>
            </a:r>
            <a:r>
              <a:rPr lang="ru-RU" baseline="-25000" dirty="0" smtClean="0"/>
              <a:t>1</a:t>
            </a:r>
            <a:r>
              <a:rPr lang="ru-RU" dirty="0" smtClean="0"/>
              <a:t> - вероятность того, что в обслуживании будет отказано (</a:t>
            </a:r>
            <a:r>
              <a:rPr lang="ru-RU" dirty="0" err="1" smtClean="0"/>
              <a:t>Ротк</a:t>
            </a:r>
            <a:r>
              <a:rPr lang="ru-RU" dirty="0" smtClean="0"/>
              <a:t>) </a:t>
            </a:r>
            <a:endParaRPr lang="be-BY" dirty="0" smtClean="0"/>
          </a:p>
          <a:p>
            <a:pPr>
              <a:buNone/>
            </a:pPr>
            <a:r>
              <a:rPr lang="ru-RU" dirty="0" smtClean="0"/>
              <a:t>Тогда </a:t>
            </a:r>
            <a:r>
              <a:rPr lang="ru-RU" b="1" i="1" dirty="0" smtClean="0"/>
              <a:t>относительная пропускная способность </a:t>
            </a:r>
            <a:r>
              <a:rPr lang="ru-RU" dirty="0" smtClean="0"/>
              <a:t>системы  </a:t>
            </a:r>
            <a:endParaRPr lang="be-BY" dirty="0" smtClean="0"/>
          </a:p>
          <a:p>
            <a:pPr>
              <a:buNone/>
            </a:pPr>
            <a:r>
              <a:rPr lang="ru-RU" dirty="0" smtClean="0"/>
              <a:t> </a:t>
            </a:r>
            <a:endParaRPr lang="be-BY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b="1" i="1" dirty="0" smtClean="0"/>
              <a:t>Абсолютная пропускная способность  </a:t>
            </a:r>
            <a:endParaRPr lang="be-BY" b="1" i="1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40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3" cstate="print"/>
          <a:srcRect l="46777" t="37647" r="31901" b="52941"/>
          <a:stretch>
            <a:fillRect/>
          </a:stretch>
        </p:blipFill>
        <p:spPr bwMode="auto">
          <a:xfrm>
            <a:off x="1785918" y="428604"/>
            <a:ext cx="4248472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5500694" y="3643314"/>
          <a:ext cx="2928958" cy="1143008"/>
        </p:xfrm>
        <a:graphic>
          <a:graphicData uri="http://schemas.openxmlformats.org/presentationml/2006/ole">
            <p:oleObj spid="_x0000_s366594" name="Формула" r:id="rId4" imgW="977760" imgH="419040" progId="Equation.3">
              <p:embed/>
            </p:oleObj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/>
        </p:nvGraphicFramePr>
        <p:xfrm>
          <a:off x="714348" y="5786453"/>
          <a:ext cx="2643206" cy="991203"/>
        </p:xfrm>
        <a:graphic>
          <a:graphicData uri="http://schemas.openxmlformats.org/presentationml/2006/ole">
            <p:oleObj spid="_x0000_s366595" name="Формула" r:id="rId5" imgW="111744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452628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Рассмотрим классическую </a:t>
            </a:r>
            <a:r>
              <a:rPr lang="ru-RU" b="1" i="1" dirty="0" smtClean="0"/>
              <a:t>задачу Эрланга</a:t>
            </a:r>
            <a:r>
              <a:rPr lang="ru-RU" dirty="0" smtClean="0"/>
              <a:t>. Имеется </a:t>
            </a:r>
            <a:r>
              <a:rPr lang="ru-RU" b="1" dirty="0" smtClean="0"/>
              <a:t> </a:t>
            </a:r>
            <a:r>
              <a:rPr lang="en-US" b="1" dirty="0" smtClean="0"/>
              <a:t>n </a:t>
            </a:r>
            <a:r>
              <a:rPr lang="ru-RU" dirty="0" smtClean="0"/>
              <a:t>каналов, на которые поступает поток заявок с интенсивностью</a:t>
            </a:r>
            <a:r>
              <a:rPr lang="en-US" dirty="0" smtClean="0"/>
              <a:t> </a:t>
            </a:r>
            <a:r>
              <a:rPr lang="el-GR" b="1" dirty="0" smtClean="0"/>
              <a:t>λ</a:t>
            </a:r>
            <a:r>
              <a:rPr lang="ru-RU" dirty="0" smtClean="0"/>
              <a:t> . Поток </a:t>
            </a:r>
            <a:r>
              <a:rPr lang="ru-RU" dirty="0" smtClean="0"/>
              <a:t>обслуживания </a:t>
            </a:r>
            <a:r>
              <a:rPr lang="ru-RU" dirty="0" smtClean="0"/>
              <a:t>имеет интенсивность</a:t>
            </a:r>
            <a:r>
              <a:rPr lang="ru-RU" b="1" dirty="0" smtClean="0"/>
              <a:t> </a:t>
            </a:r>
            <a:r>
              <a:rPr lang="el-GR" b="1" dirty="0" smtClean="0"/>
              <a:t>μ</a:t>
            </a:r>
            <a:r>
              <a:rPr lang="ru-RU" b="1" dirty="0" smtClean="0"/>
              <a:t>.</a:t>
            </a:r>
            <a:r>
              <a:rPr lang="ru-RU" dirty="0" smtClean="0"/>
              <a:t> Найти предельные вероятности состояний системы и показатели ее эффективности.</a:t>
            </a:r>
          </a:p>
          <a:p>
            <a:pPr>
              <a:buNone/>
            </a:pPr>
            <a:r>
              <a:rPr lang="ru-RU" dirty="0" smtClean="0"/>
              <a:t>Система </a:t>
            </a:r>
            <a:r>
              <a:rPr lang="en-US" b="1" dirty="0" smtClean="0"/>
              <a:t>S</a:t>
            </a:r>
            <a:r>
              <a:rPr lang="ru-RU" dirty="0" smtClean="0"/>
              <a:t> (СМО) имеет следующие состояния </a:t>
            </a:r>
            <a:r>
              <a:rPr lang="en-US" dirty="0" smtClean="0"/>
              <a:t>S</a:t>
            </a:r>
            <a:r>
              <a:rPr lang="ru-RU" baseline="-25000" smtClean="0"/>
              <a:t>0</a:t>
            </a:r>
            <a:r>
              <a:rPr lang="en-US" smtClean="0"/>
              <a:t>,…</a:t>
            </a:r>
            <a:r>
              <a:rPr lang="en-US" dirty="0" err="1" smtClean="0"/>
              <a:t>S</a:t>
            </a:r>
            <a:r>
              <a:rPr lang="en-US" baseline="-25000" dirty="0" err="1" smtClean="0"/>
              <a:t>k</a:t>
            </a:r>
            <a:r>
              <a:rPr lang="en-US" dirty="0" err="1" smtClean="0"/>
              <a:t>,..,S</a:t>
            </a:r>
            <a:r>
              <a:rPr lang="en-US" baseline="-25000" dirty="0" err="1" smtClean="0"/>
              <a:t>n</a:t>
            </a:r>
            <a:r>
              <a:rPr lang="en-US" dirty="0" smtClean="0"/>
              <a:t> </a:t>
            </a:r>
            <a:r>
              <a:rPr lang="ru-RU" dirty="0" smtClean="0"/>
              <a:t>(нумеруем их по числу заявок, находящихся в системе)</a:t>
            </a:r>
            <a:r>
              <a:rPr lang="en-US" dirty="0" smtClean="0"/>
              <a:t> </a:t>
            </a:r>
            <a:r>
              <a:rPr lang="ru-RU" dirty="0" smtClean="0"/>
              <a:t> где 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k</a:t>
            </a:r>
            <a:r>
              <a:rPr lang="en-US" dirty="0" smtClean="0"/>
              <a:t> </a:t>
            </a:r>
            <a:r>
              <a:rPr lang="ru-RU" dirty="0" smtClean="0"/>
              <a:t> — состояние системы, когда в ней находится </a:t>
            </a:r>
            <a:r>
              <a:rPr lang="en-US" b="1" dirty="0" smtClean="0"/>
              <a:t>k</a:t>
            </a:r>
            <a:r>
              <a:rPr lang="ru-RU" dirty="0" smtClean="0"/>
              <a:t> заявок, т.е. занято </a:t>
            </a:r>
            <a:r>
              <a:rPr lang="en-US" b="1" dirty="0" smtClean="0"/>
              <a:t>k </a:t>
            </a:r>
            <a:r>
              <a:rPr lang="ru-RU" dirty="0" smtClean="0"/>
              <a:t> каналов.</a:t>
            </a:r>
          </a:p>
          <a:p>
            <a:pPr>
              <a:buNone/>
            </a:pPr>
            <a:r>
              <a:rPr lang="ru-RU" dirty="0" smtClean="0"/>
              <a:t>Граф состояний СМО соответствует процессу гибели и размножения и показан на рисунке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 l="33884" t="62647" r="18182" b="23529"/>
          <a:stretch>
            <a:fillRect/>
          </a:stretch>
        </p:blipFill>
        <p:spPr bwMode="auto">
          <a:xfrm>
            <a:off x="1000100" y="5286388"/>
            <a:ext cx="6624736" cy="1412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4526280"/>
          </a:xfrm>
        </p:spPr>
        <p:txBody>
          <a:bodyPr>
            <a:noAutofit/>
          </a:bodyPr>
          <a:lstStyle/>
          <a:p>
            <a:pPr marL="179388" indent="182563"/>
            <a:r>
              <a:rPr lang="ru-RU" sz="2200" dirty="0" smtClean="0"/>
              <a:t> </a:t>
            </a:r>
            <a:r>
              <a:rPr lang="ru-RU" sz="2400" dirty="0" smtClean="0"/>
              <a:t>Поток заявок последовательно переводит систему из любого левого состояния в соседнее правое с одной и той же интенсивностью </a:t>
            </a:r>
            <a:r>
              <a:rPr lang="el-GR" sz="2400" dirty="0" smtClean="0"/>
              <a:t>λ</a:t>
            </a:r>
            <a:r>
              <a:rPr lang="ru-RU" sz="2400" dirty="0" smtClean="0"/>
              <a:t> . </a:t>
            </a:r>
          </a:p>
          <a:p>
            <a:pPr marL="179388" indent="182563"/>
            <a:r>
              <a:rPr lang="ru-RU" sz="2400" dirty="0" smtClean="0"/>
              <a:t> Интенсивность потока обслуживании, переводящих систему из любого правого состояния в соседнее левое состояние, постоянно меняется в зависимости от состояния. </a:t>
            </a:r>
          </a:p>
          <a:p>
            <a:pPr marL="179388" indent="182563" algn="just">
              <a:buNone/>
            </a:pPr>
            <a:r>
              <a:rPr lang="ru-RU" sz="2400" dirty="0" smtClean="0"/>
              <a:t>Действительно, если СМО находится в состоянии 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2</a:t>
            </a:r>
            <a:r>
              <a:rPr lang="ru-RU" sz="2400" dirty="0" smtClean="0"/>
              <a:t> (два канала заняты), то она может перейти в состояние  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1</a:t>
            </a:r>
            <a:r>
              <a:rPr lang="ru-RU" sz="2400" dirty="0" smtClean="0"/>
              <a:t>(один канал занят), когда закончит обслуживание либо первый, либо второй канал, т.е. суммарная интенсивность их потоков обслуживания будет</a:t>
            </a:r>
            <a:r>
              <a:rPr lang="en-US" sz="2400" dirty="0" smtClean="0"/>
              <a:t> 2</a:t>
            </a:r>
            <a:r>
              <a:rPr lang="el-GR" sz="2400" dirty="0" smtClean="0"/>
              <a:t>μ</a:t>
            </a:r>
            <a:r>
              <a:rPr lang="ru-RU" sz="2400" dirty="0" smtClean="0"/>
              <a:t> . Аналогично суммарный поток обслуживания, переводящий СМО из состояния</a:t>
            </a:r>
            <a:r>
              <a:rPr lang="en-US" sz="2400" dirty="0" smtClean="0"/>
              <a:t> S</a:t>
            </a:r>
            <a:r>
              <a:rPr lang="en-US" sz="2400" baseline="-25000" dirty="0" smtClean="0"/>
              <a:t>3</a:t>
            </a:r>
            <a:r>
              <a:rPr lang="ru-RU" sz="2400" dirty="0" smtClean="0"/>
              <a:t>  (три канала заняты) в 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2</a:t>
            </a:r>
            <a:r>
              <a:rPr lang="ru-RU" sz="2400" dirty="0" smtClean="0"/>
              <a:t>, будет иметь интенсивность </a:t>
            </a:r>
            <a:r>
              <a:rPr lang="en-US" sz="2400" dirty="0" smtClean="0"/>
              <a:t>3</a:t>
            </a:r>
            <a:r>
              <a:rPr lang="el-GR" sz="2400" dirty="0" smtClean="0"/>
              <a:t>μ</a:t>
            </a:r>
            <a:r>
              <a:rPr lang="ru-RU" sz="2400" dirty="0" smtClean="0"/>
              <a:t>, т.е. может освободиться любой из трех каналов и т.д.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Предельная вероятность состояния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 l="39008" t="31471" r="27273" b="58235"/>
          <a:stretch>
            <a:fillRect/>
          </a:stretch>
        </p:blipFill>
        <p:spPr bwMode="auto">
          <a:xfrm>
            <a:off x="1500166" y="2357430"/>
            <a:ext cx="4968552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f7_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3500438"/>
            <a:ext cx="1252339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f7_9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2948" y="4317887"/>
            <a:ext cx="1440160" cy="682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2143108" y="34290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вероятность, что занят один канал обслуживания;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286000" y="4282867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ru-RU" dirty="0" smtClean="0"/>
              <a:t>вероятность, что заняты два канала обслуживания; 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И т. д.</a:t>
            </a:r>
            <a:endParaRPr lang="be-BY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e-BY" sz="4800" dirty="0" smtClean="0">
                <a:solidFill>
                  <a:srgbClr val="000000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 </a:t>
            </a:r>
            <a:r>
              <a:rPr lang="ru-RU" sz="4800" b="1" i="1" dirty="0" smtClean="0">
                <a:solidFill>
                  <a:schemeClr val="tx1"/>
                </a:solidFill>
                <a:effectLst/>
                <a:latin typeface="Helvetica" charset="-52"/>
                <a:ea typeface="Times New Roman" pitchFamily="18" charset="0"/>
                <a:cs typeface="Times New Roman" pitchFamily="18" charset="0"/>
              </a:rPr>
              <a:t>Ф</a:t>
            </a:r>
            <a:r>
              <a:rPr lang="be-BY" sz="4800" b="1" i="1" dirty="0" smtClean="0">
                <a:solidFill>
                  <a:schemeClr val="tx1"/>
                </a:solidFill>
                <a:effectLst/>
                <a:latin typeface="Helvetica" charset="-52"/>
                <a:ea typeface="Times New Roman" pitchFamily="18" charset="0"/>
                <a:cs typeface="Times New Roman" pitchFamily="18" charset="0"/>
              </a:rPr>
              <a:t>ормулы Эрланга</a:t>
            </a:r>
            <a:r>
              <a:rPr lang="be-BY" sz="4800" dirty="0" smtClean="0">
                <a:solidFill>
                  <a:srgbClr val="000000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 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be-BY" dirty="0" smtClean="0"/>
              <a:t>Величина</a:t>
            </a:r>
            <a:r>
              <a:rPr lang="en-US" dirty="0" smtClean="0"/>
              <a:t> </a:t>
            </a:r>
            <a:endParaRPr lang="be-BY" dirty="0" smtClean="0"/>
          </a:p>
          <a:p>
            <a:pPr>
              <a:buNone/>
            </a:pPr>
            <a:r>
              <a:rPr lang="be-BY" dirty="0" smtClean="0"/>
              <a:t> </a:t>
            </a:r>
          </a:p>
          <a:p>
            <a:pPr>
              <a:buNone/>
            </a:pPr>
            <a:r>
              <a:rPr lang="be-BY" dirty="0" smtClean="0"/>
              <a:t>называется </a:t>
            </a:r>
            <a:r>
              <a:rPr lang="be-BY" b="1" i="1" dirty="0" smtClean="0"/>
              <a:t>интенсивностью нагрузки канала</a:t>
            </a:r>
            <a:r>
              <a:rPr lang="be-BY" dirty="0" smtClean="0"/>
              <a:t>. Она выражает среднее число заявок, приходящее за среднее время обслуживания одной заявки.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44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2571736" y="1714487"/>
          <a:ext cx="1071570" cy="1040053"/>
        </p:xfrm>
        <a:graphic>
          <a:graphicData uri="http://schemas.openxmlformats.org/presentationml/2006/ole">
            <p:oleObj spid="_x0000_s367618" name="Формула" r:id="rId3" imgW="431640" imgH="419040" progId="Equation.3">
              <p:embed/>
            </p:oleObj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 l="34794" t="40407" r="22270" b="42092"/>
          <a:stretch>
            <a:fillRect/>
          </a:stretch>
        </p:blipFill>
        <p:spPr bwMode="auto">
          <a:xfrm>
            <a:off x="428596" y="4714884"/>
            <a:ext cx="7855418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Вероятность отказа СМО есть предельная вероятность того, что все </a:t>
            </a:r>
            <a:r>
              <a:rPr lang="en-US" dirty="0" smtClean="0"/>
              <a:t>n</a:t>
            </a:r>
            <a:r>
              <a:rPr lang="ru-RU" dirty="0" smtClean="0"/>
              <a:t> каналов системы будут заняты, то есть 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 smtClean="0"/>
              <a:t>Относительная пропускная способность – вероятность того, что заявка будет обслужена: </a:t>
            </a:r>
            <a:endParaRPr lang="en-US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/>
        </p:nvGraphicFramePr>
        <p:xfrm>
          <a:off x="6643702" y="2643182"/>
          <a:ext cx="1571636" cy="809630"/>
        </p:xfrm>
        <a:graphic>
          <a:graphicData uri="http://schemas.openxmlformats.org/presentationml/2006/ole">
            <p:oleObj spid="_x0000_s368642" name="Формула" r:id="rId3" imgW="838080" imgH="431640" progId="Equation.3">
              <p:embed/>
            </p:oleObj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/>
        </p:nvGraphicFramePr>
        <p:xfrm>
          <a:off x="3428992" y="4714884"/>
          <a:ext cx="3381375" cy="1000125"/>
        </p:xfrm>
        <a:graphic>
          <a:graphicData uri="http://schemas.openxmlformats.org/presentationml/2006/ole">
            <p:oleObj spid="_x0000_s368643" name="Формула" r:id="rId4" imgW="14601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Абсолютная пропускная способность</a:t>
            </a:r>
          </a:p>
          <a:p>
            <a:endParaRPr lang="ru-RU" dirty="0" smtClean="0"/>
          </a:p>
          <a:p>
            <a:endParaRPr lang="en-US" dirty="0" smtClean="0"/>
          </a:p>
          <a:p>
            <a:r>
              <a:rPr lang="ru-RU" dirty="0" smtClean="0"/>
              <a:t>Среднее число занятых каналов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785786" y="2214554"/>
          <a:ext cx="2354274" cy="714690"/>
        </p:xfrm>
        <a:graphic>
          <a:graphicData uri="http://schemas.openxmlformats.org/presentationml/2006/ole">
            <p:oleObj spid="_x0000_s369666" name="Формула" r:id="rId3" imgW="1422360" imgH="431640" progId="Equation.3">
              <p:embed/>
            </p:oleObj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928662" y="3714751"/>
          <a:ext cx="2428892" cy="832763"/>
        </p:xfrm>
        <a:graphic>
          <a:graphicData uri="http://schemas.openxmlformats.org/presentationml/2006/ole">
            <p:oleObj spid="_x0000_s369667" name="Формула" r:id="rId4" imgW="133344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 сегодня все,  всем спасибо за внимание!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3747</TotalTime>
  <Words>1460</Words>
  <Application>Microsoft Office PowerPoint</Application>
  <PresentationFormat>Экран (4:3)</PresentationFormat>
  <Paragraphs>196</Paragraphs>
  <Slides>47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49" baseType="lpstr">
      <vt:lpstr>Литейная</vt:lpstr>
      <vt:lpstr>Формула</vt:lpstr>
      <vt:lpstr>Теория вероятностей и математическая статистика. Лекция 9</vt:lpstr>
      <vt:lpstr>Элементы теории случайных процессов</vt:lpstr>
      <vt:lpstr>Слайд 3</vt:lpstr>
      <vt:lpstr>Сечение и реализация (траектория) случайного процесса</vt:lpstr>
      <vt:lpstr>Слайд 5</vt:lpstr>
      <vt:lpstr>Числовые характеристики случайного процесса</vt:lpstr>
      <vt:lpstr>Математическое ожидание случайного процесса</vt:lpstr>
      <vt:lpstr>Дисперсия случайного процесса</vt:lpstr>
      <vt:lpstr>Слайд 9</vt:lpstr>
      <vt:lpstr>Корреляционная функция случайного процесса</vt:lpstr>
      <vt:lpstr>Слайд 11</vt:lpstr>
      <vt:lpstr>Основные понятия теории массового обслуживания</vt:lpstr>
      <vt:lpstr>Слайд 13</vt:lpstr>
      <vt:lpstr>Слайд 14</vt:lpstr>
      <vt:lpstr>Слайд 15</vt:lpstr>
      <vt:lpstr>Слайд 16</vt:lpstr>
      <vt:lpstr>Марковские процессы</vt:lpstr>
      <vt:lpstr>Потоки событий</vt:lpstr>
      <vt:lpstr>Слайд 19</vt:lpstr>
      <vt:lpstr>Простейший поток (стационарный пуассоновский)</vt:lpstr>
      <vt:lpstr>Задача:</vt:lpstr>
      <vt:lpstr>Решение:</vt:lpstr>
      <vt:lpstr>Марковский случайный процесс</vt:lpstr>
      <vt:lpstr>Задача:</vt:lpstr>
      <vt:lpstr>Слайд 25</vt:lpstr>
      <vt:lpstr>Слайд 26</vt:lpstr>
      <vt:lpstr>Уравнения Колмагорова</vt:lpstr>
      <vt:lpstr>Правило составления уравнений Колмагорова</vt:lpstr>
      <vt:lpstr>Слайд 29</vt:lpstr>
      <vt:lpstr>Слайд 30</vt:lpstr>
      <vt:lpstr>Предельные вероятности состояний системы</vt:lpstr>
      <vt:lpstr>Система уравнений Колмагорова для стационарного режима</vt:lpstr>
      <vt:lpstr>Задача: Найти предельные вероятности состояний системы из предыдущей задачи, при  λ01=1; λ02=2; λ10=2; λ13=2; λ20=3; λ23=1; λ31=3; λ32=2.</vt:lpstr>
      <vt:lpstr>Процессы гибели и размножения</vt:lpstr>
      <vt:lpstr>Слайд 35</vt:lpstr>
      <vt:lpstr>Задача: процесс гибели и размножения представлен графом. Найти предельные вероятности состояний.</vt:lpstr>
      <vt:lpstr>СМО с отказами</vt:lpstr>
      <vt:lpstr>Одноканальная система с отказами</vt:lpstr>
      <vt:lpstr>Слайд 39</vt:lpstr>
      <vt:lpstr>Слайд 40</vt:lpstr>
      <vt:lpstr>Слайд 41</vt:lpstr>
      <vt:lpstr>Слайд 42</vt:lpstr>
      <vt:lpstr>Слайд 43</vt:lpstr>
      <vt:lpstr> Формулы Эрланга </vt:lpstr>
      <vt:lpstr>Слайд 45</vt:lpstr>
      <vt:lpstr>Слайд 46</vt:lpstr>
      <vt:lpstr>Слайд 47</vt:lpstr>
    </vt:vector>
  </TitlesOfParts>
  <Company>Reanimator Extreme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Elena</cp:lastModifiedBy>
  <cp:revision>296</cp:revision>
  <dcterms:created xsi:type="dcterms:W3CDTF">2021-02-04T09:02:28Z</dcterms:created>
  <dcterms:modified xsi:type="dcterms:W3CDTF">2021-04-09T09:50:53Z</dcterms:modified>
</cp:coreProperties>
</file>