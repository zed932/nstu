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2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91" r:id="rId35"/>
    <p:sldId id="288" r:id="rId36"/>
    <p:sldId id="289" r:id="rId37"/>
    <p:sldId id="290" r:id="rId3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9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 s" userId="b32979be72172c5e" providerId="LiveId" clId="{1A9D4396-1918-4F43-B4DF-954C8EB3F697}"/>
    <pc:docChg chg="custSel modSld">
      <pc:chgData name="e s" userId="b32979be72172c5e" providerId="LiveId" clId="{1A9D4396-1918-4F43-B4DF-954C8EB3F697}" dt="2026-02-11T16:53:09.220" v="1" actId="27636"/>
      <pc:docMkLst>
        <pc:docMk/>
      </pc:docMkLst>
      <pc:sldChg chg="modSp mod">
        <pc:chgData name="e s" userId="b32979be72172c5e" providerId="LiveId" clId="{1A9D4396-1918-4F43-B4DF-954C8EB3F697}" dt="2026-02-11T16:53:09.220" v="1" actId="27636"/>
        <pc:sldMkLst>
          <pc:docMk/>
          <pc:sldMk cId="0" sldId="278"/>
        </pc:sldMkLst>
        <pc:spChg chg="mod">
          <ac:chgData name="e s" userId="b32979be72172c5e" providerId="LiveId" clId="{1A9D4396-1918-4F43-B4DF-954C8EB3F697}" dt="2026-02-11T16:53:09.220" v="1" actId="27636"/>
          <ac:spMkLst>
            <pc:docMk/>
            <pc:sldMk cId="0" sldId="27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77D3-0B2B-48AE-98C1-113779481BCC}" type="datetimeFigureOut">
              <a:rPr lang="ru-RU" smtClean="0"/>
              <a:pPr/>
              <a:t>11.02.2026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C6C41-54EF-49D8-8026-9CCF966A16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618A8932-62C9-4217-BDB8-ACC30534E1CC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3C35C-E6EA-416D-AA91-2D7B45730357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26BC372-8821-47C8-8858-C1C512837FEC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1F389-A53C-4A80-A700-AD17C06A2A6E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6EEEE-F63A-45AF-84D9-BF154B205700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E8AF9-156B-43BB-A6E4-2BA5B4B2CE04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9A241-2F2C-4BDB-949F-CDA85DBACC88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FB5F21AF-98DF-4F3D-8D1F-E6D251F86555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4880FEF-A9E0-4096-A6F1-C5DFB362ABDC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B0B1-7D84-48E7-96D3-793BA5087640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5BA8E-E9BE-4983-8968-4586D2DC7992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4694BB94-EEF3-4693-84F8-FBB2BE68A97C}" type="datetime1">
              <a:rPr lang="ru-RU" smtClean="0"/>
              <a:pPr/>
              <a:t>11.02.2026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C3DD56-44D6-4410-A1D4-F947CD7B8BF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TV.09.03.02.NNTU@yandex.r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B0F0"/>
                </a:solidFill>
              </a:rPr>
              <a:t>Теория вероятностей и математическая статистика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3609996"/>
          </a:xfrm>
        </p:spPr>
        <p:txBody>
          <a:bodyPr>
            <a:normAutofit fontScale="85000" lnSpcReduction="20000"/>
          </a:bodyPr>
          <a:lstStyle/>
          <a:p>
            <a:r>
              <a:rPr lang="ru-RU" sz="3000" dirty="0">
                <a:solidFill>
                  <a:schemeClr val="tx1"/>
                </a:solidFill>
              </a:rPr>
              <a:t>Преподаватель</a:t>
            </a:r>
            <a:r>
              <a:rPr lang="en-US" sz="3000" dirty="0">
                <a:solidFill>
                  <a:schemeClr val="tx1"/>
                </a:solidFill>
              </a:rPr>
              <a:t>:</a:t>
            </a:r>
          </a:p>
          <a:p>
            <a:r>
              <a:rPr lang="ru-RU" sz="3000" dirty="0">
                <a:solidFill>
                  <a:schemeClr val="tx1"/>
                </a:solidFill>
              </a:rPr>
              <a:t>к.т.н., доцент каф ЭСВМ</a:t>
            </a:r>
            <a:endParaRPr lang="en-US" sz="3000" dirty="0">
              <a:solidFill>
                <a:schemeClr val="tx1"/>
              </a:solidFill>
            </a:endParaRPr>
          </a:p>
          <a:p>
            <a:endParaRPr lang="ru-RU" sz="3000" dirty="0">
              <a:solidFill>
                <a:schemeClr val="tx1"/>
              </a:solidFill>
            </a:endParaRPr>
          </a:p>
          <a:p>
            <a:r>
              <a:rPr lang="ru-RU" sz="3300" b="1" i="1" dirty="0">
                <a:solidFill>
                  <a:schemeClr val="accent5"/>
                </a:solidFill>
              </a:rPr>
              <a:t>Елена Владимировна Сидорова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E-mail:</a:t>
            </a:r>
            <a:endParaRPr lang="ru-RU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  <a:hlinkClick r:id="rId2"/>
              </a:rPr>
              <a:t>TV.09.03.02.NNTU@yandex.ru</a:t>
            </a:r>
            <a:endParaRPr lang="en-US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r>
              <a:rPr lang="ru-RU" dirty="0">
                <a:solidFill>
                  <a:schemeClr val="tx2"/>
                </a:solidFill>
              </a:rPr>
              <a:t>Аттестация: </a:t>
            </a:r>
          </a:p>
          <a:p>
            <a:r>
              <a:rPr lang="ru-RU" sz="3800" b="1" u="sng" dirty="0">
                <a:solidFill>
                  <a:srgbClr val="FF0000"/>
                </a:solidFill>
              </a:rPr>
              <a:t>экзамен</a:t>
            </a:r>
            <a:endParaRPr lang="ru-RU" sz="3800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  <a:p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Теория вероятностей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Теория вероятностей </a:t>
            </a:r>
            <a:r>
              <a:rPr lang="ru-RU" dirty="0">
                <a:solidFill>
                  <a:schemeClr val="accent5"/>
                </a:solidFill>
              </a:rPr>
              <a:t>– </a:t>
            </a:r>
            <a:r>
              <a:rPr lang="ru-RU" dirty="0"/>
              <a:t>математическая наука, изучающая </a:t>
            </a:r>
            <a:r>
              <a:rPr lang="ru-RU" i="1" u="sng" dirty="0"/>
              <a:t>закономерности случайных явлений.</a:t>
            </a:r>
          </a:p>
          <a:p>
            <a:endParaRPr lang="ru-RU" i="1" u="sng" dirty="0"/>
          </a:p>
          <a:p>
            <a:endParaRPr lang="ru-RU" i="1" u="sng" dirty="0"/>
          </a:p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Случайное явление -</a:t>
            </a:r>
            <a:r>
              <a:rPr lang="ru-RU" dirty="0"/>
              <a:t> </a:t>
            </a:r>
            <a:r>
              <a:rPr lang="ru-RU" dirty="0" err="1"/>
              <a:t>явление</a:t>
            </a:r>
            <a:r>
              <a:rPr lang="ru-RU" dirty="0"/>
              <a:t> с </a:t>
            </a:r>
            <a:r>
              <a:rPr lang="ru-RU" i="1" u="sng" dirty="0"/>
              <a:t>неопределенным исходом</a:t>
            </a:r>
            <a:r>
              <a:rPr lang="ru-RU" dirty="0"/>
              <a:t>, происходящее </a:t>
            </a:r>
            <a:r>
              <a:rPr lang="ru-RU" i="1" u="sng" dirty="0"/>
              <a:t>при неоднократном воспроизведении определенного комплекса условий.</a:t>
            </a: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теории вероятностей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Изучение специфических закономерностей, наблюдаемых в случайных явлениях,</a:t>
            </a:r>
          </a:p>
          <a:p>
            <a:endParaRPr lang="ru-RU" dirty="0"/>
          </a:p>
          <a:p>
            <a:r>
              <a:rPr lang="ru-RU" dirty="0"/>
              <a:t>Разработка методов построения теоретических вероятностных моделей.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статистика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Математическая статистика - </a:t>
            </a:r>
            <a:r>
              <a:rPr lang="ru-RU" dirty="0"/>
              <a:t>это раздел математики, изучающей </a:t>
            </a:r>
            <a:r>
              <a:rPr lang="ru-RU" i="1" u="sng" dirty="0"/>
              <a:t>методы сбора, систематизации и обработки результатов наблюдений </a:t>
            </a:r>
            <a:r>
              <a:rPr lang="ru-RU" dirty="0"/>
              <a:t>с целью выявления статистических закономерностей.</a:t>
            </a:r>
          </a:p>
          <a:p>
            <a:r>
              <a:rPr lang="ru-RU" i="1" dirty="0" err="1"/>
              <a:t>Матстатистика</a:t>
            </a:r>
            <a:r>
              <a:rPr lang="ru-RU" i="1" dirty="0"/>
              <a:t>  </a:t>
            </a:r>
            <a:r>
              <a:rPr lang="ru-RU" dirty="0"/>
              <a:t>опирается на теорию вероятностей.</a:t>
            </a:r>
            <a:endParaRPr lang="ru-RU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357158" y="928670"/>
            <a:ext cx="4038600" cy="4526280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ru-RU" sz="34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Теория вероятностей</a:t>
            </a:r>
          </a:p>
          <a:p>
            <a:pPr algn="ctr">
              <a:buNone/>
            </a:pPr>
            <a:endParaRPr lang="ru-RU" dirty="0"/>
          </a:p>
          <a:p>
            <a:r>
              <a:rPr lang="ru-RU" sz="3100" dirty="0"/>
              <a:t>Абстрактное (теоретическое) описание действительности</a:t>
            </a:r>
          </a:p>
          <a:p>
            <a:pPr>
              <a:buNone/>
            </a:pPr>
            <a:endParaRPr lang="ru-RU" sz="3100" dirty="0"/>
          </a:p>
          <a:p>
            <a:r>
              <a:rPr lang="ru-RU" sz="3100" dirty="0"/>
              <a:t>Строит теоретическую вероятностную модель случайных явлений</a:t>
            </a:r>
          </a:p>
          <a:p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14876" y="928670"/>
            <a:ext cx="4038600" cy="5429288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ru-RU" sz="34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Матстатистика</a:t>
            </a:r>
            <a:endParaRPr lang="ru-RU" sz="34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algn="ctr">
              <a:buNone/>
            </a:pPr>
            <a:endParaRPr lang="ru-RU" dirty="0"/>
          </a:p>
          <a:p>
            <a:r>
              <a:rPr lang="ru-RU" sz="3100" dirty="0"/>
              <a:t>Работа  непосредственно с результатами  реальных экспериментов</a:t>
            </a:r>
          </a:p>
          <a:p>
            <a:pPr>
              <a:buNone/>
            </a:pPr>
            <a:endParaRPr lang="ru-RU" sz="3100" dirty="0"/>
          </a:p>
          <a:p>
            <a:r>
              <a:rPr lang="ru-RU" sz="3100" dirty="0"/>
              <a:t>Выполняется оценка значений неизвестных параметров с заданным уровнем достоверности</a:t>
            </a:r>
          </a:p>
          <a:p>
            <a:endParaRPr lang="ru-RU" sz="3100" dirty="0"/>
          </a:p>
          <a:p>
            <a:r>
              <a:rPr lang="ru-RU" sz="3100" dirty="0"/>
              <a:t>Выдвигается гипотеза (выводы по результатам наблюдений)</a:t>
            </a:r>
          </a:p>
          <a:p>
            <a:pPr>
              <a:buNone/>
            </a:pPr>
            <a:endParaRPr lang="ru-RU" sz="3100" dirty="0"/>
          </a:p>
          <a:p>
            <a:r>
              <a:rPr lang="ru-RU" sz="3100" dirty="0"/>
              <a:t>Происходит проверка гипотезы с заданной степенью точности</a:t>
            </a:r>
          </a:p>
          <a:p>
            <a:pPr>
              <a:buNone/>
            </a:pPr>
            <a:endParaRPr lang="ru-RU" sz="3100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Аксиома (базовое утверждение)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 большом числе наблюдений случайные воздействия в значительной мере нейтрализуются (погашаются) и полученный результат оказывается практически неслучайным, предсказуемым.</a:t>
            </a:r>
          </a:p>
          <a:p>
            <a:pPr>
              <a:buNone/>
            </a:pPr>
            <a:endParaRPr lang="ru-RU" dirty="0"/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Это утверждение является базой для практического использования вероятностных и статистических методов исследования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истории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XVI-XVII </a:t>
            </a:r>
            <a:r>
              <a:rPr lang="ru-RU" dirty="0"/>
              <a:t>вв. первые работы по теории вероятностей. Они принадлежали Б. Паскалю, П. Ферма, Я. Бернулли.</a:t>
            </a:r>
          </a:p>
          <a:p>
            <a:r>
              <a:rPr lang="en-US" dirty="0"/>
              <a:t>XVII-XIX </a:t>
            </a:r>
            <a:r>
              <a:rPr lang="ru-RU" dirty="0"/>
              <a:t>вв. дальнейшее развитие благодаря  работам А. Муавра, П. Лапласа, К. Гаусса, С. Пуассона.</a:t>
            </a:r>
          </a:p>
          <a:p>
            <a:r>
              <a:rPr lang="ru-RU" dirty="0"/>
              <a:t>Русские математики П.Л. Чебышев, А.М. Ляпунов, А.А. Марков, А.Н. </a:t>
            </a:r>
            <a:r>
              <a:rPr lang="ru-RU" dirty="0" err="1"/>
              <a:t>Колмагоров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/>
              <a:t>Основные понятия</a:t>
            </a:r>
            <a:br>
              <a:rPr lang="ru-RU" dirty="0"/>
            </a:br>
            <a:r>
              <a:rPr lang="ru-RU" dirty="0"/>
              <a:t> теории вероятностей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Случайное событие (явление) </a:t>
            </a:r>
            <a:r>
              <a:rPr lang="ru-RU" dirty="0"/>
              <a:t>– это любой факт, который в результате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испытания </a:t>
            </a:r>
            <a:r>
              <a:rPr lang="ru-RU" dirty="0"/>
              <a:t>может произойти или не произойти. </a:t>
            </a:r>
          </a:p>
          <a:p>
            <a:endParaRPr lang="ru-RU" dirty="0"/>
          </a:p>
          <a:p>
            <a:pPr>
              <a:buNone/>
            </a:pPr>
            <a:r>
              <a:rPr lang="ru-RU" dirty="0"/>
              <a:t>События обозначаются заглавными буквами латинского алфавита А, В, С, </a:t>
            </a:r>
            <a:r>
              <a:rPr lang="en-US" dirty="0"/>
              <a:t>D</a:t>
            </a:r>
            <a:r>
              <a:rPr lang="ru-RU" dirty="0"/>
              <a:t>,…</a:t>
            </a:r>
          </a:p>
          <a:p>
            <a:endParaRPr lang="ru-RU" dirty="0"/>
          </a:p>
          <a:p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Испытание (опыт, эксперимент) </a:t>
            </a:r>
            <a:r>
              <a:rPr lang="ru-RU" dirty="0"/>
              <a:t>– это выполнение определенного комплекса условий, в которых наблюдается то или иное явление.</a:t>
            </a:r>
          </a:p>
          <a:p>
            <a:endParaRPr lang="ru-RU" dirty="0"/>
          </a:p>
          <a:p>
            <a:pPr>
              <a:buNone/>
            </a:pPr>
            <a:r>
              <a:rPr lang="ru-RU" dirty="0"/>
              <a:t>Событие лишь один из возможных </a:t>
            </a:r>
            <a:r>
              <a:rPr lang="ru-RU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исходов</a:t>
            </a:r>
            <a:r>
              <a:rPr lang="ru-RU" dirty="0"/>
              <a:t> испытания.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испытаний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Монета наудачу подбрасывается один раз</a:t>
            </a:r>
          </a:p>
          <a:p>
            <a:endParaRPr lang="ru-RU" dirty="0"/>
          </a:p>
          <a:p>
            <a:r>
              <a:rPr lang="ru-RU" dirty="0"/>
              <a:t>Монета наудачу подбрасывается три раза</a:t>
            </a:r>
          </a:p>
          <a:p>
            <a:endParaRPr lang="ru-RU" dirty="0"/>
          </a:p>
          <a:p>
            <a:r>
              <a:rPr lang="ru-RU" dirty="0"/>
              <a:t>Игральная кость подбрасывается один раз</a:t>
            </a:r>
          </a:p>
          <a:p>
            <a:endParaRPr lang="ru-RU" dirty="0"/>
          </a:p>
          <a:p>
            <a:r>
              <a:rPr lang="ru-RU" dirty="0"/>
              <a:t>Из колоды карт (36 карт) наудачу извлекается одна карта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Пространство элементарных событий </a:t>
            </a:r>
            <a:r>
              <a:rPr lang="el-GR" dirty="0"/>
              <a:t>Ω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Пусть </a:t>
            </a:r>
            <a:r>
              <a:rPr lang="el-GR" dirty="0"/>
              <a:t>Ω</a:t>
            </a:r>
            <a:r>
              <a:rPr lang="ru-RU" dirty="0"/>
              <a:t> - множество </a:t>
            </a:r>
            <a:r>
              <a:rPr lang="ru-RU" u="sng" dirty="0"/>
              <a:t>всех возможных исходов одного испытания. </a:t>
            </a:r>
          </a:p>
          <a:p>
            <a:pPr>
              <a:buNone/>
            </a:pPr>
            <a:endParaRPr lang="ru-RU" u="sng" dirty="0"/>
          </a:p>
          <a:p>
            <a:pPr>
              <a:buNone/>
            </a:pPr>
            <a:r>
              <a:rPr lang="ru-RU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Каждый элемент </a:t>
            </a:r>
            <a:r>
              <a:rPr lang="el-GR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ω</a:t>
            </a:r>
            <a:r>
              <a:rPr lang="ru-RU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/>
              <a:t>множества </a:t>
            </a:r>
            <a:r>
              <a:rPr lang="el-GR" dirty="0"/>
              <a:t>Ω</a:t>
            </a:r>
            <a:r>
              <a:rPr lang="ru-RU" dirty="0"/>
              <a:t>, то есть </a:t>
            </a:r>
            <a:r>
              <a:rPr lang="el-GR" dirty="0"/>
              <a:t>ω</a:t>
            </a:r>
            <a:r>
              <a:rPr lang="ru-RU" dirty="0"/>
              <a:t>∈</a:t>
            </a:r>
            <a:r>
              <a:rPr lang="el-GR" dirty="0"/>
              <a:t>Ω</a:t>
            </a:r>
            <a:r>
              <a:rPr lang="ru-RU" dirty="0"/>
              <a:t>, называют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элементарным исходом (событием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</a:t>
            </a:r>
            <a:r>
              <a:rPr lang="ru-RU" dirty="0"/>
              <a:t> данного испытания, а само </a:t>
            </a:r>
            <a:r>
              <a:rPr lang="ru-RU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множество  </a:t>
            </a:r>
            <a:r>
              <a:rPr lang="el-GR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Ω</a:t>
            </a:r>
            <a:r>
              <a:rPr lang="ru-RU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/>
              <a:t>-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ru-RU" i="1" u="sng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пространством элементарных  событий.</a:t>
            </a:r>
            <a:endParaRPr lang="ru-RU" i="1" u="sng" dirty="0"/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Любое событие А рассматривается как некоторое подмножество множества </a:t>
            </a:r>
            <a:r>
              <a:rPr lang="el-GR" dirty="0"/>
              <a:t>Ω</a:t>
            </a:r>
            <a:r>
              <a:rPr lang="ru-RU" dirty="0"/>
              <a:t>, то есть А∈</a:t>
            </a:r>
            <a:r>
              <a:rPr lang="el-GR" dirty="0"/>
              <a:t>Ω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Примеры элементарных событий для наших примеров испытаний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ru-RU" dirty="0"/>
              <a:t>= решка,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ru-RU" dirty="0"/>
              <a:t>= герб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     </a:t>
            </a:r>
          </a:p>
          <a:p>
            <a:pPr>
              <a:buNone/>
            </a:pPr>
            <a:r>
              <a:rPr lang="ru-RU" i="1" dirty="0"/>
              <a:t>Пространство элементарных исходов испытания</a:t>
            </a:r>
            <a:r>
              <a:rPr lang="en-US" i="1" dirty="0"/>
              <a:t> </a:t>
            </a:r>
            <a:r>
              <a:rPr lang="ru-RU" i="1" dirty="0"/>
              <a:t> </a:t>
            </a:r>
            <a:r>
              <a:rPr lang="el-GR" dirty="0"/>
              <a:t>Ω</a:t>
            </a:r>
            <a:r>
              <a:rPr lang="ru-RU" dirty="0"/>
              <a:t>=</a:t>
            </a:r>
            <a:r>
              <a:rPr lang="en-US" dirty="0"/>
              <a:t>{</a:t>
            </a: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ru-RU" baseline="-25000" dirty="0"/>
              <a:t>2</a:t>
            </a:r>
            <a:r>
              <a:rPr lang="en-US" dirty="0"/>
              <a:t>}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ru-RU" dirty="0"/>
              <a:t>= (</a:t>
            </a:r>
            <a:r>
              <a:rPr lang="ru-RU" dirty="0" err="1"/>
              <a:t>р</a:t>
            </a:r>
            <a:r>
              <a:rPr lang="ru-RU" dirty="0"/>
              <a:t>, </a:t>
            </a:r>
            <a:r>
              <a:rPr lang="ru-RU" dirty="0" err="1"/>
              <a:t>р</a:t>
            </a:r>
            <a:r>
              <a:rPr lang="ru-RU" dirty="0"/>
              <a:t>, </a:t>
            </a:r>
            <a:r>
              <a:rPr lang="ru-RU" dirty="0" err="1"/>
              <a:t>р</a:t>
            </a:r>
            <a:r>
              <a:rPr lang="ru-RU" dirty="0"/>
              <a:t>), </a:t>
            </a: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ru-RU" dirty="0"/>
              <a:t>= (</a:t>
            </a:r>
            <a:r>
              <a:rPr lang="ru-RU" dirty="0" err="1"/>
              <a:t>р</a:t>
            </a:r>
            <a:r>
              <a:rPr lang="ru-RU" dirty="0"/>
              <a:t>, </a:t>
            </a:r>
            <a:r>
              <a:rPr lang="ru-RU" dirty="0" err="1"/>
              <a:t>р</a:t>
            </a:r>
            <a:r>
              <a:rPr lang="ru-RU" dirty="0"/>
              <a:t>, г), </a:t>
            </a:r>
            <a:r>
              <a:rPr lang="el-GR" dirty="0"/>
              <a:t>ω</a:t>
            </a:r>
            <a:r>
              <a:rPr lang="ru-RU" baseline="-25000" dirty="0"/>
              <a:t>3</a:t>
            </a:r>
            <a:r>
              <a:rPr lang="ru-RU" dirty="0"/>
              <a:t>= (</a:t>
            </a:r>
            <a:r>
              <a:rPr lang="ru-RU" dirty="0" err="1"/>
              <a:t>р</a:t>
            </a:r>
            <a:r>
              <a:rPr lang="ru-RU" dirty="0"/>
              <a:t>, г, </a:t>
            </a:r>
            <a:r>
              <a:rPr lang="ru-RU" dirty="0" err="1"/>
              <a:t>р</a:t>
            </a:r>
            <a:r>
              <a:rPr lang="ru-RU" dirty="0"/>
              <a:t>), </a:t>
            </a:r>
            <a:r>
              <a:rPr lang="el-GR" dirty="0"/>
              <a:t>ω</a:t>
            </a:r>
            <a:r>
              <a:rPr lang="ru-RU" baseline="-25000" dirty="0"/>
              <a:t>4</a:t>
            </a:r>
            <a:r>
              <a:rPr lang="ru-RU" dirty="0"/>
              <a:t>= (г, </a:t>
            </a:r>
            <a:r>
              <a:rPr lang="ru-RU" dirty="0" err="1"/>
              <a:t>р</a:t>
            </a:r>
            <a:r>
              <a:rPr lang="ru-RU" dirty="0"/>
              <a:t>, </a:t>
            </a:r>
            <a:r>
              <a:rPr lang="ru-RU" dirty="0" err="1"/>
              <a:t>р</a:t>
            </a:r>
            <a:r>
              <a:rPr lang="ru-RU" dirty="0"/>
              <a:t>), </a:t>
            </a: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l-GR" dirty="0"/>
              <a:t>ω</a:t>
            </a:r>
            <a:r>
              <a:rPr lang="ru-RU" baseline="-25000" dirty="0"/>
              <a:t>5</a:t>
            </a:r>
            <a:r>
              <a:rPr lang="ru-RU" dirty="0"/>
              <a:t>= (</a:t>
            </a:r>
            <a:r>
              <a:rPr lang="ru-RU" dirty="0" err="1"/>
              <a:t>р</a:t>
            </a:r>
            <a:r>
              <a:rPr lang="ru-RU" dirty="0"/>
              <a:t>, г, г), </a:t>
            </a:r>
            <a:r>
              <a:rPr lang="el-GR" dirty="0"/>
              <a:t>ω</a:t>
            </a:r>
            <a:r>
              <a:rPr lang="ru-RU" baseline="-25000" dirty="0"/>
              <a:t>6</a:t>
            </a:r>
            <a:r>
              <a:rPr lang="ru-RU" dirty="0"/>
              <a:t>= (г, </a:t>
            </a:r>
            <a:r>
              <a:rPr lang="ru-RU" dirty="0" err="1"/>
              <a:t>р</a:t>
            </a:r>
            <a:r>
              <a:rPr lang="ru-RU" dirty="0"/>
              <a:t>, г), </a:t>
            </a:r>
            <a:r>
              <a:rPr lang="el-GR" dirty="0"/>
              <a:t>ω</a:t>
            </a:r>
            <a:r>
              <a:rPr lang="ru-RU" baseline="-25000" dirty="0"/>
              <a:t>7</a:t>
            </a:r>
            <a:r>
              <a:rPr lang="ru-RU" dirty="0"/>
              <a:t>= (г, г, </a:t>
            </a:r>
            <a:r>
              <a:rPr lang="ru-RU" dirty="0" err="1"/>
              <a:t>р</a:t>
            </a:r>
            <a:r>
              <a:rPr lang="ru-RU" dirty="0"/>
              <a:t>), </a:t>
            </a: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l-GR" dirty="0"/>
              <a:t>ω</a:t>
            </a:r>
            <a:r>
              <a:rPr lang="ru-RU" baseline="-25000" dirty="0"/>
              <a:t>8</a:t>
            </a:r>
            <a:r>
              <a:rPr lang="ru-RU" dirty="0"/>
              <a:t>= (г, г, г)</a:t>
            </a:r>
            <a:r>
              <a:rPr lang="en-US" dirty="0"/>
              <a:t>; 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    </a:t>
            </a:r>
          </a:p>
          <a:p>
            <a:pPr>
              <a:buNone/>
            </a:pPr>
            <a:endParaRPr lang="ru-RU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i="1" dirty="0"/>
              <a:t>Пространство элементарных исходов испытания</a:t>
            </a:r>
            <a:r>
              <a:rPr lang="en-US" i="1" dirty="0"/>
              <a:t> </a:t>
            </a:r>
          </a:p>
          <a:p>
            <a:pPr>
              <a:buNone/>
            </a:pPr>
            <a:r>
              <a:rPr lang="el-GR" dirty="0"/>
              <a:t>Ω</a:t>
            </a:r>
            <a:r>
              <a:rPr lang="ru-RU" dirty="0"/>
              <a:t>=</a:t>
            </a:r>
            <a:r>
              <a:rPr lang="en-US" dirty="0"/>
              <a:t>{</a:t>
            </a: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en-US" baseline="-25000" dirty="0"/>
              <a:t>3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en-US" baseline="-25000" dirty="0"/>
              <a:t>4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en-US" baseline="-25000" dirty="0"/>
              <a:t>5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en-US" baseline="-25000" dirty="0"/>
              <a:t>6</a:t>
            </a:r>
            <a:r>
              <a:rPr lang="en-US" dirty="0"/>
              <a:t> ,</a:t>
            </a:r>
            <a:r>
              <a:rPr lang="el-GR" dirty="0"/>
              <a:t> ω</a:t>
            </a:r>
            <a:r>
              <a:rPr lang="en-US" baseline="-25000" dirty="0"/>
              <a:t>7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en-US" baseline="-25000" dirty="0"/>
              <a:t>8</a:t>
            </a:r>
            <a:r>
              <a:rPr lang="en-US" dirty="0"/>
              <a:t>}       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ru-RU" dirty="0"/>
              <a:t>= 1,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ru-RU" dirty="0"/>
              <a:t>= 2, </a:t>
            </a:r>
            <a:r>
              <a:rPr lang="el-GR" dirty="0"/>
              <a:t>ω</a:t>
            </a:r>
            <a:r>
              <a:rPr lang="ru-RU" baseline="-25000" dirty="0"/>
              <a:t>3</a:t>
            </a:r>
            <a:r>
              <a:rPr lang="ru-RU" dirty="0"/>
              <a:t>= 3, </a:t>
            </a:r>
            <a:r>
              <a:rPr lang="el-GR" dirty="0"/>
              <a:t>ω</a:t>
            </a:r>
            <a:r>
              <a:rPr lang="ru-RU" baseline="-25000" dirty="0"/>
              <a:t>4</a:t>
            </a:r>
            <a:r>
              <a:rPr lang="ru-RU" dirty="0"/>
              <a:t>= 4, </a:t>
            </a:r>
            <a:r>
              <a:rPr lang="el-GR" dirty="0"/>
              <a:t>ω</a:t>
            </a:r>
            <a:r>
              <a:rPr lang="ru-RU" baseline="-25000" dirty="0"/>
              <a:t>5</a:t>
            </a:r>
            <a:r>
              <a:rPr lang="ru-RU" dirty="0"/>
              <a:t>= 5, </a:t>
            </a:r>
            <a:r>
              <a:rPr lang="el-GR" dirty="0"/>
              <a:t>ω</a:t>
            </a:r>
            <a:r>
              <a:rPr lang="ru-RU" baseline="-25000" dirty="0"/>
              <a:t>6</a:t>
            </a:r>
            <a:r>
              <a:rPr lang="ru-RU" dirty="0"/>
              <a:t>= 6;</a:t>
            </a:r>
          </a:p>
          <a:p>
            <a:pPr>
              <a:buNone/>
            </a:pPr>
            <a:r>
              <a:rPr lang="ru-RU" i="1" dirty="0"/>
              <a:t>Пространство элементарных исходов испытания</a:t>
            </a:r>
            <a:r>
              <a:rPr lang="en-US" i="1" dirty="0"/>
              <a:t> </a:t>
            </a:r>
            <a:r>
              <a:rPr lang="el-GR" dirty="0"/>
              <a:t>Ω</a:t>
            </a:r>
            <a:r>
              <a:rPr lang="ru-RU" dirty="0"/>
              <a:t>=</a:t>
            </a:r>
            <a:r>
              <a:rPr lang="en-US" dirty="0"/>
              <a:t>{</a:t>
            </a: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en-US" baseline="-25000" dirty="0"/>
              <a:t>3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en-US" baseline="-25000" dirty="0"/>
              <a:t>4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en-US" baseline="-25000" dirty="0"/>
              <a:t>5</a:t>
            </a:r>
            <a:r>
              <a:rPr lang="en-US" dirty="0"/>
              <a:t>, , </a:t>
            </a:r>
            <a:r>
              <a:rPr lang="el-GR" dirty="0"/>
              <a:t>ω</a:t>
            </a:r>
            <a:r>
              <a:rPr lang="en-US" baseline="-25000" dirty="0"/>
              <a:t>6</a:t>
            </a:r>
            <a:r>
              <a:rPr lang="en-US" dirty="0"/>
              <a:t>}</a:t>
            </a:r>
          </a:p>
          <a:p>
            <a:pPr>
              <a:buNone/>
            </a:pPr>
            <a:endParaRPr lang="en-US" dirty="0"/>
          </a:p>
          <a:p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ru-RU" dirty="0"/>
              <a:t>= крести,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ru-RU" dirty="0"/>
              <a:t>= вини, </a:t>
            </a:r>
            <a:r>
              <a:rPr lang="el-GR" dirty="0"/>
              <a:t>ω</a:t>
            </a:r>
            <a:r>
              <a:rPr lang="ru-RU" baseline="-25000" dirty="0"/>
              <a:t>3</a:t>
            </a:r>
            <a:r>
              <a:rPr lang="ru-RU" dirty="0"/>
              <a:t>= бубны, </a:t>
            </a:r>
            <a:r>
              <a:rPr lang="el-GR" dirty="0"/>
              <a:t>ω</a:t>
            </a:r>
            <a:r>
              <a:rPr lang="ru-RU" baseline="-25000" dirty="0"/>
              <a:t>4</a:t>
            </a:r>
            <a:r>
              <a:rPr lang="ru-RU" dirty="0"/>
              <a:t>= черви;</a:t>
            </a:r>
            <a:endParaRPr lang="en-US" dirty="0"/>
          </a:p>
          <a:p>
            <a:pPr>
              <a:buNone/>
            </a:pPr>
            <a:r>
              <a:rPr lang="ru-RU" i="1" dirty="0"/>
              <a:t>Пространство элементарных исходов испытания</a:t>
            </a:r>
            <a:r>
              <a:rPr lang="en-US" i="1" dirty="0"/>
              <a:t> </a:t>
            </a:r>
            <a:r>
              <a:rPr lang="el-GR" dirty="0"/>
              <a:t>Ω</a:t>
            </a:r>
            <a:r>
              <a:rPr lang="ru-RU" dirty="0"/>
              <a:t>=</a:t>
            </a:r>
            <a:r>
              <a:rPr lang="en-US" dirty="0"/>
              <a:t>{</a:t>
            </a: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en-US" baseline="-25000" dirty="0"/>
              <a:t>3</a:t>
            </a:r>
            <a:r>
              <a:rPr lang="en-US" dirty="0"/>
              <a:t>,</a:t>
            </a:r>
            <a:r>
              <a:rPr lang="el-GR" dirty="0"/>
              <a:t> ω</a:t>
            </a:r>
            <a:r>
              <a:rPr lang="en-US" baseline="-25000" dirty="0"/>
              <a:t>4</a:t>
            </a:r>
            <a:r>
              <a:rPr lang="en-US" dirty="0"/>
              <a:t>}</a:t>
            </a:r>
          </a:p>
          <a:p>
            <a:pPr algn="ctr">
              <a:buNone/>
            </a:pPr>
            <a:r>
              <a:rPr lang="ru-RU" dirty="0">
                <a:solidFill>
                  <a:schemeClr val="accent3"/>
                </a:solidFill>
              </a:rPr>
              <a:t>ИЛИ</a:t>
            </a:r>
          </a:p>
          <a:p>
            <a:pPr>
              <a:buNone/>
            </a:pP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ru-RU" dirty="0"/>
              <a:t>= красные,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ru-RU" dirty="0"/>
              <a:t>= черные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ru-RU" i="1" dirty="0"/>
              <a:t>Пространство элементарных исходов испытания</a:t>
            </a:r>
            <a:r>
              <a:rPr lang="en-US" i="1" dirty="0"/>
              <a:t> </a:t>
            </a:r>
            <a:r>
              <a:rPr lang="el-GR" dirty="0"/>
              <a:t>Ω</a:t>
            </a:r>
            <a:r>
              <a:rPr lang="ru-RU" dirty="0"/>
              <a:t>=</a:t>
            </a:r>
            <a:r>
              <a:rPr lang="en-US" dirty="0"/>
              <a:t>{</a:t>
            </a:r>
            <a:r>
              <a:rPr lang="el-GR" dirty="0"/>
              <a:t>ω</a:t>
            </a:r>
            <a:r>
              <a:rPr lang="ru-RU" baseline="-25000" dirty="0"/>
              <a:t>1</a:t>
            </a:r>
            <a:r>
              <a:rPr lang="en-US" dirty="0"/>
              <a:t>, </a:t>
            </a:r>
            <a:r>
              <a:rPr lang="el-GR" dirty="0"/>
              <a:t>ω</a:t>
            </a:r>
            <a:r>
              <a:rPr lang="ru-RU" baseline="-25000" dirty="0"/>
              <a:t>2</a:t>
            </a:r>
            <a:r>
              <a:rPr lang="en-US" dirty="0"/>
              <a:t>}</a:t>
            </a:r>
          </a:p>
          <a:p>
            <a:pPr algn="ctr">
              <a:buNone/>
            </a:pPr>
            <a:r>
              <a:rPr lang="ru-RU" dirty="0">
                <a:solidFill>
                  <a:schemeClr val="accent3"/>
                </a:solidFill>
              </a:rPr>
              <a:t>ИЛИ</a:t>
            </a:r>
          </a:p>
          <a:p>
            <a:pPr algn="ctr">
              <a:buNone/>
            </a:pPr>
            <a:endParaRPr lang="ru-RU" dirty="0">
              <a:solidFill>
                <a:schemeClr val="accent3"/>
              </a:solidFill>
            </a:endParaRPr>
          </a:p>
          <a:p>
            <a:pPr algn="ctr">
              <a:buNone/>
            </a:pPr>
            <a:r>
              <a:rPr lang="en-US" dirty="0">
                <a:solidFill>
                  <a:schemeClr val="accent3"/>
                </a:solidFill>
              </a:rPr>
              <a:t>????</a:t>
            </a:r>
          </a:p>
          <a:p>
            <a:pPr>
              <a:buNone/>
            </a:pPr>
            <a:endParaRPr lang="ru-RU" dirty="0">
              <a:solidFill>
                <a:schemeClr val="accent2"/>
              </a:solidFill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Событие называется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достоверным</a:t>
            </a:r>
            <a:r>
              <a:rPr lang="ru-RU" dirty="0"/>
              <a:t>, если в результате испытания оно обязательно должно произойти. </a:t>
            </a:r>
          </a:p>
          <a:p>
            <a:pPr>
              <a:buNone/>
            </a:pPr>
            <a:r>
              <a:rPr lang="ru-RU" i="1" dirty="0"/>
              <a:t>Например</a:t>
            </a:r>
            <a:r>
              <a:rPr lang="ru-RU" dirty="0"/>
              <a:t>, появление в мишени отверстия при попадании в нее.</a:t>
            </a:r>
          </a:p>
          <a:p>
            <a:endParaRPr lang="ru-RU" dirty="0"/>
          </a:p>
          <a:p>
            <a:r>
              <a:rPr lang="ru-RU" dirty="0"/>
              <a:t>События называются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равновозможными</a:t>
            </a:r>
            <a:r>
              <a:rPr lang="ru-RU" dirty="0"/>
              <a:t>, если в результате испытания по условиям симметрии ни одно из этих событий не является объективно более возможным. </a:t>
            </a:r>
          </a:p>
          <a:p>
            <a:pPr>
              <a:buNone/>
            </a:pPr>
            <a:r>
              <a:rPr lang="ru-RU" i="1" dirty="0"/>
              <a:t>Например</a:t>
            </a:r>
            <a:r>
              <a:rPr lang="ru-RU" dirty="0"/>
              <a:t>, появление герба или решки при броске монеты.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События называются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несовместными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</a:t>
            </a:r>
            <a:r>
              <a:rPr lang="ru-RU" dirty="0"/>
              <a:t>если наступление одного из них исключает наступление любого другого.</a:t>
            </a:r>
          </a:p>
          <a:p>
            <a:pPr>
              <a:buNone/>
            </a:pPr>
            <a:r>
              <a:rPr lang="ru-RU" i="1" dirty="0"/>
              <a:t>Например</a:t>
            </a:r>
            <a:r>
              <a:rPr lang="ru-RU" dirty="0"/>
              <a:t>, выпадение «6» при броске кубика исключает появления 1, 2, 3, 4, 5.</a:t>
            </a:r>
          </a:p>
          <a:p>
            <a:pPr>
              <a:buNone/>
            </a:pPr>
            <a:endParaRPr lang="ru-RU" dirty="0"/>
          </a:p>
          <a:p>
            <a:r>
              <a:rPr lang="ru-RU" dirty="0"/>
              <a:t>Несколько событий А</a:t>
            </a:r>
            <a:r>
              <a:rPr lang="ru-RU" baseline="-25000" dirty="0"/>
              <a:t>1</a:t>
            </a:r>
            <a:r>
              <a:rPr lang="ru-RU" dirty="0"/>
              <a:t>, А</a:t>
            </a:r>
            <a:r>
              <a:rPr lang="ru-RU" baseline="-25000" dirty="0"/>
              <a:t>2</a:t>
            </a:r>
            <a:r>
              <a:rPr lang="ru-RU" dirty="0"/>
              <a:t>, …А</a:t>
            </a:r>
            <a:r>
              <a:rPr lang="en-US" baseline="-25000" dirty="0"/>
              <a:t>n</a:t>
            </a:r>
            <a:r>
              <a:rPr lang="en-US" dirty="0"/>
              <a:t> </a:t>
            </a:r>
            <a:r>
              <a:rPr lang="ru-RU" dirty="0"/>
              <a:t>образуют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полную группу событий</a:t>
            </a:r>
            <a:r>
              <a:rPr lang="ru-RU" dirty="0"/>
              <a:t>, если они описывают все возможные исходы одного испытания не пересекаясь.</a:t>
            </a:r>
          </a:p>
          <a:p>
            <a:pPr>
              <a:buNone/>
            </a:pPr>
            <a:r>
              <a:rPr lang="ru-RU" i="1" dirty="0"/>
              <a:t>Например</a:t>
            </a:r>
            <a:r>
              <a:rPr lang="ru-RU" dirty="0"/>
              <a:t>, события А</a:t>
            </a:r>
            <a:r>
              <a:rPr lang="ru-RU" baseline="-25000" dirty="0"/>
              <a:t>1</a:t>
            </a:r>
            <a:r>
              <a:rPr lang="ru-RU" dirty="0"/>
              <a:t> – появление герба и А</a:t>
            </a:r>
            <a:r>
              <a:rPr lang="ru-RU" baseline="-25000" dirty="0"/>
              <a:t>2</a:t>
            </a:r>
            <a:r>
              <a:rPr lang="ru-RU" dirty="0"/>
              <a:t> – появление решки при броске монеты, образуют полную группу.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3600" dirty="0"/>
              <a:t>Пространство </a:t>
            </a:r>
            <a:r>
              <a:rPr lang="el-GR" sz="3600" dirty="0"/>
              <a:t>Ω</a:t>
            </a:r>
            <a:r>
              <a:rPr lang="ru-RU" sz="3600" dirty="0"/>
              <a:t> элементарных исходов испытания </a:t>
            </a:r>
          </a:p>
          <a:p>
            <a:pPr algn="ctr">
              <a:buNone/>
            </a:pPr>
            <a:r>
              <a:rPr lang="ru-RU" sz="3600" dirty="0"/>
              <a:t>это </a:t>
            </a:r>
          </a:p>
          <a:p>
            <a:pPr>
              <a:buNone/>
            </a:pPr>
            <a:r>
              <a:rPr lang="ru-RU" sz="3600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полная группа несовместных событий.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Пусть исходы некоторого испытания </a:t>
            </a:r>
          </a:p>
          <a:p>
            <a:r>
              <a:rPr lang="ru-RU" dirty="0"/>
              <a:t>конечны (то есть </a:t>
            </a:r>
            <a:r>
              <a:rPr lang="ru-RU" dirty="0" err="1"/>
              <a:t>счетны</a:t>
            </a:r>
            <a:r>
              <a:rPr lang="ru-RU" dirty="0"/>
              <a:t>),</a:t>
            </a:r>
          </a:p>
          <a:p>
            <a:r>
              <a:rPr lang="ru-RU" dirty="0"/>
              <a:t>образуют полную группу,</a:t>
            </a:r>
          </a:p>
          <a:p>
            <a:r>
              <a:rPr lang="ru-RU" dirty="0"/>
              <a:t>несовместны,</a:t>
            </a:r>
          </a:p>
          <a:p>
            <a:r>
              <a:rPr lang="ru-RU" dirty="0" err="1"/>
              <a:t>равновозможны</a:t>
            </a:r>
            <a:r>
              <a:rPr lang="ru-RU" dirty="0"/>
              <a:t>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4429124" y="4286256"/>
            <a:ext cx="3500462" cy="17145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00760" y="5143512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000" b="1" dirty="0">
              <a:solidFill>
                <a:schemeClr val="accent2"/>
              </a:solidFill>
            </a:endParaRPr>
          </a:p>
        </p:txBody>
      </p:sp>
      <p:sp>
        <p:nvSpPr>
          <p:cNvPr id="10" name="Овал 9"/>
          <p:cNvSpPr/>
          <p:nvPr/>
        </p:nvSpPr>
        <p:spPr>
          <a:xfrm>
            <a:off x="5000628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4929190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5357818" y="464344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500694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6786578" y="457200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6715140" y="557214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7215206" y="478632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7215206" y="550070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6072198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357950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857884" y="528638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5929322" y="442913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750095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6786578" y="50720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5781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572264" y="3714752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dirty="0"/>
              <a:t>Ω</a:t>
            </a:r>
            <a:endParaRPr lang="ru-RU" sz="28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 rot="5400000" flipH="1" flipV="1">
            <a:off x="6357950" y="4000504"/>
            <a:ext cx="571504" cy="571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Элементарные исходы, составляющие событие А, будем называть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благоприятствующими</a:t>
            </a:r>
            <a:r>
              <a:rPr lang="ru-RU" dirty="0"/>
              <a:t> событию 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4429124" y="4286256"/>
            <a:ext cx="3500462" cy="17145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00760" y="5143512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А</a:t>
            </a:r>
          </a:p>
        </p:txBody>
      </p:sp>
      <p:sp>
        <p:nvSpPr>
          <p:cNvPr id="10" name="Овал 9"/>
          <p:cNvSpPr/>
          <p:nvPr/>
        </p:nvSpPr>
        <p:spPr>
          <a:xfrm>
            <a:off x="5000628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5676090" y="4706566"/>
            <a:ext cx="953310" cy="1027890"/>
          </a:xfrm>
          <a:custGeom>
            <a:avLst/>
            <a:gdLst>
              <a:gd name="connsiteX0" fmla="*/ 160506 w 953310"/>
              <a:gd name="connsiteY0" fmla="*/ 390728 h 1027890"/>
              <a:gd name="connsiteX1" fmla="*/ 248055 w 953310"/>
              <a:gd name="connsiteY1" fmla="*/ 128081 h 1027890"/>
              <a:gd name="connsiteX2" fmla="*/ 384242 w 953310"/>
              <a:gd name="connsiteY2" fmla="*/ 21077 h 1027890"/>
              <a:gd name="connsiteX3" fmla="*/ 617706 w 953310"/>
              <a:gd name="connsiteY3" fmla="*/ 11349 h 1027890"/>
              <a:gd name="connsiteX4" fmla="*/ 773348 w 953310"/>
              <a:gd name="connsiteY4" fmla="*/ 89170 h 1027890"/>
              <a:gd name="connsiteX5" fmla="*/ 938719 w 953310"/>
              <a:gd name="connsiteY5" fmla="*/ 449094 h 1027890"/>
              <a:gd name="connsiteX6" fmla="*/ 860897 w 953310"/>
              <a:gd name="connsiteY6" fmla="*/ 906294 h 1027890"/>
              <a:gd name="connsiteX7" fmla="*/ 452336 w 953310"/>
              <a:gd name="connsiteY7" fmla="*/ 993843 h 1027890"/>
              <a:gd name="connsiteX8" fmla="*/ 43774 w 953310"/>
              <a:gd name="connsiteY8" fmla="*/ 702013 h 1027890"/>
              <a:gd name="connsiteX9" fmla="*/ 189689 w 953310"/>
              <a:gd name="connsiteY9" fmla="*/ 273996 h 1027890"/>
              <a:gd name="connsiteX10" fmla="*/ 179961 w 953310"/>
              <a:gd name="connsiteY10" fmla="*/ 312906 h 102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3310" h="1027890">
                <a:moveTo>
                  <a:pt x="160506" y="390728"/>
                </a:moveTo>
                <a:cubicBezTo>
                  <a:pt x="185636" y="290208"/>
                  <a:pt x="210766" y="189689"/>
                  <a:pt x="248055" y="128081"/>
                </a:cubicBezTo>
                <a:cubicBezTo>
                  <a:pt x="285344" y="66473"/>
                  <a:pt x="322634" y="40532"/>
                  <a:pt x="384242" y="21077"/>
                </a:cubicBezTo>
                <a:cubicBezTo>
                  <a:pt x="445850" y="1622"/>
                  <a:pt x="552855" y="0"/>
                  <a:pt x="617706" y="11349"/>
                </a:cubicBezTo>
                <a:cubicBezTo>
                  <a:pt x="682557" y="22698"/>
                  <a:pt x="719846" y="16213"/>
                  <a:pt x="773348" y="89170"/>
                </a:cubicBezTo>
                <a:cubicBezTo>
                  <a:pt x="826850" y="162127"/>
                  <a:pt x="924128" y="312907"/>
                  <a:pt x="938719" y="449094"/>
                </a:cubicBezTo>
                <a:cubicBezTo>
                  <a:pt x="953310" y="585281"/>
                  <a:pt x="941961" y="815503"/>
                  <a:pt x="860897" y="906294"/>
                </a:cubicBezTo>
                <a:cubicBezTo>
                  <a:pt x="779833" y="997085"/>
                  <a:pt x="588523" y="1027890"/>
                  <a:pt x="452336" y="993843"/>
                </a:cubicBezTo>
                <a:cubicBezTo>
                  <a:pt x="316149" y="959796"/>
                  <a:pt x="87548" y="821987"/>
                  <a:pt x="43774" y="702013"/>
                </a:cubicBezTo>
                <a:cubicBezTo>
                  <a:pt x="0" y="582039"/>
                  <a:pt x="166991" y="338847"/>
                  <a:pt x="189689" y="273996"/>
                </a:cubicBezTo>
                <a:cubicBezTo>
                  <a:pt x="212387" y="209145"/>
                  <a:pt x="196174" y="261025"/>
                  <a:pt x="179961" y="31290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4929190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5357818" y="464344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500694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6786578" y="457200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6715140" y="557214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7215206" y="478632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7215206" y="550070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6072198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357950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857884" y="528638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5929322" y="442913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750095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6786578" y="50720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5781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572264" y="3714752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dirty="0"/>
              <a:t>Ω</a:t>
            </a:r>
            <a:endParaRPr lang="ru-RU" sz="28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 rot="5400000" flipH="1" flipV="1">
            <a:off x="6357950" y="4000504"/>
            <a:ext cx="571504" cy="571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Вероятность события А </a:t>
            </a:r>
            <a:r>
              <a:rPr lang="ru-RU" dirty="0"/>
              <a:t>равна </a:t>
            </a:r>
            <a:r>
              <a:rPr lang="ru-RU" i="1" dirty="0"/>
              <a:t>отношению числа исходов благоприятствующих ему к общему числу возможных исходов испытания.</a:t>
            </a:r>
          </a:p>
          <a:p>
            <a:pPr>
              <a:buNone/>
            </a:pPr>
            <a:endParaRPr lang="ru-RU" i="1" dirty="0"/>
          </a:p>
          <a:p>
            <a:pPr>
              <a:buNone/>
            </a:pPr>
            <a:endParaRPr lang="en-US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4429124" y="4286256"/>
            <a:ext cx="3500462" cy="17145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00760" y="5143512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А</a:t>
            </a:r>
          </a:p>
        </p:txBody>
      </p:sp>
      <p:sp>
        <p:nvSpPr>
          <p:cNvPr id="10" name="Овал 9"/>
          <p:cNvSpPr/>
          <p:nvPr/>
        </p:nvSpPr>
        <p:spPr>
          <a:xfrm>
            <a:off x="5000628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5676090" y="4706566"/>
            <a:ext cx="953310" cy="1027890"/>
          </a:xfrm>
          <a:custGeom>
            <a:avLst/>
            <a:gdLst>
              <a:gd name="connsiteX0" fmla="*/ 160506 w 953310"/>
              <a:gd name="connsiteY0" fmla="*/ 390728 h 1027890"/>
              <a:gd name="connsiteX1" fmla="*/ 248055 w 953310"/>
              <a:gd name="connsiteY1" fmla="*/ 128081 h 1027890"/>
              <a:gd name="connsiteX2" fmla="*/ 384242 w 953310"/>
              <a:gd name="connsiteY2" fmla="*/ 21077 h 1027890"/>
              <a:gd name="connsiteX3" fmla="*/ 617706 w 953310"/>
              <a:gd name="connsiteY3" fmla="*/ 11349 h 1027890"/>
              <a:gd name="connsiteX4" fmla="*/ 773348 w 953310"/>
              <a:gd name="connsiteY4" fmla="*/ 89170 h 1027890"/>
              <a:gd name="connsiteX5" fmla="*/ 938719 w 953310"/>
              <a:gd name="connsiteY5" fmla="*/ 449094 h 1027890"/>
              <a:gd name="connsiteX6" fmla="*/ 860897 w 953310"/>
              <a:gd name="connsiteY6" fmla="*/ 906294 h 1027890"/>
              <a:gd name="connsiteX7" fmla="*/ 452336 w 953310"/>
              <a:gd name="connsiteY7" fmla="*/ 993843 h 1027890"/>
              <a:gd name="connsiteX8" fmla="*/ 43774 w 953310"/>
              <a:gd name="connsiteY8" fmla="*/ 702013 h 1027890"/>
              <a:gd name="connsiteX9" fmla="*/ 189689 w 953310"/>
              <a:gd name="connsiteY9" fmla="*/ 273996 h 1027890"/>
              <a:gd name="connsiteX10" fmla="*/ 179961 w 953310"/>
              <a:gd name="connsiteY10" fmla="*/ 312906 h 102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3310" h="1027890">
                <a:moveTo>
                  <a:pt x="160506" y="390728"/>
                </a:moveTo>
                <a:cubicBezTo>
                  <a:pt x="185636" y="290208"/>
                  <a:pt x="210766" y="189689"/>
                  <a:pt x="248055" y="128081"/>
                </a:cubicBezTo>
                <a:cubicBezTo>
                  <a:pt x="285344" y="66473"/>
                  <a:pt x="322634" y="40532"/>
                  <a:pt x="384242" y="21077"/>
                </a:cubicBezTo>
                <a:cubicBezTo>
                  <a:pt x="445850" y="1622"/>
                  <a:pt x="552855" y="0"/>
                  <a:pt x="617706" y="11349"/>
                </a:cubicBezTo>
                <a:cubicBezTo>
                  <a:pt x="682557" y="22698"/>
                  <a:pt x="719846" y="16213"/>
                  <a:pt x="773348" y="89170"/>
                </a:cubicBezTo>
                <a:cubicBezTo>
                  <a:pt x="826850" y="162127"/>
                  <a:pt x="924128" y="312907"/>
                  <a:pt x="938719" y="449094"/>
                </a:cubicBezTo>
                <a:cubicBezTo>
                  <a:pt x="953310" y="585281"/>
                  <a:pt x="941961" y="815503"/>
                  <a:pt x="860897" y="906294"/>
                </a:cubicBezTo>
                <a:cubicBezTo>
                  <a:pt x="779833" y="997085"/>
                  <a:pt x="588523" y="1027890"/>
                  <a:pt x="452336" y="993843"/>
                </a:cubicBezTo>
                <a:cubicBezTo>
                  <a:pt x="316149" y="959796"/>
                  <a:pt x="87548" y="821987"/>
                  <a:pt x="43774" y="702013"/>
                </a:cubicBezTo>
                <a:cubicBezTo>
                  <a:pt x="0" y="582039"/>
                  <a:pt x="166991" y="338847"/>
                  <a:pt x="189689" y="273996"/>
                </a:cubicBezTo>
                <a:cubicBezTo>
                  <a:pt x="212387" y="209145"/>
                  <a:pt x="196174" y="261025"/>
                  <a:pt x="179961" y="31290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4929190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5357818" y="464344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500694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6786578" y="457200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6715140" y="557214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7215206" y="478632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7215206" y="550070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6072198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357950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857884" y="528638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5929322" y="442913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750095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6786578" y="50720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5781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572264" y="3714752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dirty="0"/>
              <a:t>Ω</a:t>
            </a:r>
            <a:endParaRPr lang="ru-RU" sz="28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 rot="5400000" flipH="1" flipV="1">
            <a:off x="6357950" y="4000504"/>
            <a:ext cx="571504" cy="571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Классическое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i="1" dirty="0"/>
          </a:p>
          <a:p>
            <a:pPr>
              <a:buNone/>
            </a:pPr>
            <a:r>
              <a:rPr lang="ru-RU" i="1" dirty="0"/>
              <a:t>                                                               ,   </a:t>
            </a:r>
            <a:r>
              <a:rPr lang="ru-RU" dirty="0">
                <a:latin typeface="Calibri" pitchFamily="34" charset="0"/>
                <a:cs typeface="Calibri" pitchFamily="34" charset="0"/>
              </a:rPr>
              <a:t>г</a:t>
            </a:r>
            <a:r>
              <a:rPr lang="ru-RU" dirty="0"/>
              <a:t>де</a:t>
            </a:r>
            <a:r>
              <a:rPr lang="ru-RU" i="1" dirty="0"/>
              <a:t> </a:t>
            </a:r>
          </a:p>
          <a:p>
            <a:pPr>
              <a:buNone/>
            </a:pPr>
            <a:r>
              <a:rPr lang="en-US" i="1" dirty="0"/>
              <a:t>m- </a:t>
            </a:r>
            <a:r>
              <a:rPr lang="ru-RU" i="1" dirty="0"/>
              <a:t>число  благоприятствующих событию А исходов,</a:t>
            </a:r>
          </a:p>
          <a:p>
            <a:pPr>
              <a:buNone/>
            </a:pPr>
            <a:r>
              <a:rPr lang="en-US" i="1" dirty="0"/>
              <a:t>n – </a:t>
            </a:r>
            <a:r>
              <a:rPr lang="ru-RU" i="1" dirty="0"/>
              <a:t>число всех возможных исходов </a:t>
            </a:r>
          </a:p>
          <a:p>
            <a:pPr>
              <a:buNone/>
            </a:pPr>
            <a:r>
              <a:rPr lang="ru-RU" i="1" dirty="0"/>
              <a:t>испытания</a:t>
            </a:r>
            <a:endParaRPr lang="en-US" i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5" name="Овал 4"/>
          <p:cNvSpPr/>
          <p:nvPr/>
        </p:nvSpPr>
        <p:spPr>
          <a:xfrm>
            <a:off x="4429124" y="4286256"/>
            <a:ext cx="3500462" cy="1714512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6000760" y="5143512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А</a:t>
            </a:r>
          </a:p>
        </p:txBody>
      </p:sp>
      <p:sp>
        <p:nvSpPr>
          <p:cNvPr id="10" name="Овал 9"/>
          <p:cNvSpPr/>
          <p:nvPr/>
        </p:nvSpPr>
        <p:spPr>
          <a:xfrm>
            <a:off x="5000628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 7"/>
          <p:cNvSpPr/>
          <p:nvPr/>
        </p:nvSpPr>
        <p:spPr>
          <a:xfrm>
            <a:off x="5676090" y="4706566"/>
            <a:ext cx="953310" cy="1027890"/>
          </a:xfrm>
          <a:custGeom>
            <a:avLst/>
            <a:gdLst>
              <a:gd name="connsiteX0" fmla="*/ 160506 w 953310"/>
              <a:gd name="connsiteY0" fmla="*/ 390728 h 1027890"/>
              <a:gd name="connsiteX1" fmla="*/ 248055 w 953310"/>
              <a:gd name="connsiteY1" fmla="*/ 128081 h 1027890"/>
              <a:gd name="connsiteX2" fmla="*/ 384242 w 953310"/>
              <a:gd name="connsiteY2" fmla="*/ 21077 h 1027890"/>
              <a:gd name="connsiteX3" fmla="*/ 617706 w 953310"/>
              <a:gd name="connsiteY3" fmla="*/ 11349 h 1027890"/>
              <a:gd name="connsiteX4" fmla="*/ 773348 w 953310"/>
              <a:gd name="connsiteY4" fmla="*/ 89170 h 1027890"/>
              <a:gd name="connsiteX5" fmla="*/ 938719 w 953310"/>
              <a:gd name="connsiteY5" fmla="*/ 449094 h 1027890"/>
              <a:gd name="connsiteX6" fmla="*/ 860897 w 953310"/>
              <a:gd name="connsiteY6" fmla="*/ 906294 h 1027890"/>
              <a:gd name="connsiteX7" fmla="*/ 452336 w 953310"/>
              <a:gd name="connsiteY7" fmla="*/ 993843 h 1027890"/>
              <a:gd name="connsiteX8" fmla="*/ 43774 w 953310"/>
              <a:gd name="connsiteY8" fmla="*/ 702013 h 1027890"/>
              <a:gd name="connsiteX9" fmla="*/ 189689 w 953310"/>
              <a:gd name="connsiteY9" fmla="*/ 273996 h 1027890"/>
              <a:gd name="connsiteX10" fmla="*/ 179961 w 953310"/>
              <a:gd name="connsiteY10" fmla="*/ 312906 h 102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3310" h="1027890">
                <a:moveTo>
                  <a:pt x="160506" y="390728"/>
                </a:moveTo>
                <a:cubicBezTo>
                  <a:pt x="185636" y="290208"/>
                  <a:pt x="210766" y="189689"/>
                  <a:pt x="248055" y="128081"/>
                </a:cubicBezTo>
                <a:cubicBezTo>
                  <a:pt x="285344" y="66473"/>
                  <a:pt x="322634" y="40532"/>
                  <a:pt x="384242" y="21077"/>
                </a:cubicBezTo>
                <a:cubicBezTo>
                  <a:pt x="445850" y="1622"/>
                  <a:pt x="552855" y="0"/>
                  <a:pt x="617706" y="11349"/>
                </a:cubicBezTo>
                <a:cubicBezTo>
                  <a:pt x="682557" y="22698"/>
                  <a:pt x="719846" y="16213"/>
                  <a:pt x="773348" y="89170"/>
                </a:cubicBezTo>
                <a:cubicBezTo>
                  <a:pt x="826850" y="162127"/>
                  <a:pt x="924128" y="312907"/>
                  <a:pt x="938719" y="449094"/>
                </a:cubicBezTo>
                <a:cubicBezTo>
                  <a:pt x="953310" y="585281"/>
                  <a:pt x="941961" y="815503"/>
                  <a:pt x="860897" y="906294"/>
                </a:cubicBezTo>
                <a:cubicBezTo>
                  <a:pt x="779833" y="997085"/>
                  <a:pt x="588523" y="1027890"/>
                  <a:pt x="452336" y="993843"/>
                </a:cubicBezTo>
                <a:cubicBezTo>
                  <a:pt x="316149" y="959796"/>
                  <a:pt x="87548" y="821987"/>
                  <a:pt x="43774" y="702013"/>
                </a:cubicBezTo>
                <a:cubicBezTo>
                  <a:pt x="0" y="582039"/>
                  <a:pt x="166991" y="338847"/>
                  <a:pt x="189689" y="273996"/>
                </a:cubicBezTo>
                <a:cubicBezTo>
                  <a:pt x="212387" y="209145"/>
                  <a:pt x="196174" y="261025"/>
                  <a:pt x="179961" y="312906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4929190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5357818" y="4643446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5500694" y="564357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6786578" y="457200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6715140" y="5572140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7215206" y="478632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7215206" y="550070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6072198" y="492919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6357950" y="542926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>
            <a:off x="5857884" y="5286388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/>
          <p:cNvSpPr/>
          <p:nvPr/>
        </p:nvSpPr>
        <p:spPr>
          <a:xfrm>
            <a:off x="5929322" y="442913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/>
          <p:cNvSpPr/>
          <p:nvPr/>
        </p:nvSpPr>
        <p:spPr>
          <a:xfrm>
            <a:off x="750095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>
            <a:off x="6786578" y="5072074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5357818" y="5143512"/>
            <a:ext cx="142876" cy="1428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572264" y="3714752"/>
            <a:ext cx="1071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dirty="0"/>
              <a:t>Ω</a:t>
            </a:r>
            <a:endParaRPr lang="ru-RU" sz="2800" dirty="0"/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 rot="5400000" flipH="1" flipV="1">
            <a:off x="6357950" y="4000504"/>
            <a:ext cx="571504" cy="5715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Объект 26"/>
          <p:cNvGraphicFramePr>
            <a:graphicFrameLocks noChangeAspect="1"/>
          </p:cNvGraphicFramePr>
          <p:nvPr/>
        </p:nvGraphicFramePr>
        <p:xfrm>
          <a:off x="2786050" y="1571612"/>
          <a:ext cx="2732504" cy="1214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27000" imgH="558720" progId="Equation.3">
                  <p:embed/>
                </p:oleObj>
              </mc:Choice>
              <mc:Fallback>
                <p:oleObj name="Формула" r:id="rId2" imgW="927000" imgH="558720" progId="Equation.3">
                  <p:embed/>
                  <p:pic>
                    <p:nvPicPr>
                      <p:cNvPr id="27" name="Объект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50" y="1571612"/>
                        <a:ext cx="2732504" cy="12144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вероятности события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Вероятность любого события заключена между 0 и 1.</a:t>
            </a:r>
            <a:r>
              <a:rPr lang="en-US" dirty="0"/>
              <a:t> </a:t>
            </a:r>
          </a:p>
          <a:p>
            <a:pPr marL="514350" indent="-514350" algn="ctr">
              <a:buNone/>
            </a:pPr>
            <a:r>
              <a:rPr lang="ru-RU" dirty="0"/>
              <a:t>0≤ </a:t>
            </a:r>
            <a:r>
              <a:rPr lang="en-US" dirty="0"/>
              <a:t>P(A) ≤1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ru-RU" dirty="0"/>
              <a:t>Вероятность достоверного события равна 1.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ru-RU" dirty="0"/>
              <a:t>Вероятность невозможного события равна 0.</a:t>
            </a: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514350" indent="-514350" algn="ctr">
              <a:buNone/>
            </a:pPr>
            <a:endParaRPr lang="en-US" dirty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Однако!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/>
              <a:t>Одним из </a:t>
            </a:r>
            <a:r>
              <a:rPr lang="ru-RU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недостатков  классической формулы вероятности</a:t>
            </a:r>
            <a:r>
              <a:rPr lang="ru-RU" dirty="0"/>
              <a:t>, ограничивающим его применение,  является условие </a:t>
            </a:r>
            <a:r>
              <a:rPr lang="ru-RU" i="1" u="sng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счётности</a:t>
            </a:r>
            <a:r>
              <a:rPr lang="ru-RU" i="1" u="sng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количества  возможных исходов испытания</a:t>
            </a:r>
            <a:r>
              <a:rPr lang="ru-RU" dirty="0"/>
              <a:t>,  что не всегда возможно.</a:t>
            </a:r>
          </a:p>
          <a:p>
            <a:pPr>
              <a:buNone/>
            </a:pPr>
            <a:r>
              <a:rPr lang="ru-RU" dirty="0"/>
              <a:t>Этот недостаток можно преодолеть , используя </a:t>
            </a:r>
            <a:r>
              <a:rPr lang="ru-RU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геометрическое определение вероятности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Геометрическое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4526280"/>
          </a:xfrm>
        </p:spPr>
        <p:txBody>
          <a:bodyPr/>
          <a:lstStyle/>
          <a:p>
            <a:pPr>
              <a:buNone/>
            </a:pPr>
            <a:r>
              <a:rPr lang="ru-RU" dirty="0"/>
              <a:t>Пусть, например, плоская фигура 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g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ru-RU" dirty="0"/>
              <a:t>составляет часть плоской фигуры 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G</a:t>
            </a:r>
            <a:r>
              <a:rPr lang="ru-RU" dirty="0"/>
              <a:t>. </a:t>
            </a:r>
          </a:p>
          <a:p>
            <a:pPr>
              <a:buNone/>
            </a:pPr>
            <a:r>
              <a:rPr lang="ru-RU" dirty="0"/>
              <a:t>На фигуру </a:t>
            </a:r>
            <a:r>
              <a:rPr lang="en-US" dirty="0"/>
              <a:t>G </a:t>
            </a:r>
            <a:r>
              <a:rPr lang="ru-RU" i="1" u="sng" dirty="0"/>
              <a:t>наудачу</a:t>
            </a:r>
            <a:r>
              <a:rPr lang="ru-RU" dirty="0"/>
              <a:t> бросается точка.</a:t>
            </a:r>
          </a:p>
          <a:p>
            <a:pPr>
              <a:buNone/>
            </a:pPr>
            <a:r>
              <a:rPr lang="ru-RU" dirty="0"/>
              <a:t>Это значит, что все точки области 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G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dirty="0"/>
              <a:t>“</a:t>
            </a:r>
            <a:r>
              <a:rPr lang="ru-RU" dirty="0"/>
              <a:t>равноправны</a:t>
            </a:r>
            <a:r>
              <a:rPr lang="en-US" dirty="0"/>
              <a:t>”</a:t>
            </a:r>
            <a:r>
              <a:rPr lang="ru-RU" dirty="0"/>
              <a:t> в отношении попадания туда брошенной случайной точки.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Полилиния 4"/>
          <p:cNvSpPr/>
          <p:nvPr/>
        </p:nvSpPr>
        <p:spPr>
          <a:xfrm>
            <a:off x="3929058" y="4714884"/>
            <a:ext cx="4357718" cy="1785950"/>
          </a:xfrm>
          <a:custGeom>
            <a:avLst/>
            <a:gdLst>
              <a:gd name="connsiteX0" fmla="*/ 1451043 w 4810328"/>
              <a:gd name="connsiteY0" fmla="*/ 1086255 h 3822970"/>
              <a:gd name="connsiteX1" fmla="*/ 1908243 w 4810328"/>
              <a:gd name="connsiteY1" fmla="*/ 599872 h 3822970"/>
              <a:gd name="connsiteX2" fmla="*/ 2200072 w 4810328"/>
              <a:gd name="connsiteY2" fmla="*/ 288587 h 3822970"/>
              <a:gd name="connsiteX3" fmla="*/ 3017196 w 4810328"/>
              <a:gd name="connsiteY3" fmla="*/ 103762 h 3822970"/>
              <a:gd name="connsiteX4" fmla="*/ 3951051 w 4810328"/>
              <a:gd name="connsiteY4" fmla="*/ 152400 h 3822970"/>
              <a:gd name="connsiteX5" fmla="*/ 4680626 w 4810328"/>
              <a:gd name="connsiteY5" fmla="*/ 1018162 h 3822970"/>
              <a:gd name="connsiteX6" fmla="*/ 4729264 w 4810328"/>
              <a:gd name="connsiteY6" fmla="*/ 2020110 h 3822970"/>
              <a:gd name="connsiteX7" fmla="*/ 4447162 w 4810328"/>
              <a:gd name="connsiteY7" fmla="*/ 2983149 h 3822970"/>
              <a:gd name="connsiteX8" fmla="*/ 3639766 w 4810328"/>
              <a:gd name="connsiteY8" fmla="*/ 3566808 h 3822970"/>
              <a:gd name="connsiteX9" fmla="*/ 2384898 w 4810328"/>
              <a:gd name="connsiteY9" fmla="*/ 3810000 h 3822970"/>
              <a:gd name="connsiteX10" fmla="*/ 974387 w 4810328"/>
              <a:gd name="connsiteY10" fmla="*/ 3488987 h 3822970"/>
              <a:gd name="connsiteX11" fmla="*/ 157264 w 4810328"/>
              <a:gd name="connsiteY11" fmla="*/ 2749685 h 3822970"/>
              <a:gd name="connsiteX12" fmla="*/ 215630 w 4810328"/>
              <a:gd name="connsiteY12" fmla="*/ 2010383 h 3822970"/>
              <a:gd name="connsiteX13" fmla="*/ 1451043 w 4810328"/>
              <a:gd name="connsiteY13" fmla="*/ 1086255 h 382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810328" h="3822970">
                <a:moveTo>
                  <a:pt x="1451043" y="1086255"/>
                </a:moveTo>
                <a:cubicBezTo>
                  <a:pt x="1733145" y="851170"/>
                  <a:pt x="1908243" y="599872"/>
                  <a:pt x="1908243" y="599872"/>
                </a:cubicBezTo>
                <a:cubicBezTo>
                  <a:pt x="2033081" y="466927"/>
                  <a:pt x="2015247" y="371272"/>
                  <a:pt x="2200072" y="288587"/>
                </a:cubicBezTo>
                <a:cubicBezTo>
                  <a:pt x="2384898" y="205902"/>
                  <a:pt x="2725366" y="126460"/>
                  <a:pt x="3017196" y="103762"/>
                </a:cubicBezTo>
                <a:cubicBezTo>
                  <a:pt x="3309026" y="81064"/>
                  <a:pt x="3673813" y="0"/>
                  <a:pt x="3951051" y="152400"/>
                </a:cubicBezTo>
                <a:cubicBezTo>
                  <a:pt x="4228289" y="304800"/>
                  <a:pt x="4550924" y="706877"/>
                  <a:pt x="4680626" y="1018162"/>
                </a:cubicBezTo>
                <a:cubicBezTo>
                  <a:pt x="4810328" y="1329447"/>
                  <a:pt x="4768175" y="1692612"/>
                  <a:pt x="4729264" y="2020110"/>
                </a:cubicBezTo>
                <a:cubicBezTo>
                  <a:pt x="4690353" y="2347608"/>
                  <a:pt x="4628745" y="2725366"/>
                  <a:pt x="4447162" y="2983149"/>
                </a:cubicBezTo>
                <a:cubicBezTo>
                  <a:pt x="4265579" y="3240932"/>
                  <a:pt x="3983477" y="3429000"/>
                  <a:pt x="3639766" y="3566808"/>
                </a:cubicBezTo>
                <a:cubicBezTo>
                  <a:pt x="3296055" y="3704617"/>
                  <a:pt x="2829128" y="3822970"/>
                  <a:pt x="2384898" y="3810000"/>
                </a:cubicBezTo>
                <a:cubicBezTo>
                  <a:pt x="1940668" y="3797030"/>
                  <a:pt x="1345659" y="3665706"/>
                  <a:pt x="974387" y="3488987"/>
                </a:cubicBezTo>
                <a:cubicBezTo>
                  <a:pt x="603115" y="3312268"/>
                  <a:pt x="283723" y="2996119"/>
                  <a:pt x="157264" y="2749685"/>
                </a:cubicBezTo>
                <a:cubicBezTo>
                  <a:pt x="30805" y="2503251"/>
                  <a:pt x="0" y="2281136"/>
                  <a:pt x="215630" y="2010383"/>
                </a:cubicBezTo>
                <a:cubicBezTo>
                  <a:pt x="431260" y="1739630"/>
                  <a:pt x="1168941" y="1321340"/>
                  <a:pt x="1451043" y="108625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 5"/>
          <p:cNvSpPr/>
          <p:nvPr/>
        </p:nvSpPr>
        <p:spPr>
          <a:xfrm>
            <a:off x="5643570" y="5214950"/>
            <a:ext cx="1061936" cy="992220"/>
          </a:xfrm>
          <a:custGeom>
            <a:avLst/>
            <a:gdLst>
              <a:gd name="connsiteX0" fmla="*/ 971145 w 1061936"/>
              <a:gd name="connsiteY0" fmla="*/ 426395 h 992220"/>
              <a:gd name="connsiteX1" fmla="*/ 873868 w 1061936"/>
              <a:gd name="connsiteY1" fmla="*/ 66472 h 992220"/>
              <a:gd name="connsiteX2" fmla="*/ 582038 w 1061936"/>
              <a:gd name="connsiteY2" fmla="*/ 27561 h 992220"/>
              <a:gd name="connsiteX3" fmla="*/ 134566 w 1061936"/>
              <a:gd name="connsiteY3" fmla="*/ 183203 h 992220"/>
              <a:gd name="connsiteX4" fmla="*/ 37289 w 1061936"/>
              <a:gd name="connsiteY4" fmla="*/ 650131 h 992220"/>
              <a:gd name="connsiteX5" fmla="*/ 358302 w 1061936"/>
              <a:gd name="connsiteY5" fmla="*/ 961416 h 992220"/>
              <a:gd name="connsiteX6" fmla="*/ 961417 w 1061936"/>
              <a:gd name="connsiteY6" fmla="*/ 834957 h 992220"/>
              <a:gd name="connsiteX7" fmla="*/ 971145 w 1061936"/>
              <a:gd name="connsiteY7" fmla="*/ 426395 h 99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1936" h="992220">
                <a:moveTo>
                  <a:pt x="971145" y="426395"/>
                </a:moveTo>
                <a:cubicBezTo>
                  <a:pt x="956554" y="298314"/>
                  <a:pt x="938719" y="132944"/>
                  <a:pt x="873868" y="66472"/>
                </a:cubicBezTo>
                <a:cubicBezTo>
                  <a:pt x="809017" y="0"/>
                  <a:pt x="705255" y="8106"/>
                  <a:pt x="582038" y="27561"/>
                </a:cubicBezTo>
                <a:cubicBezTo>
                  <a:pt x="458821" y="47016"/>
                  <a:pt x="225358" y="79441"/>
                  <a:pt x="134566" y="183203"/>
                </a:cubicBezTo>
                <a:cubicBezTo>
                  <a:pt x="43774" y="286965"/>
                  <a:pt x="0" y="520429"/>
                  <a:pt x="37289" y="650131"/>
                </a:cubicBezTo>
                <a:cubicBezTo>
                  <a:pt x="74578" y="779833"/>
                  <a:pt x="204281" y="930612"/>
                  <a:pt x="358302" y="961416"/>
                </a:cubicBezTo>
                <a:cubicBezTo>
                  <a:pt x="512323" y="992220"/>
                  <a:pt x="860898" y="930612"/>
                  <a:pt x="961417" y="834957"/>
                </a:cubicBezTo>
                <a:cubicBezTo>
                  <a:pt x="1061936" y="739302"/>
                  <a:pt x="985736" y="554476"/>
                  <a:pt x="971145" y="42639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5857884" y="5786454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000892" y="5143512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Геометрическое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43051"/>
            <a:ext cx="8229600" cy="4529466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Найдем вероятность события А- попадания брошенной точки на фигуру </a:t>
            </a:r>
            <a:r>
              <a:rPr lang="en-US" sz="2800" dirty="0"/>
              <a:t>g.</a:t>
            </a:r>
            <a:endParaRPr lang="ru-RU" sz="2800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Полилиния 4"/>
          <p:cNvSpPr/>
          <p:nvPr/>
        </p:nvSpPr>
        <p:spPr>
          <a:xfrm>
            <a:off x="2786050" y="2643182"/>
            <a:ext cx="4810328" cy="2643206"/>
          </a:xfrm>
          <a:custGeom>
            <a:avLst/>
            <a:gdLst>
              <a:gd name="connsiteX0" fmla="*/ 1451043 w 4810328"/>
              <a:gd name="connsiteY0" fmla="*/ 1086255 h 3822970"/>
              <a:gd name="connsiteX1" fmla="*/ 1908243 w 4810328"/>
              <a:gd name="connsiteY1" fmla="*/ 599872 h 3822970"/>
              <a:gd name="connsiteX2" fmla="*/ 2200072 w 4810328"/>
              <a:gd name="connsiteY2" fmla="*/ 288587 h 3822970"/>
              <a:gd name="connsiteX3" fmla="*/ 3017196 w 4810328"/>
              <a:gd name="connsiteY3" fmla="*/ 103762 h 3822970"/>
              <a:gd name="connsiteX4" fmla="*/ 3951051 w 4810328"/>
              <a:gd name="connsiteY4" fmla="*/ 152400 h 3822970"/>
              <a:gd name="connsiteX5" fmla="*/ 4680626 w 4810328"/>
              <a:gd name="connsiteY5" fmla="*/ 1018162 h 3822970"/>
              <a:gd name="connsiteX6" fmla="*/ 4729264 w 4810328"/>
              <a:gd name="connsiteY6" fmla="*/ 2020110 h 3822970"/>
              <a:gd name="connsiteX7" fmla="*/ 4447162 w 4810328"/>
              <a:gd name="connsiteY7" fmla="*/ 2983149 h 3822970"/>
              <a:gd name="connsiteX8" fmla="*/ 3639766 w 4810328"/>
              <a:gd name="connsiteY8" fmla="*/ 3566808 h 3822970"/>
              <a:gd name="connsiteX9" fmla="*/ 2384898 w 4810328"/>
              <a:gd name="connsiteY9" fmla="*/ 3810000 h 3822970"/>
              <a:gd name="connsiteX10" fmla="*/ 974387 w 4810328"/>
              <a:gd name="connsiteY10" fmla="*/ 3488987 h 3822970"/>
              <a:gd name="connsiteX11" fmla="*/ 157264 w 4810328"/>
              <a:gd name="connsiteY11" fmla="*/ 2749685 h 3822970"/>
              <a:gd name="connsiteX12" fmla="*/ 215630 w 4810328"/>
              <a:gd name="connsiteY12" fmla="*/ 2010383 h 3822970"/>
              <a:gd name="connsiteX13" fmla="*/ 1451043 w 4810328"/>
              <a:gd name="connsiteY13" fmla="*/ 1086255 h 382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810328" h="3822970">
                <a:moveTo>
                  <a:pt x="1451043" y="1086255"/>
                </a:moveTo>
                <a:cubicBezTo>
                  <a:pt x="1733145" y="851170"/>
                  <a:pt x="1908243" y="599872"/>
                  <a:pt x="1908243" y="599872"/>
                </a:cubicBezTo>
                <a:cubicBezTo>
                  <a:pt x="2033081" y="466927"/>
                  <a:pt x="2015247" y="371272"/>
                  <a:pt x="2200072" y="288587"/>
                </a:cubicBezTo>
                <a:cubicBezTo>
                  <a:pt x="2384898" y="205902"/>
                  <a:pt x="2725366" y="126460"/>
                  <a:pt x="3017196" y="103762"/>
                </a:cubicBezTo>
                <a:cubicBezTo>
                  <a:pt x="3309026" y="81064"/>
                  <a:pt x="3673813" y="0"/>
                  <a:pt x="3951051" y="152400"/>
                </a:cubicBezTo>
                <a:cubicBezTo>
                  <a:pt x="4228289" y="304800"/>
                  <a:pt x="4550924" y="706877"/>
                  <a:pt x="4680626" y="1018162"/>
                </a:cubicBezTo>
                <a:cubicBezTo>
                  <a:pt x="4810328" y="1329447"/>
                  <a:pt x="4768175" y="1692612"/>
                  <a:pt x="4729264" y="2020110"/>
                </a:cubicBezTo>
                <a:cubicBezTo>
                  <a:pt x="4690353" y="2347608"/>
                  <a:pt x="4628745" y="2725366"/>
                  <a:pt x="4447162" y="2983149"/>
                </a:cubicBezTo>
                <a:cubicBezTo>
                  <a:pt x="4265579" y="3240932"/>
                  <a:pt x="3983477" y="3429000"/>
                  <a:pt x="3639766" y="3566808"/>
                </a:cubicBezTo>
                <a:cubicBezTo>
                  <a:pt x="3296055" y="3704617"/>
                  <a:pt x="2829128" y="3822970"/>
                  <a:pt x="2384898" y="3810000"/>
                </a:cubicBezTo>
                <a:cubicBezTo>
                  <a:pt x="1940668" y="3797030"/>
                  <a:pt x="1345659" y="3665706"/>
                  <a:pt x="974387" y="3488987"/>
                </a:cubicBezTo>
                <a:cubicBezTo>
                  <a:pt x="603115" y="3312268"/>
                  <a:pt x="283723" y="2996119"/>
                  <a:pt x="157264" y="2749685"/>
                </a:cubicBezTo>
                <a:cubicBezTo>
                  <a:pt x="30805" y="2503251"/>
                  <a:pt x="0" y="2281136"/>
                  <a:pt x="215630" y="2010383"/>
                </a:cubicBezTo>
                <a:cubicBezTo>
                  <a:pt x="431260" y="1739630"/>
                  <a:pt x="1168941" y="1321340"/>
                  <a:pt x="1451043" y="108625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олилиния 5"/>
          <p:cNvSpPr/>
          <p:nvPr/>
        </p:nvSpPr>
        <p:spPr>
          <a:xfrm>
            <a:off x="4572000" y="3571876"/>
            <a:ext cx="1061936" cy="992220"/>
          </a:xfrm>
          <a:custGeom>
            <a:avLst/>
            <a:gdLst>
              <a:gd name="connsiteX0" fmla="*/ 971145 w 1061936"/>
              <a:gd name="connsiteY0" fmla="*/ 426395 h 992220"/>
              <a:gd name="connsiteX1" fmla="*/ 873868 w 1061936"/>
              <a:gd name="connsiteY1" fmla="*/ 66472 h 992220"/>
              <a:gd name="connsiteX2" fmla="*/ 582038 w 1061936"/>
              <a:gd name="connsiteY2" fmla="*/ 27561 h 992220"/>
              <a:gd name="connsiteX3" fmla="*/ 134566 w 1061936"/>
              <a:gd name="connsiteY3" fmla="*/ 183203 h 992220"/>
              <a:gd name="connsiteX4" fmla="*/ 37289 w 1061936"/>
              <a:gd name="connsiteY4" fmla="*/ 650131 h 992220"/>
              <a:gd name="connsiteX5" fmla="*/ 358302 w 1061936"/>
              <a:gd name="connsiteY5" fmla="*/ 961416 h 992220"/>
              <a:gd name="connsiteX6" fmla="*/ 961417 w 1061936"/>
              <a:gd name="connsiteY6" fmla="*/ 834957 h 992220"/>
              <a:gd name="connsiteX7" fmla="*/ 971145 w 1061936"/>
              <a:gd name="connsiteY7" fmla="*/ 426395 h 992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1936" h="992220">
                <a:moveTo>
                  <a:pt x="971145" y="426395"/>
                </a:moveTo>
                <a:cubicBezTo>
                  <a:pt x="956554" y="298314"/>
                  <a:pt x="938719" y="132944"/>
                  <a:pt x="873868" y="66472"/>
                </a:cubicBezTo>
                <a:cubicBezTo>
                  <a:pt x="809017" y="0"/>
                  <a:pt x="705255" y="8106"/>
                  <a:pt x="582038" y="27561"/>
                </a:cubicBezTo>
                <a:cubicBezTo>
                  <a:pt x="458821" y="47016"/>
                  <a:pt x="225358" y="79441"/>
                  <a:pt x="134566" y="183203"/>
                </a:cubicBezTo>
                <a:cubicBezTo>
                  <a:pt x="43774" y="286965"/>
                  <a:pt x="0" y="520429"/>
                  <a:pt x="37289" y="650131"/>
                </a:cubicBezTo>
                <a:cubicBezTo>
                  <a:pt x="74578" y="779833"/>
                  <a:pt x="204281" y="930612"/>
                  <a:pt x="358302" y="961416"/>
                </a:cubicBezTo>
                <a:cubicBezTo>
                  <a:pt x="512323" y="992220"/>
                  <a:pt x="860898" y="930612"/>
                  <a:pt x="961417" y="834957"/>
                </a:cubicBezTo>
                <a:cubicBezTo>
                  <a:pt x="1061936" y="739302"/>
                  <a:pt x="985736" y="554476"/>
                  <a:pt x="971145" y="42639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6072198" y="3286124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786314" y="4143380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  <a:endParaRPr lang="ru-RU" dirty="0"/>
          </a:p>
        </p:txBody>
      </p:sp>
      <p:sp>
        <p:nvSpPr>
          <p:cNvPr id="11" name="Овал 10"/>
          <p:cNvSpPr/>
          <p:nvPr/>
        </p:nvSpPr>
        <p:spPr>
          <a:xfrm>
            <a:off x="5000628" y="3929066"/>
            <a:ext cx="71438" cy="7143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5143504" y="3643314"/>
            <a:ext cx="285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642910" y="5429265"/>
            <a:ext cx="77867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800" dirty="0"/>
              <a:t>Фигуру </a:t>
            </a:r>
            <a:r>
              <a:rPr lang="en-US" sz="2800" dirty="0"/>
              <a:t>g </a:t>
            </a:r>
            <a:r>
              <a:rPr lang="ru-RU" sz="2800" dirty="0"/>
              <a:t>называют благоприятствующей событию А.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24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214677" y="2449017"/>
          <a:ext cx="3088979" cy="198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90360" imgH="634680" progId="Equation.3">
                  <p:embed/>
                </p:oleObj>
              </mc:Choice>
              <mc:Fallback>
                <p:oleObj name="Формула" r:id="rId2" imgW="990360" imgH="63468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7" y="2449017"/>
                        <a:ext cx="3088979" cy="19801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Однако!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dirty="0"/>
              <a:t>В общем случае область </a:t>
            </a:r>
            <a:r>
              <a:rPr lang="en-US" dirty="0"/>
              <a:t>G </a:t>
            </a:r>
            <a:r>
              <a:rPr lang="ru-RU" dirty="0"/>
              <a:t>может быть</a:t>
            </a:r>
          </a:p>
          <a:p>
            <a:r>
              <a:rPr lang="ru-RU" dirty="0"/>
              <a:t>одномерной (прямая, отрезок),</a:t>
            </a:r>
          </a:p>
          <a:p>
            <a:r>
              <a:rPr lang="ru-RU" dirty="0"/>
              <a:t>двумерной (плоскость, как в примере),</a:t>
            </a:r>
          </a:p>
          <a:p>
            <a:r>
              <a:rPr lang="ru-RU" dirty="0"/>
              <a:t>трехмерной ( тело в пространстве).</a:t>
            </a:r>
          </a:p>
          <a:p>
            <a:endParaRPr lang="ru-RU" dirty="0"/>
          </a:p>
          <a:p>
            <a:pPr>
              <a:buNone/>
            </a:pPr>
            <a:r>
              <a:rPr lang="ru-RU" dirty="0"/>
              <a:t>В первом случае мерой области будет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длина</a:t>
            </a: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Во втором –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площадь</a:t>
            </a: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r>
              <a:rPr lang="ru-RU" dirty="0"/>
              <a:t>В третьем -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объем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Геометрическое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sz="2800" dirty="0"/>
              <a:t>Обозначим меру области латинскими буквами </a:t>
            </a:r>
            <a:r>
              <a:rPr lang="en-US" sz="2800" dirty="0" err="1"/>
              <a:t>mes</a:t>
            </a:r>
            <a:endParaRPr lang="en-US" sz="2800" dirty="0"/>
          </a:p>
          <a:p>
            <a:pPr>
              <a:buNone/>
            </a:pPr>
            <a:r>
              <a:rPr lang="ru-RU" sz="2800" dirty="0"/>
              <a:t>Тогда, определение геометрической вероятности события А можно </a:t>
            </a:r>
            <a:r>
              <a:rPr lang="ru-RU" sz="2800"/>
              <a:t>записать так</a:t>
            </a:r>
            <a:r>
              <a:rPr lang="ru-RU" sz="2800" dirty="0"/>
              <a:t>:</a:t>
            </a:r>
            <a:endParaRPr lang="en-US" sz="2800" dirty="0"/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ru-RU" sz="2800" i="1" u="sng" dirty="0"/>
              <a:t>Геометрической вероятностью события А </a:t>
            </a:r>
            <a:r>
              <a:rPr lang="ru-RU" sz="2800" dirty="0"/>
              <a:t>называется отношение меры области, благоприятствующей событию А, к мере всей области.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26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3071803" y="5066682"/>
          <a:ext cx="4143403" cy="1719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346040" imgH="558720" progId="Equation.3">
                  <p:embed/>
                </p:oleObj>
              </mc:Choice>
              <mc:Fallback>
                <p:oleObj name="Формула" r:id="rId2" imgW="1346040" imgH="55872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03" y="5066682"/>
                        <a:ext cx="4143403" cy="17199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Статистическое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u-RU" sz="3000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Статистической вероятностью события А </a:t>
            </a:r>
            <a:r>
              <a:rPr lang="ru-RU" dirty="0"/>
              <a:t>называется относительная частота появления этого события в </a:t>
            </a:r>
            <a:r>
              <a:rPr lang="en-US" dirty="0"/>
              <a:t>n </a:t>
            </a:r>
            <a:r>
              <a:rPr lang="ru-RU" dirty="0"/>
              <a:t>произведенных независимых испытаниях.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где </a:t>
            </a:r>
          </a:p>
          <a:p>
            <a:pPr>
              <a:buNone/>
            </a:pPr>
            <a:r>
              <a:rPr lang="en-US" dirty="0"/>
              <a:t>m-</a:t>
            </a:r>
            <a:r>
              <a:rPr lang="ru-RU" dirty="0"/>
              <a:t>число испытаний,</a:t>
            </a:r>
          </a:p>
          <a:p>
            <a:pPr>
              <a:buNone/>
            </a:pPr>
            <a:r>
              <a:rPr lang="ru-RU" dirty="0"/>
              <a:t>в которых появилось событие А,</a:t>
            </a:r>
          </a:p>
          <a:p>
            <a:pPr>
              <a:buNone/>
            </a:pPr>
            <a:r>
              <a:rPr lang="en-US" dirty="0"/>
              <a:t>n- </a:t>
            </a:r>
            <a:r>
              <a:rPr lang="ru-RU" dirty="0"/>
              <a:t>общее число испытаний.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27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4643438" y="3429000"/>
          <a:ext cx="2786082" cy="1656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939600" imgH="558720" progId="Equation.3">
                  <p:embed/>
                </p:oleObj>
              </mc:Choice>
              <mc:Fallback>
                <p:oleObj name="Формула" r:id="rId2" imgW="939600" imgH="55872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429000"/>
                        <a:ext cx="2786082" cy="16565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Статистическое определение вероятности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sz="2400" dirty="0"/>
              <a:t>События, для которых можно рассчитать статистическую вероятность, должны обладать определенными условиями:</a:t>
            </a:r>
          </a:p>
          <a:p>
            <a:pPr>
              <a:buNone/>
            </a:pP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можно </a:t>
            </a:r>
            <a:r>
              <a:rPr lang="ru-RU" sz="2400" i="1" u="sng" dirty="0"/>
              <a:t>неограниченное число раз воспроизвести комплекс условий </a:t>
            </a:r>
            <a:r>
              <a:rPr lang="ru-RU" sz="2400" dirty="0"/>
              <a:t>данного события,</a:t>
            </a:r>
          </a:p>
          <a:p>
            <a:pPr marL="514350" indent="-514350">
              <a:buFont typeface="+mj-lt"/>
              <a:buAutoNum type="arabicPeriod"/>
            </a:pP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dirty="0"/>
              <a:t>события должны обладать </a:t>
            </a:r>
            <a:r>
              <a:rPr lang="ru-RU" sz="2400" i="1" u="sng" dirty="0"/>
              <a:t>устойчивостью относительных частот</a:t>
            </a:r>
            <a:r>
              <a:rPr lang="ru-RU" sz="2400" dirty="0"/>
              <a:t>,</a:t>
            </a:r>
          </a:p>
          <a:p>
            <a:pPr marL="514350" indent="-514350">
              <a:buFont typeface="+mj-lt"/>
              <a:buAutoNum type="arabicPeriod"/>
            </a:pPr>
            <a:endParaRPr lang="ru-RU" sz="2400" dirty="0"/>
          </a:p>
          <a:p>
            <a:pPr marL="514350" indent="-514350">
              <a:buFont typeface="+mj-lt"/>
              <a:buAutoNum type="arabicPeriod"/>
            </a:pPr>
            <a:r>
              <a:rPr lang="ru-RU" sz="2400" i="1" u="sng" dirty="0"/>
              <a:t>число испытаний </a:t>
            </a:r>
            <a:r>
              <a:rPr lang="ru-RU" sz="2400" dirty="0"/>
              <a:t>должно быть достаточно </a:t>
            </a:r>
            <a:r>
              <a:rPr lang="ru-RU" sz="2400" i="1" u="sng" dirty="0"/>
              <a:t>велико</a:t>
            </a:r>
            <a:r>
              <a:rPr lang="ru-RU" sz="2400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ru-RU" sz="2400" dirty="0"/>
          </a:p>
          <a:p>
            <a:pPr marL="514350" indent="-514350">
              <a:buNone/>
            </a:pPr>
            <a:r>
              <a:rPr lang="ru-RU" sz="2400" dirty="0"/>
              <a:t>Только  </a:t>
            </a:r>
            <a:r>
              <a:rPr lang="ru-RU" sz="2400" i="1" u="sng" dirty="0"/>
              <a:t>при соблюдении этих условий </a:t>
            </a:r>
            <a:r>
              <a:rPr lang="ru-RU" sz="2400" dirty="0"/>
              <a:t> можно считать вероятность события А приближенно равной её относительной частоте.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 над событиями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Суммой </a:t>
            </a:r>
            <a:r>
              <a:rPr lang="ru-RU" dirty="0"/>
              <a:t>нескольких событий называется событие, состоящее в наступлении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хотя бы одного из данных событий.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28860" y="3643314"/>
            <a:ext cx="4572032" cy="2071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143240" y="4071942"/>
            <a:ext cx="1357322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214810" y="3857628"/>
            <a:ext cx="1571636" cy="12858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86050" y="492919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9322" y="478632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5400000">
            <a:off x="3143240" y="4214818"/>
            <a:ext cx="571504" cy="42862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5400000">
            <a:off x="3393273" y="4250537"/>
            <a:ext cx="785818" cy="57150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rot="16200000" flipH="1" flipV="1">
            <a:off x="3818836" y="4130598"/>
            <a:ext cx="883257" cy="62307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7" idx="0"/>
          </p:cNvCxnSpPr>
          <p:nvPr/>
        </p:nvCxnSpPr>
        <p:spPr>
          <a:xfrm rot="16200000" flipH="1" flipV="1">
            <a:off x="4179091" y="4036223"/>
            <a:ext cx="1000132" cy="6429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 rot="5400000" flipH="1" flipV="1">
            <a:off x="4357686" y="4143380"/>
            <a:ext cx="1143008" cy="71438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5400000" flipH="1" flipV="1">
            <a:off x="4643438" y="4286256"/>
            <a:ext cx="1071570" cy="6429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rot="5400000" flipH="1" flipV="1">
            <a:off x="5036347" y="4393413"/>
            <a:ext cx="857256" cy="50006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86182" y="514351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А+В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7950" y="3786190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 над событиями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Произведением </a:t>
            </a:r>
            <a:r>
              <a:rPr lang="ru-RU" dirty="0"/>
              <a:t>нескольких событий называется событие, состоящее в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совместном наступлении всех этих событий.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28860" y="3643314"/>
            <a:ext cx="4572032" cy="2071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143240" y="4071942"/>
            <a:ext cx="1357322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214810" y="3857628"/>
            <a:ext cx="1571636" cy="12858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86050" y="492919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9322" y="478632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cxnSp>
        <p:nvCxnSpPr>
          <p:cNvPr id="19" name="Прямая соединительная линия 18"/>
          <p:cNvCxnSpPr>
            <a:stCxn id="7" idx="2"/>
          </p:cNvCxnSpPr>
          <p:nvPr/>
        </p:nvCxnSpPr>
        <p:spPr>
          <a:xfrm rot="10800000" flipH="1">
            <a:off x="4214810" y="4286256"/>
            <a:ext cx="214314" cy="21431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>
            <a:endCxn id="6" idx="6"/>
          </p:cNvCxnSpPr>
          <p:nvPr/>
        </p:nvCxnSpPr>
        <p:spPr>
          <a:xfrm flipV="1">
            <a:off x="4286248" y="4500570"/>
            <a:ext cx="214314" cy="14287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4286248" y="4286256"/>
            <a:ext cx="214314" cy="7143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7" idx="2"/>
          </p:cNvCxnSpPr>
          <p:nvPr/>
        </p:nvCxnSpPr>
        <p:spPr>
          <a:xfrm rot="10800000" flipH="1" flipV="1">
            <a:off x="4214810" y="4500570"/>
            <a:ext cx="285752" cy="14287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endCxn id="6" idx="6"/>
          </p:cNvCxnSpPr>
          <p:nvPr/>
        </p:nvCxnSpPr>
        <p:spPr>
          <a:xfrm>
            <a:off x="4214810" y="4357694"/>
            <a:ext cx="285752" cy="142876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786182" y="5286388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7950" y="385762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Действия над событиями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Разностью (А-В) </a:t>
            </a:r>
            <a:r>
              <a:rPr lang="ru-RU" dirty="0"/>
              <a:t> двух событий А и В называется событие, которое состоится, если </a:t>
            </a:r>
            <a:r>
              <a:rPr lang="ru-RU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событие А произойдет, а событие В не произойдет.</a:t>
            </a: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>
              <a:buNone/>
            </a:pPr>
            <a:endParaRPr lang="ru-RU" i="1" u="sng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428860" y="3643314"/>
            <a:ext cx="4572032" cy="2071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3143240" y="4071942"/>
            <a:ext cx="1357322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214810" y="3857628"/>
            <a:ext cx="1571636" cy="12858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786050" y="4929198"/>
            <a:ext cx="428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9322" y="4786322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5400000">
            <a:off x="3143240" y="4214818"/>
            <a:ext cx="571504" cy="42862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5400000">
            <a:off x="3393273" y="4250537"/>
            <a:ext cx="785818" cy="57150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7" idx="2"/>
          </p:cNvCxnSpPr>
          <p:nvPr/>
        </p:nvCxnSpPr>
        <p:spPr>
          <a:xfrm rot="10800000" flipV="1">
            <a:off x="3948930" y="4500569"/>
            <a:ext cx="265880" cy="383191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86182" y="5143512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А-В</a:t>
            </a:r>
          </a:p>
        </p:txBody>
      </p:sp>
      <p:graphicFrame>
        <p:nvGraphicFramePr>
          <p:cNvPr id="21" name="Объект 20"/>
          <p:cNvGraphicFramePr>
            <a:graphicFrameLocks noChangeAspect="1"/>
          </p:cNvGraphicFramePr>
          <p:nvPr/>
        </p:nvGraphicFramePr>
        <p:xfrm>
          <a:off x="3500430" y="6000768"/>
          <a:ext cx="2526649" cy="500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1218960" imgH="241200" progId="Equation.3">
                  <p:embed/>
                </p:oleObj>
              </mc:Choice>
              <mc:Fallback>
                <p:oleObj name="Формула" r:id="rId2" imgW="1218960" imgH="241200" progId="Equation.3">
                  <p:embed/>
                  <p:pic>
                    <p:nvPicPr>
                      <p:cNvPr id="21" name="Объект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0" y="6000768"/>
                        <a:ext cx="2526649" cy="5000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286512" y="3857628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Ω</a:t>
            </a: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Свойства операций сложения и умножения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Коммутативность сложения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А+В=В+А</a:t>
            </a:r>
          </a:p>
          <a:p>
            <a:r>
              <a:rPr lang="ru-RU" dirty="0"/>
              <a:t>Ассоциативность сложения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А+(В+С)=(А+В)+С</a:t>
            </a:r>
          </a:p>
          <a:p>
            <a:r>
              <a:rPr lang="ru-RU" dirty="0"/>
              <a:t>Коммутативность умножения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АВ=ВА</a:t>
            </a:r>
          </a:p>
          <a:p>
            <a:r>
              <a:rPr lang="ru-RU" dirty="0"/>
              <a:t>Ассоциативность умножения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А(ВС)=(АВ)С</a:t>
            </a:r>
          </a:p>
          <a:p>
            <a:r>
              <a:rPr lang="ru-RU" dirty="0"/>
              <a:t>Дистрибутивность</a:t>
            </a:r>
          </a:p>
          <a:p>
            <a:pPr algn="ctr">
              <a:buNone/>
            </a:pP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А(В+С)=АВ+АС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Теорема сложения </a:t>
            </a:r>
            <a:r>
              <a:rPr lang="ru-RU" i="1" u="sng" dirty="0"/>
              <a:t>несовместных</a:t>
            </a:r>
            <a:r>
              <a:rPr lang="ru-RU" dirty="0"/>
              <a:t>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357422" y="2000240"/>
            <a:ext cx="4714908" cy="1857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3000364" y="2500306"/>
            <a:ext cx="1143008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5429256" y="2571744"/>
            <a:ext cx="1285884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500298" y="3143248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628" y="3143248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5074" y="200024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Ω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 flipH="1">
            <a:off x="3311834" y="2714619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 flipV="1">
            <a:off x="3786182" y="271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flipH="1">
            <a:off x="3357554" y="3000372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3428992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  <a:endParaRPr lang="ru-RU" dirty="0"/>
          </a:p>
        </p:txBody>
      </p:sp>
      <p:sp>
        <p:nvSpPr>
          <p:cNvPr id="18" name="Овал 17"/>
          <p:cNvSpPr/>
          <p:nvPr/>
        </p:nvSpPr>
        <p:spPr>
          <a:xfrm flipH="1">
            <a:off x="5786446" y="2714620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 flipH="1">
            <a:off x="6215074" y="2786058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786446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  <a:endParaRPr lang="ru-RU" dirty="0"/>
          </a:p>
        </p:txBody>
      </p:sp>
      <p:sp>
        <p:nvSpPr>
          <p:cNvPr id="24" name="Овал 23"/>
          <p:cNvSpPr/>
          <p:nvPr/>
        </p:nvSpPr>
        <p:spPr>
          <a:xfrm flipV="1">
            <a:off x="3428992" y="221455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 flipV="1">
            <a:off x="4500562" y="271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 flipV="1">
            <a:off x="5072066" y="221455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 flipV="1">
            <a:off x="2643174" y="230210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5857884" y="221455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4071934" y="3500438"/>
            <a:ext cx="71438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3000364" y="3571876"/>
            <a:ext cx="45719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5072066" y="2786058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6715140" y="357187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4000496" y="21431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785786" y="4143380"/>
            <a:ext cx="78581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Вероятность суммы </a:t>
            </a:r>
            <a:r>
              <a:rPr lang="ru-RU" sz="3200" i="1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несовместных</a:t>
            </a:r>
            <a:r>
              <a:rPr lang="ru-RU" sz="3200" dirty="0"/>
              <a:t> событий равна сумме вероятностей этих событий    </a:t>
            </a:r>
          </a:p>
          <a:p>
            <a:pPr algn="ctr"/>
            <a:r>
              <a:rPr lang="ru-RU" sz="3200" dirty="0"/>
              <a:t>Р(А+В)=Р(А)+Р(В)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Теорема сложения </a:t>
            </a:r>
            <a:r>
              <a:rPr lang="ru-RU" i="1" u="sng" dirty="0"/>
              <a:t>несовместных</a:t>
            </a:r>
            <a:r>
              <a:rPr lang="ru-RU" dirty="0"/>
              <a:t> событий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357422" y="2000240"/>
            <a:ext cx="4714908" cy="18573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3000364" y="2500306"/>
            <a:ext cx="1143008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5429256" y="2571744"/>
            <a:ext cx="1285884" cy="8572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2500298" y="3143248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628" y="3143248"/>
            <a:ext cx="357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5074" y="2000240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Ω</a:t>
            </a:r>
            <a:endParaRPr lang="ru-RU" dirty="0"/>
          </a:p>
        </p:txBody>
      </p:sp>
      <p:sp>
        <p:nvSpPr>
          <p:cNvPr id="13" name="Овал 12"/>
          <p:cNvSpPr/>
          <p:nvPr/>
        </p:nvSpPr>
        <p:spPr>
          <a:xfrm flipH="1">
            <a:off x="3311834" y="2714619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 flipV="1">
            <a:off x="3786182" y="271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flipH="1">
            <a:off x="3357554" y="3000372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3428992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  <a:endParaRPr lang="ru-RU" dirty="0"/>
          </a:p>
        </p:txBody>
      </p:sp>
      <p:sp>
        <p:nvSpPr>
          <p:cNvPr id="18" name="Овал 17"/>
          <p:cNvSpPr/>
          <p:nvPr/>
        </p:nvSpPr>
        <p:spPr>
          <a:xfrm flipH="1">
            <a:off x="5786446" y="2714620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 flipH="1">
            <a:off x="6215074" y="2786058"/>
            <a:ext cx="45719" cy="71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786446" y="300037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  <a:endParaRPr lang="ru-RU" dirty="0"/>
          </a:p>
        </p:txBody>
      </p:sp>
      <p:sp>
        <p:nvSpPr>
          <p:cNvPr id="24" name="Овал 23"/>
          <p:cNvSpPr/>
          <p:nvPr/>
        </p:nvSpPr>
        <p:spPr>
          <a:xfrm flipV="1">
            <a:off x="3428992" y="221455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 flipV="1">
            <a:off x="4500562" y="2714620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 flipV="1">
            <a:off x="5072066" y="2214554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 flipV="1">
            <a:off x="2643174" y="2302106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/>
          <p:cNvSpPr/>
          <p:nvPr/>
        </p:nvSpPr>
        <p:spPr>
          <a:xfrm>
            <a:off x="5857884" y="221455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/>
          <p:cNvSpPr/>
          <p:nvPr/>
        </p:nvSpPr>
        <p:spPr>
          <a:xfrm>
            <a:off x="4071934" y="3500438"/>
            <a:ext cx="71438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/>
          <p:cNvSpPr/>
          <p:nvPr/>
        </p:nvSpPr>
        <p:spPr>
          <a:xfrm>
            <a:off x="3000364" y="3571876"/>
            <a:ext cx="45719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5072066" y="2786058"/>
            <a:ext cx="71438" cy="714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6715140" y="357187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4000496" y="21431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785786" y="4143380"/>
            <a:ext cx="78581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ru-RU" sz="3200" dirty="0"/>
              <a:t>Пусть в результате испытания из общего числа </a:t>
            </a:r>
            <a:r>
              <a:rPr lang="en-US" sz="3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</a:t>
            </a:r>
            <a:r>
              <a:rPr lang="en-US" sz="3200" dirty="0"/>
              <a:t>- </a:t>
            </a:r>
            <a:r>
              <a:rPr lang="ru-RU" sz="3200" dirty="0"/>
              <a:t>равновозможных и несовместных исходов испытания событию </a:t>
            </a:r>
            <a:r>
              <a:rPr lang="ru-RU" sz="3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А </a:t>
            </a:r>
            <a:r>
              <a:rPr lang="ru-RU" sz="3200" dirty="0"/>
              <a:t>благоприятствует </a:t>
            </a:r>
            <a:r>
              <a:rPr lang="en-US" sz="3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</a:t>
            </a:r>
            <a:r>
              <a:rPr lang="en-US" sz="3200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sz="3200" dirty="0"/>
              <a:t> </a:t>
            </a:r>
            <a:r>
              <a:rPr lang="ru-RU" sz="3200" dirty="0"/>
              <a:t>случай, а событию </a:t>
            </a:r>
            <a:r>
              <a:rPr lang="ru-RU" sz="3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В</a:t>
            </a:r>
            <a:r>
              <a:rPr lang="ru-RU" sz="3200" dirty="0"/>
              <a:t>- </a:t>
            </a:r>
            <a:r>
              <a:rPr lang="en-US" sz="3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</a:t>
            </a:r>
            <a:r>
              <a:rPr lang="en-US" sz="3200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sz="3200" dirty="0"/>
              <a:t> </a:t>
            </a:r>
            <a:r>
              <a:rPr lang="ru-RU" sz="3200" dirty="0"/>
              <a:t>случаев.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dirty="0"/>
              <a:t>При чем, так как </a:t>
            </a:r>
            <a:r>
              <a:rPr lang="ru-RU" i="1" u="sng" dirty="0"/>
              <a:t>события А и В несовместны</a:t>
            </a:r>
            <a:r>
              <a:rPr lang="ru-RU" dirty="0"/>
              <a:t>, то ни один из случаев, благоприятствующих одному из событий, не благоприятствует другому. </a:t>
            </a:r>
          </a:p>
          <a:p>
            <a:pPr>
              <a:buNone/>
            </a:pPr>
            <a:r>
              <a:rPr lang="ru-RU" dirty="0"/>
              <a:t>Поэтому событию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(А+В) </a:t>
            </a:r>
            <a:r>
              <a:rPr lang="ru-RU" dirty="0"/>
              <a:t>будет благоприятствовать ровно </a:t>
            </a:r>
            <a:r>
              <a:rPr lang="ru-RU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m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1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+m</a:t>
            </a:r>
            <a:r>
              <a:rPr lang="en-US" baseline="-25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20000"/>
                    <a:lumOff val="80000"/>
                  </a:schemeClr>
                </a:solidFill>
              </a:rPr>
              <a:t>) </a:t>
            </a:r>
            <a:r>
              <a:rPr lang="ru-RU" dirty="0"/>
              <a:t>случаев.</a:t>
            </a:r>
          </a:p>
          <a:p>
            <a:pPr>
              <a:buNone/>
            </a:pPr>
            <a:r>
              <a:rPr lang="ru-RU" dirty="0"/>
              <a:t>Следовательно, </a:t>
            </a:r>
          </a:p>
          <a:p>
            <a:pPr>
              <a:buNone/>
            </a:pPr>
            <a:r>
              <a:rPr lang="ru-RU" dirty="0"/>
              <a:t>	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35</a:t>
            </a:fld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214414" y="5513406"/>
          <a:ext cx="6724199" cy="91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Формула" r:id="rId2" imgW="4101840" imgH="558720" progId="Equation.3">
                  <p:embed/>
                </p:oleObj>
              </mc:Choice>
              <mc:Fallback>
                <p:oleObj name="Формула" r:id="rId2" imgW="4101840" imgH="558720" progId="Equation.3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5513406"/>
                        <a:ext cx="6724199" cy="9159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Следствия теоремы сложения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Сумма вероятностей событий, образующих полную группу равна 1.</a:t>
            </a:r>
          </a:p>
          <a:p>
            <a:pPr marL="514350" indent="-514350" algn="ctr">
              <a:buNone/>
            </a:pPr>
            <a:r>
              <a:rPr lang="ru-RU" dirty="0"/>
              <a:t>Р(А)+Р(В)+…+Р(К)=1, </a:t>
            </a:r>
          </a:p>
          <a:p>
            <a:pPr marL="514350" indent="-514350" algn="ctr">
              <a:buNone/>
            </a:pPr>
            <a:r>
              <a:rPr lang="ru-RU" dirty="0"/>
              <a:t>если А, В,…, К образуют полную группу событий.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ru-RU" dirty="0"/>
              <a:t>Сумма вероятностей противоположных событий равна 1.</a:t>
            </a:r>
          </a:p>
          <a:p>
            <a:pPr marL="514350" indent="-514350" algn="ctr">
              <a:buNone/>
            </a:pPr>
            <a:r>
              <a:rPr lang="ru-RU" dirty="0"/>
              <a:t>Р(А)+Р(</a:t>
            </a:r>
            <a:r>
              <a:rPr lang="en-US" dirty="0"/>
              <a:t>Ā</a:t>
            </a:r>
            <a:r>
              <a:rPr lang="ru-RU" dirty="0"/>
              <a:t>)=1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36</a:t>
            </a:fld>
            <a:endParaRPr lang="ru-RU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ru-RU" dirty="0"/>
              <a:t>Всем спасибо!</a:t>
            </a:r>
          </a:p>
          <a:p>
            <a:pPr algn="ctr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C3DD56-44D6-4410-A1D4-F947CD7B8BFD}" type="slidenum">
              <a:rPr lang="ru-RU" smtClean="0"/>
              <a:pPr/>
              <a:t>37</a:t>
            </a:fld>
            <a:endParaRPr lang="ru-RU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641</TotalTime>
  <Words>1580</Words>
  <Application>Microsoft Office PowerPoint</Application>
  <PresentationFormat>Экран (4:3)</PresentationFormat>
  <Paragraphs>306</Paragraphs>
  <Slides>37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3" baseType="lpstr">
      <vt:lpstr>Calibri</vt:lpstr>
      <vt:lpstr>Cambria</vt:lpstr>
      <vt:lpstr>Rockwell</vt:lpstr>
      <vt:lpstr>Wingdings 2</vt:lpstr>
      <vt:lpstr>Литейная</vt:lpstr>
      <vt:lpstr>Формула</vt:lpstr>
      <vt:lpstr>Теория вероятностей и математическая статистика</vt:lpstr>
      <vt:lpstr>Теория вероятностей</vt:lpstr>
      <vt:lpstr>Задачи теории вероятностей</vt:lpstr>
      <vt:lpstr>Математическая статистика</vt:lpstr>
      <vt:lpstr>Презентация PowerPoint</vt:lpstr>
      <vt:lpstr>Аксиома (базовое утверждение)</vt:lpstr>
      <vt:lpstr>Немного истории</vt:lpstr>
      <vt:lpstr>Основные понятия  теории вероятностей</vt:lpstr>
      <vt:lpstr>Примеры испытаний</vt:lpstr>
      <vt:lpstr>Пространство элементарных событий Ω</vt:lpstr>
      <vt:lpstr>Примеры элементарных событий для наших примеров испытаний</vt:lpstr>
      <vt:lpstr>Презентация PowerPoint</vt:lpstr>
      <vt:lpstr>Виды событий</vt:lpstr>
      <vt:lpstr>Виды событий</vt:lpstr>
      <vt:lpstr>Важно!</vt:lpstr>
      <vt:lpstr>Классическое определение вероятности</vt:lpstr>
      <vt:lpstr>Классическое определение вероятности</vt:lpstr>
      <vt:lpstr>Классическое определение вероятности</vt:lpstr>
      <vt:lpstr>Классическое определение вероятности</vt:lpstr>
      <vt:lpstr>Свойства вероятности события</vt:lpstr>
      <vt:lpstr>Однако!</vt:lpstr>
      <vt:lpstr>Геометрическое определение вероятности</vt:lpstr>
      <vt:lpstr>Геометрическое определение вероятности</vt:lpstr>
      <vt:lpstr>Презентация PowerPoint</vt:lpstr>
      <vt:lpstr>Однако!</vt:lpstr>
      <vt:lpstr>Геометрическое определение вероятности</vt:lpstr>
      <vt:lpstr>Статистическое определение вероятности</vt:lpstr>
      <vt:lpstr>Статистическое определение вероятности</vt:lpstr>
      <vt:lpstr>Действия над событиями</vt:lpstr>
      <vt:lpstr>Действия над событиями</vt:lpstr>
      <vt:lpstr>Действия над событиями</vt:lpstr>
      <vt:lpstr>Свойства операций сложения и умножения событий</vt:lpstr>
      <vt:lpstr>Теорема сложения несовместных событий</vt:lpstr>
      <vt:lpstr>Теорема сложения несовместных событий</vt:lpstr>
      <vt:lpstr>Доказательство</vt:lpstr>
      <vt:lpstr>Следствия теоремы сложения</vt:lpstr>
      <vt:lpstr>Презентация PowerPoint</vt:lpstr>
    </vt:vector>
  </TitlesOfParts>
  <Company>Reanimator Extreme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вероятностей и математическая статистика</dc:title>
  <dc:creator>Elena</dc:creator>
  <cp:lastModifiedBy>e s</cp:lastModifiedBy>
  <cp:revision>49</cp:revision>
  <dcterms:created xsi:type="dcterms:W3CDTF">2021-02-04T09:02:28Z</dcterms:created>
  <dcterms:modified xsi:type="dcterms:W3CDTF">2026-02-11T16:56:29Z</dcterms:modified>
</cp:coreProperties>
</file>