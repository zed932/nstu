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33"/>
  </p:notesMasterIdLst>
  <p:sldIdLst>
    <p:sldId id="256" r:id="rId2"/>
    <p:sldId id="521" r:id="rId3"/>
    <p:sldId id="522" r:id="rId4"/>
    <p:sldId id="523" r:id="rId5"/>
    <p:sldId id="524" r:id="rId6"/>
    <p:sldId id="525" r:id="rId7"/>
    <p:sldId id="526" r:id="rId8"/>
    <p:sldId id="505" r:id="rId9"/>
    <p:sldId id="527" r:id="rId10"/>
    <p:sldId id="528" r:id="rId11"/>
    <p:sldId id="529" r:id="rId12"/>
    <p:sldId id="532" r:id="rId13"/>
    <p:sldId id="530" r:id="rId14"/>
    <p:sldId id="531" r:id="rId15"/>
    <p:sldId id="533" r:id="rId16"/>
    <p:sldId id="534" r:id="rId17"/>
    <p:sldId id="535" r:id="rId18"/>
    <p:sldId id="536" r:id="rId19"/>
    <p:sldId id="537" r:id="rId20"/>
    <p:sldId id="538" r:id="rId21"/>
    <p:sldId id="539" r:id="rId22"/>
    <p:sldId id="540" r:id="rId23"/>
    <p:sldId id="541" r:id="rId24"/>
    <p:sldId id="542" r:id="rId25"/>
    <p:sldId id="543" r:id="rId26"/>
    <p:sldId id="544" r:id="rId27"/>
    <p:sldId id="545" r:id="rId28"/>
    <p:sldId id="547" r:id="rId29"/>
    <p:sldId id="548" r:id="rId30"/>
    <p:sldId id="550" r:id="rId31"/>
    <p:sldId id="546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25" autoAdjust="0"/>
  </p:normalViewPr>
  <p:slideViewPr>
    <p:cSldViewPr>
      <p:cViewPr varScale="1">
        <p:scale>
          <a:sx n="92" d="100"/>
          <a:sy n="92" d="100"/>
        </p:scale>
        <p:origin x="94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undo custSel modSld">
      <pc:chgData name="e s" userId="b32979be72172c5e" providerId="LiveId" clId="{1A9D4396-1918-4F43-B4DF-954C8EB3F697}" dt="2026-02-16T09:31:14.163" v="493" actId="1038"/>
      <pc:docMkLst>
        <pc:docMk/>
      </pc:docMkLst>
      <pc:sldChg chg="addSp delSp modSp mod">
        <pc:chgData name="e s" userId="b32979be72172c5e" providerId="LiveId" clId="{1A9D4396-1918-4F43-B4DF-954C8EB3F697}" dt="2026-02-16T09:13:14.276" v="20" actId="962"/>
        <pc:sldMkLst>
          <pc:docMk/>
          <pc:sldMk cId="0" sldId="528"/>
        </pc:sldMkLst>
        <pc:spChg chg="del mod">
          <ac:chgData name="e s" userId="b32979be72172c5e" providerId="LiveId" clId="{1A9D4396-1918-4F43-B4DF-954C8EB3F697}" dt="2026-02-16T09:12:41.523" v="1" actId="478"/>
          <ac:spMkLst>
            <pc:docMk/>
            <pc:sldMk cId="0" sldId="528"/>
            <ac:spMk id="3" creationId="{00000000-0000-0000-0000-000000000000}"/>
          </ac:spMkLst>
        </pc:spChg>
        <pc:spChg chg="add del mod">
          <ac:chgData name="e s" userId="b32979be72172c5e" providerId="LiveId" clId="{1A9D4396-1918-4F43-B4DF-954C8EB3F697}" dt="2026-02-16T09:12:52.008" v="2" actId="478"/>
          <ac:spMkLst>
            <pc:docMk/>
            <pc:sldMk cId="0" sldId="528"/>
            <ac:spMk id="6" creationId="{DB034139-C77C-08C7-859D-753057E79846}"/>
          </ac:spMkLst>
        </pc:spChg>
        <pc:graphicFrameChg chg="del">
          <ac:chgData name="e s" userId="b32979be72172c5e" providerId="LiveId" clId="{1A9D4396-1918-4F43-B4DF-954C8EB3F697}" dt="2026-02-16T09:12:54.761" v="3" actId="478"/>
          <ac:graphicFrameMkLst>
            <pc:docMk/>
            <pc:sldMk cId="0" sldId="528"/>
            <ac:graphicFrameMk id="488450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12:57.014" v="4" actId="478"/>
          <ac:graphicFrameMkLst>
            <pc:docMk/>
            <pc:sldMk cId="0" sldId="528"/>
            <ac:graphicFrameMk id="488451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13:14.276" v="20" actId="962"/>
          <ac:picMkLst>
            <pc:docMk/>
            <pc:sldMk cId="0" sldId="528"/>
            <ac:picMk id="9" creationId="{7E9ADD6A-BFE1-ECCB-314A-44837B686E0B}"/>
          </ac:picMkLst>
        </pc:picChg>
      </pc:sldChg>
      <pc:sldChg chg="addSp delSp modSp mod">
        <pc:chgData name="e s" userId="b32979be72172c5e" providerId="LiveId" clId="{1A9D4396-1918-4F43-B4DF-954C8EB3F697}" dt="2026-02-16T09:14:35.458" v="36" actId="1037"/>
        <pc:sldMkLst>
          <pc:docMk/>
          <pc:sldMk cId="0" sldId="529"/>
        </pc:sldMkLst>
        <pc:spChg chg="del mod">
          <ac:chgData name="e s" userId="b32979be72172c5e" providerId="LiveId" clId="{1A9D4396-1918-4F43-B4DF-954C8EB3F697}" dt="2026-02-16T09:14:11.369" v="22" actId="478"/>
          <ac:spMkLst>
            <pc:docMk/>
            <pc:sldMk cId="0" sldId="529"/>
            <ac:spMk id="3" creationId="{00000000-0000-0000-0000-000000000000}"/>
          </ac:spMkLst>
        </pc:spChg>
        <pc:spChg chg="add del mod">
          <ac:chgData name="e s" userId="b32979be72172c5e" providerId="LiveId" clId="{1A9D4396-1918-4F43-B4DF-954C8EB3F697}" dt="2026-02-16T09:14:22.855" v="23" actId="478"/>
          <ac:spMkLst>
            <pc:docMk/>
            <pc:sldMk cId="0" sldId="529"/>
            <ac:spMk id="6" creationId="{6CEA1623-F1CA-B330-517A-405FAE380F47}"/>
          </ac:spMkLst>
        </pc:spChg>
        <pc:graphicFrameChg chg="del">
          <ac:chgData name="e s" userId="b32979be72172c5e" providerId="LiveId" clId="{1A9D4396-1918-4F43-B4DF-954C8EB3F697}" dt="2026-02-16T09:14:27.272" v="25" actId="478"/>
          <ac:graphicFrameMkLst>
            <pc:docMk/>
            <pc:sldMk cId="0" sldId="529"/>
            <ac:graphicFrameMk id="8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14:25.238" v="24" actId="478"/>
          <ac:graphicFrameMkLst>
            <pc:docMk/>
            <pc:sldMk cId="0" sldId="529"/>
            <ac:graphicFrameMk id="489474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14:35.458" v="36" actId="1037"/>
          <ac:picMkLst>
            <pc:docMk/>
            <pc:sldMk cId="0" sldId="529"/>
            <ac:picMk id="9" creationId="{3A653874-D8A7-6DA8-B4EF-8494DC25F974}"/>
          </ac:picMkLst>
        </pc:picChg>
      </pc:sldChg>
      <pc:sldChg chg="addSp delSp modSp mod">
        <pc:chgData name="e s" userId="b32979be72172c5e" providerId="LiveId" clId="{1A9D4396-1918-4F43-B4DF-954C8EB3F697}" dt="2026-02-16T09:15:21.381" v="53" actId="14100"/>
        <pc:sldMkLst>
          <pc:docMk/>
          <pc:sldMk cId="0" sldId="532"/>
        </pc:sldMkLst>
        <pc:spChg chg="del mod">
          <ac:chgData name="e s" userId="b32979be72172c5e" providerId="LiveId" clId="{1A9D4396-1918-4F43-B4DF-954C8EB3F697}" dt="2026-02-16T09:15:02.682" v="38" actId="478"/>
          <ac:spMkLst>
            <pc:docMk/>
            <pc:sldMk cId="0" sldId="532"/>
            <ac:spMk id="3" creationId="{00000000-0000-0000-0000-000000000000}"/>
          </ac:spMkLst>
        </pc:spChg>
        <pc:spChg chg="add del mod">
          <ac:chgData name="e s" userId="b32979be72172c5e" providerId="LiveId" clId="{1A9D4396-1918-4F43-B4DF-954C8EB3F697}" dt="2026-02-16T09:15:08.070" v="39" actId="478"/>
          <ac:spMkLst>
            <pc:docMk/>
            <pc:sldMk cId="0" sldId="532"/>
            <ac:spMk id="6" creationId="{1796093A-3340-EA2C-5239-1C658190748C}"/>
          </ac:spMkLst>
        </pc:spChg>
        <pc:graphicFrameChg chg="del">
          <ac:chgData name="e s" userId="b32979be72172c5e" providerId="LiveId" clId="{1A9D4396-1918-4F43-B4DF-954C8EB3F697}" dt="2026-02-16T09:15:09.945" v="40" actId="478"/>
          <ac:graphicFrameMkLst>
            <pc:docMk/>
            <pc:sldMk cId="0" sldId="532"/>
            <ac:graphicFrameMk id="490499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15:21.381" v="53" actId="14100"/>
          <ac:picMkLst>
            <pc:docMk/>
            <pc:sldMk cId="0" sldId="532"/>
            <ac:picMk id="8" creationId="{AE24B91B-0985-0728-8D36-7F38BEF8D6C3}"/>
          </ac:picMkLst>
        </pc:picChg>
      </pc:sldChg>
      <pc:sldChg chg="addSp delSp modSp mod">
        <pc:chgData name="e s" userId="b32979be72172c5e" providerId="LiveId" clId="{1A9D4396-1918-4F43-B4DF-954C8EB3F697}" dt="2026-02-16T09:17:09.504" v="99" actId="1076"/>
        <pc:sldMkLst>
          <pc:docMk/>
          <pc:sldMk cId="0" sldId="535"/>
        </pc:sldMkLst>
        <pc:spChg chg="del">
          <ac:chgData name="e s" userId="b32979be72172c5e" providerId="LiveId" clId="{1A9D4396-1918-4F43-B4DF-954C8EB3F697}" dt="2026-02-16T09:15:56.465" v="54" actId="478"/>
          <ac:spMkLst>
            <pc:docMk/>
            <pc:sldMk cId="0" sldId="535"/>
            <ac:spMk id="8" creationId="{00000000-0000-0000-0000-000000000000}"/>
          </ac:spMkLst>
        </pc:spChg>
        <pc:graphicFrameChg chg="del">
          <ac:chgData name="e s" userId="b32979be72172c5e" providerId="LiveId" clId="{1A9D4396-1918-4F43-B4DF-954C8EB3F697}" dt="2026-02-16T09:15:58.821" v="55" actId="478"/>
          <ac:graphicFrameMkLst>
            <pc:docMk/>
            <pc:sldMk cId="0" sldId="535"/>
            <ac:graphicFrameMk id="491523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16:52.234" v="95" actId="478"/>
          <ac:graphicFrameMkLst>
            <pc:docMk/>
            <pc:sldMk cId="0" sldId="535"/>
            <ac:graphicFrameMk id="491524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17:09.504" v="99" actId="1076"/>
          <ac:picMkLst>
            <pc:docMk/>
            <pc:sldMk cId="0" sldId="535"/>
            <ac:picMk id="6" creationId="{35B15CCE-690D-A211-CB3C-C1DB6ECD87CE}"/>
          </ac:picMkLst>
        </pc:picChg>
        <pc:picChg chg="add mod">
          <ac:chgData name="e s" userId="b32979be72172c5e" providerId="LiveId" clId="{1A9D4396-1918-4F43-B4DF-954C8EB3F697}" dt="2026-02-16T09:16:56.226" v="96" actId="1076"/>
          <ac:picMkLst>
            <pc:docMk/>
            <pc:sldMk cId="0" sldId="535"/>
            <ac:picMk id="9" creationId="{2CB14BE4-8B07-740B-0935-A38E465D9E6A}"/>
          </ac:picMkLst>
        </pc:picChg>
      </pc:sldChg>
      <pc:sldChg chg="addSp delSp modSp mod">
        <pc:chgData name="e s" userId="b32979be72172c5e" providerId="LiveId" clId="{1A9D4396-1918-4F43-B4DF-954C8EB3F697}" dt="2026-02-16T09:19:09" v="214" actId="14100"/>
        <pc:sldMkLst>
          <pc:docMk/>
          <pc:sldMk cId="0" sldId="536"/>
        </pc:sldMkLst>
        <pc:graphicFrameChg chg="del">
          <ac:chgData name="e s" userId="b32979be72172c5e" providerId="LiveId" clId="{1A9D4396-1918-4F43-B4DF-954C8EB3F697}" dt="2026-02-16T09:18:22.863" v="132" actId="478"/>
          <ac:graphicFrameMkLst>
            <pc:docMk/>
            <pc:sldMk cId="0" sldId="536"/>
            <ac:graphicFrameMk id="492546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18:55.682" v="164" actId="478"/>
          <ac:graphicFrameMkLst>
            <pc:docMk/>
            <pc:sldMk cId="0" sldId="536"/>
            <ac:graphicFrameMk id="492547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17:44.017" v="100" actId="478"/>
          <ac:graphicFrameMkLst>
            <pc:docMk/>
            <pc:sldMk cId="0" sldId="536"/>
            <ac:graphicFrameMk id="492548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18:00.664" v="131" actId="14100"/>
          <ac:picMkLst>
            <pc:docMk/>
            <pc:sldMk cId="0" sldId="536"/>
            <ac:picMk id="7" creationId="{1F81BED1-0E9B-3381-25D9-1B32330DBB7A}"/>
          </ac:picMkLst>
        </pc:picChg>
        <pc:picChg chg="add mod">
          <ac:chgData name="e s" userId="b32979be72172c5e" providerId="LiveId" clId="{1A9D4396-1918-4F43-B4DF-954C8EB3F697}" dt="2026-02-16T09:18:32.381" v="163" actId="1038"/>
          <ac:picMkLst>
            <pc:docMk/>
            <pc:sldMk cId="0" sldId="536"/>
            <ac:picMk id="10" creationId="{0EBF6F9E-3051-DAB9-6DB3-D1D7AF4D0D8D}"/>
          </ac:picMkLst>
        </pc:picChg>
        <pc:picChg chg="add mod">
          <ac:chgData name="e s" userId="b32979be72172c5e" providerId="LiveId" clId="{1A9D4396-1918-4F43-B4DF-954C8EB3F697}" dt="2026-02-16T09:19:09" v="214" actId="14100"/>
          <ac:picMkLst>
            <pc:docMk/>
            <pc:sldMk cId="0" sldId="536"/>
            <ac:picMk id="12" creationId="{79D704CE-2342-BCEE-8617-67013F2730D8}"/>
          </ac:picMkLst>
        </pc:picChg>
      </pc:sldChg>
      <pc:sldChg chg="addSp delSp modSp mod">
        <pc:chgData name="e s" userId="b32979be72172c5e" providerId="LiveId" clId="{1A9D4396-1918-4F43-B4DF-954C8EB3F697}" dt="2026-02-16T09:21:07.423" v="264" actId="14100"/>
        <pc:sldMkLst>
          <pc:docMk/>
          <pc:sldMk cId="0" sldId="538"/>
        </pc:sldMkLst>
        <pc:graphicFrameChg chg="del">
          <ac:chgData name="e s" userId="b32979be72172c5e" providerId="LiveId" clId="{1A9D4396-1918-4F43-B4DF-954C8EB3F697}" dt="2026-02-16T09:20:40.192" v="220" actId="478"/>
          <ac:graphicFrameMkLst>
            <pc:docMk/>
            <pc:sldMk cId="0" sldId="538"/>
            <ac:graphicFrameMk id="7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19:52.262" v="215" actId="478"/>
          <ac:graphicFrameMkLst>
            <pc:docMk/>
            <pc:sldMk cId="0" sldId="538"/>
            <ac:graphicFrameMk id="494594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0:04.672" v="219" actId="1076"/>
          <ac:picMkLst>
            <pc:docMk/>
            <pc:sldMk cId="0" sldId="538"/>
            <ac:picMk id="6" creationId="{9F3975B2-30F8-9FDD-3C81-F135B705DAED}"/>
          </ac:picMkLst>
        </pc:picChg>
        <pc:picChg chg="add mod">
          <ac:chgData name="e s" userId="b32979be72172c5e" providerId="LiveId" clId="{1A9D4396-1918-4F43-B4DF-954C8EB3F697}" dt="2026-02-16T09:21:07.423" v="264" actId="14100"/>
          <ac:picMkLst>
            <pc:docMk/>
            <pc:sldMk cId="0" sldId="538"/>
            <ac:picMk id="9" creationId="{3C8C1D3A-CABA-0048-074F-032DD50D4398}"/>
          </ac:picMkLst>
        </pc:picChg>
      </pc:sldChg>
      <pc:sldChg chg="addSp delSp modSp mod">
        <pc:chgData name="e s" userId="b32979be72172c5e" providerId="LiveId" clId="{1A9D4396-1918-4F43-B4DF-954C8EB3F697}" dt="2026-02-16T09:22:34.577" v="276" actId="1076"/>
        <pc:sldMkLst>
          <pc:docMk/>
          <pc:sldMk cId="0" sldId="539"/>
        </pc:sldMkLst>
        <pc:graphicFrameChg chg="del mod">
          <ac:chgData name="e s" userId="b32979be72172c5e" providerId="LiveId" clId="{1A9D4396-1918-4F43-B4DF-954C8EB3F697}" dt="2026-02-16T09:21:58.164" v="267" actId="478"/>
          <ac:graphicFrameMkLst>
            <pc:docMk/>
            <pc:sldMk cId="0" sldId="539"/>
            <ac:graphicFrameMk id="495620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2:23.809" v="272" actId="478"/>
          <ac:graphicFrameMkLst>
            <pc:docMk/>
            <pc:sldMk cId="0" sldId="539"/>
            <ac:graphicFrameMk id="495622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2:04.519" v="271" actId="1076"/>
          <ac:picMkLst>
            <pc:docMk/>
            <pc:sldMk cId="0" sldId="539"/>
            <ac:picMk id="6" creationId="{1EB351F0-CFBA-4F16-23CF-E8B3E90D6C26}"/>
          </ac:picMkLst>
        </pc:picChg>
        <pc:picChg chg="add mod">
          <ac:chgData name="e s" userId="b32979be72172c5e" providerId="LiveId" clId="{1A9D4396-1918-4F43-B4DF-954C8EB3F697}" dt="2026-02-16T09:22:34.577" v="276" actId="1076"/>
          <ac:picMkLst>
            <pc:docMk/>
            <pc:sldMk cId="0" sldId="539"/>
            <ac:picMk id="9" creationId="{F31BE6A3-769E-D7BB-4D10-CAA5DA7FB656}"/>
          </ac:picMkLst>
        </pc:picChg>
      </pc:sldChg>
      <pc:sldChg chg="addSp delSp modSp mod">
        <pc:chgData name="e s" userId="b32979be72172c5e" providerId="LiveId" clId="{1A9D4396-1918-4F43-B4DF-954C8EB3F697}" dt="2026-02-16T09:31:14.163" v="493" actId="1038"/>
        <pc:sldMkLst>
          <pc:docMk/>
          <pc:sldMk cId="0" sldId="540"/>
        </pc:sldMkLst>
        <pc:spChg chg="mod">
          <ac:chgData name="e s" userId="b32979be72172c5e" providerId="LiveId" clId="{1A9D4396-1918-4F43-B4DF-954C8EB3F697}" dt="2026-02-16T09:30:55.502" v="484" actId="6549"/>
          <ac:spMkLst>
            <pc:docMk/>
            <pc:sldMk cId="0" sldId="540"/>
            <ac:spMk id="3" creationId="{00000000-0000-0000-0000-000000000000}"/>
          </ac:spMkLst>
        </pc:spChg>
        <pc:graphicFrameChg chg="del">
          <ac:chgData name="e s" userId="b32979be72172c5e" providerId="LiveId" clId="{1A9D4396-1918-4F43-B4DF-954C8EB3F697}" dt="2026-02-16T09:30:04.501" v="475" actId="478"/>
          <ac:graphicFrameMkLst>
            <pc:docMk/>
            <pc:sldMk cId="0" sldId="540"/>
            <ac:graphicFrameMk id="496642" creationId="{00000000-0000-0000-0000-000000000000}"/>
          </ac:graphicFrameMkLst>
        </pc:graphicFrameChg>
        <pc:graphicFrameChg chg="add del mod">
          <ac:chgData name="e s" userId="b32979be72172c5e" providerId="LiveId" clId="{1A9D4396-1918-4F43-B4DF-954C8EB3F697}" dt="2026-02-16T09:30:54.895" v="483" actId="1076"/>
          <ac:graphicFrameMkLst>
            <pc:docMk/>
            <pc:sldMk cId="0" sldId="540"/>
            <ac:graphicFrameMk id="496643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30:10.119" v="477" actId="1076"/>
          <ac:picMkLst>
            <pc:docMk/>
            <pc:sldMk cId="0" sldId="540"/>
            <ac:picMk id="8" creationId="{EAA8629E-71BD-F0E9-BB87-3FB9B9855730}"/>
          </ac:picMkLst>
        </pc:picChg>
        <pc:picChg chg="add mod">
          <ac:chgData name="e s" userId="b32979be72172c5e" providerId="LiveId" clId="{1A9D4396-1918-4F43-B4DF-954C8EB3F697}" dt="2026-02-16T09:31:14.163" v="493" actId="1038"/>
          <ac:picMkLst>
            <pc:docMk/>
            <pc:sldMk cId="0" sldId="540"/>
            <ac:picMk id="12" creationId="{5160C9F3-66AE-1462-C74C-AC64C0D01F03}"/>
          </ac:picMkLst>
        </pc:picChg>
      </pc:sldChg>
      <pc:sldChg chg="addSp delSp modSp mod">
        <pc:chgData name="e s" userId="b32979be72172c5e" providerId="LiveId" clId="{1A9D4396-1918-4F43-B4DF-954C8EB3F697}" dt="2026-02-16T09:29:43.510" v="474" actId="1037"/>
        <pc:sldMkLst>
          <pc:docMk/>
          <pc:sldMk cId="0" sldId="541"/>
        </pc:sldMkLst>
        <pc:spChg chg="mod">
          <ac:chgData name="e s" userId="b32979be72172c5e" providerId="LiveId" clId="{1A9D4396-1918-4F43-B4DF-954C8EB3F697}" dt="2026-02-16T09:29:29.397" v="464" actId="20577"/>
          <ac:spMkLst>
            <pc:docMk/>
            <pc:sldMk cId="0" sldId="541"/>
            <ac:spMk id="3" creationId="{00000000-0000-0000-0000-000000000000}"/>
          </ac:spMkLst>
        </pc:spChg>
        <pc:graphicFrameChg chg="del">
          <ac:chgData name="e s" userId="b32979be72172c5e" providerId="LiveId" clId="{1A9D4396-1918-4F43-B4DF-954C8EB3F697}" dt="2026-02-16T09:29:14.412" v="457" actId="478"/>
          <ac:graphicFrameMkLst>
            <pc:docMk/>
            <pc:sldMk cId="0" sldId="541"/>
            <ac:graphicFrameMk id="497667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8:52.117" v="451" actId="478"/>
          <ac:graphicFrameMkLst>
            <pc:docMk/>
            <pc:sldMk cId="0" sldId="541"/>
            <ac:graphicFrameMk id="497670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9:32.472" v="465" actId="1076"/>
          <ac:picMkLst>
            <pc:docMk/>
            <pc:sldMk cId="0" sldId="541"/>
            <ac:picMk id="8" creationId="{028B514A-3A31-B560-E1FA-EA73B0D99610}"/>
          </ac:picMkLst>
        </pc:picChg>
        <pc:picChg chg="add mod">
          <ac:chgData name="e s" userId="b32979be72172c5e" providerId="LiveId" clId="{1A9D4396-1918-4F43-B4DF-954C8EB3F697}" dt="2026-02-16T09:29:43.510" v="474" actId="1037"/>
          <ac:picMkLst>
            <pc:docMk/>
            <pc:sldMk cId="0" sldId="541"/>
            <ac:picMk id="10" creationId="{78226530-2C46-7D0E-1E2E-3BB617EFD1FA}"/>
          </ac:picMkLst>
        </pc:picChg>
      </pc:sldChg>
      <pc:sldChg chg="addSp delSp modSp mod">
        <pc:chgData name="e s" userId="b32979be72172c5e" providerId="LiveId" clId="{1A9D4396-1918-4F43-B4DF-954C8EB3F697}" dt="2026-02-16T09:28:31.725" v="450" actId="14100"/>
        <pc:sldMkLst>
          <pc:docMk/>
          <pc:sldMk cId="0" sldId="542"/>
        </pc:sldMkLst>
        <pc:graphicFrameChg chg="del">
          <ac:chgData name="e s" userId="b32979be72172c5e" providerId="LiveId" clId="{1A9D4396-1918-4F43-B4DF-954C8EB3F697}" dt="2026-02-16T09:28:15.514" v="444" actId="478"/>
          <ac:graphicFrameMkLst>
            <pc:docMk/>
            <pc:sldMk cId="0" sldId="542"/>
            <ac:graphicFrameMk id="498690" creationId="{00000000-0000-0000-0000-000000000000}"/>
          </ac:graphicFrameMkLst>
        </pc:graphicFrameChg>
        <pc:graphicFrameChg chg="del mod">
          <ac:chgData name="e s" userId="b32979be72172c5e" providerId="LiveId" clId="{1A9D4396-1918-4F43-B4DF-954C8EB3F697}" dt="2026-02-16T09:28:17.514" v="445" actId="478"/>
          <ac:graphicFrameMkLst>
            <pc:docMk/>
            <pc:sldMk cId="0" sldId="542"/>
            <ac:graphicFrameMk id="498691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8:31.725" v="450" actId="14100"/>
          <ac:picMkLst>
            <pc:docMk/>
            <pc:sldMk cId="0" sldId="542"/>
            <ac:picMk id="6" creationId="{05D9C920-6727-1224-47BA-AB20B3D12360}"/>
          </ac:picMkLst>
        </pc:picChg>
      </pc:sldChg>
      <pc:sldChg chg="addSp delSp modSp mod">
        <pc:chgData name="e s" userId="b32979be72172c5e" providerId="LiveId" clId="{1A9D4396-1918-4F43-B4DF-954C8EB3F697}" dt="2026-02-16T09:27:31.286" v="389" actId="14100"/>
        <pc:sldMkLst>
          <pc:docMk/>
          <pc:sldMk cId="0" sldId="543"/>
        </pc:sldMkLst>
        <pc:spChg chg="add del mod">
          <ac:chgData name="e s" userId="b32979be72172c5e" providerId="LiveId" clId="{1A9D4396-1918-4F43-B4DF-954C8EB3F697}" dt="2026-02-16T09:27:14.311" v="376" actId="478"/>
          <ac:spMkLst>
            <pc:docMk/>
            <pc:sldMk cId="0" sldId="543"/>
            <ac:spMk id="5" creationId="{27300C11-4F60-2C41-8427-811810671221}"/>
          </ac:spMkLst>
        </pc:spChg>
        <pc:graphicFrameChg chg="del">
          <ac:chgData name="e s" userId="b32979be72172c5e" providerId="LiveId" clId="{1A9D4396-1918-4F43-B4DF-954C8EB3F697}" dt="2026-02-16T09:27:08.126" v="375" actId="478"/>
          <ac:graphicFrameMkLst>
            <pc:docMk/>
            <pc:sldMk cId="0" sldId="543"/>
            <ac:graphicFrameMk id="499714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7:17.139" v="377" actId="478"/>
          <ac:graphicFrameMkLst>
            <pc:docMk/>
            <pc:sldMk cId="0" sldId="543"/>
            <ac:graphicFrameMk id="499715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7:31.286" v="389" actId="14100"/>
          <ac:picMkLst>
            <pc:docMk/>
            <pc:sldMk cId="0" sldId="543"/>
            <ac:picMk id="7" creationId="{6B30A03F-1083-6A6F-C676-8A3730966642}"/>
          </ac:picMkLst>
        </pc:picChg>
      </pc:sldChg>
      <pc:sldChg chg="addSp delSp modSp mod">
        <pc:chgData name="e s" userId="b32979be72172c5e" providerId="LiveId" clId="{1A9D4396-1918-4F43-B4DF-954C8EB3F697}" dt="2026-02-16T09:26:41.796" v="374" actId="14100"/>
        <pc:sldMkLst>
          <pc:docMk/>
          <pc:sldMk cId="0" sldId="544"/>
        </pc:sldMkLst>
        <pc:graphicFrameChg chg="del mod">
          <ac:chgData name="e s" userId="b32979be72172c5e" providerId="LiveId" clId="{1A9D4396-1918-4F43-B4DF-954C8EB3F697}" dt="2026-02-16T09:24:56.051" v="317" actId="478"/>
          <ac:graphicFrameMkLst>
            <pc:docMk/>
            <pc:sldMk cId="0" sldId="544"/>
            <ac:graphicFrameMk id="500739" creationId="{00000000-0000-0000-0000-000000000000}"/>
          </ac:graphicFrameMkLst>
        </pc:graphicFrameChg>
        <pc:graphicFrameChg chg="del mod">
          <ac:chgData name="e s" userId="b32979be72172c5e" providerId="LiveId" clId="{1A9D4396-1918-4F43-B4DF-954C8EB3F697}" dt="2026-02-16T09:25:58.314" v="361" actId="478"/>
          <ac:graphicFrameMkLst>
            <pc:docMk/>
            <pc:sldMk cId="0" sldId="544"/>
            <ac:graphicFrameMk id="500741" creationId="{00000000-0000-0000-0000-000000000000}"/>
          </ac:graphicFrameMkLst>
        </pc:graphicFrameChg>
        <pc:graphicFrameChg chg="del mod">
          <ac:chgData name="e s" userId="b32979be72172c5e" providerId="LiveId" clId="{1A9D4396-1918-4F43-B4DF-954C8EB3F697}" dt="2026-02-16T09:26:00.694" v="362" actId="478"/>
          <ac:graphicFrameMkLst>
            <pc:docMk/>
            <pc:sldMk cId="0" sldId="544"/>
            <ac:graphicFrameMk id="500742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6:30.826" v="368" actId="478"/>
          <ac:graphicFrameMkLst>
            <pc:docMk/>
            <pc:sldMk cId="0" sldId="544"/>
            <ac:graphicFrameMk id="500743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6:32.641" v="369" actId="478"/>
          <ac:graphicFrameMkLst>
            <pc:docMk/>
            <pc:sldMk cId="0" sldId="544"/>
            <ac:graphicFrameMk id="500744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5:05.834" v="335" actId="1037"/>
          <ac:picMkLst>
            <pc:docMk/>
            <pc:sldMk cId="0" sldId="544"/>
            <ac:picMk id="7" creationId="{F1D9A5FD-3C49-8914-7640-036F20CD8C23}"/>
          </ac:picMkLst>
        </pc:picChg>
        <pc:picChg chg="add mod">
          <ac:chgData name="e s" userId="b32979be72172c5e" providerId="LiveId" clId="{1A9D4396-1918-4F43-B4DF-954C8EB3F697}" dt="2026-02-16T09:26:10.968" v="367" actId="14100"/>
          <ac:picMkLst>
            <pc:docMk/>
            <pc:sldMk cId="0" sldId="544"/>
            <ac:picMk id="9" creationId="{63FE129F-155D-AA93-EB98-047B5F118278}"/>
          </ac:picMkLst>
        </pc:picChg>
        <pc:picChg chg="add mod">
          <ac:chgData name="e s" userId="b32979be72172c5e" providerId="LiveId" clId="{1A9D4396-1918-4F43-B4DF-954C8EB3F697}" dt="2026-02-16T09:26:41.796" v="374" actId="14100"/>
          <ac:picMkLst>
            <pc:docMk/>
            <pc:sldMk cId="0" sldId="544"/>
            <ac:picMk id="12" creationId="{E90484F4-7E6B-C495-0CB8-E37CF5945DD2}"/>
          </ac:picMkLst>
        </pc:picChg>
      </pc:sldChg>
      <pc:sldChg chg="addSp delSp modSp mod">
        <pc:chgData name="e s" userId="b32979be72172c5e" providerId="LiveId" clId="{1A9D4396-1918-4F43-B4DF-954C8EB3F697}" dt="2026-02-16T09:24:18.492" v="311" actId="1037"/>
        <pc:sldMkLst>
          <pc:docMk/>
          <pc:sldMk cId="0" sldId="545"/>
        </pc:sldMkLst>
        <pc:spChg chg="add del mod">
          <ac:chgData name="e s" userId="b32979be72172c5e" providerId="LiveId" clId="{1A9D4396-1918-4F43-B4DF-954C8EB3F697}" dt="2026-02-16T09:24:04.347" v="284" actId="478"/>
          <ac:spMkLst>
            <pc:docMk/>
            <pc:sldMk cId="0" sldId="545"/>
            <ac:spMk id="5" creationId="{B3348E8D-5532-9031-C4AD-C366F9E31811}"/>
          </ac:spMkLst>
        </pc:spChg>
        <pc:graphicFrameChg chg="del">
          <ac:chgData name="e s" userId="b32979be72172c5e" providerId="LiveId" clId="{1A9D4396-1918-4F43-B4DF-954C8EB3F697}" dt="2026-02-16T09:23:52.139" v="283" actId="478"/>
          <ac:graphicFrameMkLst>
            <pc:docMk/>
            <pc:sldMk cId="0" sldId="545"/>
            <ac:graphicFrameMk id="501762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4:07.069" v="285" actId="478"/>
          <ac:graphicFrameMkLst>
            <pc:docMk/>
            <pc:sldMk cId="0" sldId="545"/>
            <ac:graphicFrameMk id="501763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4:09.133" v="286" actId="478"/>
          <ac:graphicFrameMkLst>
            <pc:docMk/>
            <pc:sldMk cId="0" sldId="545"/>
            <ac:graphicFrameMk id="501764" creationId="{00000000-0000-0000-0000-000000000000}"/>
          </ac:graphicFrameMkLst>
        </pc:graphicFrameChg>
        <pc:graphicFrameChg chg="del">
          <ac:chgData name="e s" userId="b32979be72172c5e" providerId="LiveId" clId="{1A9D4396-1918-4F43-B4DF-954C8EB3F697}" dt="2026-02-16T09:24:11.137" v="287" actId="478"/>
          <ac:graphicFrameMkLst>
            <pc:docMk/>
            <pc:sldMk cId="0" sldId="545"/>
            <ac:graphicFrameMk id="501765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4:18.492" v="311" actId="1037"/>
          <ac:picMkLst>
            <pc:docMk/>
            <pc:sldMk cId="0" sldId="545"/>
            <ac:picMk id="7" creationId="{BF2FD5D5-4BC5-2FC3-C467-E93D710BE28C}"/>
          </ac:picMkLst>
        </pc:picChg>
      </pc:sldChg>
      <pc:sldChg chg="addSp delSp modSp mod">
        <pc:chgData name="e s" userId="b32979be72172c5e" providerId="LiveId" clId="{1A9D4396-1918-4F43-B4DF-954C8EB3F697}" dt="2026-02-16T09:23:32.261" v="282" actId="9405"/>
        <pc:sldMkLst>
          <pc:docMk/>
          <pc:sldMk cId="0" sldId="547"/>
        </pc:sldMkLst>
        <pc:spChg chg="add mod">
          <ac:chgData name="e s" userId="b32979be72172c5e" providerId="LiveId" clId="{1A9D4396-1918-4F43-B4DF-954C8EB3F697}" dt="2026-02-16T09:23:05.564" v="277" actId="478"/>
          <ac:spMkLst>
            <pc:docMk/>
            <pc:sldMk cId="0" sldId="547"/>
            <ac:spMk id="9" creationId="{6DD102A8-5991-E27E-CA89-802AE4AEE70B}"/>
          </ac:spMkLst>
        </pc:spChg>
        <pc:graphicFrameChg chg="del">
          <ac:chgData name="e s" userId="b32979be72172c5e" providerId="LiveId" clId="{1A9D4396-1918-4F43-B4DF-954C8EB3F697}" dt="2026-02-16T09:23:05.564" v="277" actId="478"/>
          <ac:graphicFrameMkLst>
            <pc:docMk/>
            <pc:sldMk cId="0" sldId="547"/>
            <ac:graphicFrameMk id="8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9:23:15.226" v="281" actId="1076"/>
          <ac:picMkLst>
            <pc:docMk/>
            <pc:sldMk cId="0" sldId="547"/>
            <ac:picMk id="11" creationId="{A86B18D7-8D1B-F0D4-F3B1-449DB8391661}"/>
          </ac:picMkLst>
        </pc:picChg>
        <pc:inkChg chg="add">
          <ac:chgData name="e s" userId="b32979be72172c5e" providerId="LiveId" clId="{1A9D4396-1918-4F43-B4DF-954C8EB3F697}" dt="2026-02-16T09:23:32.261" v="282" actId="9405"/>
          <ac:inkMkLst>
            <pc:docMk/>
            <pc:sldMk cId="0" sldId="547"/>
            <ac:inkMk id="12" creationId="{9F825DCC-06C0-2FCE-95AB-608C88DEB68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23:32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1714 789 24575,'0'-24'0,"-1"1"0,0-1 0,-3 0 0,0 1 0,-8-28 0,-3 2 0,-1 2 0,-2 0 0,-3 0 0,-33-53 0,-100-122 0,150 215 0,0 1 0,-1 0 0,0 0 0,0 0 0,0 1 0,-1 0 0,0 0 0,0 0 0,0 1 0,-1 0 0,1 0 0,-1 0 0,-9-3 0,2 3 0,0 0 0,-1 1 0,1 0 0,0 2 0,-1-1 0,-15 2 0,16 0 0,-32 0 0,-73-9 0,103 6 0,-1 0 0,1 2 0,-1 0 0,1 1 0,-1 1 0,0 0 0,1 1 0,-1 1 0,1 1 0,-22 7 0,-17 7 0,-1-2 0,0-2 0,-1-4 0,-110 8 0,154-17 0,1 2 0,0-1 0,-1 1 0,1 1 0,0 0 0,1 1 0,-1 0 0,1 1 0,0 0 0,0 1 0,1 0 0,-12 10 0,-11 12 0,1 2 0,-30 38 0,36-39 0,13-15 0,1 1 0,1 0 0,0 1 0,1 0 0,1 0 0,1 1 0,1 1 0,0-1 0,1 1 0,-4 23 0,2 6 0,3 0 0,1 95 0,4-132 0,0 31 0,1 1 0,2 0 0,2-1 0,13 49 0,107 266 0,-106-306 0,-14-39 0,0 0 0,0 0 0,1-1 0,0 0 0,1 0 0,1 0 0,0-1 0,0 0 0,0-1 0,2 0 0,-1 0 0,1-1 0,0 0 0,1-1 0,-1 0 0,2-1 0,-1 0 0,1 0 0,0-1 0,18 5 0,69 20 0,-64-18 0,0-1 0,0-2 0,1-1 0,62 5 0,-77-13 0,155-2 0,-142-3 0,0-2 0,0-1 0,-1-2 0,0-1 0,0-2 0,43-23 0,-42 21 0,-23 10 0,-1 0 0,1 0 0,-1 0 0,0-2 0,0 1 0,-1-1 0,17-16 0,6-6 0,-25 24 0,-1-1 0,1 0 0,-1 0 0,-1-1 0,1 0 0,5-8 0,22-56 0,-25 49 0,23-39 0,13-21 0,-32 56 0,-8 18 0,-1-1 0,0 1 0,-1-1 0,0 0 0,-1 1 0,1-13 0,-1 12 0,0 1 0,0-1 0,1 0 0,0 1 0,1-1 0,4-11 0,11-14 0,20-62 0,-32 78 0,-1-1 0,-1 1 0,-1-1 0,-1 0 0,0-27 0,-3-69-1365,1 98-5461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C6C41-54EF-49D8-8026-9CCF966A16E6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194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618A8932-62C9-4217-BDB8-ACC30534E1C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35C-E6EA-416D-AA91-2D7B45730357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26BC372-8821-47C8-8858-C1C512837FE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1F389-A53C-4A80-A700-AD17C06A2A6E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EEEE-F63A-45AF-84D9-BF154B20570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8AF9-156B-43BB-A6E4-2BA5B4B2CE04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241-2F2C-4BDB-949F-CDA85DBACC88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B5F21AF-98DF-4F3D-8D1F-E6D251F86555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4880FEF-A9E0-4096-A6F1-C5DFB362ABD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B0B1-7D84-48E7-96D3-793BA508764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BA8E-E9BE-4983-8968-4586D2DC7992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3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1.png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7.wmf"/><Relationship Id="rId1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Теория вероятностей и математическая статистика. Лекция </a:t>
            </a:r>
            <a:r>
              <a:rPr lang="en-US" b="1" dirty="0">
                <a:solidFill>
                  <a:srgbClr val="00B0F0"/>
                </a:solidFill>
              </a:rPr>
              <a:t>12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>
                <a:solidFill>
                  <a:schemeClr val="tx1"/>
                </a:solidFill>
              </a:rPr>
              <a:t>Преподаватель</a:t>
            </a:r>
            <a:r>
              <a:rPr lang="en-US" sz="3000" dirty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>
                <a:solidFill>
                  <a:schemeClr val="tx1"/>
                </a:solidFill>
              </a:rPr>
              <a:t>к.т.н., доцент каф ЭСВМ</a:t>
            </a:r>
            <a:endParaRPr lang="en-US" sz="3000" dirty="0">
              <a:solidFill>
                <a:schemeClr val="tx1"/>
              </a:solidFill>
            </a:endParaRPr>
          </a:p>
          <a:p>
            <a:endParaRPr lang="ru-RU" sz="3000" dirty="0">
              <a:solidFill>
                <a:schemeClr val="tx1"/>
              </a:solidFill>
            </a:endParaRPr>
          </a:p>
          <a:p>
            <a:r>
              <a:rPr lang="ru-RU" sz="3300" b="1" i="1" dirty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E-mail: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>
                <a:solidFill>
                  <a:srgbClr val="FF0000"/>
                </a:solidFill>
              </a:rPr>
              <a:t>экзамен</a:t>
            </a:r>
            <a:endParaRPr lang="ru-RU" sz="3800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Оценка параметров генеральной совокупности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71472" y="2143116"/>
            <a:ext cx="3357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Точечные оценки неизвестных параметров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628" y="2143116"/>
            <a:ext cx="3714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Интервальные оценки неизвестных параметров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Точечные оценки параметров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/>
              <a:t>Пусть распределение признака Х генеральной совокупности задается вероятностями </a:t>
            </a:r>
            <a:r>
              <a:rPr lang="en-US" dirty="0"/>
              <a:t>P(x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ru-RU" dirty="0">
                <a:latin typeface="Calibri"/>
                <a:cs typeface="Calibri"/>
              </a:rPr>
              <a:t>Ѳ</a:t>
            </a:r>
            <a:r>
              <a:rPr lang="en-US" dirty="0">
                <a:latin typeface="Calibri"/>
                <a:cs typeface="Calibri"/>
              </a:rPr>
              <a:t>) </a:t>
            </a:r>
            <a:r>
              <a:rPr lang="ru-RU" dirty="0">
                <a:cs typeface="Calibri"/>
              </a:rPr>
              <a:t>для дискретной СВ или плотностью вероятности </a:t>
            </a:r>
            <a:r>
              <a:rPr lang="el-GR" dirty="0">
                <a:latin typeface="Cambria"/>
                <a:ea typeface="Cambria"/>
                <a:cs typeface="Calibri"/>
              </a:rPr>
              <a:t>φ</a:t>
            </a:r>
            <a:r>
              <a:rPr lang="ru-RU" dirty="0">
                <a:latin typeface="Cambria"/>
                <a:ea typeface="Cambria"/>
                <a:cs typeface="Calibri"/>
              </a:rPr>
              <a:t>(</a:t>
            </a:r>
            <a:r>
              <a:rPr lang="en-US" dirty="0">
                <a:latin typeface="Cambria"/>
                <a:ea typeface="Cambria"/>
                <a:cs typeface="Calibri"/>
              </a:rPr>
              <a:t>x, </a:t>
            </a:r>
            <a:r>
              <a:rPr lang="el-GR" dirty="0">
                <a:latin typeface="Cambria"/>
                <a:ea typeface="Cambria"/>
                <a:cs typeface="Calibri"/>
              </a:rPr>
              <a:t>ϴ</a:t>
            </a:r>
            <a:r>
              <a:rPr lang="en-US" dirty="0">
                <a:latin typeface="Cambria"/>
                <a:ea typeface="Cambria"/>
                <a:cs typeface="Calibri"/>
              </a:rPr>
              <a:t>) </a:t>
            </a:r>
            <a:r>
              <a:rPr lang="ru-RU" dirty="0">
                <a:latin typeface="Cambria"/>
                <a:ea typeface="Cambria"/>
                <a:cs typeface="Calibri"/>
              </a:rPr>
              <a:t>для непрерывной СВ, которые зависят от некоторого неизвестного параметра </a:t>
            </a:r>
            <a:r>
              <a:rPr lang="el-GR" dirty="0">
                <a:latin typeface="Cambria"/>
                <a:ea typeface="Cambria"/>
                <a:cs typeface="Calibri"/>
              </a:rPr>
              <a:t>ϴ</a:t>
            </a:r>
            <a:r>
              <a:rPr lang="ru-RU" dirty="0">
                <a:latin typeface="Cambria"/>
                <a:ea typeface="Cambria"/>
                <a:cs typeface="Calibri"/>
              </a:rPr>
              <a:t>.</a:t>
            </a:r>
          </a:p>
          <a:p>
            <a:pPr>
              <a:buNone/>
            </a:pPr>
            <a:r>
              <a:rPr lang="ru-RU" dirty="0">
                <a:latin typeface="Cambria"/>
                <a:ea typeface="Cambria"/>
                <a:cs typeface="Calibri"/>
              </a:rPr>
              <a:t>Этим параметром может быть, например, параметр </a:t>
            </a:r>
            <a:r>
              <a:rPr lang="el-GR" dirty="0">
                <a:latin typeface="Cambria"/>
                <a:ea typeface="Cambria"/>
                <a:cs typeface="Calibri"/>
              </a:rPr>
              <a:t>λ</a:t>
            </a:r>
            <a:r>
              <a:rPr lang="ru-RU" dirty="0">
                <a:latin typeface="Cambria"/>
                <a:ea typeface="Cambria"/>
                <a:cs typeface="Calibri"/>
              </a:rPr>
              <a:t> для экспоненциального закона распределения или параметры </a:t>
            </a:r>
            <a:r>
              <a:rPr lang="ru-RU" i="1" dirty="0">
                <a:latin typeface="Cambria"/>
                <a:ea typeface="Cambria"/>
                <a:cs typeface="Calibri"/>
              </a:rPr>
              <a:t>а</a:t>
            </a:r>
            <a:r>
              <a:rPr lang="ru-RU" dirty="0">
                <a:latin typeface="Cambria"/>
                <a:ea typeface="Cambria"/>
                <a:cs typeface="Calibri"/>
              </a:rPr>
              <a:t> и </a:t>
            </a:r>
            <a:r>
              <a:rPr lang="el-GR" dirty="0">
                <a:latin typeface="Calibri"/>
                <a:ea typeface="Cambria"/>
                <a:cs typeface="Calibri"/>
              </a:rPr>
              <a:t>σ</a:t>
            </a:r>
            <a:r>
              <a:rPr lang="ru-RU" dirty="0">
                <a:latin typeface="Calibri"/>
                <a:ea typeface="Cambria"/>
                <a:cs typeface="Calibri"/>
              </a:rPr>
              <a:t> </a:t>
            </a:r>
            <a:r>
              <a:rPr lang="ru-RU" dirty="0">
                <a:ea typeface="Cambria"/>
                <a:cs typeface="Calibri"/>
              </a:rPr>
              <a:t>нормального закона распределения.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14400" imgH="215640" progId="Equation.3">
                  <p:embed/>
                </p:oleObj>
              </mc:Choice>
              <mc:Fallback>
                <p:oleObj name="Формула" r:id="rId2" imgW="914400" imgH="215640" progId="Equation.3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r>
              <a:rPr lang="ru-RU" dirty="0"/>
              <a:t>На практике о величине неизвестного параметра </a:t>
            </a:r>
            <a:r>
              <a:rPr lang="el-GR" dirty="0">
                <a:latin typeface="Cambria"/>
                <a:ea typeface="Cambria"/>
              </a:rPr>
              <a:t>ϴ</a:t>
            </a:r>
            <a:r>
              <a:rPr lang="ru-RU" dirty="0">
                <a:latin typeface="Cambria"/>
                <a:ea typeface="Cambria"/>
              </a:rPr>
              <a:t> </a:t>
            </a:r>
            <a:r>
              <a:rPr lang="ru-RU" dirty="0"/>
              <a:t>генеральной совокупности можно судить по конечной выборке </a:t>
            </a:r>
            <a:r>
              <a:rPr lang="en-US" dirty="0"/>
              <a:t>{x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} </a:t>
            </a:r>
            <a:r>
              <a:rPr lang="ru-RU" dirty="0"/>
              <a:t>объема </a:t>
            </a:r>
            <a:r>
              <a:rPr lang="en-US" dirty="0"/>
              <a:t>n </a:t>
            </a:r>
            <a:r>
              <a:rPr lang="ru-RU" dirty="0"/>
              <a:t>из генеральной совокупности.</a:t>
            </a:r>
          </a:p>
          <a:p>
            <a:r>
              <a:rPr lang="ru-RU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Статистикой (оценкой)</a:t>
            </a:r>
            <a:r>
              <a:rPr lang="ru-RU" dirty="0"/>
              <a:t> </a:t>
            </a:r>
            <a:r>
              <a:rPr lang="en-US" dirty="0">
                <a:latin typeface="Cambria"/>
                <a:ea typeface="Cambria"/>
              </a:rPr>
              <a:t>ϴ̅</a:t>
            </a:r>
            <a:r>
              <a:rPr lang="en-US" baseline="-25000" dirty="0">
                <a:latin typeface="Cambria"/>
                <a:ea typeface="Cambria"/>
              </a:rPr>
              <a:t>n   </a:t>
            </a:r>
            <a:r>
              <a:rPr lang="ru-RU" dirty="0">
                <a:latin typeface="Cambria"/>
                <a:ea typeface="Cambria"/>
              </a:rPr>
              <a:t>параметра </a:t>
            </a:r>
            <a:r>
              <a:rPr lang="el-GR" dirty="0">
                <a:latin typeface="Cambria"/>
                <a:ea typeface="Cambria"/>
              </a:rPr>
              <a:t>ϴ</a:t>
            </a:r>
            <a:r>
              <a:rPr lang="en-US" dirty="0">
                <a:latin typeface="Cambria"/>
                <a:ea typeface="Cambria"/>
              </a:rPr>
              <a:t> </a:t>
            </a:r>
            <a:r>
              <a:rPr lang="ru-RU" dirty="0">
                <a:latin typeface="Cambria"/>
                <a:ea typeface="Cambria"/>
              </a:rPr>
              <a:t>называется любая функция от значений выборки </a:t>
            </a:r>
            <a:r>
              <a:rPr lang="en-US" dirty="0"/>
              <a:t>{x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}</a:t>
            </a:r>
            <a:r>
              <a:rPr lang="ru-RU" dirty="0"/>
              <a:t>.</a:t>
            </a:r>
          </a:p>
          <a:p>
            <a:r>
              <a:rPr lang="ru-RU" dirty="0">
                <a:latin typeface="Cambria"/>
                <a:ea typeface="Cambria"/>
              </a:rPr>
              <a:t>Сам параметр </a:t>
            </a:r>
            <a:r>
              <a:rPr lang="el-GR" dirty="0">
                <a:latin typeface="Cambria"/>
                <a:ea typeface="Cambria"/>
              </a:rPr>
              <a:t>ϴ</a:t>
            </a:r>
            <a:r>
              <a:rPr lang="ru-RU" dirty="0">
                <a:latin typeface="Cambria"/>
                <a:ea typeface="Cambria"/>
              </a:rPr>
              <a:t> является некоторым постоянным числом, которое представляет истинное значение параметра генеральной совокупности.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Статистику </a:t>
            </a:r>
            <a:r>
              <a:rPr lang="el-GR" dirty="0">
                <a:ea typeface="Cambria"/>
              </a:rPr>
              <a:t>ϴ̅</a:t>
            </a:r>
            <a:r>
              <a:rPr lang="en-US" i="1" baseline="-25000" dirty="0">
                <a:latin typeface="Cambria"/>
                <a:ea typeface="Cambria"/>
              </a:rPr>
              <a:t>n </a:t>
            </a:r>
            <a:r>
              <a:rPr lang="ru-RU" dirty="0"/>
              <a:t>следует выбирать таким образом, чтобы ее значение как можно точнее оценивало значение неизвестного параметра</a:t>
            </a:r>
            <a:r>
              <a:rPr lang="en-US" dirty="0"/>
              <a:t> </a:t>
            </a:r>
            <a:r>
              <a:rPr lang="el-GR" dirty="0">
                <a:latin typeface="Cambria"/>
                <a:ea typeface="Cambria"/>
              </a:rPr>
              <a:t>ϴ</a:t>
            </a:r>
            <a:r>
              <a:rPr lang="en-US" dirty="0">
                <a:latin typeface="Cambria"/>
                <a:ea typeface="Cambria"/>
              </a:rPr>
              <a:t>.</a:t>
            </a:r>
            <a:r>
              <a:rPr lang="ru-RU" dirty="0"/>
              <a:t> </a:t>
            </a:r>
          </a:p>
          <a:p>
            <a:r>
              <a:rPr lang="ru-RU" dirty="0"/>
              <a:t>Чем больше объем выборки, тем ближе статистика </a:t>
            </a:r>
            <a:r>
              <a:rPr lang="el-GR" dirty="0">
                <a:latin typeface="Cambria"/>
                <a:ea typeface="Cambria"/>
              </a:rPr>
              <a:t>ϴ̅</a:t>
            </a:r>
            <a:r>
              <a:rPr lang="en-US" i="1" baseline="-25000" dirty="0">
                <a:latin typeface="Cambria"/>
                <a:ea typeface="Cambria"/>
              </a:rPr>
              <a:t>n</a:t>
            </a:r>
            <a:r>
              <a:rPr lang="ru-RU" dirty="0"/>
              <a:t> к истинному значению </a:t>
            </a:r>
            <a:r>
              <a:rPr lang="el-GR" dirty="0">
                <a:latin typeface="Cambria"/>
                <a:ea typeface="Cambria"/>
              </a:rPr>
              <a:t>ϴ</a:t>
            </a:r>
            <a:r>
              <a:rPr lang="ru-RU" dirty="0">
                <a:latin typeface="Cambria"/>
                <a:ea typeface="Cambria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14400" imgH="215640" progId="Equation.3">
                  <p:embed/>
                </p:oleObj>
              </mc:Choice>
              <mc:Fallback>
                <p:oleObj name="Формула" r:id="rId2" imgW="914400" imgH="215640" progId="Equation.3">
                  <p:embed/>
                  <p:pic>
                    <p:nvPicPr>
                      <p:cNvPr id="9" name="Объект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Точечные оценки</a:t>
            </a:r>
            <a:r>
              <a:rPr lang="en-US" dirty="0"/>
              <a:t> </a:t>
            </a:r>
            <a:r>
              <a:rPr lang="ru-RU" dirty="0"/>
              <a:t>неизвестных параметров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526280"/>
          </a:xfrm>
        </p:spPr>
        <p:txBody>
          <a:bodyPr>
            <a:noAutofit/>
          </a:bodyPr>
          <a:lstStyle/>
          <a:p>
            <a:r>
              <a:rPr lang="ru-RU" sz="2400" dirty="0"/>
              <a:t>Оценка </a:t>
            </a:r>
            <a:r>
              <a:rPr lang="el-GR" sz="2400" dirty="0">
                <a:latin typeface="Cambria"/>
                <a:ea typeface="Cambria"/>
              </a:rPr>
              <a:t>ϴ̅</a:t>
            </a:r>
            <a:r>
              <a:rPr lang="en-US" sz="2400" baseline="-25000" dirty="0">
                <a:latin typeface="Cambria"/>
                <a:ea typeface="Cambria"/>
              </a:rPr>
              <a:t>n</a:t>
            </a:r>
            <a:r>
              <a:rPr lang="en-US" sz="2400" dirty="0">
                <a:latin typeface="Cambria"/>
                <a:ea typeface="Cambria"/>
              </a:rPr>
              <a:t> </a:t>
            </a:r>
            <a:r>
              <a:rPr lang="ru-RU" sz="2400" dirty="0">
                <a:latin typeface="Cambria"/>
                <a:ea typeface="Cambria"/>
              </a:rPr>
              <a:t>называется </a:t>
            </a:r>
            <a:r>
              <a:rPr lang="ru-RU" sz="2400" u="sng" dirty="0">
                <a:solidFill>
                  <a:schemeClr val="accent2"/>
                </a:solidFill>
                <a:latin typeface="Cambria"/>
                <a:ea typeface="Cambria"/>
              </a:rPr>
              <a:t>несмещенной</a:t>
            </a:r>
            <a:r>
              <a:rPr lang="ru-RU" sz="2400" dirty="0">
                <a:latin typeface="Cambria"/>
                <a:ea typeface="Cambria"/>
              </a:rPr>
              <a:t>, если ее математическое ожидание равно </a:t>
            </a:r>
            <a:r>
              <a:rPr lang="el-GR" sz="2400" dirty="0">
                <a:latin typeface="Cambria"/>
                <a:ea typeface="Cambria"/>
              </a:rPr>
              <a:t>ϴ</a:t>
            </a:r>
            <a:r>
              <a:rPr lang="ru-RU" sz="2400" dirty="0">
                <a:latin typeface="Cambria"/>
                <a:ea typeface="Cambria"/>
              </a:rPr>
              <a:t>.</a:t>
            </a:r>
          </a:p>
          <a:p>
            <a:r>
              <a:rPr lang="ru-RU" sz="2400" dirty="0">
                <a:solidFill>
                  <a:schemeClr val="bg2">
                    <a:lumMod val="40000"/>
                    <a:lumOff val="60000"/>
                  </a:schemeClr>
                </a:solidFill>
                <a:latin typeface="Cambria"/>
                <a:ea typeface="Cambria"/>
              </a:rPr>
              <a:t>Несмещенная </a:t>
            </a:r>
            <a:r>
              <a:rPr lang="ru-RU" sz="2400" dirty="0">
                <a:latin typeface="Cambria"/>
                <a:ea typeface="Cambria"/>
              </a:rPr>
              <a:t>оценка </a:t>
            </a:r>
            <a:r>
              <a:rPr lang="el-GR" sz="2400" dirty="0">
                <a:latin typeface="Cambria"/>
                <a:ea typeface="Cambria"/>
              </a:rPr>
              <a:t>ϴ̅</a:t>
            </a:r>
            <a:r>
              <a:rPr lang="en-US" sz="2400" baseline="-25000" dirty="0">
                <a:latin typeface="Cambria"/>
                <a:ea typeface="Cambria"/>
              </a:rPr>
              <a:t>n</a:t>
            </a:r>
            <a:r>
              <a:rPr lang="en-US" sz="2400" dirty="0">
                <a:latin typeface="Cambria"/>
                <a:ea typeface="Cambria"/>
              </a:rPr>
              <a:t>  </a:t>
            </a:r>
            <a:r>
              <a:rPr lang="ru-RU" sz="2400" dirty="0">
                <a:latin typeface="Cambria"/>
                <a:ea typeface="Cambria"/>
              </a:rPr>
              <a:t>называется </a:t>
            </a:r>
            <a:r>
              <a:rPr lang="ru-RU" sz="2400" u="sng" dirty="0">
                <a:solidFill>
                  <a:schemeClr val="accent2"/>
                </a:solidFill>
                <a:latin typeface="Cambria"/>
                <a:ea typeface="Cambria"/>
              </a:rPr>
              <a:t>эффективной</a:t>
            </a:r>
            <a:r>
              <a:rPr lang="ru-RU" sz="2400" dirty="0">
                <a:latin typeface="Cambria"/>
                <a:ea typeface="Cambria"/>
              </a:rPr>
              <a:t>, если ее дисперсия является наименьшей среди всех возможных оценок параметра </a:t>
            </a:r>
            <a:r>
              <a:rPr lang="el-GR" sz="2400" dirty="0">
                <a:latin typeface="Cambria"/>
                <a:ea typeface="Cambria"/>
              </a:rPr>
              <a:t>ϴ</a:t>
            </a:r>
            <a:r>
              <a:rPr lang="ru-RU" sz="2400" dirty="0">
                <a:latin typeface="Cambria"/>
                <a:ea typeface="Cambria"/>
              </a:rPr>
              <a:t>, вычисленных по одному и тому же объему выборки. </a:t>
            </a:r>
          </a:p>
          <a:p>
            <a:r>
              <a:rPr lang="ru-RU" sz="2400" dirty="0">
                <a:latin typeface="Cambria"/>
                <a:ea typeface="Cambria"/>
              </a:rPr>
              <a:t>Оценка </a:t>
            </a:r>
            <a:r>
              <a:rPr lang="el-GR" sz="2400" dirty="0">
                <a:latin typeface="Cambria"/>
                <a:ea typeface="Cambria"/>
              </a:rPr>
              <a:t>ϴ̅</a:t>
            </a:r>
            <a:r>
              <a:rPr lang="en-US" sz="2400" baseline="-25000" dirty="0">
                <a:latin typeface="Cambria"/>
                <a:ea typeface="Cambria"/>
              </a:rPr>
              <a:t>n </a:t>
            </a:r>
            <a:r>
              <a:rPr lang="en-US" sz="2400" dirty="0">
                <a:latin typeface="Cambria"/>
                <a:ea typeface="Cambria"/>
              </a:rPr>
              <a:t> </a:t>
            </a:r>
            <a:r>
              <a:rPr lang="ru-RU" sz="2400" dirty="0">
                <a:latin typeface="Cambria"/>
                <a:ea typeface="Cambria"/>
              </a:rPr>
              <a:t>называется </a:t>
            </a:r>
            <a:r>
              <a:rPr lang="ru-RU" sz="2400" u="sng" dirty="0">
                <a:solidFill>
                  <a:schemeClr val="accent2"/>
                </a:solidFill>
                <a:latin typeface="Cambria"/>
                <a:ea typeface="Cambria"/>
              </a:rPr>
              <a:t>состоятельной</a:t>
            </a:r>
            <a:r>
              <a:rPr lang="ru-RU" sz="2400" dirty="0">
                <a:latin typeface="Cambria"/>
                <a:ea typeface="Cambria"/>
              </a:rPr>
              <a:t>, если она удовлетворяет закону больших чисел, то есть сходится по вероятности к оцениваемому параметру </a:t>
            </a:r>
            <a:r>
              <a:rPr lang="en-US" sz="2400" dirty="0">
                <a:latin typeface="Cambria"/>
                <a:ea typeface="Cambria"/>
              </a:rPr>
              <a:t>ϴ.</a:t>
            </a:r>
            <a:endParaRPr lang="ru-RU" sz="2400" dirty="0">
              <a:latin typeface="Cambria"/>
              <a:ea typeface="Cambria"/>
            </a:endParaRPr>
          </a:p>
          <a:p>
            <a:r>
              <a:rPr lang="ru-RU" sz="2400" dirty="0">
                <a:latin typeface="Cambria"/>
                <a:ea typeface="Cambria"/>
              </a:rPr>
              <a:t>В качестве статистических оценок параметров генеральной совокупности желательно использовать оценки, удовлетворяющие одновременно требованиям </a:t>
            </a:r>
            <a:r>
              <a:rPr lang="ru-RU" sz="2400" dirty="0" err="1">
                <a:latin typeface="Cambria"/>
                <a:ea typeface="Cambria"/>
              </a:rPr>
              <a:t>несмещенности</a:t>
            </a:r>
            <a:r>
              <a:rPr lang="ru-RU" sz="2400" dirty="0">
                <a:latin typeface="Cambria"/>
                <a:ea typeface="Cambria"/>
              </a:rPr>
              <a:t>, состоятельности и эффективности. Однако достичь этого удается не всегда.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Точечные оценки числовых параметров генеральной совокупности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Пусть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a – </a:t>
            </a:r>
            <a:r>
              <a:rPr lang="ru-RU" dirty="0">
                <a:latin typeface="Cambria" pitchFamily="18" charset="0"/>
                <a:ea typeface="Cambria" pitchFamily="18" charset="0"/>
              </a:rPr>
              <a:t>матожидание генеральной совокупности, </a:t>
            </a:r>
            <a:r>
              <a:rPr lang="el-GR" dirty="0">
                <a:latin typeface="Calibri"/>
                <a:ea typeface="Cambria" pitchFamily="18" charset="0"/>
                <a:cs typeface="Calibri"/>
              </a:rPr>
              <a:t>σ</a:t>
            </a:r>
            <a:r>
              <a:rPr lang="ru-RU" baseline="30000" dirty="0">
                <a:latin typeface="Calibri"/>
                <a:ea typeface="Cambria" pitchFamily="18" charset="0"/>
                <a:cs typeface="Calibri"/>
              </a:rPr>
              <a:t>2</a:t>
            </a:r>
            <a:r>
              <a:rPr lang="ru-RU" dirty="0">
                <a:latin typeface="Calibri"/>
                <a:ea typeface="Cambria" pitchFamily="18" charset="0"/>
                <a:cs typeface="Calibri"/>
              </a:rPr>
              <a:t> – </a:t>
            </a:r>
            <a:r>
              <a:rPr lang="ru-RU" dirty="0">
                <a:ea typeface="Cambria" pitchFamily="18" charset="0"/>
                <a:cs typeface="Calibri"/>
              </a:rPr>
              <a:t>дисперсия генеральной совокупности, </a:t>
            </a:r>
            <a:r>
              <a:rPr lang="en-US" dirty="0">
                <a:ea typeface="Cambria" pitchFamily="18" charset="0"/>
                <a:cs typeface="Calibri"/>
              </a:rPr>
              <a:t>p- </a:t>
            </a:r>
            <a:r>
              <a:rPr lang="ru-RU" dirty="0">
                <a:ea typeface="Cambria" pitchFamily="18" charset="0"/>
                <a:cs typeface="Calibri"/>
              </a:rPr>
              <a:t>доля некоторого признака в генеральной совокупности.</a:t>
            </a:r>
          </a:p>
          <a:p>
            <a:r>
              <a:rPr lang="ru-RU" dirty="0">
                <a:ea typeface="Cambria" pitchFamily="18" charset="0"/>
                <a:cs typeface="Calibri"/>
              </a:rPr>
              <a:t>Рассмотрим выборку </a:t>
            </a:r>
            <a:r>
              <a:rPr lang="en-US" dirty="0"/>
              <a:t>{x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} </a:t>
            </a:r>
            <a:r>
              <a:rPr lang="ru-RU" dirty="0"/>
              <a:t>из генеральной совокупности и найдем точечные оценки генерального среднего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a </a:t>
            </a:r>
            <a:r>
              <a:rPr lang="ru-RU" dirty="0">
                <a:latin typeface="Cambria" pitchFamily="18" charset="0"/>
                <a:ea typeface="Cambria" pitchFamily="18" charset="0"/>
              </a:rPr>
              <a:t>и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 </a:t>
            </a:r>
            <a:r>
              <a:rPr lang="ru-RU" dirty="0"/>
              <a:t>генеральной дисперсии </a:t>
            </a:r>
            <a:r>
              <a:rPr lang="el-GR" dirty="0">
                <a:latin typeface="Calibri"/>
                <a:ea typeface="Cambria" pitchFamily="18" charset="0"/>
                <a:cs typeface="Calibri"/>
              </a:rPr>
              <a:t>σ</a:t>
            </a:r>
            <a:r>
              <a:rPr lang="ru-RU" baseline="30000" dirty="0">
                <a:latin typeface="Calibri"/>
                <a:ea typeface="Cambria" pitchFamily="18" charset="0"/>
                <a:cs typeface="Calibri"/>
              </a:rPr>
              <a:t>2</a:t>
            </a:r>
            <a:r>
              <a:rPr lang="en-US" dirty="0">
                <a:latin typeface="Calibri"/>
                <a:ea typeface="Cambria" pitchFamily="18" charset="0"/>
                <a:cs typeface="Calibri"/>
              </a:rPr>
              <a:t>. </a:t>
            </a:r>
            <a:endParaRPr lang="ru-RU" baseline="30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Точечная оценка генерального среднего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a</a:t>
            </a:r>
            <a:endParaRPr lang="ru-RU" i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/>
              <a:t>Точечной оценкой генерального среднего а </a:t>
            </a:r>
            <a:r>
              <a:rPr lang="ru-RU" dirty="0"/>
              <a:t>является выборочное среднее</a:t>
            </a:r>
            <a:r>
              <a:rPr lang="ru-RU" b="1" i="1" dirty="0"/>
              <a:t>  </a:t>
            </a:r>
            <a:r>
              <a:rPr lang="ru-RU" i="1" dirty="0"/>
              <a:t>вариационного ряда </a:t>
            </a:r>
            <a:r>
              <a:rPr lang="en-US" i="1" dirty="0"/>
              <a:t>x</a:t>
            </a:r>
            <a:r>
              <a:rPr lang="en-US" i="1" dirty="0">
                <a:latin typeface="Cambria"/>
                <a:ea typeface="Cambria"/>
              </a:rPr>
              <a:t>̅</a:t>
            </a:r>
            <a:r>
              <a:rPr lang="ru-RU" i="1" dirty="0"/>
              <a:t>.</a:t>
            </a:r>
            <a:endParaRPr lang="ru-RU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Эта оценка является несмещенной.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071802" y="4786322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52610" name="Object 2"/>
          <p:cNvGraphicFramePr>
            <a:graphicFrameLocks noChangeAspect="1"/>
          </p:cNvGraphicFramePr>
          <p:nvPr/>
        </p:nvGraphicFramePr>
        <p:xfrm>
          <a:off x="5072066" y="2786058"/>
          <a:ext cx="2803542" cy="2090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749160" imgH="558720" progId="Equation.3">
                  <p:embed/>
                </p:oleObj>
              </mc:Choice>
              <mc:Fallback>
                <p:oleObj name="Формула" r:id="rId2" imgW="749160" imgH="558720" progId="Equation.3">
                  <p:embed/>
                  <p:pic>
                    <p:nvPicPr>
                      <p:cNvPr id="4526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6" y="2786058"/>
                        <a:ext cx="2803542" cy="209077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Точечная оценка генеральной дисперсии </a:t>
            </a:r>
            <a:r>
              <a:rPr lang="el-GR" dirty="0">
                <a:latin typeface="Calibri"/>
                <a:ea typeface="Cambria" pitchFamily="18" charset="0"/>
                <a:cs typeface="Calibri"/>
              </a:rPr>
              <a:t>σ</a:t>
            </a:r>
            <a:r>
              <a:rPr lang="ru-RU" baseline="30000" dirty="0">
                <a:latin typeface="Calibri"/>
                <a:ea typeface="Cambria" pitchFamily="18" charset="0"/>
                <a:cs typeface="Calibri"/>
              </a:rPr>
              <a:t>2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Точечной оценкой генеральной дисперсии </a:t>
            </a:r>
            <a:r>
              <a:rPr lang="el-GR" dirty="0">
                <a:latin typeface="Calibri"/>
                <a:ea typeface="Cambria" pitchFamily="18" charset="0"/>
                <a:cs typeface="Calibri"/>
              </a:rPr>
              <a:t>σ</a:t>
            </a:r>
            <a:r>
              <a:rPr lang="ru-RU" baseline="30000" dirty="0">
                <a:latin typeface="Calibri"/>
                <a:ea typeface="Cambria" pitchFamily="18" charset="0"/>
                <a:cs typeface="Calibri"/>
              </a:rPr>
              <a:t>2 </a:t>
            </a:r>
            <a:r>
              <a:rPr lang="ru-RU" dirty="0">
                <a:latin typeface="Calibri"/>
                <a:ea typeface="Cambria" pitchFamily="18" charset="0"/>
                <a:cs typeface="Calibri"/>
              </a:rPr>
              <a:t> </a:t>
            </a:r>
            <a:r>
              <a:rPr lang="ru-RU" dirty="0">
                <a:ea typeface="Cambria" pitchFamily="18" charset="0"/>
                <a:cs typeface="Calibri"/>
              </a:rPr>
              <a:t>являются:</a:t>
            </a:r>
          </a:p>
          <a:p>
            <a:r>
              <a:rPr lang="ru-RU" dirty="0">
                <a:ea typeface="Cambria" pitchFamily="18" charset="0"/>
                <a:cs typeface="Calibri"/>
              </a:rPr>
              <a:t>Смещенная оценка -выборочная дисперсия </a:t>
            </a:r>
          </a:p>
          <a:p>
            <a:endParaRPr lang="ru-RU" dirty="0">
              <a:ea typeface="Cambria" pitchFamily="18" charset="0"/>
              <a:cs typeface="Calibri"/>
            </a:endParaRPr>
          </a:p>
          <a:p>
            <a:endParaRPr lang="ru-RU" dirty="0">
              <a:ea typeface="Cambria" pitchFamily="18" charset="0"/>
              <a:cs typeface="Calibri"/>
            </a:endParaRPr>
          </a:p>
          <a:p>
            <a:r>
              <a:rPr lang="ru-RU" dirty="0">
                <a:ea typeface="Cambria" pitchFamily="18" charset="0"/>
                <a:cs typeface="Calibri"/>
              </a:rPr>
              <a:t>Несмещенная состоятельная оценка – исправленная выборочная дисперсия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/>
          </a:p>
        </p:txBody>
      </p:sp>
      <p:graphicFrame>
        <p:nvGraphicFramePr>
          <p:cNvPr id="487426" name="Object 2"/>
          <p:cNvGraphicFramePr>
            <a:graphicFrameLocks noChangeAspect="1"/>
          </p:cNvGraphicFramePr>
          <p:nvPr/>
        </p:nvGraphicFramePr>
        <p:xfrm>
          <a:off x="3071802" y="3143248"/>
          <a:ext cx="2938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320480" imgH="393480" progId="Equation.3">
                  <p:embed/>
                </p:oleObj>
              </mc:Choice>
              <mc:Fallback>
                <p:oleObj name="Формула" r:id="rId2" imgW="1320480" imgH="393480" progId="Equation.3">
                  <p:embed/>
                  <p:pic>
                    <p:nvPicPr>
                      <p:cNvPr id="4874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3143248"/>
                        <a:ext cx="2938462" cy="8747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27" name="Object 3"/>
          <p:cNvGraphicFramePr>
            <a:graphicFrameLocks noChangeAspect="1"/>
          </p:cNvGraphicFramePr>
          <p:nvPr/>
        </p:nvGraphicFramePr>
        <p:xfrm>
          <a:off x="3000364" y="5715016"/>
          <a:ext cx="333533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498320" imgH="393480" progId="Equation.3">
                  <p:embed/>
                </p:oleObj>
              </mc:Choice>
              <mc:Fallback>
                <p:oleObj name="Формула" r:id="rId4" imgW="1498320" imgH="393480" progId="Equation.3">
                  <p:embed/>
                  <p:pic>
                    <p:nvPicPr>
                      <p:cNvPr id="4874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5715016"/>
                        <a:ext cx="3335338" cy="8763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максимального правдоподобия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571604" y="5857892"/>
            <a:ext cx="61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9" name="Рисунок 8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7E9ADD6A-BFE1-ECCB-314A-44837B686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39" y="1200035"/>
            <a:ext cx="8729549" cy="52533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максимального правдоподобия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653874-D8A7-6DA8-B4EF-8494DC25F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06420"/>
            <a:ext cx="8686346" cy="4542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максимального правдоподобия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714612" y="5929330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24B91B-0985-0728-8D36-7F38BEF8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9268"/>
            <a:ext cx="8633406" cy="47440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4526280"/>
          </a:xfrm>
        </p:spPr>
        <p:txBody>
          <a:bodyPr>
            <a:noAutofit/>
          </a:bodyPr>
          <a:lstStyle/>
          <a:p>
            <a:r>
              <a:rPr lang="ru-RU" sz="2400" dirty="0"/>
              <a:t>В качестве примера метода максимального правдоподобия, найдем точечную оценку для генеральной доли признака </a:t>
            </a:r>
            <a:r>
              <a:rPr lang="en-US" sz="2400" dirty="0"/>
              <a:t>p</a:t>
            </a:r>
            <a:r>
              <a:rPr lang="ru-RU" sz="2400" dirty="0"/>
              <a:t>.</a:t>
            </a:r>
          </a:p>
          <a:p>
            <a:pPr>
              <a:buNone/>
            </a:pPr>
            <a:r>
              <a:rPr lang="ru-RU" sz="2400" dirty="0"/>
              <a:t>Пусть в </a:t>
            </a:r>
            <a:r>
              <a:rPr lang="en-US" sz="2400" dirty="0"/>
              <a:t>n</a:t>
            </a:r>
            <a:r>
              <a:rPr lang="ru-RU" sz="2400" dirty="0"/>
              <a:t> проведенных испытаниях признак появился в </a:t>
            </a:r>
            <a:r>
              <a:rPr lang="en-US" sz="2400" dirty="0"/>
              <a:t>m</a:t>
            </a:r>
            <a:r>
              <a:rPr lang="ru-RU" sz="2400" dirty="0"/>
              <a:t> из них.</a:t>
            </a:r>
          </a:p>
          <a:p>
            <a:pPr>
              <a:buNone/>
            </a:pPr>
            <a:r>
              <a:rPr lang="ru-RU" sz="2400" dirty="0"/>
              <a:t>Составим функцию правдоподобия для дискретной СВ</a:t>
            </a:r>
          </a:p>
          <a:p>
            <a:pPr>
              <a:buNone/>
            </a:pPr>
            <a:r>
              <a:rPr lang="en-US" sz="2400" dirty="0"/>
              <a:t>L=p</a:t>
            </a:r>
            <a:r>
              <a:rPr lang="en-US" sz="2400" baseline="30000" dirty="0"/>
              <a:t>m</a:t>
            </a:r>
            <a:r>
              <a:rPr lang="en-US" sz="2400" dirty="0"/>
              <a:t>(1-p)</a:t>
            </a:r>
            <a:r>
              <a:rPr lang="en-US" sz="2400" baseline="30000" dirty="0"/>
              <a:t>(n-m)</a:t>
            </a:r>
            <a:r>
              <a:rPr lang="en-US" sz="2400" dirty="0"/>
              <a:t> </a:t>
            </a:r>
            <a:endParaRPr lang="ru-RU" sz="2400" dirty="0"/>
          </a:p>
          <a:p>
            <a:pPr>
              <a:buNone/>
            </a:pPr>
            <a:r>
              <a:rPr lang="ru-RU" sz="2400" dirty="0"/>
              <a:t>Прологарифмируем </a:t>
            </a:r>
          </a:p>
          <a:p>
            <a:pPr>
              <a:buNone/>
            </a:pPr>
            <a:r>
              <a:rPr lang="en-US" sz="2400" dirty="0" err="1"/>
              <a:t>lnL</a:t>
            </a:r>
            <a:r>
              <a:rPr lang="en-US" sz="2400" dirty="0"/>
              <a:t>=m*</a:t>
            </a:r>
            <a:r>
              <a:rPr lang="en-US" sz="2400" dirty="0" err="1"/>
              <a:t>lnp</a:t>
            </a:r>
            <a:r>
              <a:rPr lang="en-US" sz="2400" dirty="0"/>
              <a:t>+(n-m)</a:t>
            </a:r>
            <a:r>
              <a:rPr lang="en-US" sz="2400" dirty="0" err="1"/>
              <a:t>ln</a:t>
            </a:r>
            <a:r>
              <a:rPr lang="en-US" sz="2400" dirty="0"/>
              <a:t>(1-p)</a:t>
            </a:r>
          </a:p>
          <a:p>
            <a:pPr>
              <a:buNone/>
            </a:pPr>
            <a:r>
              <a:rPr lang="ru-RU" sz="2400" dirty="0"/>
              <a:t>Возьмем производную по </a:t>
            </a:r>
            <a:r>
              <a:rPr lang="en-US" sz="2400" dirty="0"/>
              <a:t>p </a:t>
            </a:r>
            <a:r>
              <a:rPr lang="ru-RU" sz="2400" dirty="0"/>
              <a:t>и приравняем к 0 для достижения максимума правдоподобия</a:t>
            </a:r>
          </a:p>
          <a:p>
            <a:pPr>
              <a:buNone/>
            </a:pPr>
            <a:r>
              <a:rPr lang="en-US" sz="2400" dirty="0" err="1"/>
              <a:t>dlnL</a:t>
            </a:r>
            <a:r>
              <a:rPr lang="en-US" sz="2400" dirty="0"/>
              <a:t>/</a:t>
            </a:r>
            <a:r>
              <a:rPr lang="en-US" sz="2400" dirty="0" err="1"/>
              <a:t>dp</a:t>
            </a:r>
            <a:r>
              <a:rPr lang="en-US" sz="2400" dirty="0"/>
              <a:t>=m/p+(n-m)/(1-p)=0</a:t>
            </a:r>
          </a:p>
          <a:p>
            <a:pPr>
              <a:buNone/>
            </a:pPr>
            <a:r>
              <a:rPr lang="ru-RU" sz="2400" dirty="0"/>
              <a:t>Решая уравнение, получаем точечную оценку генеральной доли признака </a:t>
            </a:r>
            <a:r>
              <a:rPr lang="en-US" sz="2400" dirty="0"/>
              <a:t>p</a:t>
            </a:r>
            <a:r>
              <a:rPr lang="ru-RU" sz="2400" dirty="0"/>
              <a:t>:</a:t>
            </a:r>
            <a:endParaRPr lang="en-US" sz="2400" dirty="0"/>
          </a:p>
          <a:p>
            <a:pPr>
              <a:buNone/>
            </a:pPr>
            <a:r>
              <a:rPr lang="en-US" sz="2400" dirty="0">
                <a:latin typeface="Cambria"/>
                <a:ea typeface="Cambria"/>
              </a:rPr>
              <a:t>p̅</a:t>
            </a:r>
            <a:r>
              <a:rPr lang="en-US" sz="2400" dirty="0"/>
              <a:t>=m/n</a:t>
            </a:r>
            <a:endParaRPr lang="ru-RU" sz="2400" dirty="0"/>
          </a:p>
          <a:p>
            <a:r>
              <a:rPr lang="ru-RU" sz="2400" dirty="0"/>
              <a:t>Оценка является несмещенной и эффективной.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Интервальные оценки параметров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 dirty="0"/>
              <a:t>Интервальная оценка параметра дает возможность определить точность и надежность его оценки.</a:t>
            </a:r>
          </a:p>
          <a:p>
            <a:pPr>
              <a:defRPr/>
            </a:pPr>
            <a:r>
              <a:rPr lang="ru-RU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Интервальной оценкой</a:t>
            </a:r>
            <a:r>
              <a:rPr lang="ru-RU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ru-RU" dirty="0"/>
              <a:t>параметра </a:t>
            </a:r>
            <a:r>
              <a:rPr lang="el-GR" dirty="0"/>
              <a:t>θ</a:t>
            </a:r>
            <a:r>
              <a:rPr lang="ru-RU" dirty="0"/>
              <a:t> называется интервал (</a:t>
            </a:r>
            <a:r>
              <a:rPr lang="el-GR" dirty="0"/>
              <a:t>α</a:t>
            </a:r>
            <a:r>
              <a:rPr lang="ru-RU" dirty="0"/>
              <a:t>,</a:t>
            </a:r>
            <a:r>
              <a:rPr lang="el-GR" dirty="0"/>
              <a:t>β</a:t>
            </a:r>
            <a:r>
              <a:rPr lang="ru-RU" dirty="0"/>
              <a:t>), который с заданной вероятностью </a:t>
            </a:r>
            <a:r>
              <a:rPr lang="el-GR" dirty="0"/>
              <a:t>γ</a:t>
            </a:r>
            <a:r>
              <a:rPr lang="ru-RU" dirty="0"/>
              <a:t> накрывает неизвестное значение этого параметра.</a:t>
            </a:r>
          </a:p>
          <a:p>
            <a:pPr>
              <a:defRPr/>
            </a:pPr>
            <a:r>
              <a:rPr lang="ru-RU" dirty="0"/>
              <a:t>Интервал (</a:t>
            </a:r>
            <a:r>
              <a:rPr lang="el-GR" dirty="0"/>
              <a:t>α</a:t>
            </a:r>
            <a:r>
              <a:rPr lang="ru-RU" dirty="0"/>
              <a:t>,</a:t>
            </a:r>
            <a:r>
              <a:rPr lang="el-GR" dirty="0"/>
              <a:t>β</a:t>
            </a:r>
            <a:r>
              <a:rPr lang="ru-RU" dirty="0"/>
              <a:t>) называется </a:t>
            </a: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доверительным интервалом</a:t>
            </a:r>
            <a:r>
              <a:rPr lang="ru-RU" dirty="0"/>
              <a:t>, вероятность </a:t>
            </a:r>
            <a:r>
              <a:rPr lang="el-GR" dirty="0"/>
              <a:t>γ</a:t>
            </a:r>
            <a:r>
              <a:rPr lang="ru-RU" dirty="0"/>
              <a:t> - </a:t>
            </a: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доверительной вероятностью</a:t>
            </a:r>
            <a: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ru-RU" dirty="0"/>
              <a:t>или </a:t>
            </a: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уровнем надежности</a:t>
            </a:r>
            <a:r>
              <a:rPr lang="en-US" b="1" dirty="0"/>
              <a:t>, </a:t>
            </a:r>
            <a:r>
              <a:rPr lang="ru-RU" dirty="0"/>
              <a:t>вероятность </a:t>
            </a:r>
            <a:r>
              <a:rPr lang="el-GR" dirty="0">
                <a:latin typeface="Calibri"/>
                <a:cs typeface="Calibri"/>
              </a:rPr>
              <a:t>α</a:t>
            </a:r>
            <a:r>
              <a:rPr lang="ru-RU" dirty="0">
                <a:latin typeface="Calibri"/>
                <a:cs typeface="Calibri"/>
              </a:rPr>
              <a:t>=(1-</a:t>
            </a:r>
            <a:r>
              <a:rPr lang="el-GR" dirty="0">
                <a:latin typeface="Calibri"/>
                <a:cs typeface="Calibri"/>
              </a:rPr>
              <a:t>ϒ</a:t>
            </a:r>
            <a:r>
              <a:rPr lang="ru-RU" dirty="0">
                <a:latin typeface="Calibri"/>
                <a:cs typeface="Calibri"/>
              </a:rPr>
              <a:t>) </a:t>
            </a:r>
            <a:r>
              <a:rPr lang="ru-RU" b="1" dirty="0">
                <a:latin typeface="Calibri"/>
                <a:cs typeface="Calibri"/>
              </a:rPr>
              <a:t>– </a:t>
            </a: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  <a:cs typeface="Calibri"/>
              </a:rPr>
              <a:t>уровнем значимости</a:t>
            </a: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.</a:t>
            </a:r>
          </a:p>
          <a:p>
            <a:pPr>
              <a:defRPr/>
            </a:pPr>
            <a:r>
              <a:rPr lang="ru-RU" dirty="0">
                <a:cs typeface="Calibri"/>
              </a:rPr>
              <a:t>Обычно уровень надежности берется от 0,95 до 1.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Обычно доверительный интервал симметричен относительно точечной оценки  </a:t>
            </a:r>
            <a:r>
              <a:rPr lang="el-GR" dirty="0">
                <a:latin typeface="Cambria"/>
                <a:ea typeface="Cambria"/>
              </a:rPr>
              <a:t>ϴ̅</a:t>
            </a:r>
            <a:r>
              <a:rPr lang="en-US" baseline="-25000" dirty="0">
                <a:latin typeface="Cambria"/>
                <a:ea typeface="Cambria"/>
              </a:rPr>
              <a:t>n</a:t>
            </a:r>
            <a:r>
              <a:rPr lang="ru-RU" dirty="0"/>
              <a:t>  , т.е.  имеет вид</a:t>
            </a:r>
            <a:r>
              <a:rPr lang="en-US" dirty="0"/>
              <a:t> (</a:t>
            </a:r>
            <a:r>
              <a:rPr lang="el-GR" dirty="0">
                <a:ea typeface="Cambria"/>
              </a:rPr>
              <a:t>ϴ̅</a:t>
            </a:r>
            <a:r>
              <a:rPr lang="en-US" baseline="-25000" dirty="0">
                <a:latin typeface="Cambria"/>
                <a:ea typeface="Cambria"/>
              </a:rPr>
              <a:t>n</a:t>
            </a:r>
            <a:r>
              <a:rPr lang="en-US" dirty="0">
                <a:latin typeface="Cambria"/>
                <a:ea typeface="Cambria"/>
              </a:rPr>
              <a:t> –</a:t>
            </a:r>
            <a:r>
              <a:rPr lang="el-GR" dirty="0">
                <a:latin typeface="Cambria"/>
                <a:ea typeface="Cambria"/>
              </a:rPr>
              <a:t>Δ</a:t>
            </a:r>
            <a:r>
              <a:rPr lang="ru-RU" dirty="0">
                <a:latin typeface="Cambria"/>
                <a:ea typeface="Cambria"/>
              </a:rPr>
              <a:t>; </a:t>
            </a:r>
            <a:r>
              <a:rPr lang="el-GR" dirty="0">
                <a:ea typeface="Cambria"/>
              </a:rPr>
              <a:t>ϴ̅</a:t>
            </a:r>
            <a:r>
              <a:rPr lang="en-US" baseline="-25000" dirty="0">
                <a:latin typeface="Cambria"/>
                <a:ea typeface="Cambria"/>
              </a:rPr>
              <a:t>n</a:t>
            </a:r>
            <a:r>
              <a:rPr lang="en-US" dirty="0">
                <a:latin typeface="Cambria"/>
                <a:ea typeface="Cambria"/>
              </a:rPr>
              <a:t> </a:t>
            </a:r>
            <a:r>
              <a:rPr lang="ru-RU" dirty="0">
                <a:latin typeface="Cambria"/>
                <a:ea typeface="Cambria"/>
              </a:rPr>
              <a:t>+</a:t>
            </a:r>
            <a:r>
              <a:rPr lang="el-GR" dirty="0">
                <a:ea typeface="Cambria"/>
              </a:rPr>
              <a:t>Δ</a:t>
            </a:r>
            <a:r>
              <a:rPr lang="ru-RU" dirty="0">
                <a:ea typeface="Cambria"/>
              </a:rPr>
              <a:t>)</a:t>
            </a:r>
            <a:r>
              <a:rPr lang="ru-RU" dirty="0"/>
              <a:t>, где </a:t>
            </a:r>
            <a:r>
              <a:rPr lang="el-GR" dirty="0"/>
              <a:t>Δ</a:t>
            </a:r>
            <a:r>
              <a:rPr lang="ru-RU" dirty="0"/>
              <a:t> - предельная ошибка выборки.        Причем вероятность </a:t>
            </a:r>
            <a:r>
              <a:rPr lang="en-US" dirty="0"/>
              <a:t>P{|</a:t>
            </a:r>
            <a:r>
              <a:rPr lang="el-GR" dirty="0">
                <a:ea typeface="Cambria"/>
              </a:rPr>
              <a:t> ϴ̅</a:t>
            </a:r>
            <a:r>
              <a:rPr lang="en-US" baseline="-25000" dirty="0">
                <a:latin typeface="Cambria"/>
                <a:ea typeface="Cambria"/>
              </a:rPr>
              <a:t>n</a:t>
            </a:r>
            <a:r>
              <a:rPr lang="en-US" dirty="0">
                <a:latin typeface="Cambria"/>
                <a:ea typeface="Cambria"/>
              </a:rPr>
              <a:t> –</a:t>
            </a:r>
            <a:r>
              <a:rPr lang="el-GR" dirty="0">
                <a:latin typeface="Cambria"/>
                <a:ea typeface="Cambria"/>
              </a:rPr>
              <a:t>ϴ</a:t>
            </a:r>
            <a:r>
              <a:rPr lang="en-US" dirty="0"/>
              <a:t>|&lt;</a:t>
            </a:r>
            <a:r>
              <a:rPr lang="el-GR" dirty="0">
                <a:latin typeface="Cambria"/>
                <a:ea typeface="Cambria"/>
              </a:rPr>
              <a:t>Δ</a:t>
            </a:r>
            <a:r>
              <a:rPr lang="en-US" dirty="0">
                <a:latin typeface="Cambria"/>
                <a:ea typeface="Cambria"/>
              </a:rPr>
              <a:t>}=</a:t>
            </a:r>
            <a:r>
              <a:rPr lang="el-GR" dirty="0">
                <a:latin typeface="Cambria"/>
                <a:ea typeface="Cambria"/>
              </a:rPr>
              <a:t>ϒ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ru-RU" dirty="0"/>
              <a:t>Рассмотрим генеральную совокупность объема </a:t>
            </a:r>
            <a:r>
              <a:rPr lang="en-US" i="1" dirty="0"/>
              <a:t>N</a:t>
            </a:r>
            <a:r>
              <a:rPr lang="ru-RU" dirty="0"/>
              <a:t> и выборку из нее</a:t>
            </a:r>
            <a:r>
              <a:rPr lang="en-US" dirty="0"/>
              <a:t> {x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}</a:t>
            </a:r>
            <a:r>
              <a:rPr lang="ru-RU" dirty="0"/>
              <a:t>. </a:t>
            </a:r>
            <a:r>
              <a:rPr lang="ru-RU" u="sng" dirty="0"/>
              <a:t>Для нее имеем:</a:t>
            </a:r>
          </a:p>
          <a:p>
            <a:pPr marL="0" indent="0">
              <a:buFont typeface="Arial" charset="0"/>
              <a:buNone/>
              <a:defRPr/>
            </a:pPr>
            <a:r>
              <a:rPr lang="ru-RU" dirty="0"/>
              <a:t>выборочное среднее – </a:t>
            </a:r>
            <a:r>
              <a:rPr lang="ru-RU" dirty="0" err="1"/>
              <a:t>х</a:t>
            </a:r>
            <a:r>
              <a:rPr lang="ru-RU" dirty="0">
                <a:latin typeface="Cambria"/>
                <a:ea typeface="Cambria"/>
              </a:rPr>
              <a:t>̅</a:t>
            </a:r>
            <a:endParaRPr lang="ru-RU" dirty="0"/>
          </a:p>
          <a:p>
            <a:pPr marL="0" indent="0">
              <a:buFont typeface="Arial" charset="0"/>
              <a:buNone/>
              <a:defRPr/>
            </a:pPr>
            <a:r>
              <a:rPr lang="ru-RU" dirty="0"/>
              <a:t>выборочную дисперсию – </a:t>
            </a:r>
            <a:r>
              <a:rPr lang="en-US" dirty="0"/>
              <a:t>S</a:t>
            </a:r>
            <a:r>
              <a:rPr lang="en-US" baseline="30000" dirty="0"/>
              <a:t>2</a:t>
            </a:r>
          </a:p>
          <a:p>
            <a:pPr marL="0" indent="0">
              <a:buFont typeface="Arial" charset="0"/>
              <a:buNone/>
              <a:defRPr/>
            </a:pPr>
            <a:r>
              <a:rPr lang="ru-RU" dirty="0"/>
              <a:t>выборочное среднее квадратическое отклонение - </a:t>
            </a:r>
            <a:r>
              <a:rPr lang="en-US" dirty="0"/>
              <a:t>S</a:t>
            </a:r>
            <a:endParaRPr lang="ru-RU" dirty="0"/>
          </a:p>
          <a:p>
            <a:pPr marL="0" indent="0">
              <a:buFont typeface="Arial" charset="0"/>
              <a:buNone/>
              <a:defRPr/>
            </a:pPr>
            <a:r>
              <a:rPr lang="ru-RU" dirty="0"/>
              <a:t>выборочную долю признака –</a:t>
            </a:r>
            <a:r>
              <a:rPr lang="en-US" dirty="0"/>
              <a:t> w=m/n</a:t>
            </a:r>
          </a:p>
          <a:p>
            <a:pPr marL="0" indent="0">
              <a:buFont typeface="Arial" charset="0"/>
              <a:buNone/>
              <a:defRPr/>
            </a:pPr>
            <a:r>
              <a:rPr lang="ru-RU" dirty="0"/>
              <a:t>уровень надежности - </a:t>
            </a:r>
            <a:r>
              <a:rPr lang="el-GR" dirty="0"/>
              <a:t>ϒ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Доверительный интервал для генерального среднего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a</a:t>
            </a:r>
            <a:endParaRPr lang="ru-RU" i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Arial" charset="0"/>
              <a:buNone/>
              <a:defRPr/>
            </a:pPr>
            <a:endParaRPr lang="ru-RU" dirty="0"/>
          </a:p>
          <a:p>
            <a:pPr marL="0" indent="0">
              <a:buFont typeface="Arial" charset="0"/>
              <a:buNone/>
              <a:defRPr/>
            </a:pPr>
            <a:r>
              <a:rPr lang="ru-RU" dirty="0"/>
              <a:t>а) для повторной выборки</a:t>
            </a:r>
          </a:p>
          <a:p>
            <a:pPr marL="0" indent="0">
              <a:buFont typeface="Arial" charset="0"/>
              <a:buNone/>
              <a:defRPr/>
            </a:pPr>
            <a:endParaRPr lang="ru-RU" dirty="0"/>
          </a:p>
          <a:p>
            <a:pPr marL="0" indent="0">
              <a:buFont typeface="Arial" charset="0"/>
              <a:buNone/>
              <a:defRPr/>
            </a:pPr>
            <a:r>
              <a:rPr lang="ru-RU" dirty="0"/>
              <a:t>б) для бесповторной выборки</a:t>
            </a:r>
            <a:r>
              <a:rPr lang="en-US" dirty="0"/>
              <a:t> </a:t>
            </a:r>
            <a:endParaRPr lang="ru-RU" dirty="0"/>
          </a:p>
          <a:p>
            <a:pPr marL="0" indent="0">
              <a:buFont typeface="Arial" charset="0"/>
              <a:buNone/>
              <a:defRPr/>
            </a:pPr>
            <a:endParaRPr lang="ru-RU" dirty="0"/>
          </a:p>
          <a:p>
            <a:pPr marL="0" indent="0">
              <a:buFont typeface="Arial" charset="0"/>
              <a:buNone/>
              <a:defRPr/>
            </a:pPr>
            <a:r>
              <a:rPr lang="ru-RU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Величина </a:t>
            </a:r>
            <a:r>
              <a:rPr lang="en-US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</a:t>
            </a:r>
            <a:r>
              <a:rPr lang="ru-RU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определяется:</a:t>
            </a:r>
          </a:p>
          <a:p>
            <a:pPr>
              <a:defRPr/>
            </a:pPr>
            <a:r>
              <a:rPr lang="ru-RU" b="1" dirty="0"/>
              <a:t>при </a:t>
            </a:r>
            <a:r>
              <a:rPr lang="en-US" b="1" dirty="0"/>
              <a:t>n&gt;30</a:t>
            </a:r>
            <a:r>
              <a:rPr lang="ru-RU" dirty="0"/>
              <a:t> из таблицы значений функции Лапласа Ф(</a:t>
            </a:r>
            <a:r>
              <a:rPr lang="en-US" dirty="0"/>
              <a:t>t)=</a:t>
            </a:r>
            <a:r>
              <a:rPr lang="el-GR" dirty="0"/>
              <a:t>γ</a:t>
            </a:r>
            <a:r>
              <a:rPr lang="en-US" dirty="0"/>
              <a:t> </a:t>
            </a:r>
            <a:r>
              <a:rPr lang="ru-RU" dirty="0"/>
              <a:t>или по таблице значений функции распределения усеченного стандартного нормального закона </a:t>
            </a:r>
            <a:r>
              <a:rPr lang="en-US" dirty="0"/>
              <a:t>F</a:t>
            </a:r>
            <a:r>
              <a:rPr lang="ru-RU" baseline="-25000" dirty="0"/>
              <a:t>ус</a:t>
            </a:r>
            <a:r>
              <a:rPr lang="ru-RU" dirty="0"/>
              <a:t> </a:t>
            </a:r>
            <a:r>
              <a:rPr lang="en-US" dirty="0"/>
              <a:t>(t)</a:t>
            </a:r>
            <a:r>
              <a:rPr lang="ru-RU" dirty="0"/>
              <a:t>=</a:t>
            </a:r>
            <a:r>
              <a:rPr lang="el-GR" dirty="0"/>
              <a:t>ϒ</a:t>
            </a:r>
            <a:r>
              <a:rPr lang="en-US" dirty="0"/>
              <a:t>/2</a:t>
            </a:r>
            <a:r>
              <a:rPr lang="ru-RU" dirty="0"/>
              <a:t>.</a:t>
            </a:r>
            <a:endParaRPr lang="en-US" dirty="0"/>
          </a:p>
          <a:p>
            <a:pPr>
              <a:defRPr/>
            </a:pPr>
            <a:r>
              <a:rPr lang="ru-RU" b="1" dirty="0"/>
              <a:t>при </a:t>
            </a:r>
            <a:r>
              <a:rPr lang="en-US" b="1" dirty="0"/>
              <a:t>n≤30 </a:t>
            </a:r>
            <a:r>
              <a:rPr lang="ru-RU" dirty="0"/>
              <a:t>из таблицы значений распределения Стьюдента для </a:t>
            </a:r>
            <a:r>
              <a:rPr lang="en-US" dirty="0"/>
              <a:t>(n-1) </a:t>
            </a:r>
            <a:r>
              <a:rPr lang="ru-RU" dirty="0"/>
              <a:t>степени свободы и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  <p:graphicFrame>
        <p:nvGraphicFramePr>
          <p:cNvPr id="491522" name="Объект 4"/>
          <p:cNvGraphicFramePr>
            <a:graphicFrameLocks noChangeAspect="1"/>
          </p:cNvGraphicFramePr>
          <p:nvPr/>
        </p:nvGraphicFramePr>
        <p:xfrm>
          <a:off x="3563938" y="1409688"/>
          <a:ext cx="218916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459866" imgH="203112" progId="Equation.3">
                  <p:embed/>
                </p:oleObj>
              </mc:Choice>
              <mc:Fallback>
                <p:oleObj name="Формула" r:id="rId2" imgW="1459866" imgH="203112" progId="Equation.3">
                  <p:embed/>
                  <p:pic>
                    <p:nvPicPr>
                      <p:cNvPr id="491522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409688"/>
                        <a:ext cx="2189162" cy="3048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15008" y="200024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6643702" y="271462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91525" name="Объект 6"/>
          <p:cNvGraphicFramePr>
            <a:graphicFrameLocks noChangeAspect="1"/>
          </p:cNvGraphicFramePr>
          <p:nvPr/>
        </p:nvGraphicFramePr>
        <p:xfrm>
          <a:off x="928662" y="5643578"/>
          <a:ext cx="167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117115" imgH="304668" progId="Equation.3">
                  <p:embed/>
                </p:oleObj>
              </mc:Choice>
              <mc:Fallback>
                <p:oleObj name="Формула" r:id="rId4" imgW="1117115" imgH="304668" progId="Equation.3">
                  <p:embed/>
                  <p:pic>
                    <p:nvPicPr>
                      <p:cNvPr id="491525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5643578"/>
                        <a:ext cx="1676400" cy="4572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 descr="Изображение выглядит как Шрифт, снимок экрана, число, ча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B15CCE-690D-A211-CB3C-C1DB6ECD8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306" y="1813863"/>
            <a:ext cx="1130471" cy="714395"/>
          </a:xfrm>
          <a:prstGeom prst="rect">
            <a:avLst/>
          </a:prstGeom>
        </p:spPr>
      </p:pic>
      <p:pic>
        <p:nvPicPr>
          <p:cNvPr id="9" name="Рисунок 8" descr="Изображение выглядит как Шрифт, рукописный текс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B14BE4-8B07-740B-0935-A38E465D9E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152" y="2606121"/>
            <a:ext cx="1781551" cy="7544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4526280"/>
          </a:xfrm>
        </p:spPr>
        <p:txBody>
          <a:bodyPr>
            <a:noAutofit/>
          </a:bodyPr>
          <a:lstStyle/>
          <a:p>
            <a:pPr marL="0" indent="0">
              <a:buFont typeface="Arial" charset="0"/>
              <a:buNone/>
            </a:pPr>
            <a:r>
              <a:rPr lang="ru-RU" sz="2400" b="1" u="sng" dirty="0"/>
              <a:t>Пример 1:</a:t>
            </a:r>
            <a:r>
              <a:rPr lang="ru-RU" sz="2400" dirty="0"/>
              <a:t>   Для определения среднего процентного содержания белка в зернах пшеницы было отобрано 625 зерен, обследование которых показало, что выборочное среднее равно 16,8, а выборочная дисперсия  равна 4. Чему равна с вероятностью 0,988 предельная ошибка выборки?</a:t>
            </a:r>
          </a:p>
          <a:p>
            <a:pPr marL="0" indent="0">
              <a:buFont typeface="Arial" charset="0"/>
              <a:buNone/>
            </a:pPr>
            <a:r>
              <a:rPr lang="ru-RU" sz="2400" i="1" u="sng" dirty="0"/>
              <a:t>Решение.</a:t>
            </a:r>
            <a:r>
              <a:rPr lang="ru-RU" sz="2400" i="1" dirty="0"/>
              <a:t> </a:t>
            </a:r>
            <a:r>
              <a:rPr lang="ru-RU" sz="2400" dirty="0"/>
              <a:t>По условию задачи                                         . Так как генеральная совокупность бесконечна, то используем формулу для повторной выборки при определении предельной ошибки:                           </a:t>
            </a:r>
          </a:p>
          <a:p>
            <a:pPr marL="0" indent="0">
              <a:buFont typeface="Arial" charset="0"/>
              <a:buNone/>
            </a:pPr>
            <a:endParaRPr lang="ru-RU" sz="2400" dirty="0"/>
          </a:p>
          <a:p>
            <a:pPr marL="0" indent="0">
              <a:buFont typeface="Arial" charset="0"/>
              <a:buNone/>
            </a:pPr>
            <a:r>
              <a:rPr lang="ru-RU" sz="2400" dirty="0"/>
              <a:t>Значение </a:t>
            </a:r>
            <a:r>
              <a:rPr lang="en-US" sz="2400" dirty="0"/>
              <a:t>t </a:t>
            </a:r>
            <a:r>
              <a:rPr lang="ru-RU" sz="2400" dirty="0"/>
              <a:t>находим при </a:t>
            </a:r>
            <a:r>
              <a:rPr lang="en-US" sz="2400" dirty="0"/>
              <a:t>n&gt;30  </a:t>
            </a:r>
            <a:r>
              <a:rPr lang="ru-RU" sz="2400" dirty="0"/>
              <a:t>из условия  Ф(</a:t>
            </a:r>
            <a:r>
              <a:rPr lang="en-US" sz="2400" dirty="0"/>
              <a:t>t)=</a:t>
            </a:r>
            <a:r>
              <a:rPr lang="el-GR" sz="2400" dirty="0"/>
              <a:t>γ</a:t>
            </a:r>
            <a:r>
              <a:rPr lang="ru-RU" sz="2400" dirty="0"/>
              <a:t>, т.е. Ф(</a:t>
            </a:r>
            <a:r>
              <a:rPr lang="en-US" sz="2400" dirty="0"/>
              <a:t>t)=0,988</a:t>
            </a:r>
            <a:r>
              <a:rPr lang="ru-RU" sz="2400" dirty="0"/>
              <a:t>. По таблице значений функции Лапласа найдем: </a:t>
            </a:r>
            <a:r>
              <a:rPr lang="en-US" sz="2400" dirty="0"/>
              <a:t>t=2,51.</a:t>
            </a:r>
            <a:r>
              <a:rPr lang="ru-RU" sz="2400" dirty="0"/>
              <a:t> Подставим в формулу  предельной ошибки </a:t>
            </a:r>
          </a:p>
          <a:p>
            <a:pPr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286380" y="3357562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928794" y="600076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 descr="Изображение выглядит как рукописный текст, Шрифт, каллиграфия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81BED1-0E9B-3381-25D9-1B32330DB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96" y="2681590"/>
            <a:ext cx="2529584" cy="387370"/>
          </a:xfrm>
          <a:prstGeom prst="rect">
            <a:avLst/>
          </a:prstGeom>
        </p:spPr>
      </p:pic>
      <p:pic>
        <p:nvPicPr>
          <p:cNvPr id="10" name="Рисунок 9" descr="Изображение выглядит как Шрифт, снимок экрана, число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BF6F9E-3051-DAB9-6DB3-D1D7AF4D0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846" y="3855036"/>
            <a:ext cx="1054154" cy="65408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9D704CE-2342-BCEE-8617-67013F273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1" y="5689142"/>
            <a:ext cx="4887313" cy="9153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714480" y="4643446"/>
            <a:ext cx="407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00034" y="4857760"/>
          <a:ext cx="8353428" cy="14636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82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9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9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83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439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Целые и десятые доли х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/>
                </a:tc>
                <a:tc gridSpan="10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Сотые доли х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5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6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7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2,4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0,9836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0,9841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0,9845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0,9849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0,9853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0,9857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0,9861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0,9865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0,9869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0,9872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2,5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0,9876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0,9879</a:t>
                      </a:r>
                      <a:endParaRPr lang="ru-RU" sz="16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0,9883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0,9886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0,9889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0,9892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0,9895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0,9898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0,9901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0,9904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2,6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0,9907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0,9910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0,9912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0,9915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0,9917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0,9920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0,9922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0,9924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0,9926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0,9928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3570" name="Объект 4"/>
          <p:cNvGraphicFramePr>
            <a:graphicFrameLocks noGrp="1" noChangeAspect="1"/>
          </p:cNvGraphicFramePr>
          <p:nvPr>
            <p:ph idx="1"/>
          </p:nvPr>
        </p:nvGraphicFramePr>
        <p:xfrm>
          <a:off x="2406657" y="1714488"/>
          <a:ext cx="2879723" cy="479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066680" imgH="177480" progId="Equation.3">
                  <p:embed/>
                </p:oleObj>
              </mc:Choice>
              <mc:Fallback>
                <p:oleObj name="Формула" r:id="rId2" imgW="1066680" imgH="177480" progId="Equation.3">
                  <p:embed/>
                  <p:pic>
                    <p:nvPicPr>
                      <p:cNvPr id="49357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7" y="1714488"/>
                        <a:ext cx="2879723" cy="47995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28662" y="2214554"/>
            <a:ext cx="67151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Тогда при уровне надежности </a:t>
            </a:r>
            <a:r>
              <a:rPr lang="el-GR" sz="2400" dirty="0"/>
              <a:t>ϒ</a:t>
            </a:r>
            <a:r>
              <a:rPr lang="ru-RU" sz="2400" dirty="0"/>
              <a:t>=0,988 доверительный интервал для генерального среднего </a:t>
            </a:r>
            <a:r>
              <a:rPr lang="en-US" sz="2400" i="1" dirty="0">
                <a:latin typeface="Cambria" pitchFamily="18" charset="0"/>
                <a:ea typeface="Cambria" pitchFamily="18" charset="0"/>
              </a:rPr>
              <a:t>a</a:t>
            </a:r>
            <a:endParaRPr lang="ru-RU" sz="2400" i="1" dirty="0">
              <a:latin typeface="Cambria" pitchFamily="18" charset="0"/>
              <a:ea typeface="Cambria" pitchFamily="18" charset="0"/>
            </a:endParaRPr>
          </a:p>
          <a:p>
            <a:r>
              <a:rPr lang="ru-RU" sz="2400" dirty="0"/>
              <a:t>                                                      16,8-0,2</a:t>
            </a:r>
            <a:r>
              <a:rPr lang="en-US" sz="2400" dirty="0"/>
              <a:t>&lt;</a:t>
            </a:r>
            <a:r>
              <a:rPr lang="en-US" sz="2400" i="1" dirty="0">
                <a:latin typeface="Cambria" pitchFamily="18" charset="0"/>
                <a:ea typeface="Cambria" pitchFamily="18" charset="0"/>
              </a:rPr>
              <a:t>a</a:t>
            </a:r>
            <a:r>
              <a:rPr lang="en-US" sz="2400" dirty="0"/>
              <a:t>&lt;</a:t>
            </a:r>
            <a:r>
              <a:rPr lang="ru-RU" sz="2400" dirty="0"/>
              <a:t>16,8</a:t>
            </a:r>
            <a:r>
              <a:rPr lang="en-US" sz="2400" dirty="0"/>
              <a:t>+</a:t>
            </a:r>
            <a:r>
              <a:rPr lang="ru-RU" sz="2400" dirty="0"/>
              <a:t>0,2</a:t>
            </a:r>
          </a:p>
          <a:p>
            <a:endParaRPr lang="ru-RU" sz="2400" dirty="0"/>
          </a:p>
          <a:p>
            <a:r>
              <a:rPr lang="ru-RU" sz="2400" dirty="0"/>
              <a:t>                                                             16,6</a:t>
            </a:r>
            <a:r>
              <a:rPr lang="en-US" sz="2400" dirty="0"/>
              <a:t>&lt;</a:t>
            </a:r>
            <a:r>
              <a:rPr lang="en-US" sz="2400" i="1" dirty="0">
                <a:latin typeface="Cambria" pitchFamily="18" charset="0"/>
                <a:ea typeface="Cambria" pitchFamily="18" charset="0"/>
              </a:rPr>
              <a:t>a</a:t>
            </a:r>
            <a:r>
              <a:rPr lang="en-US" sz="2400" dirty="0"/>
              <a:t>&lt;</a:t>
            </a:r>
            <a:r>
              <a:rPr lang="ru-RU" sz="2400" dirty="0"/>
              <a:t>17</a:t>
            </a:r>
          </a:p>
        </p:txBody>
      </p:sp>
      <p:graphicFrame>
        <p:nvGraphicFramePr>
          <p:cNvPr id="10" name="Объект 4"/>
          <p:cNvGraphicFramePr>
            <a:graphicFrameLocks noChangeAspect="1"/>
          </p:cNvGraphicFramePr>
          <p:nvPr/>
        </p:nvGraphicFramePr>
        <p:xfrm>
          <a:off x="2428860" y="1714488"/>
          <a:ext cx="2879723" cy="479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066680" imgH="177480" progId="Equation.3">
                  <p:embed/>
                </p:oleObj>
              </mc:Choice>
              <mc:Fallback>
                <p:oleObj name="Формула" r:id="rId2" imgW="1066680" imgH="177480" progId="Equation.3">
                  <p:embed/>
                  <p:pic>
                    <p:nvPicPr>
                      <p:cNvPr id="1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1714488"/>
                        <a:ext cx="2879723" cy="47995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4526280"/>
          </a:xfrm>
        </p:spPr>
        <p:txBody>
          <a:bodyPr>
            <a:normAutofit fontScale="85000" lnSpcReduction="20000"/>
          </a:bodyPr>
          <a:lstStyle/>
          <a:p>
            <a:pPr marL="0" indent="0">
              <a:buFont typeface="Arial" charset="0"/>
              <a:buNone/>
            </a:pPr>
            <a:r>
              <a:rPr lang="ru-RU" b="1" u="sng" dirty="0"/>
              <a:t>Пример 2</a:t>
            </a:r>
            <a:r>
              <a:rPr lang="ru-RU" dirty="0"/>
              <a:t>: Измерение массы 20 случайно отобранных после изготовления деталей дало х</a:t>
            </a:r>
            <a:r>
              <a:rPr lang="ru-RU" dirty="0">
                <a:latin typeface="Cambria"/>
                <a:ea typeface="Cambria"/>
              </a:rPr>
              <a:t>̅=10г. Выборочная дисперсия составила </a:t>
            </a:r>
            <a:r>
              <a:rPr lang="en-US" dirty="0">
                <a:latin typeface="Cambria"/>
                <a:ea typeface="Cambria"/>
              </a:rPr>
              <a:t>S</a:t>
            </a:r>
            <a:r>
              <a:rPr lang="en-US" baseline="30000" dirty="0">
                <a:latin typeface="Cambria"/>
                <a:ea typeface="Cambria"/>
              </a:rPr>
              <a:t>2</a:t>
            </a:r>
            <a:r>
              <a:rPr lang="en-US" dirty="0">
                <a:latin typeface="Cambria"/>
                <a:ea typeface="Cambria"/>
              </a:rPr>
              <a:t>=</a:t>
            </a:r>
            <a:r>
              <a:rPr lang="ru-RU" dirty="0">
                <a:latin typeface="Cambria"/>
                <a:ea typeface="Cambria"/>
              </a:rPr>
              <a:t>0,09. Определить с вероятность 0,95 средний вес деталей во всей партии.</a:t>
            </a: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i="1" u="sng" dirty="0"/>
              <a:t>Решение.</a:t>
            </a:r>
            <a:r>
              <a:rPr lang="ru-RU" i="1" dirty="0"/>
              <a:t> </a:t>
            </a:r>
            <a:r>
              <a:rPr lang="ru-RU" dirty="0"/>
              <a:t>Здесь </a:t>
            </a:r>
            <a:r>
              <a:rPr lang="en-US" dirty="0"/>
              <a:t>n=</a:t>
            </a:r>
            <a:r>
              <a:rPr lang="ru-RU" dirty="0"/>
              <a:t>2</a:t>
            </a:r>
            <a:r>
              <a:rPr lang="en-US" dirty="0"/>
              <a:t>0&lt;30 </a:t>
            </a:r>
            <a:r>
              <a:rPr lang="ru-RU" dirty="0"/>
              <a:t>и неизвестен объем генеральной совокупности. Тогда для предельной ошибки выборки </a:t>
            </a:r>
            <a:r>
              <a:rPr lang="el-GR" dirty="0">
                <a:latin typeface="Cambria"/>
                <a:ea typeface="Cambria"/>
              </a:rPr>
              <a:t>Δ</a:t>
            </a:r>
            <a:r>
              <a:rPr lang="ru-RU" dirty="0">
                <a:latin typeface="Cambria"/>
                <a:ea typeface="Cambria"/>
              </a:rPr>
              <a:t> воспользуемся формулой      </a:t>
            </a:r>
          </a:p>
          <a:p>
            <a:pPr marL="0" indent="0">
              <a:buFont typeface="Arial" charset="0"/>
              <a:buNone/>
            </a:pPr>
            <a:endParaRPr lang="ru-RU" dirty="0">
              <a:latin typeface="Cambria"/>
              <a:ea typeface="Cambria"/>
            </a:endParaRPr>
          </a:p>
          <a:p>
            <a:pPr marL="0" indent="0">
              <a:buFont typeface="Arial" charset="0"/>
              <a:buNone/>
            </a:pPr>
            <a:endParaRPr lang="ru-RU" dirty="0">
              <a:latin typeface="Cambria"/>
              <a:ea typeface="Cambria"/>
            </a:endParaRPr>
          </a:p>
          <a:p>
            <a:pPr marL="0" indent="0">
              <a:buFont typeface="Arial" charset="0"/>
              <a:buNone/>
            </a:pPr>
            <a:r>
              <a:rPr lang="ru-RU" dirty="0"/>
              <a:t>По таблице распределения Стьюдента для </a:t>
            </a:r>
            <a:r>
              <a:rPr lang="el-GR" dirty="0"/>
              <a:t>γ</a:t>
            </a:r>
            <a:r>
              <a:rPr lang="ru-RU" dirty="0"/>
              <a:t>=0,95 </a:t>
            </a:r>
            <a:r>
              <a:rPr lang="en-US" dirty="0"/>
              <a:t> </a:t>
            </a:r>
            <a:r>
              <a:rPr lang="ru-RU" dirty="0"/>
              <a:t>и степени свободы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n-</a:t>
            </a:r>
            <a:r>
              <a:rPr lang="ru-RU" dirty="0"/>
              <a:t>1)</a:t>
            </a:r>
            <a:r>
              <a:rPr lang="en-US" dirty="0"/>
              <a:t>=</a:t>
            </a:r>
            <a:r>
              <a:rPr lang="ru-RU" dirty="0"/>
              <a:t>20-1=19</a:t>
            </a:r>
            <a:r>
              <a:rPr lang="en-US" dirty="0"/>
              <a:t> </a:t>
            </a:r>
            <a:r>
              <a:rPr lang="ru-RU" dirty="0"/>
              <a:t>находим </a:t>
            </a:r>
            <a:r>
              <a:rPr lang="en-US" dirty="0"/>
              <a:t>t=</a:t>
            </a:r>
            <a:r>
              <a:rPr lang="ru-RU" dirty="0"/>
              <a:t>2,09. Тогда получим предельную ошибку выборки</a:t>
            </a:r>
          </a:p>
          <a:p>
            <a:pPr marL="0" indent="0">
              <a:buFont typeface="Arial" charset="0"/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6" name="Рисунок 5" descr="Изображение выглядит как Шрифт, снимок экрана, типограф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F3975B2-30F8-9FDD-3C81-F135B705D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2884782"/>
            <a:ext cx="1225613" cy="67313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8C1D3A-CABA-0048-074F-032DD50D4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9" y="4869160"/>
            <a:ext cx="6264696" cy="1919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Доверительный интервал для генеральной доли признака </a:t>
            </a:r>
            <a:br>
              <a:rPr lang="ru-RU" sz="3200" dirty="0"/>
            </a:br>
            <a:r>
              <a:rPr lang="en-US" sz="3200" dirty="0"/>
              <a:t>(</a:t>
            </a:r>
            <a:r>
              <a:rPr lang="ru-RU" sz="3200" dirty="0"/>
              <a:t>только при </a:t>
            </a:r>
            <a:r>
              <a:rPr lang="en-US" sz="3200" dirty="0"/>
              <a:t>n&gt;30)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Font typeface="Arial" charset="0"/>
              <a:buNone/>
            </a:pPr>
            <a:r>
              <a:rPr lang="ru-RU" dirty="0"/>
              <a:t>а) для повторной выборки</a:t>
            </a:r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б) для бесповторной выборки</a:t>
            </a:r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Величина </a:t>
            </a:r>
            <a:r>
              <a:rPr lang="en-US" b="1" dirty="0"/>
              <a:t>t</a:t>
            </a:r>
            <a:r>
              <a:rPr lang="ru-RU" dirty="0"/>
              <a:t> определяется из функции Лапласа Ф(</a:t>
            </a:r>
            <a:r>
              <a:rPr lang="en-US" dirty="0"/>
              <a:t>t)=</a:t>
            </a:r>
            <a:r>
              <a:rPr lang="el-GR" dirty="0"/>
              <a:t>γ</a:t>
            </a:r>
            <a:r>
              <a:rPr lang="ru-RU" dirty="0"/>
              <a:t> или по таблице значений функции распределения усеченного стандартного нормального закона </a:t>
            </a:r>
            <a:r>
              <a:rPr lang="en-US" dirty="0"/>
              <a:t>F</a:t>
            </a:r>
            <a:r>
              <a:rPr lang="ru-RU" baseline="-25000" dirty="0"/>
              <a:t>ус</a:t>
            </a:r>
            <a:r>
              <a:rPr lang="ru-RU" dirty="0"/>
              <a:t> (</a:t>
            </a:r>
            <a:r>
              <a:rPr lang="en-US" dirty="0"/>
              <a:t>t)</a:t>
            </a:r>
            <a:r>
              <a:rPr lang="ru-RU" dirty="0"/>
              <a:t>=</a:t>
            </a:r>
            <a:r>
              <a:rPr lang="el-GR" dirty="0"/>
              <a:t>ϒ</a:t>
            </a:r>
            <a:r>
              <a:rPr lang="en-US" dirty="0"/>
              <a:t>/2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21</a:t>
            </a:fld>
            <a:endParaRPr lang="ru-RU"/>
          </a:p>
        </p:txBody>
      </p:sp>
      <p:graphicFrame>
        <p:nvGraphicFramePr>
          <p:cNvPr id="495618" name="Объект 4"/>
          <p:cNvGraphicFramePr>
            <a:graphicFrameLocks noChangeAspect="1"/>
          </p:cNvGraphicFramePr>
          <p:nvPr/>
        </p:nvGraphicFramePr>
        <p:xfrm>
          <a:off x="1214414" y="928670"/>
          <a:ext cx="22860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524000" imgH="241300" progId="Equation.3">
                  <p:embed/>
                </p:oleObj>
              </mc:Choice>
              <mc:Fallback>
                <p:oleObj name="Формула" r:id="rId2" imgW="1524000" imgH="241300" progId="Equation.3">
                  <p:embed/>
                  <p:pic>
                    <p:nvPicPr>
                      <p:cNvPr id="495618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928670"/>
                        <a:ext cx="2286000" cy="361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14678" y="2357430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 descr="Изображение выглядит как Шрифт, рукописный текст, снимок экран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B351F0-CFBA-4F16-23CF-E8B3E90D6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1455684"/>
            <a:ext cx="2540131" cy="901746"/>
          </a:xfrm>
          <a:prstGeom prst="rect">
            <a:avLst/>
          </a:prstGeom>
        </p:spPr>
      </p:pic>
      <p:pic>
        <p:nvPicPr>
          <p:cNvPr id="9" name="Рисунок 8" descr="Изображение выглядит как рукописный текст, Шрифт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1BE6A3-769E-D7BB-4D10-CAA5DA7FB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662" y="2607131"/>
            <a:ext cx="3054507" cy="10922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428604"/>
            <a:ext cx="8229600" cy="642939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u="sng" dirty="0"/>
              <a:t>Пример 3:</a:t>
            </a:r>
            <a:r>
              <a:rPr lang="ru-RU" dirty="0"/>
              <a:t> В партии, содержащей 5000 изделий, проверено 400. Среди них оказалось 300 изделий высшего сорта. Найти с надежностью 0,95 доверительный интервал для доли изделий высшего сорта в случаях повторной и бесповторной выборок.</a:t>
            </a:r>
          </a:p>
          <a:p>
            <a:pPr marL="0" indent="0">
              <a:buFont typeface="Arial" charset="0"/>
              <a:buNone/>
            </a:pPr>
            <a:r>
              <a:rPr lang="ru-RU" i="1" dirty="0"/>
              <a:t>Решение. </a:t>
            </a:r>
            <a:r>
              <a:rPr lang="ru-RU" dirty="0"/>
              <a:t>По условию задачи имеем:</a:t>
            </a:r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По значению функции Лапласа  Ф(</a:t>
            </a:r>
            <a:r>
              <a:rPr lang="en-US" dirty="0"/>
              <a:t>t</a:t>
            </a:r>
            <a:r>
              <a:rPr lang="ru-RU" dirty="0"/>
              <a:t>)=0,95 определим </a:t>
            </a:r>
            <a:r>
              <a:rPr lang="en-US" dirty="0"/>
              <a:t>t=1,96.</a:t>
            </a:r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r>
              <a:rPr lang="ru-RU" dirty="0"/>
              <a:t>1) Для повторной выборки предельная ошибка доли равна</a:t>
            </a:r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Тогда доверительный интервал равен:</a:t>
            </a:r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2) Для бесповторной выборки предельная ошибка доли равна</a:t>
            </a:r>
            <a:endParaRPr lang="en-US" dirty="0"/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Тогда доверительный интервал равен: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000628" y="2786058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071670" y="407194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96643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719598"/>
              </p:ext>
            </p:extLst>
          </p:nvPr>
        </p:nvGraphicFramePr>
        <p:xfrm>
          <a:off x="323850" y="3924308"/>
          <a:ext cx="58213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4876800" imgH="546100" progId="Equation.3">
                  <p:embed/>
                </p:oleObj>
              </mc:Choice>
              <mc:Fallback>
                <p:oleObj name="Формула" r:id="rId2" imgW="4876800" imgH="546100" progId="Equation.3">
                  <p:embed/>
                  <p:pic>
                    <p:nvPicPr>
                      <p:cNvPr id="496643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924308"/>
                        <a:ext cx="5821363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86446" y="4643446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96644" name="Объект 9"/>
          <p:cNvGraphicFramePr>
            <a:graphicFrameLocks noChangeAspect="1"/>
          </p:cNvGraphicFramePr>
          <p:nvPr/>
        </p:nvGraphicFramePr>
        <p:xfrm>
          <a:off x="5437219" y="4691074"/>
          <a:ext cx="36353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2794000" imgH="241300" progId="Equation.3">
                  <p:embed/>
                </p:oleObj>
              </mc:Choice>
              <mc:Fallback>
                <p:oleObj name="Формула" r:id="rId4" imgW="2794000" imgH="241300" progId="Equation.3">
                  <p:embed/>
                  <p:pic>
                    <p:nvPicPr>
                      <p:cNvPr id="496644" name="Объект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219" y="4691074"/>
                        <a:ext cx="3635375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43570" y="5072074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96645" name="Объект 11"/>
          <p:cNvGraphicFramePr>
            <a:graphicFrameLocks noChangeAspect="1"/>
          </p:cNvGraphicFramePr>
          <p:nvPr/>
        </p:nvGraphicFramePr>
        <p:xfrm>
          <a:off x="6215074" y="4997463"/>
          <a:ext cx="207486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1714500" imgH="241300" progId="Equation.3">
                  <p:embed/>
                </p:oleObj>
              </mc:Choice>
              <mc:Fallback>
                <p:oleObj name="Формула" r:id="rId6" imgW="1714500" imgH="241300" progId="Equation.3">
                  <p:embed/>
                  <p:pic>
                    <p:nvPicPr>
                      <p:cNvPr id="496645" name="Объект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4997463"/>
                        <a:ext cx="2074862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6" name="Объект 13"/>
          <p:cNvGraphicFramePr>
            <a:graphicFrameLocks noChangeAspect="1"/>
          </p:cNvGraphicFramePr>
          <p:nvPr/>
        </p:nvGraphicFramePr>
        <p:xfrm>
          <a:off x="500034" y="5643578"/>
          <a:ext cx="81502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6934200" imgH="596900" progId="Equation.3">
                  <p:embed/>
                </p:oleObj>
              </mc:Choice>
              <mc:Fallback>
                <p:oleObj name="Формула" r:id="rId8" imgW="6934200" imgH="596900" progId="Equation.3">
                  <p:embed/>
                  <p:pic>
                    <p:nvPicPr>
                      <p:cNvPr id="496646" name="Объект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5643578"/>
                        <a:ext cx="815022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7" name="Объект 15"/>
          <p:cNvGraphicFramePr>
            <a:graphicFrameLocks noChangeAspect="1"/>
          </p:cNvGraphicFramePr>
          <p:nvPr/>
        </p:nvGraphicFramePr>
        <p:xfrm>
          <a:off x="6003925" y="6286520"/>
          <a:ext cx="2506663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0" imgW="2070000" imgH="203040" progId="Equation.3">
                  <p:embed/>
                </p:oleObj>
              </mc:Choice>
              <mc:Fallback>
                <p:oleObj name="Формула" r:id="rId10" imgW="2070000" imgH="203040" progId="Equation.3">
                  <p:embed/>
                  <p:pic>
                    <p:nvPicPr>
                      <p:cNvPr id="496647" name="Объект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6286520"/>
                        <a:ext cx="2506663" cy="24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8" name="Объект 17"/>
          <p:cNvGraphicFramePr>
            <a:graphicFrameLocks noChangeAspect="1"/>
          </p:cNvGraphicFramePr>
          <p:nvPr/>
        </p:nvGraphicFramePr>
        <p:xfrm>
          <a:off x="6286512" y="6500834"/>
          <a:ext cx="20748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2" imgW="1714500" imgH="241300" progId="Equation.3">
                  <p:embed/>
                </p:oleObj>
              </mc:Choice>
              <mc:Fallback>
                <p:oleObj name="Формула" r:id="rId12" imgW="1714500" imgH="241300" progId="Equation.3">
                  <p:embed/>
                  <p:pic>
                    <p:nvPicPr>
                      <p:cNvPr id="496648" name="Объект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12" y="6500834"/>
                        <a:ext cx="2074863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4348" y="292893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357158" y="2928934"/>
          <a:ext cx="8353428" cy="74574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82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9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9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83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68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 х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/>
                </a:tc>
                <a:tc gridSpan="10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Сотые доли х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06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5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6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7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207" marR="25207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</a:rPr>
                        <a:t>1,9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0,9426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0,9439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0,9451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0,9464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0,9476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0,9488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Times New Roman"/>
                        </a:rPr>
                        <a:t>0,9500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0,9512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0,9523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0,9533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A8629E-71BD-F0E9-BB87-3FB9B98557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7704" y="1873795"/>
            <a:ext cx="5112013" cy="57788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60C9F3-66AE-1462-C74C-AC64C0D01F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5069" y="3700340"/>
            <a:ext cx="8831427" cy="30885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Доверительный интервал для генеральной дисперсии </a:t>
            </a:r>
            <a:r>
              <a:rPr lang="el-GR" dirty="0">
                <a:latin typeface="Calibri"/>
                <a:cs typeface="Calibri"/>
              </a:rPr>
              <a:t>σ</a:t>
            </a:r>
            <a:r>
              <a:rPr lang="ru-RU" baseline="30000" dirty="0">
                <a:latin typeface="Calibri"/>
                <a:cs typeface="Calibri"/>
              </a:rPr>
              <a:t>2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где  </a:t>
            </a:r>
            <a:r>
              <a:rPr lang="en-US" dirty="0"/>
              <a:t>z</a:t>
            </a:r>
            <a:r>
              <a:rPr lang="en-US" baseline="-25000" dirty="0"/>
              <a:t>1</a:t>
            </a:r>
            <a:r>
              <a:rPr lang="en-US" dirty="0"/>
              <a:t>&lt;z</a:t>
            </a:r>
            <a:r>
              <a:rPr lang="en-US" baseline="-25000" dirty="0"/>
              <a:t>2</a:t>
            </a:r>
            <a:r>
              <a:rPr lang="ru-RU" dirty="0"/>
              <a:t> определяются из условия </a:t>
            </a:r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Они определяются по таблице распределения Хи-квадрат</a:t>
            </a:r>
            <a:r>
              <a:rPr lang="en-US" dirty="0"/>
              <a:t> (</a:t>
            </a:r>
            <a:r>
              <a:rPr lang="ru-RU" dirty="0"/>
              <a:t>Пирсона) со степенью свободы (</a:t>
            </a:r>
            <a:r>
              <a:rPr lang="en-US" dirty="0"/>
              <a:t>n-1)</a:t>
            </a:r>
            <a:r>
              <a:rPr lang="ru-RU" dirty="0"/>
              <a:t> из условий </a:t>
            </a:r>
          </a:p>
          <a:p>
            <a:pPr marL="0" indent="0">
              <a:buFont typeface="Arial" charset="0"/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4143372" y="150017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97666" name="Объект 6"/>
          <p:cNvGraphicFramePr>
            <a:graphicFrameLocks noChangeAspect="1"/>
          </p:cNvGraphicFramePr>
          <p:nvPr/>
        </p:nvGraphicFramePr>
        <p:xfrm>
          <a:off x="2928926" y="1500174"/>
          <a:ext cx="20542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054080" imgH="482400" progId="Equation.3">
                  <p:embed/>
                </p:oleObj>
              </mc:Choice>
              <mc:Fallback>
                <p:oleObj name="Формула" r:id="rId2" imgW="1054080" imgH="482400" progId="Equation.3">
                  <p:embed/>
                  <p:pic>
                    <p:nvPicPr>
                      <p:cNvPr id="497666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6" y="1500174"/>
                        <a:ext cx="2054225" cy="6477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15206" y="228599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8" name="Рисунок 7" descr="Изображение выглядит как рукописный текст, текст, Шриф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B514A-3A31-B560-E1FA-EA73B0D99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172" y="5441904"/>
            <a:ext cx="4481655" cy="1305404"/>
          </a:xfrm>
          <a:prstGeom prst="rect">
            <a:avLst/>
          </a:prstGeom>
        </p:spPr>
      </p:pic>
      <p:pic>
        <p:nvPicPr>
          <p:cNvPr id="10" name="Рисунок 9" descr="Изображение выглядит как рукописный текст, Шрифт, каллиграфия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226530-2C46-7D0E-1E2E-3BB617EFD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5816" y="2810048"/>
            <a:ext cx="2701914" cy="7453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85728"/>
            <a:ext cx="8229600" cy="6000792"/>
          </a:xfrm>
        </p:spPr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r>
              <a:rPr lang="ru-RU" u="sng" dirty="0"/>
              <a:t>Пример 4:</a:t>
            </a:r>
            <a:r>
              <a:rPr lang="ru-RU" dirty="0"/>
              <a:t> Признак </a:t>
            </a:r>
            <a:r>
              <a:rPr lang="ru-RU" i="1" dirty="0"/>
              <a:t>Х </a:t>
            </a:r>
            <a:r>
              <a:rPr lang="ru-RU" dirty="0"/>
              <a:t>генеральной совокупности распределен нормально. Имеется выборка в виде таблицы</a:t>
            </a:r>
            <a:endParaRPr lang="en-US" dirty="0"/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r>
              <a:rPr lang="ru-RU" dirty="0"/>
              <a:t>Найти доверительный интервал, накрывающий среднее квадратическое отклонение с вероятностью 0,99.</a:t>
            </a:r>
          </a:p>
          <a:p>
            <a:pPr marL="0" indent="0">
              <a:buFont typeface="Arial" charset="0"/>
              <a:buNone/>
            </a:pPr>
            <a:r>
              <a:rPr lang="ru-RU" i="1" dirty="0"/>
              <a:t>Решение. </a:t>
            </a:r>
            <a:r>
              <a:rPr lang="ru-RU" dirty="0"/>
              <a:t> Вычислим выборочные характеристики: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292893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58888" y="2000240"/>
          <a:ext cx="6096000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  <a:r>
                        <a:rPr lang="en-US" sz="1800" baseline="-25000" dirty="0"/>
                        <a:t>i</a:t>
                      </a:r>
                      <a:endParaRPr lang="ru-RU" sz="1800" baseline="-25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0,1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0,2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0,3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0,4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0,5</a:t>
                      </a:r>
                      <a:endParaRPr lang="ru-RU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err="1"/>
                        <a:t>n</a:t>
                      </a:r>
                      <a:r>
                        <a:rPr lang="en-US" sz="1800" baseline="-25000" dirty="0" err="1"/>
                        <a:t>i</a:t>
                      </a:r>
                      <a:endParaRPr lang="ru-RU" sz="1800" baseline="-25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  <a:endParaRPr lang="ru-RU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42976" y="557214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D9C920-6727-1224-47BA-AB20B3D12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5283596"/>
            <a:ext cx="8599452" cy="14577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4(продолжение)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7" name="Рисунок 6" descr="Изображение выглядит как текст, Шриф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30A03F-1083-6A6F-C676-8A373096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2" y="1916832"/>
            <a:ext cx="8864624" cy="30963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4(продолжение)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Font typeface="Arial" charset="0"/>
              <a:buNone/>
            </a:pPr>
            <a:r>
              <a:rPr lang="ru-RU" dirty="0"/>
              <a:t>По условию задачи </a:t>
            </a:r>
            <a:r>
              <a:rPr lang="en-US" dirty="0"/>
              <a:t>n=20, </a:t>
            </a:r>
            <a:r>
              <a:rPr lang="el-GR" dirty="0"/>
              <a:t>γ</a:t>
            </a:r>
            <a:r>
              <a:rPr lang="en-US" dirty="0"/>
              <a:t>=0,99</a:t>
            </a:r>
            <a:r>
              <a:rPr lang="ru-RU" dirty="0"/>
              <a:t>. </a:t>
            </a:r>
          </a:p>
          <a:p>
            <a:pPr marL="0" indent="0">
              <a:buFont typeface="Arial" charset="0"/>
              <a:buNone/>
            </a:pPr>
            <a:r>
              <a:rPr lang="ru-RU" dirty="0"/>
              <a:t>Доверительный интервал для генеральной дисперсии равен:</a:t>
            </a:r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где </a:t>
            </a:r>
            <a:r>
              <a:rPr lang="en-US" dirty="0"/>
              <a:t>z</a:t>
            </a:r>
            <a:r>
              <a:rPr lang="en-US" baseline="-25000" dirty="0"/>
              <a:t>1</a:t>
            </a:r>
            <a:r>
              <a:rPr lang="ru-RU" baseline="-25000" dirty="0"/>
              <a:t> </a:t>
            </a:r>
            <a:r>
              <a:rPr lang="ru-RU" dirty="0"/>
              <a:t>и </a:t>
            </a:r>
            <a:r>
              <a:rPr lang="en-US" dirty="0"/>
              <a:t>z</a:t>
            </a:r>
            <a:r>
              <a:rPr lang="en-US" baseline="-25000" dirty="0"/>
              <a:t>2</a:t>
            </a:r>
            <a:r>
              <a:rPr lang="ru-RU" dirty="0"/>
              <a:t>  определяются из условий:</a:t>
            </a:r>
          </a:p>
          <a:p>
            <a:pPr marL="0" indent="0">
              <a:buFont typeface="Arial" charset="0"/>
              <a:buNone/>
            </a:pPr>
            <a:endParaRPr lang="ru-RU" sz="1100" dirty="0"/>
          </a:p>
          <a:p>
            <a:pPr marL="0" indent="0">
              <a:buFont typeface="Arial" charset="0"/>
              <a:buNone/>
            </a:pPr>
            <a:endParaRPr lang="ru-RU" dirty="0"/>
          </a:p>
          <a:p>
            <a:pPr marL="0" indent="0">
              <a:buFont typeface="Arial" charset="0"/>
              <a:buNone/>
            </a:pPr>
            <a:r>
              <a:rPr lang="ru-RU" dirty="0"/>
              <a:t>т.е. </a:t>
            </a:r>
          </a:p>
          <a:p>
            <a:pPr marL="0" indent="0">
              <a:buFont typeface="Arial" charset="0"/>
              <a:buNone/>
            </a:pPr>
            <a:r>
              <a:rPr lang="ru-RU" dirty="0"/>
              <a:t>Найдем по таблице критерия Пирсона (</a:t>
            </a:r>
            <a:r>
              <a:rPr lang="ru-RU" dirty="0" err="1"/>
              <a:t>Хи-квадрат</a:t>
            </a:r>
            <a:r>
              <a:rPr lang="ru-RU" dirty="0"/>
              <a:t>) и числу степеней свободы 20-1=19 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6715140" y="2500306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500166" y="471488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857224" y="621508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 descr="Изображение выглядит как рукописный текст, Шриф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D9A5FD-3C49-8914-7640-036F20CD8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735144"/>
            <a:ext cx="3194078" cy="85187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рукописный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FE129F-155D-AA93-EB98-047B5F118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861" y="4106330"/>
            <a:ext cx="5461145" cy="93349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рукописный текст, Шрифт, каллиграфия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0484F4-7E6B-C495-0CB8-E37CF5945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326" y="6114931"/>
            <a:ext cx="2923603" cy="48953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4(продолжение)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7" name="Рисунок 6" descr="Изображение выглядит как текст, Шрифт, снимок экрана, рукописный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2FD5D5-4BC5-2FC3-C467-E93D710BE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197036"/>
            <a:ext cx="7812728" cy="33201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Таблица значений функции Лапласа Ф(</a:t>
            </a:r>
            <a:r>
              <a:rPr lang="ru-RU" dirty="0" err="1"/>
              <a:t>х</a:t>
            </a:r>
            <a:r>
              <a:rPr lang="ru-RU" dirty="0"/>
              <a:t>)=</a:t>
            </a:r>
            <a:r>
              <a:rPr lang="en-US" dirty="0"/>
              <a:t>				             </a:t>
            </a:r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57224" y="571480"/>
            <a:ext cx="607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428860" y="2428868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50825" y="1909786"/>
          <a:ext cx="8712968" cy="48768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62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21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2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32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96891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Целые и десятые доли х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 gridSpan="10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</a:rPr>
                        <a:t>Сотые доли х</a:t>
                      </a:r>
                      <a:endParaRPr lang="ru-RU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9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1,3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0,8054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0,8098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0,8132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0,8165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0,8198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0,8230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0,8262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0,8293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0,8324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0,8355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1,4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0,8385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0,8415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0,8444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0,8473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0,8501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0,8529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0,8557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0,8584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0,8611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0,8638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1,5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0,8664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0,8690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0,8715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0,8740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0,8764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0,8789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0,8812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0,8836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0,8859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0,8882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1,6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0,8904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0,8926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0,8948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0,8969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0,8990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0,9011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0,9031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0,9051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0,9070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0,9090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1,7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0,9109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0,9127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0,9146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0,9164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0,9181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0,9199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0,9216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0,9233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0,9249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0,9265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1,8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0,9281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0,9297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0,9312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0,9327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0,9342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0,9357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0,9371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0,9385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0,9392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0,9412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1,9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0,9426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0,9439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0,9451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0,9464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0,9476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0,9488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0,9523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0,9533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0,9545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0,9556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0,9566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0,9576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0,9586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0,9596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0,9606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0,9916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0,9925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0,9634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0,9643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0,9651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0,9660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0,9668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0,9676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0,9684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0,9692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0,9707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0,9715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0,9729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0,9736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0,9743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0,9749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0,9756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0,9762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0,9768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0,9774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0,9780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0,9786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0,9791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0,9797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0,9802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0,9807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0,9817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0,9827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0,9832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0,9836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0,9841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0,9845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0,9849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0,9853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0,9857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0,9861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0,9865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0,9869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0,9872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0,9876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0,9879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0,9883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0,9886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0,9889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0,9892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0,9895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0,9898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0,9901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0,9904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0,9907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0,9910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0,9915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0,9917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0,9920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0,9924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0,9926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0,9928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0,9931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0,9933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0,9935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0,9937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0,9939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0,9940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0,9942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0,9944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0,9946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0,9947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2,8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0,9949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0,9951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0,9952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0,9953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0,9955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0,9956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0,9958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0,9959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0,9960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0,9961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0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2,9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0,9963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0,9964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0,9965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0,9966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0,9967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0,9968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0,9969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0,9970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0,9971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0,9972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781" marR="25781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Объект 8">
            <a:extLst>
              <a:ext uri="{FF2B5EF4-FFF2-40B4-BE49-F238E27FC236}">
                <a16:creationId xmlns:a16="http://schemas.microsoft.com/office/drawing/2014/main" id="{6DD102A8-5991-E27E-CA89-802AE4AEE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Рисунок 10" descr="Изображение выглядит как текст, рукописный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6B18D7-8D1B-F0D4-F3B1-449DB8391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377" y="706277"/>
            <a:ext cx="2940201" cy="11049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F825DCC-06C0-2FCE-95AB-608C88DEB68F}"/>
                  </a:ext>
                </a:extLst>
              </p14:cNvPr>
              <p14:cNvContentPartPr/>
              <p14:nvPr/>
            </p14:nvContentPartPr>
            <p14:xfrm>
              <a:off x="6102284" y="616615"/>
              <a:ext cx="617400" cy="62424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F825DCC-06C0-2FCE-95AB-608C88DEB6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164" y="610495"/>
                <a:ext cx="629640" cy="63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Таблица значений распределения Стьюдента</a:t>
            </a: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642913" y="1375200"/>
          <a:ext cx="7572427" cy="6987017"/>
        </p:xfrm>
        <a:graphic>
          <a:graphicData uri="http://schemas.openxmlformats.org/drawingml/2006/table">
            <a:tbl>
              <a:tblPr/>
              <a:tblGrid>
                <a:gridCol w="1222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8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951">
                <a:tc rowSpan="2"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Число степеней свободы  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rgbClr val="FF0000"/>
                          </a:solidFill>
                        </a:rPr>
                        <a:t>Уровень</a:t>
                      </a:r>
                      <a:r>
                        <a:rPr lang="ru-RU" sz="1100" baseline="0" dirty="0">
                          <a:solidFill>
                            <a:srgbClr val="FF0000"/>
                          </a:solidFill>
                        </a:rPr>
                        <a:t> доверия</a:t>
                      </a:r>
                      <a:endParaRPr lang="ru-RU" sz="1100" dirty="0">
                        <a:solidFill>
                          <a:srgbClr val="FF0000"/>
                        </a:solidFill>
                      </a:endParaRP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7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0,9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0,95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0,98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0,99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0,998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0,999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6,31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12,70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31,82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63,70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318,30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637,00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2,92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4,30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6,97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9,92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22,33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31,60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2,35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3,18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4,54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5,84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10,22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12,90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2,13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3,75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4,60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7,17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8,61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2,01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3,37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4,03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5,89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6,86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1,94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3,14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3,71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5,21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5,96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1,89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2,36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3,00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3,50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4,79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5,40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1,86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2,31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2,90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3,36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4,50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5,04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1,83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2,26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3,25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4,30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4,78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1,81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2,23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3,17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4,14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4,59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1,80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2,20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3,11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4,03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4,44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2,18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2,68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3,05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3,93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4,32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2,16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2,65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3,01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3,85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4,22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2,14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2,62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2,98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3,79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4,14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2,13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2,60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2,95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3,73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4,07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2,12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2,92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3,69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4,01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2,11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2,90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3,65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3,95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2,10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3,61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3,92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2,09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3,58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3,88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3,55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3,85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2,08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3,53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3,82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2,07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3,51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3,79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2,50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3,59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3,77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2,80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3,47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3,74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3,45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3,72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3,44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3,71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3,42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3,69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3,40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3,66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3,40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3,66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1,70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2,04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3,39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3,65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1,68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2,42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2,70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3,31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3,55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1,67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2,00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2,39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2,66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3,23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3,46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436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6398" marR="6398" marT="6398" marB="63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1,66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1,98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2,36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2,62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3,17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FFFFFF"/>
                          </a:solidFill>
                        </a:rPr>
                        <a:t>3,37</a:t>
                      </a:r>
                    </a:p>
                  </a:txBody>
                  <a:tcPr marL="6398" marR="6398" marT="6398" marB="639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8C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Таблица значений распределения</a:t>
            </a:r>
            <a:br>
              <a:rPr lang="ru-RU" sz="3200" dirty="0"/>
            </a:br>
            <a:r>
              <a:rPr lang="ru-RU" sz="3200" dirty="0"/>
              <a:t> </a:t>
            </a:r>
            <a:r>
              <a:rPr lang="ru-RU" sz="3200" dirty="0" err="1"/>
              <a:t>Хи-квадрат</a:t>
            </a:r>
            <a:r>
              <a:rPr lang="ru-RU" sz="3200"/>
              <a:t> (</a:t>
            </a:r>
            <a:r>
              <a:rPr lang="ru-RU" sz="3200" dirty="0"/>
              <a:t>Пирсона)</a:t>
            </a: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500035" y="1646079"/>
          <a:ext cx="8286810" cy="4526261"/>
        </p:xfrm>
        <a:graphic>
          <a:graphicData uri="http://schemas.openxmlformats.org/drawingml/2006/table">
            <a:tbl>
              <a:tblPr/>
              <a:tblGrid>
                <a:gridCol w="1037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7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7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7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28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50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0000"/>
                          </a:solidFill>
                          <a:latin typeface="times new roman"/>
                        </a:rPr>
                        <a:t>k</a:t>
                      </a:r>
                      <a:endParaRPr 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ru-RU" sz="900" b="0" i="0" dirty="0">
                          <a:solidFill>
                            <a:srgbClr val="FF0000"/>
                          </a:solidFill>
                          <a:latin typeface="MJXc-TeX-main-R"/>
                        </a:rPr>
                        <a:t>Уровень</a:t>
                      </a:r>
                      <a:r>
                        <a:rPr lang="ru-RU" sz="900" b="0" i="0" baseline="0" dirty="0">
                          <a:solidFill>
                            <a:srgbClr val="FF0000"/>
                          </a:solidFill>
                          <a:latin typeface="MJXc-TeX-main-R"/>
                        </a:rPr>
                        <a:t> доверия</a:t>
                      </a:r>
                      <a:endParaRPr lang="el-GR" sz="9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0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0,75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0,9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0,95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0,975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0,99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0,995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0,999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1,32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2,71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3,84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5,02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6,63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7,88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10,8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2,77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4,61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5,99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7,38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9,21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10,6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13,8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4,11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6,25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7,81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9,35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11,3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12,8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5,39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7,78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9,49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11,1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13,3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14,9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18,5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6,63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9,24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11,1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12,8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15,1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20,5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7,84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10,6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12,6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14,4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18,5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22,5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9,04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14,1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18,5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20,3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24,3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10,2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13,4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15,5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17,5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20,1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11,4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14,7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21,7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23,6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27,9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10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12,5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18,3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20,5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23,2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25,2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29,6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13,7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17,3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19,7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21,9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24,7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31,3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14,8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18,5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23,3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28,3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32,9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19,8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22,4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24,7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27,7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29,8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34,5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17,1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21,1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23,7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29,1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31,3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36,1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18,2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22,3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27,5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30,6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32,8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37,7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19,4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23,5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28,8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34,3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39,3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20,5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24,8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27,6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30,2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33,4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35,7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40,8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21,6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28,9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31,5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34,8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37,2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42,3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19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22,7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27,2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30,1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32,9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36,2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38,6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43,8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20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23,8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28,4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31,4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34,2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37,6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40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45,3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24,9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29,6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32,7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35,5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38,9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41,4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46,8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30,8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33,9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36,8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40,3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42,8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48,3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27,1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35,2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38,1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41,6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44,2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49,7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28,2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33,2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36,4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39,4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45,6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51,2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29,3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34,4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37,7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40,6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44,3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46,9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52,6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30,4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35,6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38,9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41,9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45,6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48,3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54,1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31,5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36,7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40,1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43,2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49,6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55,5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28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32,6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37,9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41,3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44,5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48,3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56,9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29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33,7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39,1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42,6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45,7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49,6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solidFill>
                            <a:schemeClr val="bg2"/>
                          </a:solidFill>
                          <a:latin typeface="times new roman"/>
                        </a:rPr>
                        <a:t>52,3</a:t>
                      </a:r>
                      <a:endParaRPr lang="ru-RU" sz="90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2"/>
                          </a:solidFill>
                          <a:latin typeface="times new roman"/>
                        </a:rPr>
                        <a:t>58,3</a:t>
                      </a:r>
                      <a:endParaRPr lang="ru-RU" sz="900" dirty="0">
                        <a:solidFill>
                          <a:schemeClr val="bg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latin typeface="times new roman"/>
                        </a:rPr>
                        <a:t>30</a:t>
                      </a:r>
                      <a:endParaRPr lang="ru-RU" sz="9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latin typeface="times new roman"/>
                        </a:rPr>
                        <a:t>34,8</a:t>
                      </a:r>
                      <a:endParaRPr lang="ru-RU" sz="9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latin typeface="times new roman"/>
                        </a:rPr>
                        <a:t>40,3</a:t>
                      </a:r>
                      <a:endParaRPr lang="ru-RU" sz="9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latin typeface="times new roman"/>
                        </a:rPr>
                        <a:t>43,8</a:t>
                      </a:r>
                      <a:endParaRPr lang="ru-RU" sz="9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latin typeface="times new roman"/>
                        </a:rPr>
                        <a:t>47</a:t>
                      </a:r>
                      <a:endParaRPr lang="ru-RU" sz="9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latin typeface="times new roman"/>
                        </a:rPr>
                        <a:t>50,9</a:t>
                      </a:r>
                      <a:endParaRPr lang="ru-RU" sz="9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>
                          <a:latin typeface="times new roman"/>
                        </a:rPr>
                        <a:t>53,7</a:t>
                      </a:r>
                      <a:endParaRPr lang="ru-RU" sz="90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latin typeface="times new roman"/>
                        </a:rPr>
                        <a:t>59,7</a:t>
                      </a:r>
                      <a:endParaRPr lang="ru-RU" sz="9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сегодня все, </a:t>
            </a:r>
          </a:p>
          <a:p>
            <a:r>
              <a:rPr lang="ru-RU" dirty="0"/>
              <a:t>Всем спасибо </a:t>
            </a:r>
            <a:r>
              <a:rPr lang="ru-RU"/>
              <a:t>за внимание!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5758</TotalTime>
  <Words>2108</Words>
  <Application>Microsoft Office PowerPoint</Application>
  <PresentationFormat>Экран (4:3)</PresentationFormat>
  <Paragraphs>947</Paragraphs>
  <Slides>31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1" baseType="lpstr">
      <vt:lpstr>Arial</vt:lpstr>
      <vt:lpstr>Calibri</vt:lpstr>
      <vt:lpstr>Cambria</vt:lpstr>
      <vt:lpstr>MJXc-TeX-main-R</vt:lpstr>
      <vt:lpstr>Rockwell</vt:lpstr>
      <vt:lpstr>Times New Roman</vt:lpstr>
      <vt:lpstr>Times New Roman</vt:lpstr>
      <vt:lpstr>Wingdings 2</vt:lpstr>
      <vt:lpstr>Литейная</vt:lpstr>
      <vt:lpstr>Формула</vt:lpstr>
      <vt:lpstr>Теория вероятностей и математическая статистика. Лекция 12</vt:lpstr>
      <vt:lpstr>Оценка параметров генеральной совокупности</vt:lpstr>
      <vt:lpstr>Точечные оценки параметров</vt:lpstr>
      <vt:lpstr>Презентация PowerPoint</vt:lpstr>
      <vt:lpstr>Презентация PowerPoint</vt:lpstr>
      <vt:lpstr>Точечные оценки неизвестных параметров</vt:lpstr>
      <vt:lpstr>Точечные оценки числовых параметров генеральной совокупности</vt:lpstr>
      <vt:lpstr>Точечная оценка генерального среднего a</vt:lpstr>
      <vt:lpstr>Точечная оценка генеральной дисперсии σ2 </vt:lpstr>
      <vt:lpstr>Метод максимального правдоподобия</vt:lpstr>
      <vt:lpstr>Метод максимального правдоподобия</vt:lpstr>
      <vt:lpstr>Метод максимального правдоподобия</vt:lpstr>
      <vt:lpstr>Презентация PowerPoint</vt:lpstr>
      <vt:lpstr>Интервальные оценки параметров</vt:lpstr>
      <vt:lpstr>Презентация PowerPoint</vt:lpstr>
      <vt:lpstr>Презентация PowerPoint</vt:lpstr>
      <vt:lpstr>Доверительный интервал для генерального среднего a</vt:lpstr>
      <vt:lpstr>Презентация PowerPoint</vt:lpstr>
      <vt:lpstr>Презентация PowerPoint</vt:lpstr>
      <vt:lpstr>Презентация PowerPoint</vt:lpstr>
      <vt:lpstr>Доверительный интервал для генеральной доли признака  (только при n&gt;30)</vt:lpstr>
      <vt:lpstr>Презентация PowerPoint</vt:lpstr>
      <vt:lpstr>Доверительный интервал для генеральной дисперсии σ2 </vt:lpstr>
      <vt:lpstr>Презентация PowerPoint</vt:lpstr>
      <vt:lpstr>Пример 4(продолжение)</vt:lpstr>
      <vt:lpstr>Пример 4(продолжение)</vt:lpstr>
      <vt:lpstr>Пример 4(продолжение)</vt:lpstr>
      <vt:lpstr>Таблица значений функции Лапласа Ф(х)=                  </vt:lpstr>
      <vt:lpstr>Таблица значений распределения Стьюдента</vt:lpstr>
      <vt:lpstr>Таблица значений распределения  Хи-квадрат (Пирсона)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 s</cp:lastModifiedBy>
  <cp:revision>404</cp:revision>
  <dcterms:created xsi:type="dcterms:W3CDTF">2021-02-04T09:02:28Z</dcterms:created>
  <dcterms:modified xsi:type="dcterms:W3CDTF">2026-02-16T09:31:33Z</dcterms:modified>
</cp:coreProperties>
</file>