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40"/>
  </p:notesMasterIdLst>
  <p:sldIdLst>
    <p:sldId id="256" r:id="rId2"/>
    <p:sldId id="504" r:id="rId3"/>
    <p:sldId id="470" r:id="rId4"/>
    <p:sldId id="471" r:id="rId5"/>
    <p:sldId id="472" r:id="rId6"/>
    <p:sldId id="473" r:id="rId7"/>
    <p:sldId id="474" r:id="rId8"/>
    <p:sldId id="475" r:id="rId9"/>
    <p:sldId id="476" r:id="rId10"/>
    <p:sldId id="477" r:id="rId11"/>
    <p:sldId id="478" r:id="rId12"/>
    <p:sldId id="480" r:id="rId13"/>
    <p:sldId id="479" r:id="rId14"/>
    <p:sldId id="481" r:id="rId15"/>
    <p:sldId id="482" r:id="rId16"/>
    <p:sldId id="483" r:id="rId17"/>
    <p:sldId id="484" r:id="rId18"/>
    <p:sldId id="485" r:id="rId19"/>
    <p:sldId id="486" r:id="rId20"/>
    <p:sldId id="488" r:id="rId21"/>
    <p:sldId id="489" r:id="rId22"/>
    <p:sldId id="487" r:id="rId23"/>
    <p:sldId id="490" r:id="rId24"/>
    <p:sldId id="491" r:id="rId25"/>
    <p:sldId id="492" r:id="rId26"/>
    <p:sldId id="493" r:id="rId27"/>
    <p:sldId id="494" r:id="rId28"/>
    <p:sldId id="495" r:id="rId29"/>
    <p:sldId id="496" r:id="rId30"/>
    <p:sldId id="497" r:id="rId31"/>
    <p:sldId id="498" r:id="rId32"/>
    <p:sldId id="499" r:id="rId33"/>
    <p:sldId id="500" r:id="rId34"/>
    <p:sldId id="501" r:id="rId35"/>
    <p:sldId id="502" r:id="rId36"/>
    <p:sldId id="503" r:id="rId37"/>
    <p:sldId id="469" r:id="rId38"/>
    <p:sldId id="505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525" autoAdjust="0"/>
  </p:normalViewPr>
  <p:slideViewPr>
    <p:cSldViewPr>
      <p:cViewPr varScale="1">
        <p:scale>
          <a:sx n="92" d="100"/>
          <a:sy n="92" d="100"/>
        </p:scale>
        <p:origin x="9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 s" userId="b32979be72172c5e" providerId="LiveId" clId="{1A9D4396-1918-4F43-B4DF-954C8EB3F697}"/>
    <pc:docChg chg="undo custSel addSld modSld">
      <pc:chgData name="e s" userId="b32979be72172c5e" providerId="LiveId" clId="{1A9D4396-1918-4F43-B4DF-954C8EB3F697}" dt="2026-02-16T09:06:11.339" v="415" actId="20577"/>
      <pc:docMkLst>
        <pc:docMk/>
      </pc:docMkLst>
      <pc:sldChg chg="modSp mod">
        <pc:chgData name="e s" userId="b32979be72172c5e" providerId="LiveId" clId="{1A9D4396-1918-4F43-B4DF-954C8EB3F697}" dt="2026-02-16T09:06:11.339" v="415" actId="20577"/>
        <pc:sldMkLst>
          <pc:docMk/>
          <pc:sldMk cId="0" sldId="469"/>
        </pc:sldMkLst>
        <pc:spChg chg="mod">
          <ac:chgData name="e s" userId="b32979be72172c5e" providerId="LiveId" clId="{1A9D4396-1918-4F43-B4DF-954C8EB3F697}" dt="2026-02-16T09:05:44.788" v="405" actId="20577"/>
          <ac:spMkLst>
            <pc:docMk/>
            <pc:sldMk cId="0" sldId="469"/>
            <ac:spMk id="2" creationId="{00000000-0000-0000-0000-000000000000}"/>
          </ac:spMkLst>
        </pc:spChg>
        <pc:spChg chg="mod">
          <ac:chgData name="e s" userId="b32979be72172c5e" providerId="LiveId" clId="{1A9D4396-1918-4F43-B4DF-954C8EB3F697}" dt="2026-02-16T09:06:11.339" v="415" actId="20577"/>
          <ac:spMkLst>
            <pc:docMk/>
            <pc:sldMk cId="0" sldId="469"/>
            <ac:spMk id="3" creationId="{00000000-0000-0000-0000-000000000000}"/>
          </ac:spMkLst>
        </pc:spChg>
      </pc:sldChg>
      <pc:sldChg chg="modSp mod">
        <pc:chgData name="e s" userId="b32979be72172c5e" providerId="LiveId" clId="{1A9D4396-1918-4F43-B4DF-954C8EB3F697}" dt="2026-02-16T09:01:45.479" v="51" actId="20577"/>
        <pc:sldMkLst>
          <pc:docMk/>
          <pc:sldMk cId="0" sldId="502"/>
        </pc:sldMkLst>
        <pc:spChg chg="mod">
          <ac:chgData name="e s" userId="b32979be72172c5e" providerId="LiveId" clId="{1A9D4396-1918-4F43-B4DF-954C8EB3F697}" dt="2026-02-16T09:01:45.479" v="51" actId="20577"/>
          <ac:spMkLst>
            <pc:docMk/>
            <pc:sldMk cId="0" sldId="502"/>
            <ac:spMk id="2" creationId="{00000000-0000-0000-0000-000000000000}"/>
          </ac:spMkLst>
        </pc:spChg>
        <pc:spChg chg="mod">
          <ac:chgData name="e s" userId="b32979be72172c5e" providerId="LiveId" clId="{1A9D4396-1918-4F43-B4DF-954C8EB3F697}" dt="2026-02-16T09:01:31.628" v="34" actId="20577"/>
          <ac:spMkLst>
            <pc:docMk/>
            <pc:sldMk cId="0" sldId="502"/>
            <ac:spMk id="3" creationId="{00000000-0000-0000-0000-000000000000}"/>
          </ac:spMkLst>
        </pc:spChg>
        <pc:graphicFrameChg chg="mod">
          <ac:chgData name="e s" userId="b32979be72172c5e" providerId="LiveId" clId="{1A9D4396-1918-4F43-B4DF-954C8EB3F697}" dt="2026-02-16T09:01:35.879" v="47" actId="1036"/>
          <ac:graphicFrameMkLst>
            <pc:docMk/>
            <pc:sldMk cId="0" sldId="502"/>
            <ac:graphicFrameMk id="5" creationId="{00000000-0000-0000-0000-000000000000}"/>
          </ac:graphicFrameMkLst>
        </pc:graphicFrameChg>
      </pc:sldChg>
      <pc:sldChg chg="modSp new">
        <pc:chgData name="e s" userId="b32979be72172c5e" providerId="LiveId" clId="{1A9D4396-1918-4F43-B4DF-954C8EB3F697}" dt="2026-02-16T09:03:56.199" v="298"/>
        <pc:sldMkLst>
          <pc:docMk/>
          <pc:sldMk cId="3319714495" sldId="505"/>
        </pc:sldMkLst>
        <pc:spChg chg="mod">
          <ac:chgData name="e s" userId="b32979be72172c5e" providerId="LiveId" clId="{1A9D4396-1918-4F43-B4DF-954C8EB3F697}" dt="2026-02-16T09:03:56.199" v="298"/>
          <ac:spMkLst>
            <pc:docMk/>
            <pc:sldMk cId="3319714495" sldId="505"/>
            <ac:spMk id="3" creationId="{D6ED2712-7E77-8690-DC56-5C7A933C6E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77D3-0B2B-48AE-98C1-113779481BCC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C6C41-54EF-49D8-8026-9CCF966A16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618A8932-62C9-4217-BDB8-ACC30534E1C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35C-E6EA-416D-AA91-2D7B45730357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326BC372-8821-47C8-8858-C1C512837FE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1F389-A53C-4A80-A700-AD17C06A2A6E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EEEE-F63A-45AF-84D9-BF154B20570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8AF9-156B-43BB-A6E4-2BA5B4B2CE04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241-2F2C-4BDB-949F-CDA85DBACC88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FB5F21AF-98DF-4F3D-8D1F-E6D251F86555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4880FEF-A9E0-4096-A6F1-C5DFB362ABD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B0B1-7D84-48E7-96D3-793BA508764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BA8E-E9BE-4983-8968-4586D2DC7992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694BB94-EEF3-4693-84F8-FBB2BE68A97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Теория вероятностей и математическая статистика. Лекция </a:t>
            </a:r>
            <a:r>
              <a:rPr lang="en-US" b="1" dirty="0">
                <a:solidFill>
                  <a:srgbClr val="00B0F0"/>
                </a:solidFill>
              </a:rPr>
              <a:t>10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r>
              <a:rPr lang="ru-RU" sz="3000" dirty="0">
                <a:solidFill>
                  <a:schemeClr val="tx1"/>
                </a:solidFill>
              </a:rPr>
              <a:t>Преподаватель</a:t>
            </a:r>
            <a:r>
              <a:rPr lang="en-US" sz="3000" dirty="0">
                <a:solidFill>
                  <a:schemeClr val="tx1"/>
                </a:solidFill>
              </a:rPr>
              <a:t>:</a:t>
            </a:r>
          </a:p>
          <a:p>
            <a:r>
              <a:rPr lang="ru-RU" sz="3000" dirty="0">
                <a:solidFill>
                  <a:schemeClr val="tx1"/>
                </a:solidFill>
              </a:rPr>
              <a:t>к.т.н., доцент каф ЭСВМ</a:t>
            </a:r>
            <a:endParaRPr lang="en-US" sz="3000" dirty="0">
              <a:solidFill>
                <a:schemeClr val="tx1"/>
              </a:solidFill>
            </a:endParaRPr>
          </a:p>
          <a:p>
            <a:endParaRPr lang="ru-RU" sz="3000" dirty="0">
              <a:solidFill>
                <a:schemeClr val="tx1"/>
              </a:solidFill>
            </a:endParaRPr>
          </a:p>
          <a:p>
            <a:r>
              <a:rPr lang="ru-RU" sz="3300" b="1" i="1" dirty="0">
                <a:solidFill>
                  <a:schemeClr val="accent5"/>
                </a:solidFill>
              </a:rPr>
              <a:t>Елена Владимировна Сидорова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E-mail: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  <a:hlinkClick r:id="rId2"/>
              </a:rPr>
              <a:t>TV.09.03.02.NNTU@yandex.ru</a:t>
            </a:r>
            <a:endParaRPr lang="en-US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Аттестация: </a:t>
            </a:r>
          </a:p>
          <a:p>
            <a:r>
              <a:rPr lang="ru-RU" sz="3800" b="1" u="sng" dirty="0">
                <a:solidFill>
                  <a:srgbClr val="FF0000"/>
                </a:solidFill>
              </a:rPr>
              <a:t>экзамен</a:t>
            </a:r>
            <a:endParaRPr lang="ru-RU" sz="3800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статистика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/>
              <a:t>ИССЛЕДОВАТЕЛЬ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 </a:t>
            </a:r>
            <a:r>
              <a:rPr lang="ru-RU" sz="2000" dirty="0">
                <a:sym typeface="Symbol" pitchFamily="18" charset="2"/>
              </a:rPr>
              <a:t>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>
                <a:sym typeface="Symbol" pitchFamily="18" charset="2"/>
              </a:rPr>
              <a:t>ПРЕДМЕТ ИССЛЕДОВАНИЯ</a:t>
            </a:r>
            <a:r>
              <a:rPr lang="en-US" sz="2000" b="1" dirty="0">
                <a:sym typeface="Symbol" pitchFamily="18" charset="2"/>
              </a:rPr>
              <a:t> </a:t>
            </a:r>
            <a:r>
              <a:rPr lang="en-US" sz="2000" dirty="0">
                <a:sym typeface="Symbol" pitchFamily="18" charset="2"/>
              </a:rPr>
              <a:t>(</a:t>
            </a:r>
            <a:r>
              <a:rPr lang="ru-RU" sz="2000" dirty="0">
                <a:sym typeface="Symbol" pitchFamily="18" charset="2"/>
              </a:rPr>
              <a:t>некоторый признак)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>
                <a:sym typeface="Symbol" pitchFamily="18" charset="2"/>
              </a:rPr>
              <a:t>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/>
              <a:t>ЭКСПЕРИМЕНТ</a:t>
            </a:r>
            <a:r>
              <a:rPr lang="ru-RU" sz="2000" dirty="0"/>
              <a:t>(измерение)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>
                <a:sym typeface="Symbol" pitchFamily="18" charset="2"/>
              </a:rPr>
              <a:t>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>
                <a:sym typeface="Symbol" pitchFamily="18" charset="2"/>
              </a:rPr>
              <a:t>ДАННЫЕ ЭКСПЕРИМЕНТА</a:t>
            </a:r>
            <a:r>
              <a:rPr lang="ru-RU" sz="2000">
                <a:sym typeface="Symbol" pitchFamily="18" charset="2"/>
              </a:rPr>
              <a:t>( числовые)</a:t>
            </a:r>
            <a:endParaRPr lang="ru-RU" sz="2000" dirty="0">
              <a:sym typeface="Symbol" pitchFamily="18" charset="2"/>
            </a:endParaRP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>
                <a:sym typeface="Symbol" pitchFamily="18" charset="2"/>
              </a:rPr>
              <a:t>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>
                <a:sym typeface="Symbol" pitchFamily="18" charset="2"/>
              </a:rPr>
              <a:t>СТАТИСТИЧЕСКАЯ ОБРАБОТКА ДАННЫХ ЭКСПЕРИМЕНТА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>
                <a:sym typeface="Symbol" pitchFamily="18" charset="2"/>
              </a:rPr>
              <a:t>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>
                <a:sym typeface="Symbol" pitchFamily="18" charset="2"/>
              </a:rPr>
              <a:t>Результат статистической обработки эксперимента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>
                <a:sym typeface="Symbol" pitchFamily="18" charset="2"/>
              </a:rPr>
              <a:t>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>
                <a:sym typeface="Symbol" pitchFamily="18" charset="2"/>
              </a:rPr>
              <a:t>ВЫВОДЫ</a:t>
            </a:r>
            <a:r>
              <a:rPr lang="ru-RU" sz="2000" dirty="0">
                <a:sym typeface="Symbol" pitchFamily="18" charset="2"/>
              </a:rPr>
              <a:t> </a:t>
            </a:r>
            <a:endParaRPr lang="ru-RU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Математическая статистика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Предметом математической статистики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ru-RU" dirty="0"/>
              <a:t>является изучение случайных событий и случайных величин по результатам наблюдений.</a:t>
            </a:r>
            <a:endParaRPr lang="ru-RU" b="1" dirty="0"/>
          </a:p>
          <a:p>
            <a:pPr>
              <a:lnSpc>
                <a:spcPct val="80000"/>
              </a:lnSpc>
            </a:pP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Статистической совокупностью </a:t>
            </a:r>
            <a:r>
              <a:rPr lang="ru-RU" b="1" dirty="0"/>
              <a:t>называется </a:t>
            </a:r>
            <a:r>
              <a:rPr lang="ru-RU" dirty="0"/>
              <a:t>совокупность предметов или явлений, объединенных каким-либо общим признаком.</a:t>
            </a:r>
            <a:endParaRPr lang="ru-RU" b="1" dirty="0"/>
          </a:p>
          <a:p>
            <a:pPr>
              <a:lnSpc>
                <a:spcPct val="80000"/>
              </a:lnSpc>
            </a:pP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Статистические данные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(</a:t>
            </a:r>
            <a:r>
              <a:rPr lang="ru-RU" dirty="0"/>
              <a:t>результат наблюдений над статистической совокупностью )– это сведения о том, какие значения принял в итоге наблюдения изучаемый признак (стаж работы, пол, возраст, производительность, объем продаж  и </a:t>
            </a:r>
            <a:r>
              <a:rPr lang="ru-RU" dirty="0" err="1"/>
              <a:t>тп</a:t>
            </a:r>
            <a:r>
              <a:rPr lang="ru-RU" dirty="0"/>
              <a:t>).</a:t>
            </a:r>
          </a:p>
          <a:p>
            <a:pPr>
              <a:lnSpc>
                <a:spcPct val="80000"/>
              </a:lnSpc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Статистические данные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Статистические данные представляют собой ряд значений </a:t>
            </a:r>
            <a:r>
              <a:rPr lang="en-US" dirty="0"/>
              <a:t>{x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} </a:t>
            </a:r>
            <a:r>
              <a:rPr lang="ru-RU" dirty="0"/>
              <a:t>некоторой СВ Х.</a:t>
            </a:r>
          </a:p>
          <a:p>
            <a:r>
              <a:rPr lang="ru-RU" dirty="0"/>
              <a:t>Исследование СВ начинается с обработки этого ряда значений.</a:t>
            </a:r>
          </a:p>
          <a:p>
            <a:r>
              <a:rPr lang="ru-RU" dirty="0"/>
              <a:t>Точность статистических выводов повышается с ростом числа наблюдений.</a:t>
            </a:r>
          </a:p>
          <a:p>
            <a:r>
              <a:rPr lang="ru-RU" dirty="0"/>
              <a:t>Обработка статистических данных методами математической статистики приводит к установлению определенных закономерностей, присущих массовым явлениям.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Генеральная совокупность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Генеральной совокупностью </a:t>
            </a:r>
            <a:r>
              <a:rPr lang="ru-RU" dirty="0"/>
              <a:t>называется совокупность объектов или наблюдений, все элементы которой подлежат изучению при статистическом анализе.</a:t>
            </a:r>
          </a:p>
          <a:p>
            <a:r>
              <a:rPr lang="ru-RU" dirty="0"/>
              <a:t>Генеральная совокупность может быть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конечной или бесконечной</a:t>
            </a:r>
            <a:r>
              <a:rPr lang="ru-RU" dirty="0"/>
              <a:t>.</a:t>
            </a:r>
          </a:p>
          <a:p>
            <a:r>
              <a:rPr lang="ru-RU" dirty="0"/>
              <a:t>Число объектов в конечной генеральной совокупности называется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объемом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Выборочная совокупность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Изучение всего набора элементов генеральной совокупности часто оказывается невозможно. В таких случаях исследуют некоторую часть объема.</a:t>
            </a:r>
          </a:p>
          <a:p>
            <a:r>
              <a:rPr lang="ru-RU" dirty="0"/>
              <a:t>Часть объектов генеральной совокупности, используемая для исследования, называется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выборочной совокупностью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или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выборкой</a:t>
            </a:r>
            <a:r>
              <a:rPr lang="ru-RU" b="1" dirty="0"/>
              <a:t>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Выборочный метод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413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1500174"/>
            <a:ext cx="7139963" cy="3480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42910" y="5357826"/>
            <a:ext cx="8215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/>
              <a:t>Сущность выборочного метода в математической статистике заключается в том, чтобы по определенной части генеральной совокупности(выборке) судить о ее свойствах в целом.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Репрезентативность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того чтобы по выборке можно было адекватно судить о случайной величине, она должна быть </a:t>
            </a:r>
            <a:r>
              <a:rPr lang="ru-RU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репрезентативной</a:t>
            </a:r>
            <a:r>
              <a:rPr lang="ru-RU" dirty="0"/>
              <a:t>.</a:t>
            </a:r>
          </a:p>
          <a:p>
            <a:pPr>
              <a:buNone/>
            </a:pPr>
            <a:r>
              <a:rPr lang="ru-RU" dirty="0"/>
              <a:t>Выборка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репрезентативна</a:t>
            </a:r>
            <a:r>
              <a:rPr lang="ru-RU" dirty="0"/>
              <a:t>, если</a:t>
            </a:r>
          </a:p>
          <a:p>
            <a:r>
              <a:rPr lang="ru-RU" dirty="0"/>
              <a:t>объекты отбираются случайно,</a:t>
            </a:r>
          </a:p>
          <a:p>
            <a:r>
              <a:rPr lang="ru-RU" dirty="0"/>
              <a:t>объекты выбирают независимо друг от друга,</a:t>
            </a:r>
          </a:p>
          <a:p>
            <a:r>
              <a:rPr lang="ru-RU" dirty="0"/>
              <a:t>каждый объект генеральной совокупности имеет </a:t>
            </a:r>
            <a:r>
              <a:rPr lang="ru-RU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одинаковую вероятность быть отобранным.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Способы образования выборки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dirty="0"/>
              <a:t>Существует два способа образования выборки:</a:t>
            </a:r>
            <a:endParaRPr lang="ru-RU" b="1" dirty="0"/>
          </a:p>
          <a:p>
            <a:pPr>
              <a:lnSpc>
                <a:spcPct val="80000"/>
              </a:lnSpc>
            </a:pPr>
            <a:r>
              <a:rPr lang="ru-RU" b="1" dirty="0"/>
              <a:t>1)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повторная выборка</a:t>
            </a:r>
            <a:r>
              <a:rPr lang="ru-RU" dirty="0"/>
              <a:t>, когда каждый элемент, случайно отобранный и исследованный, возвращается в общую совокупность и может быть отобран повторно;</a:t>
            </a:r>
          </a:p>
          <a:p>
            <a:pPr>
              <a:lnSpc>
                <a:spcPct val="80000"/>
              </a:lnSpc>
            </a:pPr>
            <a:r>
              <a:rPr lang="ru-RU" b="1" dirty="0"/>
              <a:t>2)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бесповторная выборка</a:t>
            </a:r>
            <a:r>
              <a:rPr lang="ru-RU" dirty="0"/>
              <a:t>, когда отобранный элемент не возвращается в общую совокупность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Вариационный ряд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ru-RU" dirty="0"/>
              <a:t>Пусть из генеральной совокупности извлечена выборка, причем </a:t>
            </a:r>
            <a:r>
              <a:rPr lang="ru-RU" b="1" i="1" dirty="0">
                <a:solidFill>
                  <a:schemeClr val="accent2"/>
                </a:solidFill>
              </a:rPr>
              <a:t>x</a:t>
            </a:r>
            <a:r>
              <a:rPr lang="ru-RU" b="1" i="1" baseline="-25000" dirty="0">
                <a:solidFill>
                  <a:schemeClr val="accent2"/>
                </a:solidFill>
              </a:rPr>
              <a:t>1</a:t>
            </a:r>
            <a:r>
              <a:rPr lang="ru-RU" dirty="0"/>
              <a:t> наблюдалось </a:t>
            </a:r>
            <a:r>
              <a:rPr lang="ru-RU" b="1" i="1" dirty="0">
                <a:solidFill>
                  <a:schemeClr val="accent2"/>
                </a:solidFill>
              </a:rPr>
              <a:t>n</a:t>
            </a:r>
            <a:r>
              <a:rPr lang="ru-RU" b="1" baseline="-25000" dirty="0">
                <a:solidFill>
                  <a:schemeClr val="accent2"/>
                </a:solidFill>
              </a:rPr>
              <a:t>1</a:t>
            </a:r>
            <a:r>
              <a:rPr lang="ru-RU" dirty="0"/>
              <a:t> раз, </a:t>
            </a:r>
            <a:r>
              <a:rPr lang="ru-RU" b="1" i="1" dirty="0">
                <a:solidFill>
                  <a:schemeClr val="accent2"/>
                </a:solidFill>
              </a:rPr>
              <a:t>x</a:t>
            </a:r>
            <a:r>
              <a:rPr lang="ru-RU" b="1" baseline="-25000" dirty="0">
                <a:solidFill>
                  <a:schemeClr val="accent2"/>
                </a:solidFill>
              </a:rPr>
              <a:t>2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dirty="0"/>
              <a:t>– </a:t>
            </a:r>
            <a:r>
              <a:rPr lang="ru-RU" b="1" i="1" dirty="0">
                <a:solidFill>
                  <a:schemeClr val="accent2"/>
                </a:solidFill>
              </a:rPr>
              <a:t>n</a:t>
            </a:r>
            <a:r>
              <a:rPr lang="ru-RU" b="1" baseline="-25000" dirty="0">
                <a:solidFill>
                  <a:schemeClr val="accent2"/>
                </a:solidFill>
              </a:rPr>
              <a:t>2</a:t>
            </a:r>
            <a:r>
              <a:rPr lang="ru-RU" dirty="0"/>
              <a:t> раз, </a:t>
            </a:r>
            <a:r>
              <a:rPr lang="ru-RU" b="1" i="1" dirty="0" err="1">
                <a:solidFill>
                  <a:schemeClr val="accent2"/>
                </a:solidFill>
              </a:rPr>
              <a:t>x</a:t>
            </a:r>
            <a:r>
              <a:rPr lang="ru-RU" b="1" i="1" baseline="-25000" dirty="0" err="1">
                <a:solidFill>
                  <a:schemeClr val="accent2"/>
                </a:solidFill>
              </a:rPr>
              <a:t>k</a:t>
            </a:r>
            <a:r>
              <a:rPr lang="ru-RU" dirty="0"/>
              <a:t> – </a:t>
            </a:r>
            <a:r>
              <a:rPr lang="ru-RU" b="1" i="1" dirty="0" err="1">
                <a:solidFill>
                  <a:schemeClr val="accent2"/>
                </a:solidFill>
              </a:rPr>
              <a:t>n</a:t>
            </a:r>
            <a:r>
              <a:rPr lang="ru-RU" b="1" i="1" baseline="-25000" dirty="0" err="1">
                <a:solidFill>
                  <a:schemeClr val="accent2"/>
                </a:solidFill>
              </a:rPr>
              <a:t>k</a:t>
            </a:r>
            <a:r>
              <a:rPr lang="ru-RU" dirty="0"/>
              <a:t> раз и </a:t>
            </a:r>
            <a:r>
              <a:rPr lang="ru-RU" b="1" dirty="0">
                <a:solidFill>
                  <a:schemeClr val="accent2"/>
                </a:solidFill>
              </a:rPr>
              <a:t>∑</a:t>
            </a:r>
            <a:r>
              <a:rPr lang="ru-RU" b="1" i="1" dirty="0" err="1">
                <a:solidFill>
                  <a:schemeClr val="accent2"/>
                </a:solidFill>
              </a:rPr>
              <a:t>n</a:t>
            </a:r>
            <a:r>
              <a:rPr lang="ru-RU" b="1" baseline="-25000" dirty="0" err="1">
                <a:solidFill>
                  <a:schemeClr val="accent2"/>
                </a:solidFill>
              </a:rPr>
              <a:t>i</a:t>
            </a:r>
            <a:r>
              <a:rPr lang="ru-RU" b="1" dirty="0">
                <a:solidFill>
                  <a:schemeClr val="accent2"/>
                </a:solidFill>
              </a:rPr>
              <a:t> = </a:t>
            </a:r>
            <a:r>
              <a:rPr lang="ru-RU" b="1" i="1" dirty="0">
                <a:solidFill>
                  <a:schemeClr val="accent2"/>
                </a:solidFill>
              </a:rPr>
              <a:t>n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dirty="0"/>
              <a:t>– объему выборки. </a:t>
            </a:r>
          </a:p>
          <a:p>
            <a:pPr algn="just"/>
            <a:r>
              <a:rPr lang="ru-RU" dirty="0"/>
              <a:t>Наблюдаемые значения называют </a:t>
            </a:r>
            <a:r>
              <a:rPr lang="ru-RU" b="1" i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вариантами</a:t>
            </a:r>
            <a:r>
              <a:rPr lang="ru-RU" dirty="0"/>
              <a:t>, а последовательность вариант, записанных в </a:t>
            </a:r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возрастающем</a:t>
            </a:r>
            <a:r>
              <a:rPr lang="ru-RU" dirty="0"/>
              <a:t> порядке, – </a:t>
            </a:r>
            <a:r>
              <a:rPr lang="ru-RU" b="1" i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вариационным рядом</a:t>
            </a:r>
            <a:r>
              <a:rPr lang="ru-RU" dirty="0"/>
              <a:t>. </a:t>
            </a:r>
          </a:p>
          <a:p>
            <a:pPr algn="just"/>
            <a:r>
              <a:rPr lang="ru-RU" dirty="0"/>
              <a:t>Числа наблюдений </a:t>
            </a:r>
            <a:r>
              <a:rPr lang="ru-RU" b="1" i="1" dirty="0" err="1">
                <a:solidFill>
                  <a:schemeClr val="accent2"/>
                </a:solidFill>
              </a:rPr>
              <a:t>n</a:t>
            </a:r>
            <a:r>
              <a:rPr lang="ru-RU" b="1" i="1" baseline="-25000" dirty="0" err="1">
                <a:solidFill>
                  <a:schemeClr val="accent2"/>
                </a:solidFill>
              </a:rPr>
              <a:t>i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dirty="0"/>
              <a:t>называют абсолютными </a:t>
            </a:r>
            <a:r>
              <a:rPr lang="ru-RU" b="1" i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частотами</a:t>
            </a:r>
            <a:r>
              <a:rPr lang="ru-R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,</a:t>
            </a:r>
            <a:r>
              <a:rPr lang="ru-RU" dirty="0"/>
              <a:t> а их отношения к объему выборки </a:t>
            </a:r>
            <a:r>
              <a:rPr lang="ru-RU" b="1" i="1" dirty="0" err="1">
                <a:solidFill>
                  <a:schemeClr val="accent2"/>
                </a:solidFill>
              </a:rPr>
              <a:t>n</a:t>
            </a:r>
            <a:r>
              <a:rPr lang="ru-RU" b="1" i="1" baseline="-25000" dirty="0" err="1">
                <a:solidFill>
                  <a:schemeClr val="accent2"/>
                </a:solidFill>
              </a:rPr>
              <a:t>i</a:t>
            </a:r>
            <a:r>
              <a:rPr lang="ru-RU" b="1" i="1" dirty="0">
                <a:solidFill>
                  <a:schemeClr val="accent2"/>
                </a:solidFill>
              </a:rPr>
              <a:t> / n =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en-US" b="1" i="1" dirty="0">
                <a:solidFill>
                  <a:schemeClr val="accent2"/>
                </a:solidFill>
              </a:rPr>
              <a:t>w</a:t>
            </a:r>
            <a:r>
              <a:rPr lang="ru-RU" b="1" i="1" baseline="-25000" dirty="0">
                <a:solidFill>
                  <a:schemeClr val="accent2"/>
                </a:solidFill>
              </a:rPr>
              <a:t>i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dirty="0"/>
              <a:t>– </a:t>
            </a:r>
            <a:r>
              <a:rPr lang="ru-RU" b="1" i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относительными частотами </a:t>
            </a:r>
            <a:r>
              <a:rPr lang="ru-RU" i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или</a:t>
            </a:r>
            <a:r>
              <a:rPr lang="ru-RU" b="1" i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ru-RU" b="1" i="1" u="sng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частостями</a:t>
            </a:r>
            <a:r>
              <a:rPr lang="ru-RU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Статистическое   распределение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i="1" dirty="0"/>
              <a:t>Соответствие</a:t>
            </a:r>
            <a:r>
              <a:rPr lang="ru-RU" dirty="0"/>
              <a:t>, </a:t>
            </a:r>
            <a:r>
              <a:rPr lang="ru-RU" i="1" dirty="0"/>
              <a:t>установленное между</a:t>
            </a:r>
            <a:r>
              <a:rPr lang="ru-RU" dirty="0"/>
              <a:t> </a:t>
            </a:r>
            <a:r>
              <a:rPr lang="ru-RU" i="1" dirty="0"/>
              <a:t>наблюдаемыми вариантами</a:t>
            </a:r>
            <a:r>
              <a:rPr lang="ru-RU" dirty="0"/>
              <a:t> </a:t>
            </a:r>
            <a:r>
              <a:rPr lang="ru-RU" i="1" dirty="0"/>
              <a:t>и</a:t>
            </a:r>
            <a:r>
              <a:rPr lang="ru-RU" dirty="0"/>
              <a:t> </a:t>
            </a:r>
            <a:r>
              <a:rPr lang="ru-RU" i="1" dirty="0"/>
              <a:t>их частотами</a:t>
            </a:r>
            <a:r>
              <a:rPr lang="ru-RU" dirty="0"/>
              <a:t> (абсолютными или относительными), </a:t>
            </a:r>
            <a:r>
              <a:rPr lang="ru-RU" i="1" dirty="0"/>
              <a:t>называют</a:t>
            </a:r>
            <a:r>
              <a:rPr lang="ru-RU" dirty="0"/>
              <a:t> </a:t>
            </a:r>
            <a:r>
              <a:rPr lang="ru-RU" b="1" i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статистическим распределением</a:t>
            </a:r>
            <a:r>
              <a:rPr lang="ru-RU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.</a:t>
            </a:r>
            <a:r>
              <a:rPr lang="ru-RU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</a:p>
          <a:p>
            <a:pPr algn="just">
              <a:buNone/>
            </a:pPr>
            <a:r>
              <a:rPr lang="ru-RU" dirty="0"/>
              <a:t>При этом должны выполняться два </a:t>
            </a:r>
            <a:r>
              <a:rPr lang="ru-RU" b="1" i="1" dirty="0"/>
              <a:t>условия нормировки</a:t>
            </a:r>
            <a:r>
              <a:rPr lang="ru-RU" dirty="0"/>
              <a:t>:</a:t>
            </a:r>
          </a:p>
          <a:p>
            <a:pPr algn="just">
              <a:buNone/>
            </a:pPr>
            <a:r>
              <a:rPr lang="ru-RU" dirty="0"/>
              <a:t>1</a:t>
            </a:r>
            <a:r>
              <a:rPr lang="ru-RU" b="1" dirty="0"/>
              <a:t>)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b="1" i="1" dirty="0">
                <a:solidFill>
                  <a:schemeClr val="accent2"/>
                </a:solidFill>
              </a:rPr>
              <a:t>n</a:t>
            </a:r>
            <a:r>
              <a:rPr lang="ru-RU" b="1" baseline="-25000" dirty="0">
                <a:solidFill>
                  <a:schemeClr val="accent2"/>
                </a:solidFill>
              </a:rPr>
              <a:t>1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b="1" i="1" dirty="0">
                <a:solidFill>
                  <a:schemeClr val="accent2"/>
                </a:solidFill>
              </a:rPr>
              <a:t>+ n</a:t>
            </a:r>
            <a:r>
              <a:rPr lang="ru-RU" b="1" baseline="-25000" dirty="0">
                <a:solidFill>
                  <a:schemeClr val="accent2"/>
                </a:solidFill>
              </a:rPr>
              <a:t>2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b="1" i="1" dirty="0">
                <a:solidFill>
                  <a:schemeClr val="accent2"/>
                </a:solidFill>
              </a:rPr>
              <a:t>+ …+ </a:t>
            </a:r>
            <a:r>
              <a:rPr lang="ru-RU" b="1" i="1" dirty="0" err="1">
                <a:solidFill>
                  <a:schemeClr val="accent2"/>
                </a:solidFill>
              </a:rPr>
              <a:t>n</a:t>
            </a:r>
            <a:r>
              <a:rPr lang="ru-RU" b="1" i="1" baseline="-25000" dirty="0" err="1">
                <a:solidFill>
                  <a:schemeClr val="accent2"/>
                </a:solidFill>
              </a:rPr>
              <a:t>k</a:t>
            </a:r>
            <a:r>
              <a:rPr lang="ru-RU" b="1" i="1" baseline="-25000" dirty="0">
                <a:solidFill>
                  <a:schemeClr val="accent2"/>
                </a:solidFill>
              </a:rPr>
              <a:t>  </a:t>
            </a:r>
            <a:r>
              <a:rPr lang="ru-RU" b="1" i="1" dirty="0">
                <a:solidFill>
                  <a:schemeClr val="accent2"/>
                </a:solidFill>
              </a:rPr>
              <a:t>=  n </a:t>
            </a:r>
            <a:r>
              <a:rPr lang="ru-RU" dirty="0"/>
              <a:t>(объем выборки);</a:t>
            </a:r>
          </a:p>
          <a:p>
            <a:pPr algn="just">
              <a:buNone/>
            </a:pPr>
            <a:r>
              <a:rPr lang="ru-RU" dirty="0"/>
              <a:t>2) </a:t>
            </a:r>
            <a:r>
              <a:rPr lang="en-US" b="1" i="1" dirty="0">
                <a:solidFill>
                  <a:schemeClr val="accent2"/>
                </a:solidFill>
              </a:rPr>
              <a:t>w</a:t>
            </a:r>
            <a:r>
              <a:rPr lang="ru-RU" b="1" baseline="-25000" dirty="0">
                <a:solidFill>
                  <a:schemeClr val="accent2"/>
                </a:solidFill>
              </a:rPr>
              <a:t>1</a:t>
            </a:r>
            <a:r>
              <a:rPr lang="ru-RU" b="1" i="1" dirty="0">
                <a:solidFill>
                  <a:schemeClr val="accent2"/>
                </a:solidFill>
              </a:rPr>
              <a:t> + </a:t>
            </a:r>
            <a:r>
              <a:rPr lang="en-US" b="1" i="1" dirty="0">
                <a:solidFill>
                  <a:schemeClr val="accent2"/>
                </a:solidFill>
              </a:rPr>
              <a:t>w</a:t>
            </a:r>
            <a:r>
              <a:rPr lang="ru-RU" b="1" baseline="-25000" dirty="0">
                <a:solidFill>
                  <a:schemeClr val="accent2"/>
                </a:solidFill>
              </a:rPr>
              <a:t>2</a:t>
            </a:r>
            <a:r>
              <a:rPr lang="ru-RU" b="1" i="1" dirty="0">
                <a:solidFill>
                  <a:schemeClr val="accent2"/>
                </a:solidFill>
              </a:rPr>
              <a:t> + …+ </a:t>
            </a:r>
            <a:r>
              <a:rPr lang="en-US" b="1" i="1" dirty="0">
                <a:solidFill>
                  <a:schemeClr val="accent2"/>
                </a:solidFill>
              </a:rPr>
              <a:t>w</a:t>
            </a:r>
            <a:r>
              <a:rPr lang="ru-RU" b="1" i="1" baseline="-25000" dirty="0" err="1">
                <a:solidFill>
                  <a:schemeClr val="accent2"/>
                </a:solidFill>
              </a:rPr>
              <a:t>k</a:t>
            </a:r>
            <a:r>
              <a:rPr lang="ru-RU" b="1" dirty="0">
                <a:solidFill>
                  <a:schemeClr val="accent2"/>
                </a:solidFill>
              </a:rPr>
              <a:t>  =  1</a:t>
            </a:r>
            <a:r>
              <a:rPr lang="ru-RU" dirty="0"/>
              <a:t>.</a:t>
            </a:r>
          </a:p>
          <a:p>
            <a:pPr algn="just">
              <a:buNone/>
            </a:pPr>
            <a:endParaRPr lang="ru-RU" dirty="0"/>
          </a:p>
          <a:p>
            <a:pPr algn="just">
              <a:buNone/>
            </a:pPr>
            <a:r>
              <a:rPr lang="ru-RU" dirty="0"/>
              <a:t>Удобной формой записи статистического распределения является таблица. В верхней строке таблицы записывают последовательность вариант, в нижней – соответствующие им частоты (абсолютные или относительные).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Дискретный вариационный ряд.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4157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857364"/>
            <a:ext cx="8304271" cy="2035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41472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571480"/>
            <a:ext cx="8143932" cy="5856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Интервальный (непрерывный) вариационный ряд.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число различных значений признака (СВ Х) в выборке велико, или признак является непрерывным (т.е. СВ Х может принять любое значение в некотором интервале), </a:t>
            </a:r>
            <a:r>
              <a:rPr lang="ru-RU" b="1" dirty="0"/>
              <a:t>составляют интервальный статистический ряд.</a:t>
            </a:r>
            <a:r>
              <a:rPr lang="ru-RU" dirty="0"/>
              <a:t>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285728"/>
            <a:ext cx="8229600" cy="4526280"/>
          </a:xfrm>
        </p:spPr>
        <p:txBody>
          <a:bodyPr>
            <a:normAutofit/>
          </a:bodyPr>
          <a:lstStyle/>
          <a:p>
            <a:r>
              <a:rPr lang="ru-RU" dirty="0"/>
              <a:t>Если весь промежуток изменения значений выборки, от минимального до максимального, разбить на полуинтервалы(сгруппировать), а затем подсчитать число значений из выборки, попадающих в каждый полуинтервал, то в результате получим </a:t>
            </a:r>
            <a:r>
              <a:rPr lang="ru-RU" i="1" dirty="0"/>
              <a:t>интервальную таблицу частот, </a:t>
            </a:r>
            <a:r>
              <a:rPr lang="ru-RU" dirty="0"/>
              <a:t>называемую</a:t>
            </a:r>
            <a:r>
              <a:rPr lang="ru-RU" i="1" dirty="0"/>
              <a:t> </a:t>
            </a:r>
            <a:r>
              <a:rPr lang="ru-RU" b="1" dirty="0"/>
              <a:t>интервальным статистическим рядом.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77" y="4786322"/>
            <a:ext cx="75723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Рекомендуется количество  интервалов выбирать по формуле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Тогда длина каждого интервала равна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ru-RU" dirty="0"/>
              <a:t>Если окажется, что </a:t>
            </a:r>
            <a:r>
              <a:rPr lang="ru-RU" dirty="0">
                <a:latin typeface="Cambria"/>
                <a:ea typeface="Cambria"/>
              </a:rPr>
              <a:t>Δ</a:t>
            </a:r>
            <a:r>
              <a:rPr lang="en-US" dirty="0"/>
              <a:t> </a:t>
            </a:r>
            <a:r>
              <a:rPr lang="ru-RU" dirty="0"/>
              <a:t>- дробное число, то за длину  частичного интервала рекомендуется брать, либо ближайшее целое число, либо ближайшую простую дробь.</a:t>
            </a:r>
            <a:endParaRPr lang="en-US" dirty="0"/>
          </a:p>
          <a:p>
            <a:r>
              <a:rPr lang="ru-RU" dirty="0">
                <a:latin typeface="Book Antiqua" pitchFamily="18" charset="0"/>
              </a:rPr>
              <a:t>За начало первого интервала рекомендуется брать величину:</a:t>
            </a:r>
            <a:endParaRPr lang="en-US" dirty="0">
              <a:latin typeface="Book Antiqua" pitchFamily="18" charset="0"/>
            </a:endParaRPr>
          </a:p>
          <a:p>
            <a:endParaRPr lang="en-US" dirty="0">
              <a:latin typeface="Book Antiqua" pitchFamily="18" charset="0"/>
            </a:endParaRPr>
          </a:p>
          <a:p>
            <a:r>
              <a:rPr lang="ru-RU" dirty="0"/>
              <a:t>Конец последнего интервала </a:t>
            </a:r>
            <a:r>
              <a:rPr lang="ru-RU" dirty="0" err="1"/>
              <a:t>Х</a:t>
            </a:r>
            <a:r>
              <a:rPr lang="ru-RU" baseline="-25000" dirty="0" err="1"/>
              <a:t>кон</a:t>
            </a:r>
            <a:r>
              <a:rPr lang="ru-RU" dirty="0"/>
              <a:t> должен удовлетворять условию:</a:t>
            </a:r>
          </a:p>
          <a:p>
            <a:endParaRPr lang="en-US" dirty="0">
              <a:latin typeface="Book Antiqua" pitchFamily="18" charset="0"/>
            </a:endParaRPr>
          </a:p>
          <a:p>
            <a:endParaRPr lang="en-US" dirty="0">
              <a:latin typeface="Book Antiqua" pitchFamily="18" charset="0"/>
            </a:endParaRPr>
          </a:p>
          <a:p>
            <a:endParaRPr lang="en-US" dirty="0">
              <a:latin typeface="Book Antiqua" pitchFamily="18" charset="0"/>
            </a:endParaRPr>
          </a:p>
          <a:p>
            <a:r>
              <a:rPr lang="ru-RU" dirty="0"/>
              <a:t>Промежуточные интервалы получают, прибавляя к концу предыдущего интервала длину частичного интервала</a:t>
            </a:r>
            <a:r>
              <a:rPr lang="en-US" dirty="0"/>
              <a:t> </a:t>
            </a:r>
            <a:r>
              <a:rPr lang="el-GR" dirty="0">
                <a:latin typeface="Cambria"/>
                <a:ea typeface="Cambria"/>
              </a:rPr>
              <a:t>Δ</a:t>
            </a:r>
            <a:r>
              <a:rPr lang="ru-RU" dirty="0">
                <a:latin typeface="Cambria"/>
                <a:ea typeface="Cambria"/>
              </a:rPr>
              <a:t>.</a:t>
            </a:r>
            <a:endParaRPr lang="ru-RU" dirty="0"/>
          </a:p>
          <a:p>
            <a:endParaRPr lang="en-US" dirty="0"/>
          </a:p>
          <a:p>
            <a:r>
              <a:rPr lang="ru-RU" dirty="0"/>
              <a:t>Если в какой то полуинтервал не попало ни одно значение выборки, то его объединяем с левым полуинтервалом.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16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3286116" y="1928802"/>
          <a:ext cx="1791503" cy="387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939600" imgH="203040" progId="Equation.3">
                  <p:embed/>
                </p:oleObj>
              </mc:Choice>
              <mc:Fallback>
                <p:oleObj name="Формула" r:id="rId2" imgW="939600" imgH="20304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1928802"/>
                        <a:ext cx="1791503" cy="38735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4857752" y="2285992"/>
          <a:ext cx="1631958" cy="657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977760" imgH="393480" progId="Equation.3">
                  <p:embed/>
                </p:oleObj>
              </mc:Choice>
              <mc:Fallback>
                <p:oleObj name="Формула" r:id="rId4" imgW="977760" imgH="393480" progId="Equation.3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2" y="2285992"/>
                        <a:ext cx="1631958" cy="65702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71802" y="5715016"/>
            <a:ext cx="264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17797" name="Object 4"/>
          <p:cNvGraphicFramePr>
            <a:graphicFrameLocks noChangeAspect="1"/>
          </p:cNvGraphicFramePr>
          <p:nvPr/>
        </p:nvGraphicFramePr>
        <p:xfrm>
          <a:off x="7429520" y="3500438"/>
          <a:ext cx="1571636" cy="595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80588" imgH="444307" progId="">
                  <p:embed/>
                </p:oleObj>
              </mc:Choice>
              <mc:Fallback>
                <p:oleObj r:id="rId6" imgW="1180588" imgH="444307" progId="">
                  <p:embed/>
                  <p:pic>
                    <p:nvPicPr>
                      <p:cNvPr id="41779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20" y="3500438"/>
                        <a:ext cx="1571636" cy="59545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8" name="Object 6"/>
          <p:cNvGraphicFramePr>
            <a:graphicFrameLocks noChangeAspect="1"/>
          </p:cNvGraphicFramePr>
          <p:nvPr/>
        </p:nvGraphicFramePr>
        <p:xfrm>
          <a:off x="3000364" y="4429132"/>
          <a:ext cx="2700288" cy="390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51000" imgH="241300" progId="">
                  <p:embed/>
                </p:oleObj>
              </mc:Choice>
              <mc:Fallback>
                <p:oleObj r:id="rId8" imgW="1651000" imgH="241300" progId="">
                  <p:embed/>
                  <p:pic>
                    <p:nvPicPr>
                      <p:cNvPr id="417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4429132"/>
                        <a:ext cx="2700288" cy="390531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i="1" dirty="0"/>
              <a:t>Пример 2. </a:t>
            </a:r>
            <a:r>
              <a:rPr lang="ru-RU" sz="2800" dirty="0"/>
              <a:t>По результатам измерений получена выборка. Постройте интервальный  статистический ряд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6,8     12,0    </a:t>
            </a:r>
            <a:r>
              <a:rPr lang="ru-RU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6,</a:t>
            </a:r>
            <a:r>
              <a:rPr lang="en-US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,8   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   10,7   13,5    10,6    10,8     8,7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9,5      9,4     11,4   11,1     7,1     13,3     11,9     7,3      9,3     10,4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11,5   12,6    7,0     8,2       8,4     11,3     13,7     9,7    11,3     10,1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9,7     9,9      8,4     7,9      10,6    9,1      10,4      8,5     6,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     8,0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8,2     9,0     13,5     9,6     </a:t>
            </a:r>
            <a:r>
              <a:rPr lang="ru-RU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13,8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   13,4     11,7    11,5 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4000" dirty="0">
                <a:cs typeface="Times New Roman" pitchFamily="18" charset="0"/>
              </a:rPr>
              <a:t>Разобьем  промежуток изменения выборки на </a:t>
            </a:r>
            <a:endParaRPr lang="en-US" sz="4000" dirty="0"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US" sz="4000" dirty="0"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4000" dirty="0">
                <a:cs typeface="Times New Roman" pitchFamily="18" charset="0"/>
              </a:rPr>
              <a:t>полуинтервалов длиной 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sz="4000" dirty="0"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ru-RU" sz="4000" dirty="0"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4000" dirty="0">
                <a:cs typeface="Times New Roman" pitchFamily="18" charset="0"/>
              </a:rPr>
              <a:t>и подсчитаем частоты </a:t>
            </a:r>
            <a:r>
              <a:rPr lang="en-US" sz="4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40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4000" i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4000" dirty="0">
                <a:cs typeface="Times New Roman" pitchFamily="18" charset="0"/>
              </a:rPr>
              <a:t>сколько чисел из выборки принадлежит каждому полуинтервалу)</a:t>
            </a:r>
            <a:endParaRPr lang="ru-RU" sz="4000" baseline="-25000" dirty="0"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17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2786050" y="3643314"/>
          <a:ext cx="2357454" cy="30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574640" imgH="203040" progId="Equation.3">
                  <p:embed/>
                </p:oleObj>
              </mc:Choice>
              <mc:Fallback>
                <p:oleObj name="Формула" r:id="rId2" imgW="1574640" imgH="20304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50" y="3643314"/>
                        <a:ext cx="2357454" cy="3041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4714876" y="3929066"/>
          <a:ext cx="1785950" cy="651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079280" imgH="393480" progId="Equation.3">
                  <p:embed/>
                </p:oleObj>
              </mc:Choice>
              <mc:Fallback>
                <p:oleObj name="Формула" r:id="rId4" imgW="1079280" imgH="393480" progId="Equation.3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6" y="3929066"/>
                        <a:ext cx="1785950" cy="65134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Интервальный вариационный ряд</a:t>
            </a: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457200" y="1646238"/>
          <a:ext cx="82582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[6</a:t>
                      </a:r>
                      <a:r>
                        <a:rPr lang="ru-RU" dirty="0"/>
                        <a:t>;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[7;</a:t>
                      </a:r>
                      <a:r>
                        <a:rPr lang="en-US" baseline="0" dirty="0"/>
                        <a:t> 8)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[8; 9)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[9;10)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[10;11)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[11; 12)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[12; 13)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[13;14]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r>
                        <a:rPr lang="en-US" dirty="0"/>
                        <a:t>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Накопленная (кумулятивная) частота</a:t>
            </a:r>
            <a:r>
              <a:rPr lang="en-US" dirty="0"/>
              <a:t> </a:t>
            </a:r>
            <a:r>
              <a:rPr lang="ru-RU" dirty="0"/>
              <a:t>и накопленная </a:t>
            </a:r>
            <a:r>
              <a:rPr lang="ru-RU" dirty="0" err="1"/>
              <a:t>частость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Накопленная частота показывает какое число единиц совокупности имеет величину варианты не большую данной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Отношение накопленной частоты к общему числу наблюдений называется накопленной частостью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19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3571868" y="3071810"/>
          <a:ext cx="2143140" cy="977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723600" imgH="330120" progId="Equation.3">
                  <p:embed/>
                </p:oleObj>
              </mc:Choice>
              <mc:Fallback>
                <p:oleObj name="Формула" r:id="rId2" imgW="723600" imgH="33012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68" y="3071810"/>
                        <a:ext cx="2143140" cy="97757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/>
        </p:nvGraphicFramePr>
        <p:xfrm>
          <a:off x="5786446" y="5214950"/>
          <a:ext cx="1357322" cy="935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571320" imgH="393480" progId="Equation.3">
                  <p:embed/>
                </p:oleObj>
              </mc:Choice>
              <mc:Fallback>
                <p:oleObj name="Формула" r:id="rId4" imgW="571320" imgH="393480" progId="Equation.3">
                  <p:embed/>
                  <p:pic>
                    <p:nvPicPr>
                      <p:cNvPr id="8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46" y="5214950"/>
                        <a:ext cx="1357322" cy="93504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Эмпирическая функция распределения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Эмпирической функцией распределения  </a:t>
            </a:r>
            <a:r>
              <a:rPr lang="en-US" dirty="0"/>
              <a:t>F</a:t>
            </a:r>
            <a:r>
              <a:rPr lang="en-US" baseline="-25000" dirty="0"/>
              <a:t>n</a:t>
            </a:r>
            <a:r>
              <a:rPr lang="en-US" dirty="0"/>
              <a:t>(x) </a:t>
            </a:r>
            <a:r>
              <a:rPr lang="ru-RU" dirty="0"/>
              <a:t>называется функция, значение которой в точке </a:t>
            </a:r>
            <a:r>
              <a:rPr lang="en-US" dirty="0"/>
              <a:t>x</a:t>
            </a:r>
            <a:r>
              <a:rPr lang="ru-RU" dirty="0"/>
              <a:t> равно накопленной </a:t>
            </a:r>
            <a:r>
              <a:rPr lang="ru-RU" dirty="0" err="1"/>
              <a:t>частости</a:t>
            </a:r>
            <a:r>
              <a:rPr lang="ru-RU" dirty="0"/>
              <a:t>.</a:t>
            </a:r>
          </a:p>
          <a:p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20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000100" y="3786190"/>
          <a:ext cx="187801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698400" imgH="228600" progId="Equation.3">
                  <p:embed/>
                </p:oleObj>
              </mc:Choice>
              <mc:Fallback>
                <p:oleObj name="Формула" r:id="rId2" imgW="698400" imgH="22860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3786190"/>
                        <a:ext cx="1878012" cy="6143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Эмпирическая плотность распределения непрерывного ряда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Эмпирической плотностью распределения непрерывного(интервального) ряда называется функция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21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607308" y="3992563"/>
          <a:ext cx="5179270" cy="1150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3085920" imgH="685800" progId="Equation.3">
                  <p:embed/>
                </p:oleObj>
              </mc:Choice>
              <mc:Fallback>
                <p:oleObj name="Формула" r:id="rId2" imgW="3085920" imgH="68580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7308" y="3992563"/>
                        <a:ext cx="5179270" cy="1150949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22</a:t>
            </a:fld>
            <a:endParaRPr lang="ru-RU"/>
          </a:p>
        </p:txBody>
      </p:sp>
      <p:graphicFrame>
        <p:nvGraphicFramePr>
          <p:cNvPr id="6" name="Содержимое 5"/>
          <p:cNvGraphicFramePr>
            <a:graphicFrameLocks/>
          </p:cNvGraphicFramePr>
          <p:nvPr/>
        </p:nvGraphicFramePr>
        <p:xfrm>
          <a:off x="428596" y="1928802"/>
          <a:ext cx="825820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[6</a:t>
                      </a:r>
                      <a:r>
                        <a:rPr lang="ru-RU" dirty="0"/>
                        <a:t>;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[7;</a:t>
                      </a:r>
                      <a:r>
                        <a:rPr lang="en-US" baseline="0" dirty="0"/>
                        <a:t> 8)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[8; 9)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[9;10)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[10;11)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[11; 12)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[12; 13)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[13;14]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r>
                        <a:rPr lang="en-US" dirty="0"/>
                        <a:t>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m</a:t>
                      </a:r>
                      <a:r>
                        <a:rPr lang="en-US" baseline="-25000" dirty="0" err="1"/>
                        <a:t>xi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w</a:t>
                      </a:r>
                      <a:r>
                        <a:rPr lang="en-US" baseline="-25000" dirty="0" err="1"/>
                        <a:t>xi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44/50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F</a:t>
                      </a:r>
                      <a:r>
                        <a:rPr lang="en-US" baseline="-25000" dirty="0"/>
                        <a:t>n</a:t>
                      </a:r>
                      <a:r>
                        <a:rPr lang="en-US" baseline="0" dirty="0"/>
                        <a:t>(x)</a:t>
                      </a:r>
                      <a:endParaRPr lang="ru-RU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41/50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44/50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Графическое представление вариационных рядов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lnSpc>
                <a:spcPct val="80000"/>
              </a:lnSpc>
              <a:buFont typeface="Arial" charset="0"/>
              <a:buNone/>
            </a:pPr>
            <a:r>
              <a:rPr lang="ru-RU" dirty="0"/>
              <a:t>Для наглядности представления рядов</a:t>
            </a:r>
            <a:r>
              <a:rPr lang="en-US" dirty="0"/>
              <a:t> </a:t>
            </a:r>
            <a:r>
              <a:rPr lang="ru-RU" dirty="0"/>
              <a:t>используют:</a:t>
            </a:r>
          </a:p>
          <a:p>
            <a:pPr marL="609600" indent="-609600">
              <a:lnSpc>
                <a:spcPct val="80000"/>
              </a:lnSpc>
              <a:buFont typeface="Arial" charset="0"/>
              <a:buAutoNum type="arabicParenR"/>
            </a:pPr>
            <a:r>
              <a:rPr lang="ru-RU" dirty="0"/>
              <a:t>Полигоны по точкам </a:t>
            </a: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,n</a:t>
            </a:r>
            <a:r>
              <a:rPr lang="en-US" baseline="-25000" dirty="0" err="1"/>
              <a:t>i</a:t>
            </a:r>
            <a:r>
              <a:rPr lang="en-US" dirty="0"/>
              <a:t>) </a:t>
            </a:r>
            <a:r>
              <a:rPr lang="ru-RU" dirty="0"/>
              <a:t> или </a:t>
            </a:r>
            <a:r>
              <a:rPr lang="en-US" dirty="0"/>
              <a:t>(</a:t>
            </a:r>
            <a:r>
              <a:rPr lang="en-US" dirty="0" err="1"/>
              <a:t>c</a:t>
            </a:r>
            <a:r>
              <a:rPr lang="en-US" baseline="-25000" dirty="0" err="1"/>
              <a:t>i</a:t>
            </a:r>
            <a:r>
              <a:rPr lang="en-US" dirty="0" err="1"/>
              <a:t>,n</a:t>
            </a:r>
            <a:r>
              <a:rPr lang="en-US" baseline="-25000" dirty="0" err="1"/>
              <a:t>i</a:t>
            </a:r>
            <a:r>
              <a:rPr lang="en-US" dirty="0"/>
              <a:t>)</a:t>
            </a:r>
            <a:r>
              <a:rPr lang="ru-RU" dirty="0"/>
              <a:t>, где с</a:t>
            </a:r>
            <a:r>
              <a:rPr lang="en-US" baseline="-25000" dirty="0"/>
              <a:t>i</a:t>
            </a:r>
            <a:r>
              <a:rPr lang="ru-RU" dirty="0"/>
              <a:t> - середины интервалов интервальных рядов,</a:t>
            </a:r>
          </a:p>
          <a:p>
            <a:pPr marL="609600" indent="-609600">
              <a:lnSpc>
                <a:spcPct val="80000"/>
              </a:lnSpc>
              <a:buFont typeface="Arial" charset="0"/>
              <a:buAutoNum type="arabicParenR"/>
            </a:pPr>
            <a:r>
              <a:rPr lang="ru-RU" dirty="0"/>
              <a:t>Гистограммы (столбиковые) на интервалах,</a:t>
            </a:r>
          </a:p>
          <a:p>
            <a:pPr marL="609600" indent="-609600">
              <a:lnSpc>
                <a:spcPct val="80000"/>
              </a:lnSpc>
              <a:buFont typeface="Arial" charset="0"/>
              <a:buAutoNum type="arabicParenR"/>
            </a:pPr>
            <a:r>
              <a:rPr lang="ru-RU" dirty="0" err="1"/>
              <a:t>Кумуляты</a:t>
            </a:r>
            <a:r>
              <a:rPr lang="ru-RU" dirty="0"/>
              <a:t> по точкам 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,m</a:t>
            </a:r>
            <a:r>
              <a:rPr lang="en-US" baseline="-25000" dirty="0" err="1"/>
              <a:t>xi</a:t>
            </a:r>
            <a:r>
              <a:rPr lang="en-US" dirty="0"/>
              <a:t>), </a:t>
            </a:r>
            <a:r>
              <a:rPr lang="ru-RU" dirty="0"/>
              <a:t>где </a:t>
            </a:r>
            <a:r>
              <a:rPr lang="en-US" dirty="0" err="1"/>
              <a:t>m</a:t>
            </a:r>
            <a:r>
              <a:rPr lang="en-US" baseline="-25000" dirty="0" err="1"/>
              <a:t>xi</a:t>
            </a:r>
            <a:r>
              <a:rPr lang="en-US" dirty="0"/>
              <a:t> – </a:t>
            </a:r>
            <a:r>
              <a:rPr lang="ru-RU" dirty="0"/>
              <a:t>это накопленные частоты.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Полигон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Полигоном частот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называют </a:t>
            </a:r>
            <a:r>
              <a:rPr lang="ru-RU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ломаную линию, отрезки, которой соединяют точки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</a:t>
            </a:r>
            <a:r>
              <a:rPr lang="ru-RU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</a:t>
            </a:r>
            <a:r>
              <a:rPr lang="ru-RU" baseline="-30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ru-RU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;n</a:t>
            </a:r>
            <a:r>
              <a:rPr lang="ru-RU" baseline="-30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(</a:t>
            </a:r>
            <a:r>
              <a:rPr lang="ru-RU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</a:t>
            </a:r>
            <a:r>
              <a:rPr lang="ru-RU" baseline="-30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ru-RU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;n</a:t>
            </a:r>
            <a:r>
              <a:rPr lang="ru-RU" baseline="-30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…, (</a:t>
            </a:r>
            <a:r>
              <a:rPr lang="ru-RU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</a:t>
            </a:r>
            <a:r>
              <a:rPr lang="ru-RU" i="1" baseline="-30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</a:t>
            </a:r>
            <a:r>
              <a:rPr lang="ru-RU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;n</a:t>
            </a:r>
            <a:r>
              <a:rPr lang="ru-RU" i="1" baseline="-30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). Для построения полигона частот на оси абсцисс откладывают варианты </a:t>
            </a:r>
            <a:r>
              <a:rPr lang="ru-RU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</a:t>
            </a:r>
            <a:r>
              <a:rPr lang="ru-RU" i="1" baseline="-30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а на оси ординат – соответствующие им частоты </a:t>
            </a:r>
            <a:r>
              <a:rPr lang="ru-RU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ru-RU" i="1" baseline="-30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r>
              <a:rPr lang="ru-RU" b="1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Для интервального ряда на оси абсцисс откладывается середина интервала </a:t>
            </a:r>
            <a:r>
              <a:rPr lang="en-US" b="1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lang="en-US" b="1" i="1" baseline="-25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endParaRPr lang="ru-RU" b="1" i="1" baseline="-25000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Полигон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5" name="Содержимое 4" descr="http://edu.dvgups.ru/METDOC/ENF/VMATEM/WM/METOD/UPVM/frame/1.files/image010.gif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000496" y="2857496"/>
            <a:ext cx="4713308" cy="2202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http://edu.dvgups.ru/METDOC/ENF/VMATEM/WM/METOD/UPVM/frame/1.files/image005.gif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357298"/>
            <a:ext cx="3286148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Гистограмма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269875" algn="just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b="1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Гистограммой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частот называется ступенчатая фигура, основанием </a:t>
            </a:r>
            <a:r>
              <a:rPr lang="ru-RU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-го прямоугольника которой являются частичные интервалы длиною </a:t>
            </a:r>
            <a:r>
              <a:rPr lang="ru-RU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Δ</a:t>
            </a:r>
            <a:r>
              <a:rPr lang="ru-RU" i="1" baseline="-30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и высотой </a:t>
            </a:r>
            <a:r>
              <a:rPr lang="ru-RU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ru-RU" i="1" baseline="-30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lvl="0" indent="269875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Для построения гистограммы частот на оси абсцисс откладывают частичные интервалы, а над ними проводят отрезки, параллельные оси абсцисс на расстоянии </a:t>
            </a:r>
            <a:r>
              <a:rPr lang="ru-RU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ru-RU" i="1" baseline="-30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ru-RU" i="1" baseline="-30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lvl="0" indent="269875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практике для удобства вычислений обычно используют ряды с равными интервалами (Δ), которые называют шагом интервала.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Гистограмма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5" name="Picture 2" descr="&amp;Gcy;&amp;icy;&amp;scy;&amp;tcy;&amp;ocy;&amp;gcy;&amp;rcy;&amp;acy;&amp;mcy;&amp;mcy;&amp;acy;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071678"/>
            <a:ext cx="5334948" cy="27741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Кумулята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ru-RU" b="1" i="1" dirty="0"/>
              <a:t>Кумулятивная кривая</a:t>
            </a:r>
            <a:r>
              <a:rPr lang="ru-RU" dirty="0"/>
              <a:t> (</a:t>
            </a:r>
            <a:r>
              <a:rPr lang="ru-RU" i="1" dirty="0" err="1"/>
              <a:t>кумулята</a:t>
            </a:r>
            <a:r>
              <a:rPr lang="ru-RU" dirty="0"/>
              <a:t>) – </a:t>
            </a:r>
            <a:r>
              <a:rPr lang="ru-RU" dirty="0" err="1"/>
              <a:t>кривая</a:t>
            </a:r>
            <a:r>
              <a:rPr lang="ru-RU" dirty="0"/>
              <a:t> накопленных частот. </a:t>
            </a:r>
          </a:p>
          <a:p>
            <a:pPr>
              <a:defRPr/>
            </a:pPr>
            <a:r>
              <a:rPr lang="ru-RU" b="1" i="1" dirty="0">
                <a:latin typeface="Book Antiqua" pitchFamily="18" charset="0"/>
              </a:rPr>
              <a:t> </a:t>
            </a:r>
            <a:r>
              <a:rPr lang="ru-RU" b="1" i="1" dirty="0" err="1">
                <a:latin typeface="Book Antiqua" pitchFamily="18" charset="0"/>
              </a:rPr>
              <a:t>Кумулятой</a:t>
            </a:r>
            <a:r>
              <a:rPr lang="ru-RU" b="1" i="1" dirty="0">
                <a:latin typeface="Book Antiqua" pitchFamily="18" charset="0"/>
              </a:rPr>
              <a:t> называется ломанная, соединяющая на плоскости точки вида </a:t>
            </a:r>
            <a:r>
              <a:rPr lang="en-US" b="1" i="1" dirty="0">
                <a:latin typeface="Book Antiqua" pitchFamily="18" charset="0"/>
              </a:rPr>
              <a:t>(x</a:t>
            </a:r>
            <a:r>
              <a:rPr lang="en-US" b="1" i="1" baseline="-25000" dirty="0">
                <a:latin typeface="Book Antiqua" pitchFamily="18" charset="0"/>
              </a:rPr>
              <a:t>i</a:t>
            </a:r>
            <a:r>
              <a:rPr lang="en-US" b="1" i="1" dirty="0">
                <a:latin typeface="Book Antiqua" pitchFamily="18" charset="0"/>
              </a:rPr>
              <a:t> ,</a:t>
            </a:r>
            <a:r>
              <a:rPr lang="en-US" b="1" i="1" dirty="0" err="1">
                <a:latin typeface="Book Antiqua" pitchFamily="18" charset="0"/>
              </a:rPr>
              <a:t>m</a:t>
            </a:r>
            <a:r>
              <a:rPr lang="en-US" b="1" i="1" baseline="-25000" dirty="0" err="1">
                <a:latin typeface="Book Antiqua" pitchFamily="18" charset="0"/>
              </a:rPr>
              <a:t>xi</a:t>
            </a:r>
            <a:r>
              <a:rPr lang="en-US" b="1" i="1" dirty="0">
                <a:latin typeface="Book Antiqua" pitchFamily="18" charset="0"/>
              </a:rPr>
              <a:t>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Кумулята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29</a:t>
            </a:fld>
            <a:endParaRPr lang="ru-RU"/>
          </a:p>
        </p:txBody>
      </p:sp>
      <p:pic>
        <p:nvPicPr>
          <p:cNvPr id="4229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87550" y="2680494"/>
            <a:ext cx="51689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000232" y="2714620"/>
            <a:ext cx="57150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</a:t>
            </a:r>
            <a:r>
              <a:rPr lang="en-US" baseline="-25000" dirty="0" err="1">
                <a:solidFill>
                  <a:schemeClr val="bg1"/>
                </a:solidFill>
              </a:rPr>
              <a:t>x</a:t>
            </a:r>
            <a:endParaRPr lang="ru-RU" baseline="-25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ru-RU" dirty="0"/>
              <a:t>В магазине за день было продано 45 пар мужской обуви. </a:t>
            </a:r>
          </a:p>
          <a:p>
            <a:pPr>
              <a:lnSpc>
                <a:spcPct val="80000"/>
              </a:lnSpc>
              <a:buNone/>
            </a:pPr>
            <a:r>
              <a:rPr lang="ru-RU" dirty="0"/>
              <a:t>Имеется выборка значений случайной величины </a:t>
            </a:r>
            <a:r>
              <a:rPr lang="ru-RU" i="1" dirty="0"/>
              <a:t>Х </a:t>
            </a:r>
            <a:r>
              <a:rPr lang="ru-RU" dirty="0"/>
              <a:t>– размера обуви:</a:t>
            </a:r>
          </a:p>
          <a:p>
            <a:pPr>
              <a:lnSpc>
                <a:spcPct val="80000"/>
              </a:lnSpc>
              <a:buNone/>
            </a:pPr>
            <a:r>
              <a:rPr lang="ru-RU" dirty="0"/>
              <a:t>39, 41, 40, 42, 41, 40, 42, 44, 40, 43,</a:t>
            </a:r>
          </a:p>
          <a:p>
            <a:pPr>
              <a:lnSpc>
                <a:spcPct val="80000"/>
              </a:lnSpc>
              <a:buNone/>
            </a:pPr>
            <a:r>
              <a:rPr lang="ru-RU" dirty="0"/>
              <a:t>42, 41, 43, 39, 42, 41, 42, 39, 41, 37, </a:t>
            </a:r>
          </a:p>
          <a:p>
            <a:pPr>
              <a:lnSpc>
                <a:spcPct val="80000"/>
              </a:lnSpc>
              <a:buNone/>
            </a:pPr>
            <a:r>
              <a:rPr lang="ru-RU" dirty="0"/>
              <a:t>43, 41, 38, 43, 42, 41, 40, 41, 38, 44,</a:t>
            </a:r>
          </a:p>
          <a:p>
            <a:pPr>
              <a:lnSpc>
                <a:spcPct val="80000"/>
              </a:lnSpc>
              <a:buNone/>
            </a:pPr>
            <a:r>
              <a:rPr lang="ru-RU" dirty="0"/>
              <a:t>40, 39, 41, 40, 42, 40, 41, 42, 40, 43,</a:t>
            </a:r>
          </a:p>
          <a:p>
            <a:pPr>
              <a:lnSpc>
                <a:spcPct val="80000"/>
              </a:lnSpc>
              <a:buNone/>
            </a:pPr>
            <a:r>
              <a:rPr lang="ru-RU" dirty="0"/>
              <a:t>38, 39, 41, 41, 42.</a:t>
            </a:r>
          </a:p>
          <a:p>
            <a:pPr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  <a:buNone/>
            </a:pPr>
            <a:r>
              <a:rPr lang="ru-RU" dirty="0"/>
              <a:t>Построить дискретный вариационный ряд, полигон, </a:t>
            </a:r>
            <a:r>
              <a:rPr lang="ru-RU" dirty="0" err="1"/>
              <a:t>кумуляту</a:t>
            </a:r>
            <a:r>
              <a:rPr lang="ru-RU" dirty="0"/>
              <a:t> и  эмпирическую функцию распределения.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построения вариационного ряда различные значения признака располагаем в порядке их возрастания и </a:t>
            </a:r>
            <a:r>
              <a:rPr lang="ru-RU" dirty="0" err="1"/>
              <a:t>и</a:t>
            </a:r>
            <a:r>
              <a:rPr lang="ru-RU" dirty="0"/>
              <a:t> под каждым из этих значений записываем его частоту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31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071538" y="4429132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Построим для этого ряда полигон.</a:t>
            </a:r>
          </a:p>
          <a:p>
            <a:pPr>
              <a:buNone/>
            </a:pPr>
            <a:r>
              <a:rPr lang="ru-RU" dirty="0"/>
              <a:t>Сначала отметим на графике точки </a:t>
            </a: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;n</a:t>
            </a:r>
            <a:r>
              <a:rPr lang="en-US" baseline="-25000" dirty="0" err="1"/>
              <a:t>i</a:t>
            </a:r>
            <a:r>
              <a:rPr lang="en-US" dirty="0"/>
              <a:t>) </a:t>
            </a:r>
            <a:r>
              <a:rPr lang="ru-RU" dirty="0"/>
              <a:t>и соединим их прямыми отрезками.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32</a:t>
            </a:fld>
            <a:endParaRPr lang="ru-RU"/>
          </a:p>
        </p:txBody>
      </p:sp>
      <p:pic>
        <p:nvPicPr>
          <p:cNvPr id="7" name="Picture 11" descr="Полигон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214686"/>
            <a:ext cx="4857784" cy="3304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Находим накопленные частоты и </a:t>
            </a:r>
            <a:r>
              <a:rPr lang="ru-RU" dirty="0" err="1"/>
              <a:t>частости</a:t>
            </a:r>
            <a:r>
              <a:rPr lang="ru-RU" dirty="0"/>
              <a:t>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33</a:t>
            </a:fld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00034" y="2643182"/>
          <a:ext cx="7143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m</a:t>
                      </a:r>
                      <a:r>
                        <a:rPr lang="en-US" baseline="-25000" dirty="0" err="1"/>
                        <a:t>xi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w</a:t>
                      </a:r>
                      <a:r>
                        <a:rPr lang="en-US" baseline="-25000" dirty="0" err="1"/>
                        <a:t>xi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43/45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Построим </a:t>
            </a:r>
            <a:r>
              <a:rPr lang="ru-RU" dirty="0" err="1"/>
              <a:t>кумуляту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34</a:t>
            </a:fld>
            <a:endParaRPr lang="ru-RU"/>
          </a:p>
        </p:txBody>
      </p:sp>
      <p:pic>
        <p:nvPicPr>
          <p:cNvPr id="6" name="Picture 273" descr="Кумулянта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3575" y="2500306"/>
            <a:ext cx="5759450" cy="389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Построим эмпирическую функцию распределения </a:t>
            </a:r>
            <a:r>
              <a:rPr lang="en-US" dirty="0"/>
              <a:t>F</a:t>
            </a:r>
            <a:r>
              <a:rPr lang="en-US" baseline="-25000" dirty="0"/>
              <a:t>n</a:t>
            </a:r>
            <a:r>
              <a:rPr lang="en-US" dirty="0"/>
              <a:t>(x)</a:t>
            </a:r>
            <a:r>
              <a:rPr lang="ru-RU" dirty="0"/>
              <a:t> для Дискретного вариационного ряда</a:t>
            </a:r>
            <a:endParaRPr lang="en-US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35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25699"/>
              </p:ext>
            </p:extLst>
          </p:nvPr>
        </p:nvGraphicFramePr>
        <p:xfrm>
          <a:off x="571472" y="3735040"/>
          <a:ext cx="778674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m</a:t>
                      </a:r>
                      <a:r>
                        <a:rPr lang="en-US" baseline="-25000" dirty="0" err="1"/>
                        <a:t>xi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w</a:t>
                      </a:r>
                      <a:r>
                        <a:rPr lang="en-US" baseline="-25000" dirty="0" err="1"/>
                        <a:t>xi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38/45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43/45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F</a:t>
                      </a:r>
                      <a:r>
                        <a:rPr lang="en-US" baseline="-25000" dirty="0"/>
                        <a:t>n</a:t>
                      </a:r>
                      <a:r>
                        <a:rPr lang="en-US" baseline="0" dirty="0"/>
                        <a:t>(x)</a:t>
                      </a:r>
                      <a:endParaRPr lang="ru-RU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0,022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0,089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0,378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0,644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0,844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0,978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36</a:t>
            </a:fld>
            <a:endParaRPr lang="ru-RU"/>
          </a:p>
        </p:txBody>
      </p:sp>
      <p:pic>
        <p:nvPicPr>
          <p:cNvPr id="5" name="Picture 4" descr="Эмпирическая функция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652113"/>
            <a:ext cx="6929486" cy="4705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285852" y="1500174"/>
            <a:ext cx="107157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FF</a:t>
            </a:r>
            <a:r>
              <a:rPr lang="en-US" dirty="0" err="1">
                <a:solidFill>
                  <a:schemeClr val="bg1"/>
                </a:solidFill>
              </a:rPr>
              <a:t>F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(x)</a:t>
            </a:r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ваших вариантах Индивидуальных Заданий вариационный ряд интервальный, а не дискретный. Поэтому график эмпирической функции распределения вы будете рисовать не такими ступеньками, а непрерывной линией, соединяя точки </a:t>
            </a:r>
            <a:r>
              <a:rPr lang="ru-RU"/>
              <a:t>с координатам  </a:t>
            </a:r>
            <a:r>
              <a:rPr lang="ru-RU" dirty="0"/>
              <a:t>(</a:t>
            </a:r>
            <a:r>
              <a:rPr lang="ru-RU" dirty="0">
                <a:solidFill>
                  <a:srgbClr val="FF0000"/>
                </a:solidFill>
              </a:rPr>
              <a:t>середина интервала</a:t>
            </a:r>
            <a:r>
              <a:rPr lang="en-US" dirty="0"/>
              <a:t>;</a:t>
            </a: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значение эмпирической функции распределения</a:t>
            </a:r>
            <a:r>
              <a:rPr lang="ru-RU" dirty="0"/>
              <a:t>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37</a:t>
            </a:fld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3B796-D373-2641-FBB4-DE073E39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ED2712-7E77-8690-DC56-5C7A933C6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сегодня все,  всем спасибо за внимание!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D435A1-33B7-3350-76B0-4D9AFCB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7144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4020</TotalTime>
  <Words>1615</Words>
  <Application>Microsoft Office PowerPoint</Application>
  <PresentationFormat>Экран (4:3)</PresentationFormat>
  <Paragraphs>365</Paragraphs>
  <Slides>38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9" baseType="lpstr">
      <vt:lpstr>Arial</vt:lpstr>
      <vt:lpstr>Book Antiqua</vt:lpstr>
      <vt:lpstr>Calibri</vt:lpstr>
      <vt:lpstr>Cambria</vt:lpstr>
      <vt:lpstr>Rockwell</vt:lpstr>
      <vt:lpstr>Symbol</vt:lpstr>
      <vt:lpstr>Times New Roman</vt:lpstr>
      <vt:lpstr>Wingdings</vt:lpstr>
      <vt:lpstr>Wingdings 2</vt:lpstr>
      <vt:lpstr>Литейная</vt:lpstr>
      <vt:lpstr>Формула</vt:lpstr>
      <vt:lpstr>Теория вероятностей и математическая статистика. Лекция 10</vt:lpstr>
      <vt:lpstr>Математическая статистика</vt:lpstr>
      <vt:lpstr>Математическая статистика</vt:lpstr>
      <vt:lpstr>Статистические данные</vt:lpstr>
      <vt:lpstr>Генеральная совокупность</vt:lpstr>
      <vt:lpstr>Выборочная совокупность</vt:lpstr>
      <vt:lpstr>Выборочный метод</vt:lpstr>
      <vt:lpstr>Репрезентативность</vt:lpstr>
      <vt:lpstr>Способы образования выборки</vt:lpstr>
      <vt:lpstr>Вариационный ряд</vt:lpstr>
      <vt:lpstr>Статистическое   распределение</vt:lpstr>
      <vt:lpstr>Дискретный вариационный ряд.</vt:lpstr>
      <vt:lpstr>Презентация PowerPoint</vt:lpstr>
      <vt:lpstr>Интервальный (непрерывный) вариационный ряд.</vt:lpstr>
      <vt:lpstr>Презентация PowerPoint</vt:lpstr>
      <vt:lpstr>Рекомендации:</vt:lpstr>
      <vt:lpstr>Пример 2. По результатам измерений получена выборка. Постройте интервальный  статистический ряд</vt:lpstr>
      <vt:lpstr>Интервальный вариационный ряд</vt:lpstr>
      <vt:lpstr>Накопленная (кумулятивная) частота и накопленная частость</vt:lpstr>
      <vt:lpstr>Эмпирическая функция распределения</vt:lpstr>
      <vt:lpstr>Эмпирическая плотность распределения непрерывного ряда</vt:lpstr>
      <vt:lpstr>Презентация PowerPoint</vt:lpstr>
      <vt:lpstr>Графическое представление вариационных рядов</vt:lpstr>
      <vt:lpstr>Полигон</vt:lpstr>
      <vt:lpstr>Полигон</vt:lpstr>
      <vt:lpstr>Гистограмма</vt:lpstr>
      <vt:lpstr>Гистограмма</vt:lpstr>
      <vt:lpstr>Кумулята</vt:lpstr>
      <vt:lpstr>Кумулята</vt:lpstr>
      <vt:lpstr>Задача: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ВАЖНО!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creator>Elena</dc:creator>
  <cp:lastModifiedBy>e s</cp:lastModifiedBy>
  <cp:revision>333</cp:revision>
  <dcterms:created xsi:type="dcterms:W3CDTF">2021-02-04T09:02:28Z</dcterms:created>
  <dcterms:modified xsi:type="dcterms:W3CDTF">2026-02-16T09:06:15Z</dcterms:modified>
</cp:coreProperties>
</file>